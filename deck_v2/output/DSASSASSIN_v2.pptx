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61" r:id="rId13"/>
    <p:sldId id="262" r:id="rId14"/>
    <p:sldId id="263" r:id="rId15"/>
    <p:sldId id="264" r:id="rId16"/>
    <p:sldId id="265" r:id="rId17"/>
    <p:sldId id="267" r:id="rId19"/>
    <p:sldId id="269" r:id="rId21"/>
    <p:sldId id="270" r:id="rId22"/>
    <p:sldId id="271" r:id="rId23"/>
    <p:sldId id="272" r:id="rId24"/>
    <p:sldId id="274" r:id="rId26"/>
    <p:sldId id="275" r:id="rId27"/>
    <p:sldId id="276" r:id="rId28"/>
    <p:sldId id="278" r:id="rId30"/>
    <p:sldId id="279" r:id="rId31"/>
    <p:sldId id="280" r:id="rId32"/>
    <p:sldId id="281" r:id="rId33"/>
    <p:sldId id="284" r:id="rId36"/>
    <p:sldId id="285" r:id="rId37"/>
    <p:sldId id="286" r:id="rId38"/>
    <p:sldId id="287" r:id="rId39"/>
    <p:sldId id="288" r:id="rId40"/>
    <p:sldId id="289" r:id="rId41"/>
    <p:sldId id="290" r:id="rId42"/>
    <p:sldId id="291" r:id="rId43"/>
    <p:sldId id="292" r:id="rId44"/>
    <p:sldId id="293" r:id="rId45"/>
    <p:sldId id="294" r:id="rId46"/>
    <p:sldId id="296" r:id="rId48"/>
    <p:sldId id="297" r:id="rId49"/>
    <p:sldId id="298" r:id="rId50"/>
    <p:sldId id="299" r:id="rId51"/>
    <p:sldId id="300" r:id="rId52"/>
    <p:sldId id="305" r:id="rId57"/>
    <p:sldId id="306" r:id="rId58"/>
    <p:sldId id="308" r:id="rId60"/>
    <p:sldId id="309" r:id="rId61"/>
    <p:sldId id="310" r:id="rId62"/>
    <p:sldId id="313" r:id="rId65"/>
    <p:sldId id="314" r:id="rId66"/>
    <p:sldId id="315" r:id="rId6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9"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6" Type="http://schemas.openxmlformats.org/officeDocument/2006/relationships/slide" Target="slides/slide20.xml"/><Relationship Id="rId37" Type="http://schemas.openxmlformats.org/officeDocument/2006/relationships/slide" Target="slides/slide21.xml"/><Relationship Id="rId38" Type="http://schemas.openxmlformats.org/officeDocument/2006/relationships/slide" Target="slides/slide22.xml"/><Relationship Id="rId39" Type="http://schemas.openxmlformats.org/officeDocument/2006/relationships/slide" Target="slides/slide23.xml"/><Relationship Id="rId40" Type="http://schemas.openxmlformats.org/officeDocument/2006/relationships/slide" Target="slides/slide24.xml"/><Relationship Id="rId41" Type="http://schemas.openxmlformats.org/officeDocument/2006/relationships/slide" Target="slides/slide25.xml"/><Relationship Id="rId42" Type="http://schemas.openxmlformats.org/officeDocument/2006/relationships/slide" Target="slides/slide26.xml"/><Relationship Id="rId43" Type="http://schemas.openxmlformats.org/officeDocument/2006/relationships/slide" Target="slides/slide27.xml"/><Relationship Id="rId44" Type="http://schemas.openxmlformats.org/officeDocument/2006/relationships/slide" Target="slides/slide28.xml"/><Relationship Id="rId45" Type="http://schemas.openxmlformats.org/officeDocument/2006/relationships/slide" Target="slides/slide29.xml"/><Relationship Id="rId46" Type="http://schemas.openxmlformats.org/officeDocument/2006/relationships/slide" Target="slides/slide30.xml"/><Relationship Id="rId48" Type="http://schemas.openxmlformats.org/officeDocument/2006/relationships/slide" Target="slides/slide31.xml"/><Relationship Id="rId49" Type="http://schemas.openxmlformats.org/officeDocument/2006/relationships/slide" Target="slides/slide32.xml"/><Relationship Id="rId50" Type="http://schemas.openxmlformats.org/officeDocument/2006/relationships/slide" Target="slides/slide33.xml"/><Relationship Id="rId51" Type="http://schemas.openxmlformats.org/officeDocument/2006/relationships/slide" Target="slides/slide34.xml"/><Relationship Id="rId52" Type="http://schemas.openxmlformats.org/officeDocument/2006/relationships/slide" Target="slides/slide35.xml"/><Relationship Id="rId57" Type="http://schemas.openxmlformats.org/officeDocument/2006/relationships/slide" Target="slides/slide36.xml"/><Relationship Id="rId58"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5" Type="http://schemas.openxmlformats.org/officeDocument/2006/relationships/slide" Target="slides/slide41.xml"/><Relationship Id="rId66" Type="http://schemas.openxmlformats.org/officeDocument/2006/relationships/slide" Target="slides/slide42.xml"/><Relationship Id="rId67"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~40 s</a:t>
            </a:r>
          </a:p>
          <a:p/>
          <a:p>
            <a:r>
              <a:t>Datacenters race to move memory work off the CPU. Intel's DSA ships in every recent Xeon. This is the first public security analysis of it. Seed the thesis: VT-d isolates addresses, not the accelerator's shared heartbeat.</a:t>
            </a:r>
          </a:p>
          <a:p/>
          <a:p>
            <a:r>
              <a:t>SOURCE: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The thesis in one picture. Two VMs, each its own PASID, cannot read each other's memory — VT-d works. But both use the SAME physical accelerator, whose internal state is NOT split. DSASSASSIN never reads victim memory; it watches the accelerator twitch. Confidentiality of addresses is not confidentiality of activity.</a:t>
            </a:r>
          </a:p>
          <a:p/>
          <a:p>
            <a:r>
              <a:t>SOURCE: Paper §§ I, IV–V · pp. 1–8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~65 s</a:t>
            </a:r>
          </a:p>
          <a:p/>
          <a:p>
            <a:r>
              <a:t>DSA is a data mover: software hands it copy/compare/checksum jobs, done asynchronously. For years we studied how these ops leak on the CPU; the fix was partly to move them. The premise: 'somewhere else' is a new, unstudied, shared place to watch. We relocated the side channel to a building with no cameras.</a:t>
            </a:r>
          </a:p>
          <a:p/>
          <a:p>
            <a:r>
              <a:t>SOURCE: Paper §§ I–II-A · pp. 1–2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~75 s</a:t>
            </a:r>
          </a:p>
          <a:p/>
          <a:p>
            <a:r>
              <a:t>Follow one job: software fills a descriptor, writes it to an MMIO portal, it lands in a work queue, an engine executes and writes a completion record. Remember two observation handles: did my submission get in? and how long until my completion? Everything later is one of those two.</a:t>
            </a:r>
          </a:p>
          <a:p/>
          <a:p>
            <a:r>
              <a:t>SOURCE: Paper § II-A, Fig. 1 · pp. 2–3</a:t>
            </a:r>
          </a:p>
          <a:p/>
          <a:p>
            <a:r>
              <a:t>PAPER VISUAL / CODE WALKTHROUGH:</a:t>
            </a:r>
          </a:p>
          <a:p>
            <a:r>
              <a:t>Walk the original Figure 1 left to right: CPU socket and root complex, portal, work queues, batch fetcher and arbiter, processing unit, then the named Decode/Read/Compute/Write/Notify stages. ATS and physical memory requests are separate paths. These are functional stages, not a fixed cycle-by-cycle schedule. Use the stage names: the paper prose has inconsistent numeric stage references.</a:t>
            </a:r>
          </a:p>
          <a:p/>
          <a:p>
            <a:r>
              <a:t>UPDATED SOURCE: Paper Fig. 1, §II-A/B · p. 3 · original diagram; caption omitted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~75 s</a:t>
            </a:r>
          </a:p>
          <a:p/>
          <a:p>
            <a:r>
              <a:t>DSA caches address translations on the device in the DevTLB. The translation request's address-space context controls authorization, but does not give every VM separate replacement capacity. A conflicting request can replace my entry, making my own probe slower without revealing the victim's address or data. A DevTLB miss consults the Translation Agent; its IOTLB may answer without a page-table walk.</a:t>
            </a:r>
          </a:p>
          <a:p/>
          <a:p>
            <a:r>
              <a:t>SOURCE: Paper § II-B, Fig. 1 · pp. 2–3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~75 s</a:t>
            </a:r>
          </a:p>
          <a:p/>
          <a:p>
            <a:r>
              <a:t>Be scrupulous. Unprivileged in the way that matters: no root, no host reconfiguration, no reading victim memory, and NOT sharing a CPU core — genuinely cross-VM, cross-core. But it still assumes provisioned device access and co-location on the same engine/queue. This is an assumption to carry through the results. Note a tension in §V-A: it first says configuring engine affinity / WQ settings needs root, then says setting affinity to an engine or queue does NOT need root — read this as: creating/configuring queues is root (accel-config), but binding to an existing portal is not. Kernel 6.11.0-25, IDXD driver.</a:t>
            </a:r>
          </a:p>
          <a:p/>
          <a:p>
            <a:r>
              <a:t>SOURCE: Paper § V-A · pp. 7–8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~80 s</a:t>
            </a:r>
          </a:p>
          <a:p/>
          <a:p>
            <a:r>
              <a:t>The slide I'd tattoo on an operator. DevTLB channel needs only the same ENGINE — different queues still leak. SWQ channel needs the same QUEUE. So separate queues, which operators call isolation, do NOT stop the DevTLB channel because the cache lives below the queues, at the engine. Remember this one fact.</a:t>
            </a:r>
          </a:p>
          <a:p/>
          <a:p>
            <a:r>
              <a:t>SOURCE: Paper §§ IV-A, V · pp. 3–8</a:t>
            </a:r>
          </a:p>
          <a:p/>
          <a:p>
            <a:r>
              <a:t>PAPER VISUAL / CODE WALKTHROUGH:</a:t>
            </a:r>
          </a:p>
          <a:p>
            <a:r>
              <a:t>Figure 7 is the authors’ original cross-VM setup. Red traces denote the DevTLB path: separate queues can reach one engine. Teal traces denote same-SWQ contention. Sender/receiver describe a cooperative covert channel, while attacker/victim describe the side-channel case. Do not treat those role labels as four simultaneously required processes.</a:t>
            </a:r>
          </a:p>
          <a:p/>
          <a:p>
            <a:r>
              <a:t>UPDATED SOURCE: Paper Fig. 7, §§V–VI · p. 8 · original attack setup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Fair challenge: aren't you using privileged counters? To UNDERSTAND the hardware, yes — Perfmon, for ground truth. But the ATTACK reads only what any user can: its own completion time, or whether its own submission succeeded. Counters are the microscope in the lab, not part of the weapon. Done on local and a real cloud instance.</a:t>
            </a:r>
          </a:p>
          <a:p/>
          <a:p>
            <a:r>
              <a:t>SOURCE: Paper § IV-B, Table I · pp. 4–6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First clue. The cache is indexed by a field's ROLE — src, src2, dst, dst2, comp — not by address. The authors pick which roles to exercise by picking the opcode. noop is the scalpel: touches only the completion slot, cheapest, cleanest timing. dualcast lights four slots. Surgical control.</a:t>
            </a:r>
          </a:p>
          <a:p/>
          <a:p>
            <a:r>
              <a:t>SOURCE: Paper § IV-B, Fig. 3 · pp. 4–5</a:t>
            </a:r>
          </a:p>
          <a:p/>
          <a:p>
            <a:r>
              <a:t>PAPER VISUAL / CODE WALKTHROUGH:</a:t>
            </a:r>
          </a:p>
          <a:p>
            <a:r>
              <a:t>The diagram is the actual 64-byte descriptor format from Figure 3. Explain offsets 8 (completion), 16 (source), 24 (dst/src2), and 40 (dst2). The operation table is a presenter annotation using semantic operation names. Listing 1 prints DSA_OPCODE_COMPVAL despite naming a two-source helper; do not present that printed constant as the encoding for a two-buffer compare.</a:t>
            </a:r>
          </a:p>
          <a:p/>
          <a:p>
            <a:r>
              <a:t>UPDATED SOURCE: Paper Fig. 3, §IV-B · pp. 4–5 · original descriptor diagram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~75 s</a:t>
            </a:r>
          </a:p>
          <a:p/>
          <a:p>
            <a:r>
              <a:t>Spoiler so the experiments make sense: each engine's DevTLB has exactly five entries, one per field role, each holding ONE translation. Direct-mapped to the extreme. Why catastrophic? No eviction set needed — any single different page in that role evicts the occupant. The drawer only fits one sock.</a:t>
            </a:r>
          </a:p>
          <a:p/>
          <a:p>
            <a:r>
              <a:t>SOURCE: Paper §§ IV-A–B, Fig. 2 · pp. 3–6 · empirical model</a:t>
            </a:r>
          </a:p>
          <a:p/>
          <a:p>
            <a:r>
              <a:t>PAPER VISUAL / CODE WALKTHROUGH:</a:t>
            </a:r>
          </a:p>
          <a:p>
            <a:r>
              <a:t>Use the colored stacks at the top of Figure 2 to connect per-engine state to the five semantic fields. The lower diagram shows queue admission, batch fetching, arbitration, and processing. Five one-entry field slots are the authors’ observations on their tested platforms. Shared replacement capacity does not authorize using another process’s address translation.</a:t>
            </a:r>
          </a:p>
          <a:p/>
          <a:p>
            <a:r>
              <a:t>UPDATED SOURCE: Paper Fig. 2, §IV-A/B · p. 4 · original reverse-engineered structure</a:t>
            </a:r>
          </a:p>
          <a:p/>
          <a:p>
            <a:r>
              <a:t>RETAINED DETAIL:</a:t>
            </a:r>
          </a:p>
          <a:p>
            <a:r>
              <a:t>Cross-page detail (§IV-B): a multi-page transaction leaves only its final page translation in the relevant slot. The batch fetcher’s own descriptor reads and completion-record writes use a path that bypasses these slots; distinguish that batch-fetcher traffic from engine completion writes used by the NOOP probe.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Load base. Touch an address 'offset' away. Re-check base. Inside the same 4KB page, base survives → page granularity. Cross a page boundary → base is gone → only ONE slot (two would survive). They even evict a 4KB entry with a 2MB huge-page address — no separate drawers per page size.</a:t>
            </a:r>
          </a:p>
          <a:p/>
          <a:p>
            <a:r>
              <a:t>SOURCE: Paper § IV-B, Listing 2 · pp. 4–5</a:t>
            </a:r>
          </a:p>
          <a:p/>
          <a:p>
            <a:r>
              <a:t>PAPER VISUAL / CODE WALKTHROUGH:</a:t>
            </a:r>
          </a:p>
          <a:p>
            <a:r>
              <a:t>Read each of the three calls aloud: establish base; attempt a conflict; revisit base. For probe_noop the address names completion memory, not a payload source. The helper and required completion-record flags are omitted in the paper. Hit/miss observations follow the experiment; these three calls are not a complete executable attack.</a:t>
            </a:r>
          </a:p>
          <a:p/>
          <a:p>
            <a:r>
              <a:t>UPDATED SOURCE: Paper Listing 2, §IV-B · p. 5 · verbatim code; helper setup omitted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~75 s</a:t>
            </a:r>
          </a:p>
          <a:p/>
          <a:p>
            <a:r>
              <a:t>Change the source, keep the destination → destination survives: independent drawers. Then the elegant one: src2 and dst are encoded in the SAME bytes, told apart only by opcode. If indexed by raw bytes they'd collide. They don't — routed by MEANING, not bit position. This is what makes the reverse engineering credible.</a:t>
            </a:r>
          </a:p>
          <a:p/>
          <a:p>
            <a:r>
              <a:t>SOURCE: Paper § IV-B, Listings 3–4 · p. 5</a:t>
            </a:r>
          </a:p>
          <a:p/>
          <a:p>
            <a:r>
              <a:t>PAPER VISUAL / CODE WALKTHROUGH:</a:t>
            </a:r>
          </a:p>
          <a:p>
            <a:r>
              <a:t>Listing 3 changes the source page while keeping the destination, demonstrating independent source and destination state. Listing 4 places src2 and dst on the same page but uses different operations: src is reused, while the src2 translation does not provide a dst-slot hit. Preserve the original helper names and comments; do not silently repair their spelling.</a:t>
            </a:r>
          </a:p>
          <a:p/>
          <a:p>
            <a:r>
              <a:t>UPDATED SOURCE: Paper Listings 3–4, §IV-B · p. 5 · verbatim code; setup omitted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~85 s</a:t>
            </a:r>
          </a:p>
          <a:p/>
          <a:p>
            <a:r>
              <a:t>Three experiments, two VMs. E0: same queue + engine → miss, expected. E1 (the dangerous one): DIFFERENT queues, same engine → still miss. So the leak isn't about the queue, and PASID isn't partitioning this cache. E2 is the negative control: separate ENGINES → hit. Separate engines prevented this eviction in the tested configuration; separate queues did not. The control identifies the observed sharing boundary, not a universal security guarantee.</a:t>
            </a:r>
          </a:p>
          <a:p/>
          <a:p>
            <a:r>
              <a:t>SOURCE: Paper § IV-B, Fig. 5 · p. 6</a:t>
            </a:r>
          </a:p>
          <a:p/>
          <a:p>
            <a:r>
              <a:t>PAPER VISUAL / CODE WALKTHROUGH:</a:t>
            </a:r>
          </a:p>
          <a:p>
            <a:r>
              <a:t>The original Figure 5 contains both the victim submission sketch and the attacker prime/wait/probe sketch. Match each diagram row to its result. E2 is a negative control for this tested engine boundary, not proof that every possible DSA configuration is secure or that sharing alone guarantees every probe observes activity.</a:t>
            </a:r>
          </a:p>
          <a:p/>
          <a:p>
            <a:r>
              <a:t>UPDATED SOURCE: Paper Fig. 5, §IV-B · p. 6 · original E0/E1/E2 diagram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The attacker's real view: just rdtsc on its own completion. Hits ~500 cycles, misses &gt;1000 — two clean humps, threshold 600-900. They deliberately stress PCIe (2 GB/s NVMe) and memory (10 GB/s). Humps shift ~89 cycles in the cloud but never merge. Lab result survives reality.</a:t>
            </a:r>
          </a:p>
          <a:p/>
          <a:p>
            <a:r>
              <a:t>SOURCE: Paper § IV-B, Fig. 4 · pp. 5–6 · original distributions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~75 s</a:t>
            </a:r>
          </a:p>
          <a:p/>
          <a:p>
            <a:r>
              <a:t>Prime+Probe with a twist. I prime a slot with MY OWN completion-record address — never need the victim's. Go quiet. A victim completion write through the same engine can replace that slot. Probe = re-run noop and time its completion. A fast probe suggests retention; a slow probe suggests replacement. Calibration, co-location, and the observation window support an activity inference. One sample does not prove who caused the delay or reveal their data.</a:t>
            </a:r>
          </a:p>
          <a:p/>
          <a:p>
            <a:r>
              <a:t>SOURCE: Paper § V-B · p. 8</a:t>
            </a:r>
          </a:p>
          <a:p/>
          <a:p>
            <a:r>
              <a:t>PAPER VISUAL / CODE WALKTHROUGH:</a:t>
            </a:r>
          </a:p>
          <a:p>
            <a:r>
              <a:t>This is an exact excerpt from Listing 1, not a silently rewritten NOOP implementation. The paper’s complete Listing 1 prints COMPVAL in a helper described as comparing two buffers; those inconsistent setup lines are deliberately outside this excerpt. The source omits initialization, flags, and alignment. Explain that the timer begins after enqcmd and brackets completion polling. Section V-B applies this timing approach to completion-enabled NOOPs. A slow sample is an activity indicator subject to noise, not certain attribution to one victim.</a:t>
            </a:r>
          </a:p>
          <a:p/>
          <a:p>
            <a:r>
              <a:t>UPDATED SOURCE: Paper Listing 1, lines 7–12 · p. 4; NOOP attack in §V-B · p. 8</a:t>
            </a:r>
          </a:p>
          <a:p/>
          <a:p>
            <a:r>
              <a:t>RETAINED DETAIL:</a:t>
            </a:r>
          </a:p>
          <a:p>
            <a:r>
              <a:t>The probe measures coarse activity on the shared resource using the attacker’s own completion page. It does not read the victim’s address, packet, or typed character. Application labels come from repeated timing patterns and workload-specific inference.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You'd expect a shared queue to leak via submission timing. They measure it — submission time is FLAT. Timing is a dead end. The save: submission is a Deferrable Memory Write, and when the queue is full the hardware refuses and sets EFLAGS.ZF. Fullness leaks through yes/no, not how-long. Timer-free — better, no clock noise.</a:t>
            </a:r>
          </a:p>
          <a:p/>
          <a:p>
            <a:r>
              <a:t>SOURCE: Paper § IV-C, Fig. 6 · pp. 6–7 · original latency plot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~65 s</a:t>
            </a:r>
          </a:p>
          <a:p/>
          <a:p>
            <a:r>
              <a:t>Two facts to pin down. One: the fullness check happens at enqueue against config registers in constant time — that's why the flag is timer-free. Two: the arbiter always prefers WORK descriptors over BATCH (race them, latency unchanged). So to hold the queue hostage reliably, use one long ordinary memcpy, not a batch trick.</a:t>
            </a:r>
          </a:p>
          <a:p/>
          <a:p>
            <a:r>
              <a:t>SOURCE: Paper §§ IV-A, IV-C · pp. 3–4, 6–7</a:t>
            </a:r>
          </a:p>
          <a:p/>
          <a:p>
            <a:r>
              <a:t>PAPER VISUAL / CODE WALKTHROUGH:</a:t>
            </a:r>
          </a:p>
          <a:p>
            <a:r>
              <a:t>Listing 5 is an arbitration experiment, not the congestion loop. The authors swap submission order and compare ordinary-work completion latency. The results support priority for ordinary work over batch-buffer descriptors in the tested implementation. The explicit SFENCE separates the two submissions in this microbenchmark. Queue admission checks are a different part of the design, already visible in Figure 2.</a:t>
            </a:r>
          </a:p>
          <a:p/>
          <a:p>
            <a:r>
              <a:t>UPDATED SOURCE: Paper Listing 5, §IV-C · p. 6 · verbatim experiment; setup omitted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A theater with N seats. The attacker buys all but one — a long copy holds the front row so the queue drains slowly, fillers take the rest. One seat left. If the victim submits, it takes that seat and the house is full. Queue size readable without root. A stopwatch-free race against the long copy finishing.</a:t>
            </a:r>
          </a:p>
          <a:p/>
          <a:p>
            <a:r>
              <a:t>SOURCE: Paper §§ IV-C, V-C, Listing 6 · pp. 7–8</a:t>
            </a:r>
          </a:p>
          <a:p/>
          <a:p>
            <a:r>
              <a:t>PAPER VISUAL / CODE WALKTHROUGH:</a:t>
            </a:r>
          </a:p>
          <a:p>
            <a:r>
              <a:t>The paper submits one long memcpy and then wq_size−2 lightweight descriptors, aiming at a near-full queue during the observation window. A victim may use the remaining admission capacity. The probe helper’s nonzero result corresponds to retry/full-queue feedback in this experiment; it does not measure completion or identify a victim with certainty. Descriptor preparation, initial completion state, and retry policy are omitted from this pedagogical listing. The idle interval must be shorter than the anchor copy’s execution.</a:t>
            </a:r>
          </a:p>
          <a:p/>
          <a:p>
            <a:r>
              <a:t>UPDATED SOURCE: Paper Listing 6, §§IV-C/V-C · pp. 7–8 · verbatim code; setup omitted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~75 s</a:t>
            </a:r>
          </a:p>
          <a:p/>
          <a:p>
            <a:r>
              <a:t>Same three-beat rhythm as DevTLB. Congest to one-from-full. Hold it there. Try to submit one job and read the flag. ZF=0 means accepted; ZF=1 means retry, a full queue in this experiment. With the queue prepared and the window controlled, retry is evidence that the victim consumed remaining admission capacity. The signal uses no duration measurement; the observation window still needs control. The cost is active congestion of a shared resource the victim needs.</a:t>
            </a:r>
          </a:p>
          <a:p/>
          <a:p>
            <a:r>
              <a:t>SOURCE: Paper § V-C · p. 8</a:t>
            </a:r>
          </a:p>
          <a:p/>
          <a:p>
            <a:r>
              <a:t>RETAINED DETAIL:</a:t>
            </a:r>
          </a:p>
          <a:p>
            <a:r>
              <a:t>SWQ probing actively congests the shared queue used by the victim. Its signal avoids duration measurement, but the congestion window and queue drain still require control. Victim performance impact and detectability are not fully evaluated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~65 s</a:t>
            </a:r>
          </a:p>
          <a:p/>
          <a:p>
            <a:r>
              <a:t>A covert channel is the controlled test: make the 'victim' a cooperative SENDER and see how cleanly bits move. Sender encodes 1 by causing activity, 0 by idling; receiver reads the heartbeat. A preamble of 1s syncs the clocks. This proves capacity under clean conditions — real victims are messier.</a:t>
            </a:r>
          </a:p>
          <a:p/>
          <a:p>
            <a:r>
              <a:t>SOURCE: Paper § VI-A · p. 9 · simplified protocol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DevTLB hits 17.19 kbps under 5% error — quiet sniper packs probes tightly, beats SWQ. Curve shape: crank the RAW rate and errors climb until USEFUL throughput peaks then collapses — hence a best point. That 17-and-change is 5x faster, 4x cleaner than the prior IPI channel. Capacity: proven.</a:t>
            </a:r>
          </a:p>
          <a:p/>
          <a:p>
            <a:r>
              <a:t>SOURCE: Paper § VI-A, Fig. 9, Table IV · pp. 9, 12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A realistic victim: a VM running VPP, a DPDK userspace network stack that uses DSA to move packets through memif. Every burst of traffic becomes a burst of DSA activity on the shared engine. The attacker runs the quiet DevTLB probe and counts evictions over time. Never sees a packet — only the rhythm.</a:t>
            </a:r>
          </a:p>
          <a:p/>
          <a:p>
            <a:r>
              <a:t>SOURCE: Paper § VI-B, Fig. 8 · pp. 8–10 · simplified path</a:t>
            </a:r>
          </a:p>
          <a:p/>
          <a:p>
            <a:r>
              <a:t>PAPER VISUAL / CODE WALKTHROUGH:</a:t>
            </a:r>
          </a:p>
          <a:p>
            <a:r>
              <a:t>The original Figure 8 locates the DSA spy in VM2 and the victim applications in VM1. VPP/memif uses DSA for packet movement, so workload bursts can affect the shared engine. The attacker monitors its own completion latency and aggregates inferred misses. It does not read packet contents or directly discover a browser process; the evaluated workload is controlled browsing, with a classifier trained on known website labels.</a:t>
            </a:r>
          </a:p>
          <a:p/>
          <a:p>
            <a:r>
              <a:t>UPDATED SOURCE: Paper Fig. 8, §VI-B · pp. 8–10 · original VPP/memif setup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~65 s</a:t>
            </a:r>
          </a:p>
          <a:p/>
          <a:p>
            <a:r>
              <a:t>Each site → a ~250-slot time series, each slot a count of evictions. Feed an attention-BiLSTM, standard here. Notice one honest word: closed-world. 100 KNOWN sites, train and test from the same 100. Legitimate and strong, but not open-world detection of arbitrary pages. Keep that scope when interpreting the reported accuracy.</a:t>
            </a:r>
          </a:p>
          <a:p/>
          <a:p>
            <a:r>
              <a:t>SOURCE: Paper § VI-B · pp. 9–10 · dataset arithmetic from stated split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~55 s</a:t>
            </a:r>
          </a:p>
          <a:p/>
          <a:p>
            <a:r>
              <a:t>Three sites, three visibly different signatures — different burst timing and height. That's what the model keys on. No URLs, no content — just the silhouette of the accelerator working as the page loads. Striking that something this coarse separates sites at all.</a:t>
            </a:r>
          </a:p>
          <a:p/>
          <a:p>
            <a:r>
              <a:t>SOURCE: Paper § VI-B, Fig. 10 · p. 9 · original example traces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On all 100 sites: 85.73% vs a 1% coin-flip. Strong. CAREFUL: the pretty confusion matrix is a 15-site SUBSET at 96.5% — not the headline. Don't let anyone quote 96.5% as the result. Misses are sensible — sites with similar traffic shapes (canva, notion) blur; authors call it future work.</a:t>
            </a:r>
          </a:p>
          <a:p/>
          <a:p>
            <a:r>
              <a:t>SOURCE: Paper § VI-B, Fig. 11 · pp. 9–10 · original 15-site matrix</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DTO silently redirects ordinary memcpy-style calls to DSA, no code changes. So unmodified OpenSSH, handling each interactive keystroke packet, generates DSA activity per keypress. The attacker times those. The line I won't blur: the paper recovers keystroke TIMING, and notes it could feed a text model — it does NOT recover what you typed.</a:t>
            </a:r>
          </a:p>
          <a:p/>
          <a:p>
            <a:r>
              <a:t>SOURCE: Paper § VI-C · p. 10 · no end-to-end text recovery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~60 s</a:t>
            </a:r>
          </a:p>
          <a:p/>
          <a:p>
            <a:r>
              <a:t>Top: DevTLB attack; bottom: SWQ attack — both resolving 'ssh root' keystroke by keystroke. SWQ gives crisper spikes, foreshadowing its better timing. Honesty note for Q&amp;A: events are filtered by byte-size and latency thresholds, so exact counts depend on those knobs — which matters for the next slide.</a:t>
            </a:r>
          </a:p>
          <a:p/>
          <a:p>
            <a:r>
              <a:t>SOURCE: Paper § VI-C, Fig. 12 · p. 10 · original filtered traces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SWQ wins keystroke timing cleanly — 98.4% F1, 1.21 ms spread vs 5.29 for DevTLB, exactly what timer-free predicts. Use these headlines. But full disclosure: the paper's own detection/FP/FN counts don't perfectly reconcile with the printed F1 (backup). Doesn't overturn the conclusion, but a careful reader should know.</a:t>
            </a:r>
          </a:p>
          <a:p/>
          <a:p>
            <a:r>
              <a:t>SOURCE: Paper § VI-C, Tables III–IV · pp. 10–12 · headline metrics as reported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~65 s</a:t>
            </a:r>
          </a:p>
          <a:p/>
          <a:p>
            <a:r>
              <a:t>LLM inference shuffles weights around memory; with DTO those moves hit DSA. Different sizes/architectures move memory in different rhythms. A slightly longer 8ms window becomes a model fingerprint. Be precise: which of 8 KNOWN configs, under IDENTICAL prompts. Not stealing weights, not reading prompts, not open-world.</a:t>
            </a:r>
          </a:p>
          <a:p/>
          <a:p>
            <a:r>
              <a:t>SOURCE: Paper § VI-D, Table II · pp. 10–11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~65 s</a:t>
            </a:r>
          </a:p>
          <a:p/>
          <a:p>
            <a:r>
              <a:t>98.6%. Traces differ across sizes within a family and across families at a size — the model gets both. Striking that an accelerator twitch distinguishes LLMs through two VM walls. But keep the fence: fixed prompts, fixed runtimes, same host. Proves separability, not open-world identification.</a:t>
            </a:r>
          </a:p>
          <a:p/>
          <a:p>
            <a:r>
              <a:t>SOURCE: Paper § VI-D, Fig. 13 · p. 11 · original model traces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Full Table III, all six rows. Most numbers barely move — tight CIs, no collapse. The one row worth naming: the DevTLB keystroke F1 varies a few points (90.5-93.4%), and cloud / noise can even raise it; the covert, website, SWQ-keystroke and LLM numbers stay within a point. Synthetic PCIe and memory pressure don't save you. Precise language: they stressed background NOISE, not a dozen real tenants fighting the same engine. 'Robust to noise' is proven; 'robust to a busy multi-tenant host' is not — open question. (Local column = the paper's geometric-mean baseline; other columns are the reported noisy / cloud runs.)</a:t>
            </a:r>
          </a:p>
          <a:p/>
          <a:p>
            <a:r>
              <a:t>SOURCE: Paper § VI-E, Table III · p. 11 · all six reported rows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Vs the prior IPI channel, DevTLB is ~5x capacity at a quarter of the error. SWQ has the best keystroke timing here. Fair referee: DEVIOUS actually has LOWER bit error than DevTLB. DSASSASSIN wins throughput and timing, not every axis. And these are cross-paper numbers, not a head-to-head — multipliers are indicative.</a:t>
            </a:r>
          </a:p>
          <a:p/>
          <a:p>
            <a:r>
              <a:t>SOURCE: Paper § VI-F, Table IV · pp. 11–12 · cross-paper values, not matched re-runs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~65 s</a:t>
            </a:r>
          </a:p>
          <a:p/>
          <a:p>
            <a:r>
              <a:t>Root cause is structural: PASID TAGS entries but doesn't PARTITION the structure, and queue-full is a visible flag. Clean fix: partition the DevTLB by PASID like the IOTLB. Irony: that costs the capacity/perf DSA exists to provide. Hiding the queue flag collides with honest submitters needing retry info. Sketches, not deployed.</a:t>
            </a:r>
          </a:p>
          <a:p/>
          <a:p>
            <a:r>
              <a:t>SOURCE: Paper § VII · pp. 11–12 · proposals, not shipped fixes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~65 s</a:t>
            </a:r>
          </a:p>
          <a:p/>
          <a:p>
            <a:r>
              <a:t>Via accel-config: give sensitive tenants their own ENGINE — not just queue, callback to slide 7, because separate queues leave the DevTLB channel open. Don't share SWQs across trust boundaries. For crown-jewel paths, turn DSA off. This is the misconception most likely to bite an operator, so I say it twice.</a:t>
            </a:r>
          </a:p>
          <a:p/>
          <a:p>
            <a:r>
              <a:t>SOURCE: Paper § VII · p. 12 · deployment guidance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~65 s</a:t>
            </a:r>
          </a:p>
          <a:p/>
          <a:p>
            <a:r>
              <a:t>Their defense sprinkles random translations to confuse the attacker, and they honestly measure cost — up to ~16-18% at small transfers, shrinking as transfers grow. The remaining limitation: they measured what it COSTS, never how much leakage it LEAVES. Overhead study, not a proven fix.</a:t>
            </a:r>
          </a:p>
          <a:p/>
          <a:p>
            <a:r>
              <a:t>SOURCE: Paper § VII, Fig. 14 · p. 12 · original throughput chart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TALK | ~70 s</a:t>
            </a:r>
          </a:p>
          <a:p/>
          <a:p>
            <a:r>
              <a:t>The paper identifies two observable interfaces: completion timing exposes shared-engine DevTLB replacement, while submission feedback exposes shared-work-queue admission state. Controlled page, field, and engine experiments support the causal mechanism, followed by covert communication, website classification, keystroke event timing, and LLM configuration classification. Those results require provisioned DSA access and the relevant co-location. The classification datasets are controlled, and the mitigation experiment measures overhead without quantifying residual leakage. The keystroke event counts also have a reporting inconsistency, documented with the results and in the appendix. These scope limits qualify the reported accuracy; they do not negate the observed shared-state channels. The conclusion is that accelerator isolation must account for observable shared state as well as address permissions.</a:t>
            </a:r>
          </a:p>
          <a:p/>
          <a:p>
            <a:r>
              <a:t>SOURCE: Paper §§ IV–VII · evidence and evaluation scope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~45 s</a:t>
            </a:r>
          </a:p>
          <a:p/>
          <a:p>
            <a:r>
              <a:t>Reference for acronyms.</a:t>
            </a:r>
          </a:p>
          <a:p/>
          <a:p>
            <a:r>
              <a:t>SOURCE: Paper §§ II–V · pp. 2–8</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~45 s</a:t>
            </a:r>
          </a:p>
          <a:p/>
          <a:p>
            <a:r>
              <a:t>Calibration / timing.</a:t>
            </a:r>
          </a:p>
          <a:p/>
          <a:p>
            <a:r>
              <a:t>SOURCE: Paper §§ IV-B–C, V-B–C · pp. 5–8</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~45 s</a:t>
            </a:r>
          </a:p>
          <a:p/>
          <a:p>
            <a:r>
              <a:t>Reported detection / FP / FN do not match the printed F1.</a:t>
            </a:r>
          </a:p>
          <a:p/>
          <a:p>
            <a:r>
              <a:t>SOURCE: Paper § VI-C · p. 10 · diagnostic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~45 s</a:t>
            </a:r>
          </a:p>
          <a:p/>
          <a:p>
            <a:r>
              <a:t>Reproducibility.</a:t>
            </a:r>
          </a:p>
          <a:p/>
          <a:p>
            <a:r>
              <a:t>SOURCE: Paper §§ VI-B, VI-D · pp. 9–11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~45 s</a:t>
            </a:r>
          </a:p>
          <a:p/>
          <a:p>
            <a:r>
              <a:t>Hardware, victim software, artifact layout.</a:t>
            </a:r>
          </a:p>
          <a:p/>
          <a:p>
            <a:r>
              <a:t>SOURCE: Paper Appendix, p. 15 · authors’ artifact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~45 s</a:t>
            </a:r>
          </a:p>
          <a:p/>
          <a:p>
            <a:r>
              <a:t>Prepared Q&amp;A.</a:t>
            </a:r>
          </a:p>
          <a:p/>
          <a:p>
            <a:r>
              <a:t>SOURCE: Answers from paper §§ IV–VII + presenter assessment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~45 s</a:t>
            </a:r>
          </a:p>
          <a:p/>
          <a:p>
            <a:r>
              <a:t>Citation and links.</a:t>
            </a:r>
          </a:p>
          <a:p/>
          <a:p>
            <a:r>
              <a:t>SOURCE: Primary source: user-supplied hpca26dsassassin.pdf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x_0001"/>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A1A1A6"/>
                </a:solidFill>
                <a:latin typeface="Segoe UI"/>
              </a:defRPr>
            </a:pPr>
            <a:r>
              <a:t>1</a:t>
            </a:r>
          </a:p>
        </p:txBody>
      </p:sp>
      <p:sp>
        <p:nvSpPr>
          <p:cNvPr id="3" name="tx_0002"/>
          <p:cNvSpPr txBox="1"/>
          <p:nvPr/>
        </p:nvSpPr>
        <p:spPr>
          <a:xfrm>
            <a:off x="822960" y="1371600"/>
            <a:ext cx="10546079" cy="365760"/>
          </a:xfrm>
          <a:prstGeom prst="rect">
            <a:avLst/>
          </a:prstGeom>
          <a:noFill/>
        </p:spPr>
        <p:txBody>
          <a:bodyPr wrap="square" lIns="0" rIns="0" tIns="0" bIns="0">
            <a:spAutoFit/>
          </a:bodyPr>
          <a:lstStyle/>
          <a:p>
            <a:pPr>
              <a:spcAft>
                <a:spcPts val="400"/>
              </a:spcAft>
              <a:defRPr sz="1400" b="0" i="0">
                <a:solidFill>
                  <a:srgbClr val="A1A1A6"/>
                </a:solidFill>
                <a:latin typeface="Segoe UI Semibold"/>
              </a:defRPr>
            </a:pPr>
            <a:r>
              <a:t>HPCA 2026</a:t>
            </a:r>
          </a:p>
        </p:txBody>
      </p:sp>
      <p:sp>
        <p:nvSpPr>
          <p:cNvPr id="4" name="tx_0003"/>
          <p:cNvSpPr txBox="1"/>
          <p:nvPr/>
        </p:nvSpPr>
        <p:spPr>
          <a:xfrm>
            <a:off x="822960" y="1828800"/>
            <a:ext cx="10546079" cy="1188720"/>
          </a:xfrm>
          <a:prstGeom prst="rect">
            <a:avLst/>
          </a:prstGeom>
          <a:noFill/>
        </p:spPr>
        <p:txBody>
          <a:bodyPr wrap="square" lIns="0" rIns="0" tIns="0" bIns="0">
            <a:spAutoFit/>
          </a:bodyPr>
          <a:lstStyle/>
          <a:p>
            <a:pPr>
              <a:spcAft>
                <a:spcPts val="400"/>
              </a:spcAft>
              <a:defRPr sz="7200" b="0" i="0">
                <a:solidFill>
                  <a:srgbClr val="FFFFFF"/>
                </a:solidFill>
                <a:latin typeface="Segoe UI Semibold"/>
              </a:defRPr>
            </a:pPr>
            <a:r>
              <a:t>DSASSASSIN</a:t>
            </a:r>
          </a:p>
        </p:txBody>
      </p:sp>
      <p:sp>
        <p:nvSpPr>
          <p:cNvPr id="5" name="tx_0004"/>
          <p:cNvSpPr txBox="1"/>
          <p:nvPr/>
        </p:nvSpPr>
        <p:spPr>
          <a:xfrm>
            <a:off x="822960" y="3200400"/>
            <a:ext cx="10546079" cy="1280160"/>
          </a:xfrm>
          <a:prstGeom prst="rect">
            <a:avLst/>
          </a:prstGeom>
          <a:noFill/>
        </p:spPr>
        <p:txBody>
          <a:bodyPr wrap="square" lIns="0" rIns="0" tIns="0" bIns="0">
            <a:spAutoFit/>
          </a:bodyPr>
          <a:lstStyle/>
          <a:p>
            <a:pPr>
              <a:lnSpc>
                <a:spcPct val="110000"/>
              </a:lnSpc>
              <a:spcAft>
                <a:spcPts val="400"/>
              </a:spcAft>
              <a:defRPr sz="3000" b="0" i="0">
                <a:solidFill>
                  <a:srgbClr val="A1A1A6"/>
                </a:solidFill>
                <a:latin typeface="Segoe UI"/>
              </a:defRPr>
            </a:pPr>
            <a:r>
              <a:t>Cross-VM side-channel attacks by exploiting</a:t>
            </a:r>
          </a:p>
          <a:p>
            <a:pPr>
              <a:lnSpc>
                <a:spcPct val="110000"/>
              </a:lnSpc>
              <a:spcAft>
                <a:spcPts val="400"/>
              </a:spcAft>
              <a:defRPr sz="3000" b="0" i="0">
                <a:solidFill>
                  <a:srgbClr val="A1A1A6"/>
                </a:solidFill>
                <a:latin typeface="Segoe UI"/>
              </a:defRPr>
            </a:pPr>
            <a:r>
              <a:t>Intel’s Data Streaming Accelerator</a:t>
            </a:r>
          </a:p>
        </p:txBody>
      </p:sp>
      <p:sp>
        <p:nvSpPr>
          <p:cNvPr id="6" name="tx_0005"/>
          <p:cNvSpPr txBox="1"/>
          <p:nvPr/>
        </p:nvSpPr>
        <p:spPr>
          <a:xfrm>
            <a:off x="822960" y="4937760"/>
            <a:ext cx="10546079" cy="365760"/>
          </a:xfrm>
          <a:prstGeom prst="rect">
            <a:avLst/>
          </a:prstGeom>
          <a:noFill/>
        </p:spPr>
        <p:txBody>
          <a:bodyPr wrap="square" lIns="0" rIns="0" tIns="0" bIns="0">
            <a:spAutoFit/>
          </a:bodyPr>
          <a:lstStyle/>
          <a:p>
            <a:pPr>
              <a:spcAft>
                <a:spcPts val="400"/>
              </a:spcAft>
              <a:defRPr sz="1800" b="0" i="0">
                <a:solidFill>
                  <a:srgbClr val="FFFFFF"/>
                </a:solidFill>
                <a:latin typeface="Segoe UI"/>
              </a:defRPr>
            </a:pPr>
            <a:r>
              <a:t>Ben Chen · Kunlin Li · Shuwen Deng · Dongsheng Wang · Yun Chen</a:t>
            </a:r>
          </a:p>
        </p:txBody>
      </p:sp>
      <p:sp>
        <p:nvSpPr>
          <p:cNvPr id="7" name="tx_0006"/>
          <p:cNvSpPr txBox="1"/>
          <p:nvPr/>
        </p:nvSpPr>
        <p:spPr>
          <a:xfrm>
            <a:off x="822960" y="5349240"/>
            <a:ext cx="10546079" cy="365760"/>
          </a:xfrm>
          <a:prstGeom prst="rect">
            <a:avLst/>
          </a:prstGeom>
          <a:noFill/>
        </p:spPr>
        <p:txBody>
          <a:bodyPr wrap="square" lIns="0" rIns="0" tIns="0" bIns="0">
            <a:spAutoFit/>
          </a:bodyPr>
          <a:lstStyle/>
          <a:p>
            <a:pPr>
              <a:spcAft>
                <a:spcPts val="400"/>
              </a:spcAft>
              <a:defRPr sz="1500" b="0" i="0">
                <a:solidFill>
                  <a:srgbClr val="A1A1A6"/>
                </a:solidFill>
                <a:latin typeface="Segoe UI"/>
              </a:defRPr>
            </a:pPr>
            <a:r>
              <a:t>HKUST (Guangzhou) · Tsinghua University</a:t>
            </a:r>
          </a:p>
        </p:txBody>
      </p:sp>
      <p:sp>
        <p:nvSpPr>
          <p:cNvPr id="8" name="tx_0007"/>
          <p:cNvSpPr txBox="1"/>
          <p:nvPr/>
        </p:nvSpPr>
        <p:spPr>
          <a:xfrm>
            <a:off x="822960" y="5943600"/>
            <a:ext cx="10546079" cy="365760"/>
          </a:xfrm>
          <a:prstGeom prst="rect">
            <a:avLst/>
          </a:prstGeom>
          <a:noFill/>
        </p:spPr>
        <p:txBody>
          <a:bodyPr wrap="square" lIns="0" rIns="0" tIns="0" bIns="0">
            <a:spAutoFit/>
          </a:bodyPr>
          <a:lstStyle/>
          <a:p>
            <a:pPr>
              <a:spcAft>
                <a:spcPts val="400"/>
              </a:spcAft>
              <a:defRPr sz="1500" b="0" i="0">
                <a:solidFill>
                  <a:srgbClr val="A1A1A6"/>
                </a:solidFill>
                <a:latin typeface="Segoe UI"/>
              </a:defRPr>
            </a:pPr>
            <a:r>
              <a:t>Presented by Siddharth Banakar and Dinesh Samala · 29 October 2026</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008"/>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The wall has a crack</a:t>
            </a:r>
          </a:p>
        </p:txBody>
      </p:sp>
      <p:sp>
        <p:nvSpPr>
          <p:cNvPr id="3" name="tx_0009"/>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Address isolation still leaves the shared activity visible</a:t>
            </a:r>
          </a:p>
        </p:txBody>
      </p:sp>
      <p:sp>
        <p:nvSpPr>
          <p:cNvPr id="5" name="tx_0011"/>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2</a:t>
            </a:r>
          </a:p>
        </p:txBody>
      </p:sp>
      <p:sp>
        <p:nvSpPr>
          <p:cNvPr id="6" name="rect_0012"/>
          <p:cNvSpPr/>
          <p:nvPr/>
        </p:nvSpPr>
        <p:spPr>
          <a:xfrm>
            <a:off x="822960" y="1874519"/>
            <a:ext cx="4160520" cy="1554480"/>
          </a:xfrm>
          <a:prstGeom prst="roundRect">
            <a:avLst>
              <a:gd name="adj" fmla="val 1294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x_0013"/>
          <p:cNvSpPr txBox="1"/>
          <p:nvPr/>
        </p:nvSpPr>
        <p:spPr>
          <a:xfrm>
            <a:off x="1143000" y="2167127"/>
            <a:ext cx="3520439" cy="548640"/>
          </a:xfrm>
          <a:prstGeom prst="rect">
            <a:avLst/>
          </a:prstGeom>
          <a:noFill/>
        </p:spPr>
        <p:txBody>
          <a:bodyPr wrap="square" lIns="0" rIns="0" tIns="0" bIns="0">
            <a:spAutoFit/>
          </a:bodyPr>
          <a:lstStyle/>
          <a:p>
            <a:pPr>
              <a:spcAft>
                <a:spcPts val="400"/>
              </a:spcAft>
              <a:defRPr sz="2200" b="0" i="0">
                <a:solidFill>
                  <a:srgbClr val="0071E3"/>
                </a:solidFill>
                <a:latin typeface="Segoe UI Semibold"/>
              </a:defRPr>
            </a:pPr>
            <a:r>
              <a:t>VM A — victim</a:t>
            </a:r>
          </a:p>
        </p:txBody>
      </p:sp>
      <p:sp>
        <p:nvSpPr>
          <p:cNvPr id="8" name="tx_0014"/>
          <p:cNvSpPr txBox="1"/>
          <p:nvPr/>
        </p:nvSpPr>
        <p:spPr>
          <a:xfrm>
            <a:off x="1143000" y="2788920"/>
            <a:ext cx="3520439" cy="457200"/>
          </a:xfrm>
          <a:prstGeom prst="rect">
            <a:avLst/>
          </a:prstGeom>
          <a:noFill/>
        </p:spPr>
        <p:txBody>
          <a:bodyPr wrap="square" lIns="0" rIns="0" tIns="0" bIns="0">
            <a:spAutoFit/>
          </a:bodyPr>
          <a:lstStyle/>
          <a:p>
            <a:pPr>
              <a:lnSpc>
                <a:spcPct val="110000"/>
              </a:lnSpc>
              <a:spcAft>
                <a:spcPts val="600"/>
              </a:spcAft>
              <a:defRPr sz="1800" b="0" i="0">
                <a:solidFill>
                  <a:srgbClr val="6E6E73"/>
                </a:solidFill>
                <a:latin typeface="Segoe UI"/>
              </a:defRPr>
            </a:pPr>
            <a:r>
              <a:t>Private address space</a:t>
            </a:r>
          </a:p>
          <a:p>
            <a:pPr>
              <a:lnSpc>
                <a:spcPct val="110000"/>
              </a:lnSpc>
              <a:spcAft>
                <a:spcPts val="600"/>
              </a:spcAft>
              <a:defRPr sz="1800" b="0" i="0">
                <a:solidFill>
                  <a:srgbClr val="6E6E73"/>
                </a:solidFill>
                <a:latin typeface="Segoe UI"/>
              </a:defRPr>
            </a:pPr>
            <a:r>
              <a:t>PASID A</a:t>
            </a:r>
          </a:p>
        </p:txBody>
      </p:sp>
      <p:sp>
        <p:nvSpPr>
          <p:cNvPr id="9" name="rect_0015"/>
          <p:cNvSpPr/>
          <p:nvPr/>
        </p:nvSpPr>
        <p:spPr>
          <a:xfrm>
            <a:off x="7208519" y="1874519"/>
            <a:ext cx="4160520" cy="1554480"/>
          </a:xfrm>
          <a:prstGeom prst="roundRect">
            <a:avLst>
              <a:gd name="adj" fmla="val 1294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x_0016"/>
          <p:cNvSpPr txBox="1"/>
          <p:nvPr/>
        </p:nvSpPr>
        <p:spPr>
          <a:xfrm>
            <a:off x="7528559" y="2167127"/>
            <a:ext cx="3520439" cy="548640"/>
          </a:xfrm>
          <a:prstGeom prst="rect">
            <a:avLst/>
          </a:prstGeom>
          <a:noFill/>
        </p:spPr>
        <p:txBody>
          <a:bodyPr wrap="square" lIns="0" rIns="0" tIns="0" bIns="0">
            <a:spAutoFit/>
          </a:bodyPr>
          <a:lstStyle/>
          <a:p>
            <a:pPr>
              <a:spcAft>
                <a:spcPts val="400"/>
              </a:spcAft>
              <a:defRPr sz="2200" b="0" i="0">
                <a:solidFill>
                  <a:srgbClr val="D70015"/>
                </a:solidFill>
                <a:latin typeface="Segoe UI Semibold"/>
              </a:defRPr>
            </a:pPr>
            <a:r>
              <a:t>VM B — observer</a:t>
            </a:r>
          </a:p>
        </p:txBody>
      </p:sp>
      <p:sp>
        <p:nvSpPr>
          <p:cNvPr id="11" name="tx_0017"/>
          <p:cNvSpPr txBox="1"/>
          <p:nvPr/>
        </p:nvSpPr>
        <p:spPr>
          <a:xfrm>
            <a:off x="7528559" y="2788920"/>
            <a:ext cx="3520439" cy="457200"/>
          </a:xfrm>
          <a:prstGeom prst="rect">
            <a:avLst/>
          </a:prstGeom>
          <a:noFill/>
        </p:spPr>
        <p:txBody>
          <a:bodyPr wrap="square" lIns="0" rIns="0" tIns="0" bIns="0">
            <a:spAutoFit/>
          </a:bodyPr>
          <a:lstStyle/>
          <a:p>
            <a:pPr>
              <a:lnSpc>
                <a:spcPct val="110000"/>
              </a:lnSpc>
              <a:spcAft>
                <a:spcPts val="600"/>
              </a:spcAft>
              <a:defRPr sz="1800" b="0" i="0">
                <a:solidFill>
                  <a:srgbClr val="6E6E73"/>
                </a:solidFill>
                <a:latin typeface="Segoe UI"/>
              </a:defRPr>
            </a:pPr>
            <a:r>
              <a:t>Private address space</a:t>
            </a:r>
          </a:p>
          <a:p>
            <a:pPr>
              <a:lnSpc>
                <a:spcPct val="110000"/>
              </a:lnSpc>
              <a:spcAft>
                <a:spcPts val="600"/>
              </a:spcAft>
              <a:defRPr sz="1800" b="0" i="0">
                <a:solidFill>
                  <a:srgbClr val="6E6E73"/>
                </a:solidFill>
                <a:latin typeface="Segoe UI"/>
              </a:defRPr>
            </a:pPr>
            <a:r>
              <a:t>PASID B</a:t>
            </a:r>
          </a:p>
        </p:txBody>
      </p:sp>
      <p:sp>
        <p:nvSpPr>
          <p:cNvPr id="12" name="tx_0018"/>
          <p:cNvSpPr txBox="1"/>
          <p:nvPr/>
        </p:nvSpPr>
        <p:spPr>
          <a:xfrm>
            <a:off x="5166360" y="2240280"/>
            <a:ext cx="1859279" cy="822960"/>
          </a:xfrm>
          <a:prstGeom prst="rect">
            <a:avLst/>
          </a:prstGeom>
          <a:noFill/>
        </p:spPr>
        <p:txBody>
          <a:bodyPr wrap="square" lIns="0" rIns="0" tIns="0" bIns="0">
            <a:spAutoFit/>
          </a:bodyPr>
          <a:lstStyle/>
          <a:p>
            <a:pPr algn="ctr">
              <a:spcAft>
                <a:spcPts val="400"/>
              </a:spcAft>
              <a:defRPr sz="1500" b="0" i="0">
                <a:solidFill>
                  <a:srgbClr val="6E6E73"/>
                </a:solidFill>
                <a:latin typeface="Segoe UI"/>
              </a:defRPr>
            </a:pPr>
            <a:r>
              <a:t>VT-d / PASID</a:t>
            </a:r>
          </a:p>
          <a:p>
            <a:pPr algn="ctr">
              <a:spcAft>
                <a:spcPts val="400"/>
              </a:spcAft>
              <a:defRPr sz="1500" b="0" i="0">
                <a:solidFill>
                  <a:srgbClr val="6E6E73"/>
                </a:solidFill>
                <a:latin typeface="Segoe UI"/>
              </a:defRPr>
            </a:pPr>
            <a:r>
              <a:t>isolates translation</a:t>
            </a:r>
          </a:p>
        </p:txBody>
      </p:sp>
      <p:cxnSp>
        <p:nvCxnSpPr>
          <p:cNvPr id="13" name="ar_0019"/>
          <p:cNvCxnSpPr/>
          <p:nvPr/>
        </p:nvCxnSpPr>
        <p:spPr>
          <a:xfrm>
            <a:off x="2834640" y="3566160"/>
            <a:ext cx="0" cy="457200"/>
          </a:xfrm>
          <a:prstGeom prst="line">
            <a:avLst/>
          </a:prstGeom>
          <a:ln w="15875">
            <a:solidFill>
              <a:srgbClr val="86868B"/>
            </a:solidFill>
            <a:tailEnd type="triangle" w="sm" len="med"/>
          </a:ln>
        </p:spPr>
        <p:style>
          <a:lnRef idx="2">
            <a:schemeClr val="accent1"/>
          </a:lnRef>
          <a:fillRef idx="0">
            <a:schemeClr val="accent1"/>
          </a:fillRef>
          <a:effectRef idx="1">
            <a:schemeClr val="accent1"/>
          </a:effectRef>
          <a:fontRef idx="minor">
            <a:schemeClr val="tx1"/>
          </a:fontRef>
        </p:style>
      </p:cxnSp>
      <p:cxnSp>
        <p:nvCxnSpPr>
          <p:cNvPr id="14" name="ar_0020"/>
          <p:cNvCxnSpPr/>
          <p:nvPr/>
        </p:nvCxnSpPr>
        <p:spPr>
          <a:xfrm>
            <a:off x="9265919" y="3566160"/>
            <a:ext cx="0" cy="457200"/>
          </a:xfrm>
          <a:prstGeom prst="line">
            <a:avLst/>
          </a:prstGeom>
          <a:ln w="15875">
            <a:solidFill>
              <a:srgbClr val="86868B"/>
            </a:solidFill>
            <a:tailEnd type="triangle" w="sm" len="med"/>
          </a:ln>
        </p:spPr>
        <p:style>
          <a:lnRef idx="2">
            <a:schemeClr val="accent1"/>
          </a:lnRef>
          <a:fillRef idx="0">
            <a:schemeClr val="accent1"/>
          </a:fillRef>
          <a:effectRef idx="1">
            <a:schemeClr val="accent1"/>
          </a:effectRef>
          <a:fontRef idx="minor">
            <a:schemeClr val="tx1"/>
          </a:fontRef>
        </p:style>
      </p:cxnSp>
      <p:sp>
        <p:nvSpPr>
          <p:cNvPr id="15" name="rect_0021"/>
          <p:cNvSpPr/>
          <p:nvPr/>
        </p:nvSpPr>
        <p:spPr>
          <a:xfrm>
            <a:off x="822960" y="4069080"/>
            <a:ext cx="10546079" cy="1005840"/>
          </a:xfrm>
          <a:prstGeom prst="roundRect">
            <a:avLst>
              <a:gd name="adj" fmla="val 18181"/>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x_0022"/>
          <p:cNvSpPr txBox="1"/>
          <p:nvPr/>
        </p:nvSpPr>
        <p:spPr>
          <a:xfrm>
            <a:off x="822960" y="4069080"/>
            <a:ext cx="10546079" cy="1005840"/>
          </a:xfrm>
          <a:prstGeom prst="rect">
            <a:avLst/>
          </a:prstGeom>
          <a:noFill/>
        </p:spPr>
        <p:txBody>
          <a:bodyPr wrap="square" lIns="0" rIns="0" tIns="0" bIns="0" anchor="ctr">
            <a:spAutoFit/>
          </a:bodyPr>
          <a:lstStyle/>
          <a:p>
            <a:pPr algn="ctr">
              <a:spcAft>
                <a:spcPts val="400"/>
              </a:spcAft>
              <a:defRPr sz="2600" b="0" i="0">
                <a:solidFill>
                  <a:srgbClr val="FFFFFF"/>
                </a:solidFill>
                <a:latin typeface="Segoe UI Semibold"/>
              </a:defRPr>
            </a:pPr>
            <a:r>
              <a:t>Shared engine state   ·   shared queue occupancy</a:t>
            </a:r>
          </a:p>
        </p:txBody>
      </p:sp>
      <p:sp>
        <p:nvSpPr>
          <p:cNvPr id="17" name="rect_0023"/>
          <p:cNvSpPr/>
          <p:nvPr/>
        </p:nvSpPr>
        <p:spPr>
          <a:xfrm>
            <a:off x="822960" y="571500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x_0024"/>
          <p:cNvSpPr txBox="1"/>
          <p:nvPr/>
        </p:nvSpPr>
        <p:spPr>
          <a:xfrm>
            <a:off x="822960" y="587044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The leakage is about resource use — not access to victim memory.</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091"/>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Meet the machine</a:t>
            </a:r>
          </a:p>
        </p:txBody>
      </p:sp>
      <p:sp>
        <p:nvSpPr>
          <p:cNvPr id="3" name="tx_0092"/>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Memory offload creates a new place to observe</a:t>
            </a:r>
          </a:p>
        </p:txBody>
      </p:sp>
      <p:sp>
        <p:nvSpPr>
          <p:cNvPr id="5" name="tx_0094"/>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3</a:t>
            </a:r>
          </a:p>
        </p:txBody>
      </p:sp>
      <p:sp>
        <p:nvSpPr>
          <p:cNvPr id="6" name="rect_0095"/>
          <p:cNvSpPr/>
          <p:nvPr/>
        </p:nvSpPr>
        <p:spPr>
          <a:xfrm>
            <a:off x="822960" y="2240280"/>
            <a:ext cx="3180079" cy="2011680"/>
          </a:xfrm>
          <a:prstGeom prst="roundRect">
            <a:avLst>
              <a:gd name="adj" fmla="val 1000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x_0096"/>
          <p:cNvSpPr txBox="1"/>
          <p:nvPr/>
        </p:nvSpPr>
        <p:spPr>
          <a:xfrm>
            <a:off x="1097280" y="2514600"/>
            <a:ext cx="263143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Common operations</a:t>
            </a:r>
          </a:p>
        </p:txBody>
      </p:sp>
      <p:sp>
        <p:nvSpPr>
          <p:cNvPr id="8" name="tx_0097"/>
          <p:cNvSpPr txBox="1"/>
          <p:nvPr/>
        </p:nvSpPr>
        <p:spPr>
          <a:xfrm>
            <a:off x="1097280" y="3108960"/>
            <a:ext cx="2631439" cy="1005840"/>
          </a:xfrm>
          <a:prstGeom prst="rect">
            <a:avLst/>
          </a:prstGeom>
          <a:noFill/>
        </p:spPr>
        <p:txBody>
          <a:bodyPr wrap="square" lIns="0" rIns="0" tIns="0" bIns="0">
            <a:spAutoFit/>
          </a:bodyPr>
          <a:lstStyle/>
          <a:p>
            <a:pPr>
              <a:lnSpc>
                <a:spcPct val="110000"/>
              </a:lnSpc>
              <a:spcAft>
                <a:spcPts val="400"/>
              </a:spcAft>
              <a:defRPr sz="1700" b="0" i="0">
                <a:solidFill>
                  <a:srgbClr val="6E6E73"/>
                </a:solidFill>
                <a:latin typeface="Segoe UI"/>
              </a:defRPr>
            </a:pPr>
            <a:r>
              <a:t>memcpy · memset</a:t>
            </a:r>
          </a:p>
          <a:p>
            <a:pPr>
              <a:lnSpc>
                <a:spcPct val="110000"/>
              </a:lnSpc>
              <a:spcAft>
                <a:spcPts val="400"/>
              </a:spcAft>
              <a:defRPr sz="1700" b="0" i="0">
                <a:solidFill>
                  <a:srgbClr val="6E6E73"/>
                </a:solidFill>
                <a:latin typeface="Segoe UI"/>
              </a:defRPr>
            </a:pPr>
            <a:r>
              <a:t>compare · checksums</a:t>
            </a:r>
          </a:p>
        </p:txBody>
      </p:sp>
      <p:cxnSp>
        <p:nvCxnSpPr>
          <p:cNvPr id="9" name="ar_0098"/>
          <p:cNvCxnSpPr/>
          <p:nvPr/>
        </p:nvCxnSpPr>
        <p:spPr>
          <a:xfrm>
            <a:off x="4094479" y="3246120"/>
            <a:ext cx="320040" cy="0"/>
          </a:xfrm>
          <a:prstGeom prst="line">
            <a:avLst/>
          </a:prstGeom>
          <a:ln w="15875">
            <a:solidFill>
              <a:srgbClr val="86868B"/>
            </a:solidFill>
            <a:tailEnd type="triangle" w="sm" len="med"/>
          </a:ln>
        </p:spPr>
        <p:style>
          <a:lnRef idx="2">
            <a:schemeClr val="accent1"/>
          </a:lnRef>
          <a:fillRef idx="0">
            <a:schemeClr val="accent1"/>
          </a:fillRef>
          <a:effectRef idx="1">
            <a:schemeClr val="accent1"/>
          </a:effectRef>
          <a:fontRef idx="minor">
            <a:schemeClr val="tx1"/>
          </a:fontRef>
        </p:style>
      </p:cxnSp>
      <p:sp>
        <p:nvSpPr>
          <p:cNvPr id="10" name="rect_0099"/>
          <p:cNvSpPr/>
          <p:nvPr/>
        </p:nvSpPr>
        <p:spPr>
          <a:xfrm>
            <a:off x="4505959" y="2240280"/>
            <a:ext cx="3180079" cy="2011680"/>
          </a:xfrm>
          <a:prstGeom prst="roundRect">
            <a:avLst>
              <a:gd name="adj" fmla="val 1000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x_0100"/>
          <p:cNvSpPr txBox="1"/>
          <p:nvPr/>
        </p:nvSpPr>
        <p:spPr>
          <a:xfrm>
            <a:off x="4780279" y="2514600"/>
            <a:ext cx="263143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DSA offload</a:t>
            </a:r>
          </a:p>
        </p:txBody>
      </p:sp>
      <p:sp>
        <p:nvSpPr>
          <p:cNvPr id="12" name="tx_0101"/>
          <p:cNvSpPr txBox="1"/>
          <p:nvPr/>
        </p:nvSpPr>
        <p:spPr>
          <a:xfrm>
            <a:off x="4780279" y="3108960"/>
            <a:ext cx="2631439" cy="1005840"/>
          </a:xfrm>
          <a:prstGeom prst="rect">
            <a:avLst/>
          </a:prstGeom>
          <a:noFill/>
        </p:spPr>
        <p:txBody>
          <a:bodyPr wrap="square" lIns="0" rIns="0" tIns="0" bIns="0">
            <a:spAutoFit/>
          </a:bodyPr>
          <a:lstStyle/>
          <a:p>
            <a:pPr>
              <a:lnSpc>
                <a:spcPct val="110000"/>
              </a:lnSpc>
              <a:spcAft>
                <a:spcPts val="400"/>
              </a:spcAft>
              <a:defRPr sz="1700" b="0" i="0">
                <a:solidFill>
                  <a:srgbClr val="6E6E73"/>
                </a:solidFill>
                <a:latin typeface="Segoe UI"/>
              </a:defRPr>
            </a:pPr>
            <a:r>
              <a:t>descriptor submission</a:t>
            </a:r>
          </a:p>
          <a:p>
            <a:pPr>
              <a:lnSpc>
                <a:spcPct val="110000"/>
              </a:lnSpc>
              <a:spcAft>
                <a:spcPts val="400"/>
              </a:spcAft>
              <a:defRPr sz="1700" b="0" i="0">
                <a:solidFill>
                  <a:srgbClr val="6E6E73"/>
                </a:solidFill>
                <a:latin typeface="Segoe UI"/>
              </a:defRPr>
            </a:pPr>
            <a:r>
              <a:t>asynchronous execution</a:t>
            </a:r>
          </a:p>
        </p:txBody>
      </p:sp>
      <p:cxnSp>
        <p:nvCxnSpPr>
          <p:cNvPr id="13" name="ar_0102"/>
          <p:cNvCxnSpPr/>
          <p:nvPr/>
        </p:nvCxnSpPr>
        <p:spPr>
          <a:xfrm>
            <a:off x="7777479" y="3246120"/>
            <a:ext cx="320040" cy="0"/>
          </a:xfrm>
          <a:prstGeom prst="line">
            <a:avLst/>
          </a:prstGeom>
          <a:ln w="15875">
            <a:solidFill>
              <a:srgbClr val="86868B"/>
            </a:solidFill>
            <a:tailEnd type="triangle" w="sm" len="med"/>
          </a:ln>
        </p:spPr>
        <p:style>
          <a:lnRef idx="2">
            <a:schemeClr val="accent1"/>
          </a:lnRef>
          <a:fillRef idx="0">
            <a:schemeClr val="accent1"/>
          </a:fillRef>
          <a:effectRef idx="1">
            <a:schemeClr val="accent1"/>
          </a:effectRef>
          <a:fontRef idx="minor">
            <a:schemeClr val="tx1"/>
          </a:fontRef>
        </p:style>
      </p:cxnSp>
      <p:sp>
        <p:nvSpPr>
          <p:cNvPr id="14" name="rect_0103"/>
          <p:cNvSpPr/>
          <p:nvPr/>
        </p:nvSpPr>
        <p:spPr>
          <a:xfrm>
            <a:off x="8188959" y="2240280"/>
            <a:ext cx="3180079" cy="2011680"/>
          </a:xfrm>
          <a:prstGeom prst="roundRect">
            <a:avLst>
              <a:gd name="adj" fmla="val 1000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x_0104"/>
          <p:cNvSpPr txBox="1"/>
          <p:nvPr/>
        </p:nvSpPr>
        <p:spPr>
          <a:xfrm>
            <a:off x="8463279" y="2514600"/>
            <a:ext cx="2631439" cy="548640"/>
          </a:xfrm>
          <a:prstGeom prst="rect">
            <a:avLst/>
          </a:prstGeom>
          <a:noFill/>
        </p:spPr>
        <p:txBody>
          <a:bodyPr wrap="square" lIns="0" rIns="0" tIns="0" bIns="0">
            <a:spAutoFit/>
          </a:bodyPr>
          <a:lstStyle/>
          <a:p>
            <a:pPr>
              <a:spcAft>
                <a:spcPts val="400"/>
              </a:spcAft>
              <a:defRPr sz="2100" b="0" i="0">
                <a:solidFill>
                  <a:srgbClr val="0071E3"/>
                </a:solidFill>
                <a:latin typeface="Segoe UI Semibold"/>
              </a:defRPr>
            </a:pPr>
            <a:r>
              <a:t>Observable state</a:t>
            </a:r>
          </a:p>
        </p:txBody>
      </p:sp>
      <p:sp>
        <p:nvSpPr>
          <p:cNvPr id="16" name="tx_0105"/>
          <p:cNvSpPr txBox="1"/>
          <p:nvPr/>
        </p:nvSpPr>
        <p:spPr>
          <a:xfrm>
            <a:off x="8463279" y="3108960"/>
            <a:ext cx="2631439" cy="1005840"/>
          </a:xfrm>
          <a:prstGeom prst="rect">
            <a:avLst/>
          </a:prstGeom>
          <a:noFill/>
        </p:spPr>
        <p:txBody>
          <a:bodyPr wrap="square" lIns="0" rIns="0" tIns="0" bIns="0">
            <a:spAutoFit/>
          </a:bodyPr>
          <a:lstStyle/>
          <a:p>
            <a:pPr>
              <a:lnSpc>
                <a:spcPct val="110000"/>
              </a:lnSpc>
              <a:spcAft>
                <a:spcPts val="400"/>
              </a:spcAft>
              <a:defRPr sz="1700" b="0" i="0">
                <a:solidFill>
                  <a:srgbClr val="6E6E73"/>
                </a:solidFill>
                <a:latin typeface="Segoe UI"/>
              </a:defRPr>
            </a:pPr>
            <a:r>
              <a:t>translation cache</a:t>
            </a:r>
          </a:p>
          <a:p>
            <a:pPr>
              <a:lnSpc>
                <a:spcPct val="110000"/>
              </a:lnSpc>
              <a:spcAft>
                <a:spcPts val="400"/>
              </a:spcAft>
              <a:defRPr sz="1700" b="0" i="0">
                <a:solidFill>
                  <a:srgbClr val="6E6E73"/>
                </a:solidFill>
                <a:latin typeface="Segoe UI"/>
              </a:defRPr>
            </a:pPr>
            <a:r>
              <a:t>queue occupancy</a:t>
            </a:r>
          </a:p>
        </p:txBody>
      </p:sp>
      <p:sp>
        <p:nvSpPr>
          <p:cNvPr id="17" name="rect_0106"/>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x_0107"/>
          <p:cNvSpPr txBox="1"/>
          <p:nvPr/>
        </p:nvSpPr>
        <p:spPr>
          <a:xfrm>
            <a:off x="822960" y="577900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Moving work off the CPU moves the side-channel surface with it.</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108"/>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Meet the machine</a:t>
            </a:r>
          </a:p>
        </p:txBody>
      </p:sp>
      <p:sp>
        <p:nvSpPr>
          <p:cNvPr id="3" name="tx_0109"/>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A DSA operation is a descriptor-driven pipeline</a:t>
            </a:r>
          </a:p>
        </p:txBody>
      </p:sp>
      <p:sp>
        <p:nvSpPr>
          <p:cNvPr id="5" name="tx_0111"/>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4</a:t>
            </a:r>
          </a:p>
        </p:txBody>
      </p:sp>
      <p:pic>
        <p:nvPicPr>
          <p:cNvPr id="6" name="Original paper Figure 1 — page 3" descr="paper_fig1.png"/>
          <p:cNvPicPr>
            <a:picLocks noChangeAspect="1"/>
          </p:cNvPicPr>
          <p:nvPr/>
        </p:nvPicPr>
        <p:blipFill>
          <a:blip r:embed="rId3"/>
          <a:stretch>
            <a:fillRect/>
          </a:stretch>
        </p:blipFill>
        <p:spPr>
          <a:xfrm>
            <a:off x="822960" y="1841955"/>
            <a:ext cx="10546079" cy="3402688"/>
          </a:xfrm>
          <a:prstGeom prst="rect">
            <a:avLst/>
          </a:prstGeom>
        </p:spPr>
      </p:pic>
      <p:sp>
        <p:nvSpPr>
          <p:cNvPr id="7" name="tx_1150"/>
          <p:cNvSpPr txBox="1"/>
          <p:nvPr/>
        </p:nvSpPr>
        <p:spPr>
          <a:xfrm>
            <a:off x="822960" y="5340096"/>
            <a:ext cx="10546079" cy="228600"/>
          </a:xfrm>
          <a:prstGeom prst="rect">
            <a:avLst/>
          </a:prstGeom>
          <a:noFill/>
        </p:spPr>
        <p:txBody>
          <a:bodyPr wrap="square" lIns="0" rIns="0" tIns="0" bIns="0">
            <a:spAutoFit/>
          </a:bodyPr>
          <a:lstStyle/>
          <a:p>
            <a:pPr>
              <a:spcAft>
                <a:spcPts val="400"/>
              </a:spcAft>
              <a:defRPr sz="1200" b="0" i="0">
                <a:solidFill>
                  <a:srgbClr val="6E6E73"/>
                </a:solidFill>
                <a:latin typeface="Segoe UI"/>
              </a:defRPr>
            </a:pPr>
            <a:r>
              <a:t>ORIGINAL FIGURE 1  ·  CPU → portal → work queue → engine → completion</a:t>
            </a:r>
          </a:p>
        </p:txBody>
      </p:sp>
      <p:sp>
        <p:nvSpPr>
          <p:cNvPr id="8" name="rect_1151"/>
          <p:cNvSpPr/>
          <p:nvPr/>
        </p:nvSpPr>
        <p:spPr>
          <a:xfrm>
            <a:off x="822960" y="5650992"/>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x_1152"/>
          <p:cNvSpPr txBox="1"/>
          <p:nvPr/>
        </p:nvSpPr>
        <p:spPr>
          <a:xfrm>
            <a:off x="822960" y="5806440"/>
            <a:ext cx="10546079" cy="548640"/>
          </a:xfrm>
          <a:prstGeom prst="rect">
            <a:avLst/>
          </a:prstGeom>
          <a:noFill/>
        </p:spPr>
        <p:txBody>
          <a:bodyPr wrap="square" lIns="0" rIns="0" tIns="0" bIns="0">
            <a:spAutoFit/>
          </a:bodyPr>
          <a:lstStyle/>
          <a:p>
            <a:pPr>
              <a:spcAft>
                <a:spcPts val="400"/>
              </a:spcAft>
              <a:defRPr sz="2000" b="0" i="0">
                <a:solidFill>
                  <a:srgbClr val="1D1D1F"/>
                </a:solidFill>
                <a:latin typeface="Segoe UI Semibold"/>
              </a:defRPr>
            </a:pPr>
            <a:r>
              <a:t>Follow one descriptor through the engine and its memory-translation path.</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130"/>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Meet the machine</a:t>
            </a:r>
          </a:p>
        </p:txBody>
      </p:sp>
      <p:sp>
        <p:nvSpPr>
          <p:cNvPr id="3" name="tx_0131"/>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The device keeps its own translation cache</a:t>
            </a:r>
          </a:p>
        </p:txBody>
      </p:sp>
      <p:sp>
        <p:nvSpPr>
          <p:cNvPr id="5" name="tx_0133"/>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5</a:t>
            </a:r>
          </a:p>
        </p:txBody>
      </p:sp>
      <p:sp>
        <p:nvSpPr>
          <p:cNvPr id="6" name="rect_0134"/>
          <p:cNvSpPr/>
          <p:nvPr/>
        </p:nvSpPr>
        <p:spPr>
          <a:xfrm>
            <a:off x="822960" y="2057400"/>
            <a:ext cx="3180079" cy="1554480"/>
          </a:xfrm>
          <a:prstGeom prst="roundRect">
            <a:avLst>
              <a:gd name="adj" fmla="val 1294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x_0135"/>
          <p:cNvSpPr txBox="1"/>
          <p:nvPr/>
        </p:nvSpPr>
        <p:spPr>
          <a:xfrm>
            <a:off x="1097280" y="2331720"/>
            <a:ext cx="263143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Device request</a:t>
            </a:r>
          </a:p>
        </p:txBody>
      </p:sp>
      <p:sp>
        <p:nvSpPr>
          <p:cNvPr id="8" name="tx_0136"/>
          <p:cNvSpPr txBox="1"/>
          <p:nvPr/>
        </p:nvSpPr>
        <p:spPr>
          <a:xfrm>
            <a:off x="1097280" y="2926080"/>
            <a:ext cx="2631439" cy="548639"/>
          </a:xfrm>
          <a:prstGeom prst="rect">
            <a:avLst/>
          </a:prstGeom>
          <a:noFill/>
        </p:spPr>
        <p:txBody>
          <a:bodyPr wrap="square" lIns="0" rIns="0" tIns="0" bIns="0">
            <a:spAutoFit/>
          </a:bodyPr>
          <a:lstStyle/>
          <a:p>
            <a:pPr>
              <a:lnSpc>
                <a:spcPct val="110000"/>
              </a:lnSpc>
              <a:spcAft>
                <a:spcPts val="400"/>
              </a:spcAft>
              <a:defRPr sz="1700" b="0" i="0">
                <a:solidFill>
                  <a:srgbClr val="6E6E73"/>
                </a:solidFill>
                <a:latin typeface="Segoe UI"/>
              </a:defRPr>
            </a:pPr>
            <a:r>
              <a:t>virtual address + PASID</a:t>
            </a:r>
          </a:p>
        </p:txBody>
      </p:sp>
      <p:cxnSp>
        <p:nvCxnSpPr>
          <p:cNvPr id="9" name="ar_0137"/>
          <p:cNvCxnSpPr/>
          <p:nvPr/>
        </p:nvCxnSpPr>
        <p:spPr>
          <a:xfrm>
            <a:off x="4094479" y="2834640"/>
            <a:ext cx="320040" cy="0"/>
          </a:xfrm>
          <a:prstGeom prst="line">
            <a:avLst/>
          </a:prstGeom>
          <a:ln w="15875">
            <a:solidFill>
              <a:srgbClr val="86868B"/>
            </a:solidFill>
            <a:tailEnd type="triangle" w="sm" len="med"/>
          </a:ln>
        </p:spPr>
        <p:style>
          <a:lnRef idx="2">
            <a:schemeClr val="accent1"/>
          </a:lnRef>
          <a:fillRef idx="0">
            <a:schemeClr val="accent1"/>
          </a:fillRef>
          <a:effectRef idx="1">
            <a:schemeClr val="accent1"/>
          </a:effectRef>
          <a:fontRef idx="minor">
            <a:schemeClr val="tx1"/>
          </a:fontRef>
        </p:style>
      </p:cxnSp>
      <p:sp>
        <p:nvSpPr>
          <p:cNvPr id="10" name="rect_0138"/>
          <p:cNvSpPr/>
          <p:nvPr/>
        </p:nvSpPr>
        <p:spPr>
          <a:xfrm>
            <a:off x="4505959" y="2057400"/>
            <a:ext cx="3180079" cy="1554480"/>
          </a:xfrm>
          <a:prstGeom prst="roundRect">
            <a:avLst>
              <a:gd name="adj" fmla="val 1294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x_0139"/>
          <p:cNvSpPr txBox="1"/>
          <p:nvPr/>
        </p:nvSpPr>
        <p:spPr>
          <a:xfrm>
            <a:off x="4780279" y="2331720"/>
            <a:ext cx="263143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DevTLB / ATC</a:t>
            </a:r>
          </a:p>
        </p:txBody>
      </p:sp>
      <p:sp>
        <p:nvSpPr>
          <p:cNvPr id="12" name="tx_0140"/>
          <p:cNvSpPr txBox="1"/>
          <p:nvPr/>
        </p:nvSpPr>
        <p:spPr>
          <a:xfrm>
            <a:off x="4780279" y="2926080"/>
            <a:ext cx="2631439" cy="548639"/>
          </a:xfrm>
          <a:prstGeom prst="rect">
            <a:avLst/>
          </a:prstGeom>
          <a:noFill/>
        </p:spPr>
        <p:txBody>
          <a:bodyPr wrap="square" lIns="0" rIns="0" tIns="0" bIns="0">
            <a:spAutoFit/>
          </a:bodyPr>
          <a:lstStyle/>
          <a:p>
            <a:pPr>
              <a:lnSpc>
                <a:spcPct val="110000"/>
              </a:lnSpc>
              <a:spcAft>
                <a:spcPts val="400"/>
              </a:spcAft>
              <a:defRPr sz="1700" b="0" i="0">
                <a:solidFill>
                  <a:srgbClr val="6E6E73"/>
                </a:solidFill>
                <a:latin typeface="Segoe UI"/>
              </a:defRPr>
            </a:pPr>
            <a:r>
              <a:t>hit → reuse translation</a:t>
            </a:r>
          </a:p>
        </p:txBody>
      </p:sp>
      <p:cxnSp>
        <p:nvCxnSpPr>
          <p:cNvPr id="13" name="ar_0141"/>
          <p:cNvCxnSpPr/>
          <p:nvPr/>
        </p:nvCxnSpPr>
        <p:spPr>
          <a:xfrm>
            <a:off x="7777479" y="2834640"/>
            <a:ext cx="320040" cy="0"/>
          </a:xfrm>
          <a:prstGeom prst="line">
            <a:avLst/>
          </a:prstGeom>
          <a:ln w="15875">
            <a:solidFill>
              <a:srgbClr val="86868B"/>
            </a:solidFill>
            <a:tailEnd type="triangle" w="sm" len="med"/>
          </a:ln>
        </p:spPr>
        <p:style>
          <a:lnRef idx="2">
            <a:schemeClr val="accent1"/>
          </a:lnRef>
          <a:fillRef idx="0">
            <a:schemeClr val="accent1"/>
          </a:fillRef>
          <a:effectRef idx="1">
            <a:schemeClr val="accent1"/>
          </a:effectRef>
          <a:fontRef idx="minor">
            <a:schemeClr val="tx1"/>
          </a:fontRef>
        </p:style>
      </p:cxnSp>
      <p:sp>
        <p:nvSpPr>
          <p:cNvPr id="14" name="rect_0142"/>
          <p:cNvSpPr/>
          <p:nvPr/>
        </p:nvSpPr>
        <p:spPr>
          <a:xfrm>
            <a:off x="8188959" y="2057400"/>
            <a:ext cx="3180079" cy="1554480"/>
          </a:xfrm>
          <a:prstGeom prst="roundRect">
            <a:avLst>
              <a:gd name="adj" fmla="val 1294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x_0143"/>
          <p:cNvSpPr txBox="1"/>
          <p:nvPr/>
        </p:nvSpPr>
        <p:spPr>
          <a:xfrm>
            <a:off x="8463279" y="2331720"/>
            <a:ext cx="263143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Host memory</a:t>
            </a:r>
          </a:p>
        </p:txBody>
      </p:sp>
      <p:sp>
        <p:nvSpPr>
          <p:cNvPr id="16" name="tx_0144"/>
          <p:cNvSpPr txBox="1"/>
          <p:nvPr/>
        </p:nvSpPr>
        <p:spPr>
          <a:xfrm>
            <a:off x="8463279" y="2926080"/>
            <a:ext cx="2631439" cy="548639"/>
          </a:xfrm>
          <a:prstGeom prst="rect">
            <a:avLst/>
          </a:prstGeom>
          <a:noFill/>
        </p:spPr>
        <p:txBody>
          <a:bodyPr wrap="square" lIns="0" rIns="0" tIns="0" bIns="0">
            <a:spAutoFit/>
          </a:bodyPr>
          <a:lstStyle/>
          <a:p>
            <a:pPr>
              <a:lnSpc>
                <a:spcPct val="110000"/>
              </a:lnSpc>
              <a:spcAft>
                <a:spcPts val="400"/>
              </a:spcAft>
              <a:defRPr sz="1700" b="0" i="0">
                <a:solidFill>
                  <a:srgbClr val="6E6E73"/>
                </a:solidFill>
                <a:latin typeface="Segoe UI"/>
              </a:defRPr>
            </a:pPr>
            <a:r>
              <a:t>physical transaction</a:t>
            </a:r>
          </a:p>
        </p:txBody>
      </p:sp>
      <p:sp>
        <p:nvSpPr>
          <p:cNvPr id="17" name="tx_0145"/>
          <p:cNvSpPr txBox="1"/>
          <p:nvPr/>
        </p:nvSpPr>
        <p:spPr>
          <a:xfrm>
            <a:off x="822960" y="3977639"/>
            <a:ext cx="10546079" cy="457200"/>
          </a:xfrm>
          <a:prstGeom prst="rect">
            <a:avLst/>
          </a:prstGeom>
          <a:noFill/>
        </p:spPr>
        <p:txBody>
          <a:bodyPr wrap="square" lIns="0" rIns="0" tIns="0" bIns="0">
            <a:spAutoFit/>
          </a:bodyPr>
          <a:lstStyle/>
          <a:p>
            <a:pPr algn="ctr">
              <a:spcAft>
                <a:spcPts val="400"/>
              </a:spcAft>
              <a:defRPr sz="1800" b="0" i="0">
                <a:solidFill>
                  <a:srgbClr val="D70015"/>
                </a:solidFill>
                <a:latin typeface="Segoe UI Semibold"/>
              </a:defRPr>
            </a:pPr>
            <a:r>
              <a:t>Miss  →  Translation Agent / IOTLB  →  page-table walk if needed</a:t>
            </a:r>
          </a:p>
        </p:txBody>
      </p:sp>
      <p:sp>
        <p:nvSpPr>
          <p:cNvPr id="18" name="rect_0146"/>
          <p:cNvSpPr/>
          <p:nvPr/>
        </p:nvSpPr>
        <p:spPr>
          <a:xfrm>
            <a:off x="822960" y="512064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x_0147"/>
          <p:cNvSpPr txBox="1"/>
          <p:nvPr/>
        </p:nvSpPr>
        <p:spPr>
          <a:xfrm>
            <a:off x="822960" y="527608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Shared replacement capacity can leak activity without exposing page contents.</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148"/>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Meet the machine</a:t>
            </a:r>
          </a:p>
        </p:txBody>
      </p:sp>
      <p:sp>
        <p:nvSpPr>
          <p:cNvPr id="3" name="tx_0149"/>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The attacker needs DSA access and co-location</a:t>
            </a:r>
          </a:p>
        </p:txBody>
      </p:sp>
      <p:sp>
        <p:nvSpPr>
          <p:cNvPr id="5" name="tx_0151"/>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6</a:t>
            </a:r>
          </a:p>
        </p:txBody>
      </p:sp>
      <p:sp>
        <p:nvSpPr>
          <p:cNvPr id="6" name="tx_0152"/>
          <p:cNvSpPr txBox="1"/>
          <p:nvPr/>
        </p:nvSpPr>
        <p:spPr>
          <a:xfrm>
            <a:off x="822960" y="1783080"/>
            <a:ext cx="4998719" cy="365760"/>
          </a:xfrm>
          <a:prstGeom prst="rect">
            <a:avLst/>
          </a:prstGeom>
          <a:noFill/>
        </p:spPr>
        <p:txBody>
          <a:bodyPr wrap="square" lIns="0" rIns="0" tIns="0" bIns="0">
            <a:spAutoFit/>
          </a:bodyPr>
          <a:lstStyle/>
          <a:p>
            <a:pPr>
              <a:spcAft>
                <a:spcPts val="400"/>
              </a:spcAft>
              <a:defRPr sz="1600" b="0" i="0">
                <a:solidFill>
                  <a:srgbClr val="0071E3"/>
                </a:solidFill>
                <a:latin typeface="Segoe UI Semibold"/>
              </a:defRPr>
            </a:pPr>
            <a:r>
              <a:t>Assumed</a:t>
            </a:r>
          </a:p>
        </p:txBody>
      </p:sp>
      <p:cxnSp>
        <p:nvCxnSpPr>
          <p:cNvPr id="7" name="hl_0153"/>
          <p:cNvCxnSpPr/>
          <p:nvPr/>
        </p:nvCxnSpPr>
        <p:spPr>
          <a:xfrm>
            <a:off x="822960" y="2167128"/>
            <a:ext cx="499871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8" name="tx_0154"/>
          <p:cNvSpPr txBox="1"/>
          <p:nvPr/>
        </p:nvSpPr>
        <p:spPr>
          <a:xfrm>
            <a:off x="822960" y="2377440"/>
            <a:ext cx="4998719" cy="548640"/>
          </a:xfrm>
          <a:prstGeom prst="rect">
            <a:avLst/>
          </a:prstGeom>
          <a:noFill/>
        </p:spPr>
        <p:txBody>
          <a:bodyPr wrap="square" lIns="0" rIns="0" tIns="0" bIns="0">
            <a:spAutoFit/>
          </a:bodyPr>
          <a:lstStyle/>
          <a:p>
            <a:pPr>
              <a:lnSpc>
                <a:spcPct val="100000"/>
              </a:lnSpc>
              <a:spcAft>
                <a:spcPts val="400"/>
              </a:spcAft>
              <a:defRPr sz="1700" b="0" i="0">
                <a:solidFill>
                  <a:srgbClr val="1D1D1F"/>
                </a:solidFill>
                <a:latin typeface="Segoe UI"/>
              </a:defRPr>
            </a:pPr>
            <a:r>
              <a:t>DSA-enabled Xeon + IDXD + VT-d scalable mode</a:t>
            </a:r>
          </a:p>
        </p:txBody>
      </p:sp>
      <p:sp>
        <p:nvSpPr>
          <p:cNvPr id="9" name="tx_0155"/>
          <p:cNvSpPr txBox="1"/>
          <p:nvPr/>
        </p:nvSpPr>
        <p:spPr>
          <a:xfrm>
            <a:off x="822960" y="3035808"/>
            <a:ext cx="4998719" cy="548640"/>
          </a:xfrm>
          <a:prstGeom prst="rect">
            <a:avLst/>
          </a:prstGeom>
          <a:noFill/>
        </p:spPr>
        <p:txBody>
          <a:bodyPr wrap="square" lIns="0" rIns="0" tIns="0" bIns="0">
            <a:spAutoFit/>
          </a:bodyPr>
          <a:lstStyle/>
          <a:p>
            <a:pPr>
              <a:lnSpc>
                <a:spcPct val="100000"/>
              </a:lnSpc>
              <a:spcAft>
                <a:spcPts val="400"/>
              </a:spcAft>
              <a:defRPr sz="1700" b="0" i="0">
                <a:solidFill>
                  <a:srgbClr val="1D1D1F"/>
                </a:solidFill>
                <a:latin typeface="Segoe UI"/>
              </a:defRPr>
            </a:pPr>
            <a:r>
              <a:t>Victim actually uses DSA</a:t>
            </a:r>
          </a:p>
        </p:txBody>
      </p:sp>
      <p:sp>
        <p:nvSpPr>
          <p:cNvPr id="10" name="tx_0156"/>
          <p:cNvSpPr txBox="1"/>
          <p:nvPr/>
        </p:nvSpPr>
        <p:spPr>
          <a:xfrm>
            <a:off x="822960" y="3694176"/>
            <a:ext cx="4998719" cy="548640"/>
          </a:xfrm>
          <a:prstGeom prst="rect">
            <a:avLst/>
          </a:prstGeom>
          <a:noFill/>
        </p:spPr>
        <p:txBody>
          <a:bodyPr wrap="square" lIns="0" rIns="0" tIns="0" bIns="0">
            <a:spAutoFit/>
          </a:bodyPr>
          <a:lstStyle/>
          <a:p>
            <a:pPr>
              <a:lnSpc>
                <a:spcPct val="100000"/>
              </a:lnSpc>
              <a:spcAft>
                <a:spcPts val="400"/>
              </a:spcAft>
              <a:defRPr sz="1700" b="0" i="0">
                <a:solidFill>
                  <a:srgbClr val="1D1D1F"/>
                </a:solidFill>
                <a:latin typeface="Segoe UI"/>
              </a:defRPr>
            </a:pPr>
            <a:r>
              <a:t>Attacker may submit descriptors (CAP_SYS_RAWIO)</a:t>
            </a:r>
          </a:p>
        </p:txBody>
      </p:sp>
      <p:sp>
        <p:nvSpPr>
          <p:cNvPr id="11" name="tx_0157"/>
          <p:cNvSpPr txBox="1"/>
          <p:nvPr/>
        </p:nvSpPr>
        <p:spPr>
          <a:xfrm>
            <a:off x="822960" y="4352544"/>
            <a:ext cx="4998719" cy="548640"/>
          </a:xfrm>
          <a:prstGeom prst="rect">
            <a:avLst/>
          </a:prstGeom>
          <a:noFill/>
        </p:spPr>
        <p:txBody>
          <a:bodyPr wrap="square" lIns="0" rIns="0" tIns="0" bIns="0">
            <a:spAutoFit/>
          </a:bodyPr>
          <a:lstStyle/>
          <a:p>
            <a:pPr>
              <a:lnSpc>
                <a:spcPct val="100000"/>
              </a:lnSpc>
              <a:spcAft>
                <a:spcPts val="400"/>
              </a:spcAft>
              <a:defRPr sz="1700" b="0" i="0">
                <a:solidFill>
                  <a:srgbClr val="1D1D1F"/>
                </a:solidFill>
                <a:latin typeface="Segoe UI"/>
              </a:defRPr>
            </a:pPr>
            <a:r>
              <a:t>Shares the engine (DevTLB) or the SWQ</a:t>
            </a:r>
          </a:p>
        </p:txBody>
      </p:sp>
      <p:sp>
        <p:nvSpPr>
          <p:cNvPr id="12" name="tx_0158"/>
          <p:cNvSpPr txBox="1"/>
          <p:nvPr/>
        </p:nvSpPr>
        <p:spPr>
          <a:xfrm>
            <a:off x="822960" y="5010912"/>
            <a:ext cx="4998719" cy="548640"/>
          </a:xfrm>
          <a:prstGeom prst="rect">
            <a:avLst/>
          </a:prstGeom>
          <a:noFill/>
        </p:spPr>
        <p:txBody>
          <a:bodyPr wrap="square" lIns="0" rIns="0" tIns="0" bIns="0">
            <a:spAutoFit/>
          </a:bodyPr>
          <a:lstStyle/>
          <a:p>
            <a:pPr>
              <a:lnSpc>
                <a:spcPct val="100000"/>
              </a:lnSpc>
              <a:spcAft>
                <a:spcPts val="400"/>
              </a:spcAft>
              <a:defRPr sz="1700" b="0" i="0">
                <a:solidFill>
                  <a:srgbClr val="1D1D1F"/>
                </a:solidFill>
                <a:latin typeface="Segoe UI"/>
              </a:defRPr>
            </a:pPr>
            <a:r>
              <a:t>May set its own engine / queue affinity</a:t>
            </a:r>
          </a:p>
        </p:txBody>
      </p:sp>
      <p:sp>
        <p:nvSpPr>
          <p:cNvPr id="13" name="tx_0159"/>
          <p:cNvSpPr txBox="1"/>
          <p:nvPr/>
        </p:nvSpPr>
        <p:spPr>
          <a:xfrm>
            <a:off x="6370319" y="1783080"/>
            <a:ext cx="4998719" cy="365760"/>
          </a:xfrm>
          <a:prstGeom prst="rect">
            <a:avLst/>
          </a:prstGeom>
          <a:noFill/>
        </p:spPr>
        <p:txBody>
          <a:bodyPr wrap="square" lIns="0" rIns="0" tIns="0" bIns="0">
            <a:spAutoFit/>
          </a:bodyPr>
          <a:lstStyle/>
          <a:p>
            <a:pPr>
              <a:spcAft>
                <a:spcPts val="400"/>
              </a:spcAft>
              <a:defRPr sz="1600" b="0" i="0">
                <a:solidFill>
                  <a:srgbClr val="D70015"/>
                </a:solidFill>
                <a:latin typeface="Segoe UI Semibold"/>
              </a:defRPr>
            </a:pPr>
            <a:r>
              <a:t>Not needed</a:t>
            </a:r>
          </a:p>
        </p:txBody>
      </p:sp>
      <p:cxnSp>
        <p:nvCxnSpPr>
          <p:cNvPr id="14" name="hl_0160"/>
          <p:cNvCxnSpPr/>
          <p:nvPr/>
        </p:nvCxnSpPr>
        <p:spPr>
          <a:xfrm>
            <a:off x="6370319" y="2167128"/>
            <a:ext cx="499872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5" name="tx_0161"/>
          <p:cNvSpPr txBox="1"/>
          <p:nvPr/>
        </p:nvSpPr>
        <p:spPr>
          <a:xfrm>
            <a:off x="6370319" y="2377440"/>
            <a:ext cx="4998719" cy="548640"/>
          </a:xfrm>
          <a:prstGeom prst="rect">
            <a:avLst/>
          </a:prstGeom>
          <a:noFill/>
        </p:spPr>
        <p:txBody>
          <a:bodyPr wrap="square" lIns="0" rIns="0" tIns="0" bIns="0">
            <a:spAutoFit/>
          </a:bodyPr>
          <a:lstStyle/>
          <a:p>
            <a:pPr>
              <a:lnSpc>
                <a:spcPct val="100000"/>
              </a:lnSpc>
              <a:spcAft>
                <a:spcPts val="400"/>
              </a:spcAft>
              <a:defRPr sz="1700" b="0" i="0">
                <a:solidFill>
                  <a:srgbClr val="6E6E73"/>
                </a:solidFill>
                <a:latin typeface="Segoe UI"/>
              </a:defRPr>
            </a:pPr>
            <a:r>
              <a:t>A shared CPU core</a:t>
            </a:r>
          </a:p>
        </p:txBody>
      </p:sp>
      <p:sp>
        <p:nvSpPr>
          <p:cNvPr id="16" name="tx_0162"/>
          <p:cNvSpPr txBox="1"/>
          <p:nvPr/>
        </p:nvSpPr>
        <p:spPr>
          <a:xfrm>
            <a:off x="6370319" y="3035808"/>
            <a:ext cx="4998719" cy="548640"/>
          </a:xfrm>
          <a:prstGeom prst="rect">
            <a:avLst/>
          </a:prstGeom>
          <a:noFill/>
        </p:spPr>
        <p:txBody>
          <a:bodyPr wrap="square" lIns="0" rIns="0" tIns="0" bIns="0">
            <a:spAutoFit/>
          </a:bodyPr>
          <a:lstStyle/>
          <a:p>
            <a:pPr>
              <a:lnSpc>
                <a:spcPct val="100000"/>
              </a:lnSpc>
              <a:spcAft>
                <a:spcPts val="400"/>
              </a:spcAft>
              <a:defRPr sz="1700" b="0" i="0">
                <a:solidFill>
                  <a:srgbClr val="6E6E73"/>
                </a:solidFill>
                <a:latin typeface="Segoe UI"/>
              </a:defRPr>
            </a:pPr>
            <a:r>
              <a:t>Shared victim memory</a:t>
            </a:r>
          </a:p>
        </p:txBody>
      </p:sp>
      <p:sp>
        <p:nvSpPr>
          <p:cNvPr id="17" name="tx_0163"/>
          <p:cNvSpPr txBox="1"/>
          <p:nvPr/>
        </p:nvSpPr>
        <p:spPr>
          <a:xfrm>
            <a:off x="6370319" y="3694176"/>
            <a:ext cx="4998719" cy="548640"/>
          </a:xfrm>
          <a:prstGeom prst="rect">
            <a:avLst/>
          </a:prstGeom>
          <a:noFill/>
        </p:spPr>
        <p:txBody>
          <a:bodyPr wrap="square" lIns="0" rIns="0" tIns="0" bIns="0">
            <a:spAutoFit/>
          </a:bodyPr>
          <a:lstStyle/>
          <a:p>
            <a:pPr>
              <a:lnSpc>
                <a:spcPct val="100000"/>
              </a:lnSpc>
              <a:spcAft>
                <a:spcPts val="400"/>
              </a:spcAft>
              <a:defRPr sz="1700" b="0" i="0">
                <a:solidFill>
                  <a:srgbClr val="6E6E73"/>
                </a:solidFill>
                <a:latin typeface="Segoe UI"/>
              </a:defRPr>
            </a:pPr>
            <a:r>
              <a:t>Permission to read victim addresses</a:t>
            </a:r>
          </a:p>
        </p:txBody>
      </p:sp>
      <p:sp>
        <p:nvSpPr>
          <p:cNvPr id="18" name="tx_0164"/>
          <p:cNvSpPr txBox="1"/>
          <p:nvPr/>
        </p:nvSpPr>
        <p:spPr>
          <a:xfrm>
            <a:off x="6370319" y="4352544"/>
            <a:ext cx="4998719" cy="548640"/>
          </a:xfrm>
          <a:prstGeom prst="rect">
            <a:avLst/>
          </a:prstGeom>
          <a:noFill/>
        </p:spPr>
        <p:txBody>
          <a:bodyPr wrap="square" lIns="0" rIns="0" tIns="0" bIns="0">
            <a:spAutoFit/>
          </a:bodyPr>
          <a:lstStyle/>
          <a:p>
            <a:pPr>
              <a:lnSpc>
                <a:spcPct val="100000"/>
              </a:lnSpc>
              <a:spcAft>
                <a:spcPts val="400"/>
              </a:spcAft>
              <a:defRPr sz="1700" b="0" i="0">
                <a:solidFill>
                  <a:srgbClr val="6E6E73"/>
                </a:solidFill>
                <a:latin typeface="Segoe UI"/>
              </a:defRPr>
            </a:pPr>
            <a:r>
              <a:t>Root / authority to reconfigure host DSA</a:t>
            </a:r>
          </a:p>
        </p:txBody>
      </p:sp>
      <p:sp>
        <p:nvSpPr>
          <p:cNvPr id="19" name="rect_0165"/>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x_0166"/>
          <p:cNvSpPr txBox="1"/>
          <p:nvPr/>
        </p:nvSpPr>
        <p:spPr>
          <a:xfrm>
            <a:off x="822960" y="577900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“Unprivileged” still depends on pre-provisioned device access and co-location.</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167"/>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Meet the machine</a:t>
            </a:r>
          </a:p>
        </p:txBody>
      </p:sp>
      <p:sp>
        <p:nvSpPr>
          <p:cNvPr id="3" name="tx_0168"/>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Two channels cross two different boundaries</a:t>
            </a:r>
          </a:p>
        </p:txBody>
      </p:sp>
      <p:sp>
        <p:nvSpPr>
          <p:cNvPr id="5" name="tx_0170"/>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7</a:t>
            </a:r>
          </a:p>
        </p:txBody>
      </p:sp>
      <p:pic>
        <p:nvPicPr>
          <p:cNvPr id="6" name="Original paper Figure 7 — page 8" descr="paper_fig7.png"/>
          <p:cNvPicPr>
            <a:picLocks noChangeAspect="1"/>
          </p:cNvPicPr>
          <p:nvPr/>
        </p:nvPicPr>
        <p:blipFill>
          <a:blip r:embed="rId3"/>
          <a:stretch>
            <a:fillRect/>
          </a:stretch>
        </p:blipFill>
        <p:spPr>
          <a:xfrm>
            <a:off x="822960" y="2131332"/>
            <a:ext cx="6903720" cy="3098254"/>
          </a:xfrm>
          <a:prstGeom prst="rect">
            <a:avLst/>
          </a:prstGeom>
        </p:spPr>
      </p:pic>
      <p:sp>
        <p:nvSpPr>
          <p:cNvPr id="7" name="tx_1153"/>
          <p:cNvSpPr txBox="1"/>
          <p:nvPr/>
        </p:nvSpPr>
        <p:spPr>
          <a:xfrm>
            <a:off x="8183880" y="2011680"/>
            <a:ext cx="3154680" cy="347472"/>
          </a:xfrm>
          <a:prstGeom prst="rect">
            <a:avLst/>
          </a:prstGeom>
          <a:noFill/>
        </p:spPr>
        <p:txBody>
          <a:bodyPr wrap="square" lIns="0" rIns="0" tIns="0" bIns="0">
            <a:spAutoFit/>
          </a:bodyPr>
          <a:lstStyle/>
          <a:p>
            <a:pPr>
              <a:spcAft>
                <a:spcPts val="400"/>
              </a:spcAft>
              <a:defRPr sz="1600" b="0" i="0">
                <a:solidFill>
                  <a:srgbClr val="0071E3"/>
                </a:solidFill>
                <a:latin typeface="Segoe UI Semibold"/>
              </a:defRPr>
            </a:pPr>
            <a:r>
              <a:t>Two sharing requirements</a:t>
            </a:r>
          </a:p>
        </p:txBody>
      </p:sp>
      <p:cxnSp>
        <p:nvCxnSpPr>
          <p:cNvPr id="8" name="hl_1154"/>
          <p:cNvCxnSpPr/>
          <p:nvPr/>
        </p:nvCxnSpPr>
        <p:spPr>
          <a:xfrm>
            <a:off x="8183880" y="2395728"/>
            <a:ext cx="315468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9" name="tx_1155"/>
          <p:cNvSpPr txBox="1"/>
          <p:nvPr/>
        </p:nvSpPr>
        <p:spPr>
          <a:xfrm>
            <a:off x="8183880" y="2569464"/>
            <a:ext cx="3154680" cy="2651760"/>
          </a:xfrm>
          <a:prstGeom prst="rect">
            <a:avLst/>
          </a:prstGeom>
          <a:noFill/>
        </p:spPr>
        <p:txBody>
          <a:bodyPr wrap="square" lIns="0" rIns="0" tIns="0" bIns="0">
            <a:spAutoFit/>
          </a:bodyPr>
          <a:lstStyle/>
          <a:p>
            <a:pPr>
              <a:lnSpc>
                <a:spcPct val="112000"/>
              </a:lnSpc>
              <a:spcAft>
                <a:spcPts val="0"/>
              </a:spcAft>
              <a:defRPr sz="1700" b="0" i="0">
                <a:solidFill>
                  <a:srgbClr val="1D1D1F"/>
                </a:solidFill>
                <a:latin typeface="Segoe UI"/>
              </a:defRPr>
            </a:pPr>
            <a:r>
              <a:t>Red: DevTLB timing</a:t>
            </a:r>
          </a:p>
          <a:p>
            <a:pPr>
              <a:lnSpc>
                <a:spcPct val="112000"/>
              </a:lnSpc>
              <a:spcAft>
                <a:spcPts val="0"/>
              </a:spcAft>
              <a:defRPr sz="1700" b="0" i="0">
                <a:solidFill>
                  <a:srgbClr val="1D1D1F"/>
                </a:solidFill>
                <a:latin typeface="Segoe UI"/>
              </a:defRPr>
            </a:pPr>
            <a:r>
              <a:t>Same engine; queues may differ.</a:t>
            </a:r>
          </a:p>
          <a:p>
            <a:pPr>
              <a:lnSpc>
                <a:spcPct val="112000"/>
              </a:lnSpc>
              <a:spcAft>
                <a:spcPts val="0"/>
              </a:spcAft>
              <a:defRPr sz="1700" b="0" i="0">
                <a:solidFill>
                  <a:srgbClr val="1D1D1F"/>
                </a:solidFill>
                <a:latin typeface="Segoe UI"/>
              </a:defRPr>
            </a:pPr>
          </a:p>
          <a:p>
            <a:pPr>
              <a:lnSpc>
                <a:spcPct val="112000"/>
              </a:lnSpc>
              <a:spcAft>
                <a:spcPts val="0"/>
              </a:spcAft>
              <a:defRPr sz="1700" b="0" i="0">
                <a:solidFill>
                  <a:srgbClr val="1D1D1F"/>
                </a:solidFill>
                <a:latin typeface="Segoe UI"/>
              </a:defRPr>
            </a:pPr>
            <a:r>
              <a:t>Teal: SWQ contention</a:t>
            </a:r>
          </a:p>
          <a:p>
            <a:pPr>
              <a:lnSpc>
                <a:spcPct val="112000"/>
              </a:lnSpc>
              <a:spcAft>
                <a:spcPts val="0"/>
              </a:spcAft>
              <a:defRPr sz="1700" b="0" i="0">
                <a:solidFill>
                  <a:srgbClr val="1D1D1F"/>
                </a:solidFill>
                <a:latin typeface="Segoe UI"/>
              </a:defRPr>
            </a:pPr>
            <a:r>
              <a:t>Same shared work queue.</a:t>
            </a:r>
          </a:p>
        </p:txBody>
      </p:sp>
      <p:sp>
        <p:nvSpPr>
          <p:cNvPr id="10" name="rect_1156"/>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x_1157"/>
          <p:cNvSpPr txBox="1"/>
          <p:nvPr/>
        </p:nvSpPr>
        <p:spPr>
          <a:xfrm>
            <a:off x="822960" y="5779008"/>
            <a:ext cx="10546079" cy="548640"/>
          </a:xfrm>
          <a:prstGeom prst="rect">
            <a:avLst/>
          </a:prstGeom>
          <a:noFill/>
        </p:spPr>
        <p:txBody>
          <a:bodyPr wrap="square" lIns="0" rIns="0" tIns="0" bIns="0">
            <a:spAutoFit/>
          </a:bodyPr>
          <a:lstStyle/>
          <a:p>
            <a:pPr>
              <a:spcAft>
                <a:spcPts val="400"/>
              </a:spcAft>
              <a:defRPr sz="2000" b="0" i="0">
                <a:solidFill>
                  <a:srgbClr val="1D1D1F"/>
                </a:solidFill>
                <a:latin typeface="Segoe UI Semibold"/>
              </a:defRPr>
            </a:pPr>
            <a:r>
              <a:t>The shared resource determines which boundary the attacker can observe.</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197"/>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Meet the machine</a:t>
            </a:r>
          </a:p>
        </p:txBody>
      </p:sp>
      <p:sp>
        <p:nvSpPr>
          <p:cNvPr id="3" name="tx_0198"/>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Characterization counters ≠ attack signals</a:t>
            </a:r>
          </a:p>
        </p:txBody>
      </p:sp>
      <p:sp>
        <p:nvSpPr>
          <p:cNvPr id="5" name="tx_0200"/>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8</a:t>
            </a:r>
          </a:p>
        </p:txBody>
      </p:sp>
      <p:sp>
        <p:nvSpPr>
          <p:cNvPr id="6" name="tx_0201"/>
          <p:cNvSpPr txBox="1"/>
          <p:nvPr/>
        </p:nvSpPr>
        <p:spPr>
          <a:xfrm>
            <a:off x="822960" y="1783080"/>
            <a:ext cx="4998719" cy="365760"/>
          </a:xfrm>
          <a:prstGeom prst="rect">
            <a:avLst/>
          </a:prstGeom>
          <a:noFill/>
        </p:spPr>
        <p:txBody>
          <a:bodyPr wrap="square" lIns="0" rIns="0" tIns="0" bIns="0">
            <a:spAutoFit/>
          </a:bodyPr>
          <a:lstStyle/>
          <a:p>
            <a:pPr>
              <a:spcAft>
                <a:spcPts val="400"/>
              </a:spcAft>
              <a:defRPr sz="1600" b="0" i="0">
                <a:solidFill>
                  <a:srgbClr val="6E6E73"/>
                </a:solidFill>
                <a:latin typeface="Segoe UI Semibold"/>
              </a:defRPr>
            </a:pPr>
            <a:r>
              <a:t>Reverse engineering · privileged PMU</a:t>
            </a:r>
          </a:p>
        </p:txBody>
      </p:sp>
      <p:cxnSp>
        <p:nvCxnSpPr>
          <p:cNvPr id="7" name="hl_0202"/>
          <p:cNvCxnSpPr/>
          <p:nvPr/>
        </p:nvCxnSpPr>
        <p:spPr>
          <a:xfrm>
            <a:off x="822960" y="2167128"/>
            <a:ext cx="499871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8" name="tx_0203"/>
          <p:cNvSpPr txBox="1"/>
          <p:nvPr/>
        </p:nvSpPr>
        <p:spPr>
          <a:xfrm>
            <a:off x="822960" y="2377440"/>
            <a:ext cx="4998719" cy="457200"/>
          </a:xfrm>
          <a:prstGeom prst="rect">
            <a:avLst/>
          </a:prstGeom>
          <a:noFill/>
        </p:spPr>
        <p:txBody>
          <a:bodyPr wrap="square" lIns="0" rIns="0" tIns="0" bIns="0">
            <a:spAutoFit/>
          </a:bodyPr>
          <a:lstStyle/>
          <a:p>
            <a:pPr>
              <a:spcAft>
                <a:spcPts val="400"/>
              </a:spcAft>
              <a:defRPr sz="1800" b="0" i="0">
                <a:solidFill>
                  <a:srgbClr val="1D1D1F"/>
                </a:solidFill>
                <a:latin typeface="Segoe UI"/>
              </a:defRPr>
            </a:pPr>
            <a:r>
              <a:t>EV_ATC_ALLOC</a:t>
            </a:r>
          </a:p>
        </p:txBody>
      </p:sp>
      <p:sp>
        <p:nvSpPr>
          <p:cNvPr id="9" name="tx_0204"/>
          <p:cNvSpPr txBox="1"/>
          <p:nvPr/>
        </p:nvSpPr>
        <p:spPr>
          <a:xfrm>
            <a:off x="822960" y="2880360"/>
            <a:ext cx="4998719" cy="457200"/>
          </a:xfrm>
          <a:prstGeom prst="rect">
            <a:avLst/>
          </a:prstGeom>
          <a:noFill/>
        </p:spPr>
        <p:txBody>
          <a:bodyPr wrap="square" lIns="0" rIns="0" tIns="0" bIns="0">
            <a:spAutoFit/>
          </a:bodyPr>
          <a:lstStyle/>
          <a:p>
            <a:pPr>
              <a:spcAft>
                <a:spcPts val="400"/>
              </a:spcAft>
              <a:defRPr sz="1800" b="0" i="0">
                <a:solidFill>
                  <a:srgbClr val="1D1D1F"/>
                </a:solidFill>
                <a:latin typeface="Segoe UI"/>
              </a:defRPr>
            </a:pPr>
            <a:r>
              <a:t>EV_ATC_NO_ALLOC</a:t>
            </a:r>
          </a:p>
        </p:txBody>
      </p:sp>
      <p:sp>
        <p:nvSpPr>
          <p:cNvPr id="10" name="tx_0205"/>
          <p:cNvSpPr txBox="1"/>
          <p:nvPr/>
        </p:nvSpPr>
        <p:spPr>
          <a:xfrm>
            <a:off x="822960" y="3383280"/>
            <a:ext cx="4998719" cy="457200"/>
          </a:xfrm>
          <a:prstGeom prst="rect">
            <a:avLst/>
          </a:prstGeom>
          <a:noFill/>
        </p:spPr>
        <p:txBody>
          <a:bodyPr wrap="square" lIns="0" rIns="0" tIns="0" bIns="0">
            <a:spAutoFit/>
          </a:bodyPr>
          <a:lstStyle/>
          <a:p>
            <a:pPr>
              <a:spcAft>
                <a:spcPts val="400"/>
              </a:spcAft>
              <a:defRPr sz="1800" b="0" i="0">
                <a:solidFill>
                  <a:srgbClr val="1D1D1F"/>
                </a:solidFill>
                <a:latin typeface="Segoe UI"/>
              </a:defRPr>
            </a:pPr>
            <a:r>
              <a:t>EV_ATC_HIT_PREV</a:t>
            </a:r>
          </a:p>
        </p:txBody>
      </p:sp>
      <p:sp>
        <p:nvSpPr>
          <p:cNvPr id="11" name="tx_0206"/>
          <p:cNvSpPr txBox="1"/>
          <p:nvPr/>
        </p:nvSpPr>
        <p:spPr>
          <a:xfrm>
            <a:off x="6370319" y="1783080"/>
            <a:ext cx="4998719" cy="365760"/>
          </a:xfrm>
          <a:prstGeom prst="rect">
            <a:avLst/>
          </a:prstGeom>
          <a:noFill/>
        </p:spPr>
        <p:txBody>
          <a:bodyPr wrap="square" lIns="0" rIns="0" tIns="0" bIns="0">
            <a:spAutoFit/>
          </a:bodyPr>
          <a:lstStyle/>
          <a:p>
            <a:pPr>
              <a:spcAft>
                <a:spcPts val="400"/>
              </a:spcAft>
              <a:defRPr sz="1600" b="0" i="0">
                <a:solidFill>
                  <a:srgbClr val="0071E3"/>
                </a:solidFill>
                <a:latin typeface="Segoe UI Semibold"/>
              </a:defRPr>
            </a:pPr>
            <a:r>
              <a:t>Attack signal · unprivileged</a:t>
            </a:r>
          </a:p>
        </p:txBody>
      </p:sp>
      <p:cxnSp>
        <p:nvCxnSpPr>
          <p:cNvPr id="12" name="hl_0207"/>
          <p:cNvCxnSpPr/>
          <p:nvPr/>
        </p:nvCxnSpPr>
        <p:spPr>
          <a:xfrm>
            <a:off x="6370319" y="2167128"/>
            <a:ext cx="499872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3" name="tx_0208"/>
          <p:cNvSpPr txBox="1"/>
          <p:nvPr/>
        </p:nvSpPr>
        <p:spPr>
          <a:xfrm>
            <a:off x="6370319" y="2377440"/>
            <a:ext cx="4998719" cy="457200"/>
          </a:xfrm>
          <a:prstGeom prst="rect">
            <a:avLst/>
          </a:prstGeom>
          <a:noFill/>
        </p:spPr>
        <p:txBody>
          <a:bodyPr wrap="square" lIns="0" rIns="0" tIns="0" bIns="0">
            <a:spAutoFit/>
          </a:bodyPr>
          <a:lstStyle/>
          <a:p>
            <a:pPr>
              <a:spcAft>
                <a:spcPts val="400"/>
              </a:spcAft>
              <a:defRPr sz="1800" b="0" i="0">
                <a:solidFill>
                  <a:srgbClr val="1D1D1F"/>
                </a:solidFill>
                <a:latin typeface="Segoe UI"/>
              </a:defRPr>
            </a:pPr>
            <a:r>
              <a:t>DevTLB · own completion time (rdtsc)</a:t>
            </a:r>
          </a:p>
        </p:txBody>
      </p:sp>
      <p:sp>
        <p:nvSpPr>
          <p:cNvPr id="14" name="tx_0209"/>
          <p:cNvSpPr txBox="1"/>
          <p:nvPr/>
        </p:nvSpPr>
        <p:spPr>
          <a:xfrm>
            <a:off x="6370319" y="2880360"/>
            <a:ext cx="4998719" cy="457200"/>
          </a:xfrm>
          <a:prstGeom prst="rect">
            <a:avLst/>
          </a:prstGeom>
          <a:noFill/>
        </p:spPr>
        <p:txBody>
          <a:bodyPr wrap="square" lIns="0" rIns="0" tIns="0" bIns="0">
            <a:spAutoFit/>
          </a:bodyPr>
          <a:lstStyle/>
          <a:p>
            <a:pPr>
              <a:spcAft>
                <a:spcPts val="400"/>
              </a:spcAft>
              <a:defRPr sz="1800" b="0" i="0">
                <a:solidFill>
                  <a:srgbClr val="1D1D1F"/>
                </a:solidFill>
                <a:latin typeface="Segoe UI"/>
              </a:defRPr>
            </a:pPr>
            <a:r>
              <a:t>SWQ · ENQCMD result via EFLAGS.ZF</a:t>
            </a:r>
          </a:p>
        </p:txBody>
      </p:sp>
      <p:sp>
        <p:nvSpPr>
          <p:cNvPr id="15" name="tx_0210"/>
          <p:cNvSpPr txBox="1"/>
          <p:nvPr/>
        </p:nvSpPr>
        <p:spPr>
          <a:xfrm>
            <a:off x="822960" y="4160520"/>
            <a:ext cx="10546079" cy="365760"/>
          </a:xfrm>
          <a:prstGeom prst="rect">
            <a:avLst/>
          </a:prstGeom>
          <a:noFill/>
        </p:spPr>
        <p:txBody>
          <a:bodyPr wrap="square" lIns="0" rIns="0" tIns="0" bIns="0">
            <a:spAutoFit/>
          </a:bodyPr>
          <a:lstStyle/>
          <a:p>
            <a:pPr>
              <a:spcAft>
                <a:spcPts val="400"/>
              </a:spcAft>
              <a:defRPr sz="1400" b="0" i="0">
                <a:solidFill>
                  <a:srgbClr val="6E6E73"/>
                </a:solidFill>
                <a:latin typeface="Segoe UI"/>
              </a:defRPr>
            </a:pPr>
            <a:r>
              <a:t>Platforms: Xeon Platinum 8468V (local) · 8475B (Alibaba cloud) · Linux 6.11 · IDXD · VT-d scalable mode · SR-IOV (DevTLB setup) / Scalable IOV (shared SWQ)</a:t>
            </a:r>
          </a:p>
        </p:txBody>
      </p:sp>
      <p:sp>
        <p:nvSpPr>
          <p:cNvPr id="16" name="rect_0211"/>
          <p:cNvSpPr/>
          <p:nvPr/>
        </p:nvSpPr>
        <p:spPr>
          <a:xfrm>
            <a:off x="822960" y="512064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x_0212"/>
          <p:cNvSpPr txBox="1"/>
          <p:nvPr/>
        </p:nvSpPr>
        <p:spPr>
          <a:xfrm>
            <a:off x="822960" y="527608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PMU access supports the explanation; it is not needed for the attack loop.</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x_0221"/>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Clue #1 — the opcode chooses which slot you touch</a:t>
            </a:r>
          </a:p>
        </p:txBody>
      </p:sp>
      <p:sp>
        <p:nvSpPr>
          <p:cNvPr id="5" name="tx_0223"/>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9</a:t>
            </a:r>
          </a:p>
        </p:txBody>
      </p:sp>
      <p:pic>
        <p:nvPicPr>
          <p:cNvPr id="6" name="Original paper Figure 3 — page 4" descr="paper_fig3.png"/>
          <p:cNvPicPr>
            <a:picLocks noChangeAspect="1"/>
          </p:cNvPicPr>
          <p:nvPr/>
        </p:nvPicPr>
        <p:blipFill>
          <a:blip r:embed="rId3"/>
          <a:stretch>
            <a:fillRect/>
          </a:stretch>
        </p:blipFill>
        <p:spPr>
          <a:xfrm>
            <a:off x="822960" y="2231831"/>
            <a:ext cx="6446520" cy="2942976"/>
          </a:xfrm>
          <a:prstGeom prst="rect">
            <a:avLst/>
          </a:prstGeom>
        </p:spPr>
      </p:pic>
      <p:sp>
        <p:nvSpPr>
          <p:cNvPr id="7" name="tx_1158"/>
          <p:cNvSpPr txBox="1"/>
          <p:nvPr/>
        </p:nvSpPr>
        <p:spPr>
          <a:xfrm>
            <a:off x="7726679" y="1874519"/>
            <a:ext cx="3611880" cy="274320"/>
          </a:xfrm>
          <a:prstGeom prst="rect">
            <a:avLst/>
          </a:prstGeom>
          <a:noFill/>
        </p:spPr>
        <p:txBody>
          <a:bodyPr wrap="square" lIns="0" rIns="0" tIns="0" bIns="0">
            <a:spAutoFit/>
          </a:bodyPr>
          <a:lstStyle/>
          <a:p>
            <a:pPr>
              <a:spcAft>
                <a:spcPts val="400"/>
              </a:spcAft>
              <a:defRPr sz="1300" b="0" i="0">
                <a:solidFill>
                  <a:srgbClr val="0071E3"/>
                </a:solidFill>
                <a:latin typeface="Segoe UI Semibold"/>
              </a:defRPr>
            </a:pPr>
            <a:r>
              <a:t>SEMANTIC FIELD → SLOT</a:t>
            </a:r>
          </a:p>
        </p:txBody>
      </p:sp>
      <p:sp>
        <p:nvSpPr>
          <p:cNvPr id="8" name="tx_1159"/>
          <p:cNvSpPr txBox="1"/>
          <p:nvPr/>
        </p:nvSpPr>
        <p:spPr>
          <a:xfrm>
            <a:off x="7772400" y="2350008"/>
            <a:ext cx="1172718"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OPERATION</a:t>
            </a:r>
          </a:p>
        </p:txBody>
      </p:sp>
      <p:sp>
        <p:nvSpPr>
          <p:cNvPr id="9" name="tx_1160"/>
          <p:cNvSpPr txBox="1"/>
          <p:nvPr/>
        </p:nvSpPr>
        <p:spPr>
          <a:xfrm>
            <a:off x="9036558" y="2350008"/>
            <a:ext cx="2256282"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FIELDS TOUCHED</a:t>
            </a:r>
          </a:p>
        </p:txBody>
      </p:sp>
      <p:cxnSp>
        <p:nvCxnSpPr>
          <p:cNvPr id="10" name="hl_1161"/>
          <p:cNvCxnSpPr/>
          <p:nvPr/>
        </p:nvCxnSpPr>
        <p:spPr>
          <a:xfrm>
            <a:off x="7726679" y="2715768"/>
            <a:ext cx="3611880"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11" name="tx_1162"/>
          <p:cNvSpPr txBox="1"/>
          <p:nvPr/>
        </p:nvSpPr>
        <p:spPr>
          <a:xfrm>
            <a:off x="7772400" y="2793491"/>
            <a:ext cx="1172718" cy="365760"/>
          </a:xfrm>
          <a:prstGeom prst="rect">
            <a:avLst/>
          </a:prstGeom>
          <a:noFill/>
        </p:spPr>
        <p:txBody>
          <a:bodyPr wrap="square" lIns="0" rIns="0" tIns="0" bIns="0" anchor="ctr">
            <a:spAutoFit/>
          </a:bodyPr>
          <a:lstStyle/>
          <a:p>
            <a:pPr>
              <a:spcAft>
                <a:spcPts val="400"/>
              </a:spcAft>
              <a:defRPr sz="1500" b="0" i="0">
                <a:solidFill>
                  <a:srgbClr val="1D1D1F"/>
                </a:solidFill>
                <a:latin typeface="Segoe UI Semibold"/>
              </a:defRPr>
            </a:pPr>
            <a:r>
              <a:t>NOOP</a:t>
            </a:r>
          </a:p>
        </p:txBody>
      </p:sp>
      <p:sp>
        <p:nvSpPr>
          <p:cNvPr id="12" name="tx_1163"/>
          <p:cNvSpPr txBox="1"/>
          <p:nvPr/>
        </p:nvSpPr>
        <p:spPr>
          <a:xfrm>
            <a:off x="9036558" y="2793491"/>
            <a:ext cx="2256282" cy="365760"/>
          </a:xfrm>
          <a:prstGeom prst="rect">
            <a:avLst/>
          </a:prstGeom>
          <a:noFill/>
        </p:spPr>
        <p:txBody>
          <a:bodyPr wrap="square" lIns="0" rIns="0" tIns="0" bIns="0" anchor="ctr">
            <a:spAutoFit/>
          </a:bodyPr>
          <a:lstStyle/>
          <a:p>
            <a:pPr>
              <a:spcAft>
                <a:spcPts val="400"/>
              </a:spcAft>
              <a:defRPr sz="1500" b="0" i="0">
                <a:solidFill>
                  <a:srgbClr val="6E6E73"/>
                </a:solidFill>
                <a:latin typeface="Segoe UI"/>
              </a:defRPr>
            </a:pPr>
            <a:r>
              <a:t>comp</a:t>
            </a:r>
          </a:p>
        </p:txBody>
      </p:sp>
      <p:cxnSp>
        <p:nvCxnSpPr>
          <p:cNvPr id="13" name="hl_1164"/>
          <p:cNvCxnSpPr/>
          <p:nvPr/>
        </p:nvCxnSpPr>
        <p:spPr>
          <a:xfrm>
            <a:off x="7726679" y="3236975"/>
            <a:ext cx="361188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4" name="tx_1165"/>
          <p:cNvSpPr txBox="1"/>
          <p:nvPr/>
        </p:nvSpPr>
        <p:spPr>
          <a:xfrm>
            <a:off x="7772400" y="3314699"/>
            <a:ext cx="1172718" cy="365760"/>
          </a:xfrm>
          <a:prstGeom prst="rect">
            <a:avLst/>
          </a:prstGeom>
          <a:noFill/>
        </p:spPr>
        <p:txBody>
          <a:bodyPr wrap="square" lIns="0" rIns="0" tIns="0" bIns="0" anchor="ctr">
            <a:spAutoFit/>
          </a:bodyPr>
          <a:lstStyle/>
          <a:p>
            <a:pPr>
              <a:spcAft>
                <a:spcPts val="400"/>
              </a:spcAft>
              <a:defRPr sz="1500" b="0" i="0">
                <a:solidFill>
                  <a:srgbClr val="1D1D1F"/>
                </a:solidFill>
                <a:latin typeface="Segoe UI Semibold"/>
              </a:defRPr>
            </a:pPr>
            <a:r>
              <a:t>Compare</a:t>
            </a:r>
          </a:p>
        </p:txBody>
      </p:sp>
      <p:sp>
        <p:nvSpPr>
          <p:cNvPr id="15" name="tx_1166"/>
          <p:cNvSpPr txBox="1"/>
          <p:nvPr/>
        </p:nvSpPr>
        <p:spPr>
          <a:xfrm>
            <a:off x="9036558" y="3314699"/>
            <a:ext cx="2256282" cy="365760"/>
          </a:xfrm>
          <a:prstGeom prst="rect">
            <a:avLst/>
          </a:prstGeom>
          <a:noFill/>
        </p:spPr>
        <p:txBody>
          <a:bodyPr wrap="square" lIns="0" rIns="0" tIns="0" bIns="0" anchor="ctr">
            <a:spAutoFit/>
          </a:bodyPr>
          <a:lstStyle/>
          <a:p>
            <a:pPr>
              <a:spcAft>
                <a:spcPts val="400"/>
              </a:spcAft>
              <a:defRPr sz="1500" b="0" i="0">
                <a:solidFill>
                  <a:srgbClr val="6E6E73"/>
                </a:solidFill>
                <a:latin typeface="Segoe UI"/>
              </a:defRPr>
            </a:pPr>
            <a:r>
              <a:t>src, src2, comp</a:t>
            </a:r>
          </a:p>
        </p:txBody>
      </p:sp>
      <p:cxnSp>
        <p:nvCxnSpPr>
          <p:cNvPr id="16" name="hl_1167"/>
          <p:cNvCxnSpPr/>
          <p:nvPr/>
        </p:nvCxnSpPr>
        <p:spPr>
          <a:xfrm>
            <a:off x="7726679" y="3758183"/>
            <a:ext cx="361188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7" name="tx_1168"/>
          <p:cNvSpPr txBox="1"/>
          <p:nvPr/>
        </p:nvSpPr>
        <p:spPr>
          <a:xfrm>
            <a:off x="7772400" y="3835907"/>
            <a:ext cx="1172718" cy="365760"/>
          </a:xfrm>
          <a:prstGeom prst="rect">
            <a:avLst/>
          </a:prstGeom>
          <a:noFill/>
        </p:spPr>
        <p:txBody>
          <a:bodyPr wrap="square" lIns="0" rIns="0" tIns="0" bIns="0" anchor="ctr">
            <a:spAutoFit/>
          </a:bodyPr>
          <a:lstStyle/>
          <a:p>
            <a:pPr>
              <a:spcAft>
                <a:spcPts val="400"/>
              </a:spcAft>
              <a:defRPr sz="1500" b="0" i="0">
                <a:solidFill>
                  <a:srgbClr val="1D1D1F"/>
                </a:solidFill>
                <a:latin typeface="Segoe UI Semibold"/>
              </a:defRPr>
            </a:pPr>
            <a:r>
              <a:t>Copy</a:t>
            </a:r>
          </a:p>
        </p:txBody>
      </p:sp>
      <p:sp>
        <p:nvSpPr>
          <p:cNvPr id="18" name="tx_1169"/>
          <p:cNvSpPr txBox="1"/>
          <p:nvPr/>
        </p:nvSpPr>
        <p:spPr>
          <a:xfrm>
            <a:off x="9036558" y="3835907"/>
            <a:ext cx="2256282" cy="365760"/>
          </a:xfrm>
          <a:prstGeom prst="rect">
            <a:avLst/>
          </a:prstGeom>
          <a:noFill/>
        </p:spPr>
        <p:txBody>
          <a:bodyPr wrap="square" lIns="0" rIns="0" tIns="0" bIns="0" anchor="ctr">
            <a:spAutoFit/>
          </a:bodyPr>
          <a:lstStyle/>
          <a:p>
            <a:pPr>
              <a:spcAft>
                <a:spcPts val="400"/>
              </a:spcAft>
              <a:defRPr sz="1500" b="0" i="0">
                <a:solidFill>
                  <a:srgbClr val="6E6E73"/>
                </a:solidFill>
                <a:latin typeface="Segoe UI"/>
              </a:defRPr>
            </a:pPr>
            <a:r>
              <a:t>src, dst, comp</a:t>
            </a:r>
          </a:p>
        </p:txBody>
      </p:sp>
      <p:cxnSp>
        <p:nvCxnSpPr>
          <p:cNvPr id="19" name="hl_1170"/>
          <p:cNvCxnSpPr/>
          <p:nvPr/>
        </p:nvCxnSpPr>
        <p:spPr>
          <a:xfrm>
            <a:off x="7726679" y="4279392"/>
            <a:ext cx="361188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0" name="tx_1171"/>
          <p:cNvSpPr txBox="1"/>
          <p:nvPr/>
        </p:nvSpPr>
        <p:spPr>
          <a:xfrm>
            <a:off x="7772400" y="4357116"/>
            <a:ext cx="1172718" cy="365760"/>
          </a:xfrm>
          <a:prstGeom prst="rect">
            <a:avLst/>
          </a:prstGeom>
          <a:noFill/>
        </p:spPr>
        <p:txBody>
          <a:bodyPr wrap="square" lIns="0" rIns="0" tIns="0" bIns="0" anchor="ctr">
            <a:spAutoFit/>
          </a:bodyPr>
          <a:lstStyle/>
          <a:p>
            <a:pPr>
              <a:spcAft>
                <a:spcPts val="400"/>
              </a:spcAft>
              <a:defRPr sz="1500" b="0" i="0">
                <a:solidFill>
                  <a:srgbClr val="1D1D1F"/>
                </a:solidFill>
                <a:latin typeface="Segoe UI Semibold"/>
              </a:defRPr>
            </a:pPr>
            <a:r>
              <a:t>Dualcast</a:t>
            </a:r>
          </a:p>
        </p:txBody>
      </p:sp>
      <p:sp>
        <p:nvSpPr>
          <p:cNvPr id="21" name="tx_1172"/>
          <p:cNvSpPr txBox="1"/>
          <p:nvPr/>
        </p:nvSpPr>
        <p:spPr>
          <a:xfrm>
            <a:off x="9036558" y="4357116"/>
            <a:ext cx="2256282" cy="365760"/>
          </a:xfrm>
          <a:prstGeom prst="rect">
            <a:avLst/>
          </a:prstGeom>
          <a:noFill/>
        </p:spPr>
        <p:txBody>
          <a:bodyPr wrap="square" lIns="0" rIns="0" tIns="0" bIns="0" anchor="ctr">
            <a:spAutoFit/>
          </a:bodyPr>
          <a:lstStyle/>
          <a:p>
            <a:pPr>
              <a:spcAft>
                <a:spcPts val="400"/>
              </a:spcAft>
              <a:defRPr sz="1500" b="0" i="0">
                <a:solidFill>
                  <a:srgbClr val="6E6E73"/>
                </a:solidFill>
                <a:latin typeface="Segoe UI"/>
              </a:defRPr>
            </a:pPr>
            <a:r>
              <a:t>src, dst, dst2, comp</a:t>
            </a:r>
          </a:p>
        </p:txBody>
      </p:sp>
      <p:cxnSp>
        <p:nvCxnSpPr>
          <p:cNvPr id="22" name="hl_1173"/>
          <p:cNvCxnSpPr/>
          <p:nvPr/>
        </p:nvCxnSpPr>
        <p:spPr>
          <a:xfrm>
            <a:off x="7726679" y="4800600"/>
            <a:ext cx="361188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3" name="tx_1174"/>
          <p:cNvSpPr txBox="1"/>
          <p:nvPr/>
        </p:nvSpPr>
        <p:spPr>
          <a:xfrm>
            <a:off x="7726679" y="5074920"/>
            <a:ext cx="3611880" cy="502920"/>
          </a:xfrm>
          <a:prstGeom prst="rect">
            <a:avLst/>
          </a:prstGeom>
          <a:noFill/>
        </p:spPr>
        <p:txBody>
          <a:bodyPr wrap="square" lIns="0" rIns="0" tIns="0" bIns="0">
            <a:spAutoFit/>
          </a:bodyPr>
          <a:lstStyle/>
          <a:p>
            <a:pPr>
              <a:spcAft>
                <a:spcPts val="400"/>
              </a:spcAft>
              <a:defRPr sz="1400" b="0" i="0">
                <a:solidFill>
                  <a:srgbClr val="6E6E73"/>
                </a:solidFill>
                <a:latin typeface="Segoe UI"/>
              </a:defRPr>
            </a:pPr>
            <a:r>
              <a:t>Completion writing is enabled</a:t>
            </a:r>
          </a:p>
          <a:p>
            <a:pPr>
              <a:spcAft>
                <a:spcPts val="400"/>
              </a:spcAft>
              <a:defRPr sz="1400" b="0" i="0">
                <a:solidFill>
                  <a:srgbClr val="6E6E73"/>
                </a:solidFill>
                <a:latin typeface="Segoe UI"/>
              </a:defRPr>
            </a:pPr>
            <a:r>
              <a:t>in these examples.</a:t>
            </a:r>
          </a:p>
        </p:txBody>
      </p:sp>
      <p:sp>
        <p:nvSpPr>
          <p:cNvPr id="24" name="rect_1175"/>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x_1176"/>
          <p:cNvSpPr txBox="1"/>
          <p:nvPr/>
        </p:nvSpPr>
        <p:spPr>
          <a:xfrm>
            <a:off x="822960" y="5779008"/>
            <a:ext cx="10546079" cy="548640"/>
          </a:xfrm>
          <a:prstGeom prst="rect">
            <a:avLst/>
          </a:prstGeom>
          <a:noFill/>
        </p:spPr>
        <p:txBody>
          <a:bodyPr wrap="square" lIns="0" rIns="0" tIns="0" bIns="0">
            <a:spAutoFit/>
          </a:bodyPr>
          <a:lstStyle/>
          <a:p>
            <a:pPr>
              <a:spcAft>
                <a:spcPts val="400"/>
              </a:spcAft>
              <a:defRPr sz="2000" b="0" i="0">
                <a:solidFill>
                  <a:srgbClr val="1D1D1F"/>
                </a:solidFill>
                <a:latin typeface="Segoe UI Semibold"/>
              </a:defRPr>
            </a:pPr>
            <a:r>
              <a:t>The same bytes at offset 24 mean src2 for compare and dst for copy.</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x_0253"/>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The reveal — five drawers, one translation each</a:t>
            </a:r>
          </a:p>
        </p:txBody>
      </p:sp>
      <p:sp>
        <p:nvSpPr>
          <p:cNvPr id="5" name="tx_0255"/>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10</a:t>
            </a:r>
          </a:p>
        </p:txBody>
      </p:sp>
      <p:pic>
        <p:nvPicPr>
          <p:cNvPr id="6" name="Original paper Figure 2 — page 4" descr="paper_fig2.png"/>
          <p:cNvPicPr>
            <a:picLocks noChangeAspect="1"/>
          </p:cNvPicPr>
          <p:nvPr/>
        </p:nvPicPr>
        <p:blipFill>
          <a:blip r:embed="rId3"/>
          <a:stretch>
            <a:fillRect/>
          </a:stretch>
        </p:blipFill>
        <p:spPr>
          <a:xfrm>
            <a:off x="861759" y="1920240"/>
            <a:ext cx="6826121" cy="3611880"/>
          </a:xfrm>
          <a:prstGeom prst="rect">
            <a:avLst/>
          </a:prstGeom>
        </p:spPr>
      </p:pic>
      <p:sp>
        <p:nvSpPr>
          <p:cNvPr id="7" name="tx_1177"/>
          <p:cNvSpPr txBox="1"/>
          <p:nvPr/>
        </p:nvSpPr>
        <p:spPr>
          <a:xfrm>
            <a:off x="8183880" y="1920240"/>
            <a:ext cx="3154680" cy="347472"/>
          </a:xfrm>
          <a:prstGeom prst="rect">
            <a:avLst/>
          </a:prstGeom>
          <a:noFill/>
        </p:spPr>
        <p:txBody>
          <a:bodyPr wrap="square" lIns="0" rIns="0" tIns="0" bIns="0">
            <a:spAutoFit/>
          </a:bodyPr>
          <a:lstStyle/>
          <a:p>
            <a:pPr>
              <a:spcAft>
                <a:spcPts val="400"/>
              </a:spcAft>
              <a:defRPr sz="1600" b="0" i="0">
                <a:solidFill>
                  <a:srgbClr val="0071E3"/>
                </a:solidFill>
                <a:latin typeface="Segoe UI Semibold"/>
              </a:defRPr>
            </a:pPr>
            <a:r>
              <a:t>Read the original structure</a:t>
            </a:r>
          </a:p>
        </p:txBody>
      </p:sp>
      <p:cxnSp>
        <p:nvCxnSpPr>
          <p:cNvPr id="8" name="hl_1178"/>
          <p:cNvCxnSpPr/>
          <p:nvPr/>
        </p:nvCxnSpPr>
        <p:spPr>
          <a:xfrm>
            <a:off x="8183880" y="2304288"/>
            <a:ext cx="315468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9" name="tx_1179"/>
          <p:cNvSpPr txBox="1"/>
          <p:nvPr/>
        </p:nvSpPr>
        <p:spPr>
          <a:xfrm>
            <a:off x="8183880" y="2478024"/>
            <a:ext cx="3154680" cy="2651760"/>
          </a:xfrm>
          <a:prstGeom prst="rect">
            <a:avLst/>
          </a:prstGeom>
          <a:noFill/>
        </p:spPr>
        <p:txBody>
          <a:bodyPr wrap="square" lIns="0" rIns="0" tIns="0" bIns="0">
            <a:spAutoFit/>
          </a:bodyPr>
          <a:lstStyle/>
          <a:p>
            <a:pPr>
              <a:lnSpc>
                <a:spcPct val="112000"/>
              </a:lnSpc>
              <a:spcAft>
                <a:spcPts val="0"/>
              </a:spcAft>
              <a:defRPr sz="1700" b="0" i="0">
                <a:solidFill>
                  <a:srgbClr val="1D1D1F"/>
                </a:solidFill>
                <a:latin typeface="Segoe UI"/>
              </a:defRPr>
            </a:pPr>
            <a:r>
              <a:t>One engine owns five slots:</a:t>
            </a:r>
          </a:p>
          <a:p>
            <a:pPr>
              <a:lnSpc>
                <a:spcPct val="112000"/>
              </a:lnSpc>
              <a:spcAft>
                <a:spcPts val="0"/>
              </a:spcAft>
              <a:defRPr sz="1700" b="0" i="0">
                <a:solidFill>
                  <a:srgbClr val="1D1D1F"/>
                </a:solidFill>
                <a:latin typeface="Segoe UI"/>
              </a:defRPr>
            </a:pPr>
            <a:r>
              <a:t>src · src2 · dst · dst2 · comp</a:t>
            </a:r>
          </a:p>
          <a:p>
            <a:pPr>
              <a:lnSpc>
                <a:spcPct val="112000"/>
              </a:lnSpc>
              <a:spcAft>
                <a:spcPts val="0"/>
              </a:spcAft>
              <a:defRPr sz="1700" b="0" i="0">
                <a:solidFill>
                  <a:srgbClr val="1D1D1F"/>
                </a:solidFill>
                <a:latin typeface="Segoe UI"/>
              </a:defRPr>
            </a:pPr>
          </a:p>
          <a:p>
            <a:pPr>
              <a:lnSpc>
                <a:spcPct val="112000"/>
              </a:lnSpc>
              <a:spcAft>
                <a:spcPts val="0"/>
              </a:spcAft>
              <a:defRPr sz="1700" b="0" i="0">
                <a:solidFill>
                  <a:srgbClr val="1D1D1F"/>
                </a:solidFill>
                <a:latin typeface="Segoe UI"/>
              </a:defRPr>
            </a:pPr>
            <a:r>
              <a:t>One translation per slot.</a:t>
            </a:r>
          </a:p>
          <a:p>
            <a:pPr>
              <a:lnSpc>
                <a:spcPct val="112000"/>
              </a:lnSpc>
              <a:spcAft>
                <a:spcPts val="0"/>
              </a:spcAft>
              <a:defRPr sz="1700" b="0" i="0">
                <a:solidFill>
                  <a:srgbClr val="1D1D1F"/>
                </a:solidFill>
                <a:latin typeface="Segoe UI"/>
              </a:defRPr>
            </a:pPr>
          </a:p>
          <a:p>
            <a:pPr>
              <a:lnSpc>
                <a:spcPct val="112000"/>
              </a:lnSpc>
              <a:spcAft>
                <a:spcPts val="0"/>
              </a:spcAft>
              <a:defRPr sz="1700" b="0" i="0">
                <a:solidFill>
                  <a:srgbClr val="1D1D1F"/>
                </a:solidFill>
                <a:latin typeface="Segoe UI"/>
              </a:defRPr>
            </a:pPr>
            <a:r>
              <a:t>A new page in the same field</a:t>
            </a:r>
          </a:p>
          <a:p>
            <a:pPr>
              <a:lnSpc>
                <a:spcPct val="112000"/>
              </a:lnSpc>
              <a:spcAft>
                <a:spcPts val="0"/>
              </a:spcAft>
              <a:defRPr sz="1700" b="0" i="0">
                <a:solidFill>
                  <a:srgbClr val="1D1D1F"/>
                </a:solidFill>
                <a:latin typeface="Segoe UI"/>
              </a:defRPr>
            </a:pPr>
            <a:r>
              <a:t>replaces the previous entry.</a:t>
            </a:r>
          </a:p>
        </p:txBody>
      </p:sp>
      <p:sp>
        <p:nvSpPr>
          <p:cNvPr id="10" name="rect_1180"/>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x_1181"/>
          <p:cNvSpPr txBox="1"/>
          <p:nvPr/>
        </p:nvSpPr>
        <p:spPr>
          <a:xfrm>
            <a:off x="822960" y="5779008"/>
            <a:ext cx="10546079" cy="548640"/>
          </a:xfrm>
          <a:prstGeom prst="rect">
            <a:avLst/>
          </a:prstGeom>
          <a:noFill/>
        </p:spPr>
        <p:txBody>
          <a:bodyPr wrap="square" lIns="0" rIns="0" tIns="0" bIns="0">
            <a:spAutoFit/>
          </a:bodyPr>
          <a:lstStyle/>
          <a:p>
            <a:pPr>
              <a:spcAft>
                <a:spcPts val="400"/>
              </a:spcAft>
              <a:defRPr sz="2000" b="0" i="0">
                <a:solidFill>
                  <a:srgbClr val="1D1D1F"/>
                </a:solidFill>
                <a:latin typeface="Segoe UI Semibold"/>
              </a:defRPr>
            </a:pPr>
            <a:r>
              <a:t>The slots cache translations; shared replacement capacity exposes activity.</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x_0276"/>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Proof of “one slot” — base → offset → base</a:t>
            </a:r>
          </a:p>
        </p:txBody>
      </p:sp>
      <p:sp>
        <p:nvSpPr>
          <p:cNvPr id="5" name="tx_0278"/>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11</a:t>
            </a:r>
          </a:p>
        </p:txBody>
      </p:sp>
      <p:sp>
        <p:nvSpPr>
          <p:cNvPr id="6" name="rect_1182"/>
          <p:cNvSpPr/>
          <p:nvPr/>
        </p:nvSpPr>
        <p:spPr>
          <a:xfrm>
            <a:off x="822960" y="1783080"/>
            <a:ext cx="10546079" cy="1645920"/>
          </a:xfrm>
          <a:prstGeom prst="roundRect">
            <a:avLst>
              <a:gd name="adj" fmla="val 6666"/>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x_1183"/>
          <p:cNvSpPr txBox="1"/>
          <p:nvPr/>
        </p:nvSpPr>
        <p:spPr>
          <a:xfrm>
            <a:off x="1051560" y="1929384"/>
            <a:ext cx="10088879" cy="246888"/>
          </a:xfrm>
          <a:prstGeom prst="rect">
            <a:avLst/>
          </a:prstGeom>
          <a:noFill/>
        </p:spPr>
        <p:txBody>
          <a:bodyPr wrap="square" lIns="0" rIns="0" tIns="0" bIns="0">
            <a:spAutoFit/>
          </a:bodyPr>
          <a:lstStyle/>
          <a:p>
            <a:pPr>
              <a:spcAft>
                <a:spcPts val="400"/>
              </a:spcAft>
              <a:defRPr sz="1100" b="0" i="0">
                <a:solidFill>
                  <a:srgbClr val="0071E3"/>
                </a:solidFill>
                <a:latin typeface="Segoe UI Semibold"/>
              </a:defRPr>
            </a:pPr>
            <a:r>
              <a:t>LISTING 2 · PAPER EXCERPT</a:t>
            </a:r>
          </a:p>
        </p:txBody>
      </p:sp>
      <p:sp>
        <p:nvSpPr>
          <p:cNvPr id="8" name="Editable paper Listing 2"/>
          <p:cNvSpPr txBox="1"/>
          <p:nvPr/>
        </p:nvSpPr>
        <p:spPr>
          <a:xfrm>
            <a:off x="1051560" y="2286000"/>
            <a:ext cx="10088879" cy="1051560"/>
          </a:xfrm>
          <a:prstGeom prst="rect">
            <a:avLst/>
          </a:prstGeom>
          <a:noFill/>
        </p:spPr>
        <p:txBody>
          <a:bodyPr wrap="none" lIns="0" rIns="0" tIns="0" bIns="0">
            <a:spAutoFit/>
          </a:bodyPr>
          <a:lstStyle/>
          <a:p>
            <a:pPr>
              <a:lnSpc>
                <a:spcPts val="2480"/>
              </a:lnSpc>
              <a:spcBef>
                <a:spcPts val="0"/>
              </a:spcBef>
              <a:spcAft>
                <a:spcPts val="0"/>
              </a:spcAft>
            </a:pPr>
            <a:r>
              <a:rPr sz="2000">
                <a:solidFill>
                  <a:srgbClr val="1D1D1F"/>
                </a:solidFill>
                <a:latin typeface="Consolas"/>
              </a:rPr>
              <a:t>probe_noop(base); </a:t>
            </a:r>
            <a:r>
              <a:rPr sz="2000">
                <a:solidFill>
                  <a:srgbClr val="6E6E73"/>
                </a:solidFill>
                <a:latin typeface="Consolas"/>
              </a:rPr>
              <a:t>// base is 4KB aligned</a:t>
            </a:r>
          </a:p>
          <a:p>
            <a:pPr>
              <a:lnSpc>
                <a:spcPts val="2480"/>
              </a:lnSpc>
              <a:spcBef>
                <a:spcPts val="0"/>
              </a:spcBef>
              <a:spcAft>
                <a:spcPts val="0"/>
              </a:spcAft>
            </a:pPr>
            <a:r>
              <a:rPr sz="2000">
                <a:solidFill>
                  <a:srgbClr val="1D1D1F"/>
                </a:solidFill>
                <a:latin typeface="Consolas"/>
              </a:rPr>
              <a:t>probe_noop(base + OFFSET); </a:t>
            </a:r>
            <a:r>
              <a:rPr sz="2000">
                <a:solidFill>
                  <a:srgbClr val="6E6E73"/>
                </a:solidFill>
                <a:latin typeface="Consolas"/>
              </a:rPr>
              <a:t>// try evicting</a:t>
            </a:r>
          </a:p>
          <a:p>
            <a:pPr>
              <a:lnSpc>
                <a:spcPts val="2480"/>
              </a:lnSpc>
              <a:spcBef>
                <a:spcPts val="0"/>
              </a:spcBef>
              <a:spcAft>
                <a:spcPts val="0"/>
              </a:spcAft>
            </a:pPr>
            <a:r>
              <a:rPr sz="2000">
                <a:solidFill>
                  <a:srgbClr val="1D1D1F"/>
                </a:solidFill>
                <a:latin typeface="Consolas"/>
              </a:rPr>
              <a:t>probe_noop(base); </a:t>
            </a:r>
            <a:r>
              <a:rPr sz="2000">
                <a:solidFill>
                  <a:srgbClr val="6E6E73"/>
                </a:solidFill>
                <a:latin typeface="Consolas"/>
              </a:rPr>
              <a:t>// probe if base is present</a:t>
            </a:r>
          </a:p>
        </p:txBody>
      </p:sp>
      <p:sp>
        <p:nvSpPr>
          <p:cNvPr id="9" name="tx_1184"/>
          <p:cNvSpPr txBox="1"/>
          <p:nvPr/>
        </p:nvSpPr>
        <p:spPr>
          <a:xfrm>
            <a:off x="868680" y="3648456"/>
            <a:ext cx="3072383"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OFFSET FROM BASE</a:t>
            </a:r>
          </a:p>
        </p:txBody>
      </p:sp>
      <p:sp>
        <p:nvSpPr>
          <p:cNvPr id="10" name="tx_1185"/>
          <p:cNvSpPr txBox="1"/>
          <p:nvPr/>
        </p:nvSpPr>
        <p:spPr>
          <a:xfrm>
            <a:off x="4032503" y="3648456"/>
            <a:ext cx="2439619"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FINAL ACCESS TO BASE</a:t>
            </a:r>
          </a:p>
        </p:txBody>
      </p:sp>
      <p:sp>
        <p:nvSpPr>
          <p:cNvPr id="11" name="tx_1186"/>
          <p:cNvSpPr txBox="1"/>
          <p:nvPr/>
        </p:nvSpPr>
        <p:spPr>
          <a:xfrm>
            <a:off x="6563563" y="3648456"/>
            <a:ext cx="4759756"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WHAT IT ESTABLISHES</a:t>
            </a:r>
          </a:p>
        </p:txBody>
      </p:sp>
      <p:cxnSp>
        <p:nvCxnSpPr>
          <p:cNvPr id="12" name="hl_1187"/>
          <p:cNvCxnSpPr/>
          <p:nvPr/>
        </p:nvCxnSpPr>
        <p:spPr>
          <a:xfrm>
            <a:off x="822960" y="4014216"/>
            <a:ext cx="10546079"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13" name="tx_1188"/>
          <p:cNvSpPr txBox="1"/>
          <p:nvPr/>
        </p:nvSpPr>
        <p:spPr>
          <a:xfrm>
            <a:off x="868680" y="4114800"/>
            <a:ext cx="3072383"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Semibold"/>
              </a:defRPr>
            </a:pPr>
            <a:r>
              <a:t>Within the same 4 KiB page</a:t>
            </a:r>
          </a:p>
        </p:txBody>
      </p:sp>
      <p:sp>
        <p:nvSpPr>
          <p:cNvPr id="14" name="tx_1189"/>
          <p:cNvSpPr txBox="1"/>
          <p:nvPr/>
        </p:nvSpPr>
        <p:spPr>
          <a:xfrm>
            <a:off x="4032503" y="4114800"/>
            <a:ext cx="2439619"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a:defRPr>
            </a:pPr>
            <a:r>
              <a:t>Hit</a:t>
            </a:r>
          </a:p>
        </p:txBody>
      </p:sp>
      <p:sp>
        <p:nvSpPr>
          <p:cNvPr id="15" name="tx_1190"/>
          <p:cNvSpPr txBox="1"/>
          <p:nvPr/>
        </p:nvSpPr>
        <p:spPr>
          <a:xfrm>
            <a:off x="6563563" y="4114800"/>
            <a:ext cx="4759756" cy="365760"/>
          </a:xfrm>
          <a:prstGeom prst="rect">
            <a:avLst/>
          </a:prstGeom>
          <a:noFill/>
        </p:spPr>
        <p:txBody>
          <a:bodyPr wrap="square" lIns="0" rIns="0" tIns="0" bIns="0" anchor="ctr">
            <a:spAutoFit/>
          </a:bodyPr>
          <a:lstStyle/>
          <a:p>
            <a:pPr>
              <a:spcAft>
                <a:spcPts val="400"/>
              </a:spcAft>
              <a:defRPr sz="1800" b="0" i="0">
                <a:solidFill>
                  <a:srgbClr val="6E6E73"/>
                </a:solidFill>
                <a:latin typeface="Segoe UI"/>
              </a:defRPr>
            </a:pPr>
            <a:r>
              <a:t>Page-granular reuse</a:t>
            </a:r>
          </a:p>
        </p:txBody>
      </p:sp>
      <p:cxnSp>
        <p:nvCxnSpPr>
          <p:cNvPr id="16" name="hl_1191"/>
          <p:cNvCxnSpPr/>
          <p:nvPr/>
        </p:nvCxnSpPr>
        <p:spPr>
          <a:xfrm>
            <a:off x="822960" y="4581144"/>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7" name="tx_1192"/>
          <p:cNvSpPr txBox="1"/>
          <p:nvPr/>
        </p:nvSpPr>
        <p:spPr>
          <a:xfrm>
            <a:off x="868680" y="4681728"/>
            <a:ext cx="3072383" cy="365760"/>
          </a:xfrm>
          <a:prstGeom prst="rect">
            <a:avLst/>
          </a:prstGeom>
          <a:noFill/>
        </p:spPr>
        <p:txBody>
          <a:bodyPr wrap="square" lIns="0" rIns="0" tIns="0" bIns="0" anchor="ctr">
            <a:spAutoFit/>
          </a:bodyPr>
          <a:lstStyle/>
          <a:p>
            <a:pPr>
              <a:spcAft>
                <a:spcPts val="400"/>
              </a:spcAft>
              <a:defRPr sz="1800" b="0" i="0">
                <a:solidFill>
                  <a:srgbClr val="D70015"/>
                </a:solidFill>
                <a:latin typeface="Segoe UI Semibold"/>
              </a:defRPr>
            </a:pPr>
            <a:r>
              <a:t>Another page</a:t>
            </a:r>
          </a:p>
        </p:txBody>
      </p:sp>
      <p:sp>
        <p:nvSpPr>
          <p:cNvPr id="18" name="tx_1193"/>
          <p:cNvSpPr txBox="1"/>
          <p:nvPr/>
        </p:nvSpPr>
        <p:spPr>
          <a:xfrm>
            <a:off x="4032503" y="4681728"/>
            <a:ext cx="2439619" cy="365760"/>
          </a:xfrm>
          <a:prstGeom prst="rect">
            <a:avLst/>
          </a:prstGeom>
          <a:noFill/>
        </p:spPr>
        <p:txBody>
          <a:bodyPr wrap="square" lIns="0" rIns="0" tIns="0" bIns="0" anchor="ctr">
            <a:spAutoFit/>
          </a:bodyPr>
          <a:lstStyle/>
          <a:p>
            <a:pPr>
              <a:spcAft>
                <a:spcPts val="400"/>
              </a:spcAft>
              <a:defRPr sz="1800" b="0" i="0">
                <a:solidFill>
                  <a:srgbClr val="D70015"/>
                </a:solidFill>
                <a:latin typeface="Segoe UI Semibold"/>
              </a:defRPr>
            </a:pPr>
            <a:r>
              <a:t>Miss</a:t>
            </a:r>
          </a:p>
        </p:txBody>
      </p:sp>
      <p:sp>
        <p:nvSpPr>
          <p:cNvPr id="19" name="tx_1194"/>
          <p:cNvSpPr txBox="1"/>
          <p:nvPr/>
        </p:nvSpPr>
        <p:spPr>
          <a:xfrm>
            <a:off x="6563563" y="4681728"/>
            <a:ext cx="4759756" cy="365760"/>
          </a:xfrm>
          <a:prstGeom prst="rect">
            <a:avLst/>
          </a:prstGeom>
          <a:noFill/>
        </p:spPr>
        <p:txBody>
          <a:bodyPr wrap="square" lIns="0" rIns="0" tIns="0" bIns="0" anchor="ctr">
            <a:spAutoFit/>
          </a:bodyPr>
          <a:lstStyle/>
          <a:p>
            <a:pPr>
              <a:spcAft>
                <a:spcPts val="400"/>
              </a:spcAft>
              <a:defRPr sz="1800" b="0" i="0">
                <a:solidFill>
                  <a:srgbClr val="D70015"/>
                </a:solidFill>
                <a:latin typeface="Segoe UI Semibold"/>
              </a:defRPr>
            </a:pPr>
            <a:r>
              <a:t>One conflicting page replaces base</a:t>
            </a:r>
          </a:p>
        </p:txBody>
      </p:sp>
      <p:cxnSp>
        <p:nvCxnSpPr>
          <p:cNvPr id="20" name="hl_1195"/>
          <p:cNvCxnSpPr/>
          <p:nvPr/>
        </p:nvCxnSpPr>
        <p:spPr>
          <a:xfrm>
            <a:off x="822960" y="5148072"/>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1" name="rect_1196"/>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x_1197"/>
          <p:cNvSpPr txBox="1"/>
          <p:nvPr/>
        </p:nvSpPr>
        <p:spPr>
          <a:xfrm>
            <a:off x="822960" y="5779008"/>
            <a:ext cx="10546079" cy="548640"/>
          </a:xfrm>
          <a:prstGeom prst="rect">
            <a:avLst/>
          </a:prstGeom>
          <a:noFill/>
        </p:spPr>
        <p:txBody>
          <a:bodyPr wrap="square" lIns="0" rIns="0" tIns="0" bIns="0">
            <a:spAutoFit/>
          </a:bodyPr>
          <a:lstStyle/>
          <a:p>
            <a:pPr>
              <a:spcAft>
                <a:spcPts val="400"/>
              </a:spcAft>
              <a:defRPr sz="2000" b="0" i="0">
                <a:solidFill>
                  <a:srgbClr val="1D1D1F"/>
                </a:solidFill>
                <a:latin typeface="Segoe UI Semibold"/>
              </a:defRPr>
            </a:pPr>
            <a:r>
              <a:t>For NOOP, base is the attacker’s completion-record page.</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x_0305"/>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The drawers are independent — even sharing bits</a:t>
            </a:r>
          </a:p>
        </p:txBody>
      </p:sp>
      <p:sp>
        <p:nvSpPr>
          <p:cNvPr id="5" name="tx_0307"/>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12</a:t>
            </a:r>
          </a:p>
        </p:txBody>
      </p:sp>
      <p:sp>
        <p:nvSpPr>
          <p:cNvPr id="6" name="rect_1198"/>
          <p:cNvSpPr/>
          <p:nvPr/>
        </p:nvSpPr>
        <p:spPr>
          <a:xfrm>
            <a:off x="822960" y="1783080"/>
            <a:ext cx="5074920" cy="2423160"/>
          </a:xfrm>
          <a:prstGeom prst="roundRect">
            <a:avLst>
              <a:gd name="adj" fmla="val 452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x_1199"/>
          <p:cNvSpPr txBox="1"/>
          <p:nvPr/>
        </p:nvSpPr>
        <p:spPr>
          <a:xfrm>
            <a:off x="1051560" y="1929384"/>
            <a:ext cx="4617720" cy="246888"/>
          </a:xfrm>
          <a:prstGeom prst="rect">
            <a:avLst/>
          </a:prstGeom>
          <a:noFill/>
        </p:spPr>
        <p:txBody>
          <a:bodyPr wrap="square" lIns="0" rIns="0" tIns="0" bIns="0">
            <a:spAutoFit/>
          </a:bodyPr>
          <a:lstStyle/>
          <a:p>
            <a:pPr>
              <a:spcAft>
                <a:spcPts val="400"/>
              </a:spcAft>
              <a:defRPr sz="1100" b="0" i="0">
                <a:solidFill>
                  <a:srgbClr val="0071E3"/>
                </a:solidFill>
                <a:latin typeface="Segoe UI Semibold"/>
              </a:defRPr>
            </a:pPr>
            <a:r>
              <a:t>LISTING 3 · PAPER EXCERPT</a:t>
            </a:r>
          </a:p>
        </p:txBody>
      </p:sp>
      <p:sp>
        <p:nvSpPr>
          <p:cNvPr id="8" name="Editable paper Listing 3"/>
          <p:cNvSpPr txBox="1"/>
          <p:nvPr/>
        </p:nvSpPr>
        <p:spPr>
          <a:xfrm>
            <a:off x="1051560" y="2286000"/>
            <a:ext cx="4617720" cy="1828800"/>
          </a:xfrm>
          <a:prstGeom prst="rect">
            <a:avLst/>
          </a:prstGeom>
          <a:noFill/>
        </p:spPr>
        <p:txBody>
          <a:bodyPr wrap="none" lIns="0" rIns="0" tIns="0" bIns="0">
            <a:spAutoFit/>
          </a:bodyPr>
          <a:lstStyle/>
          <a:p>
            <a:pPr>
              <a:lnSpc>
                <a:spcPts val="1860"/>
              </a:lnSpc>
              <a:spcBef>
                <a:spcPts val="0"/>
              </a:spcBef>
              <a:spcAft>
                <a:spcPts val="0"/>
              </a:spcAft>
            </a:pPr>
            <a:r>
              <a:rPr sz="1500">
                <a:solidFill>
                  <a:srgbClr val="6E6E73"/>
                </a:solidFill>
                <a:latin typeface="Consolas"/>
              </a:rPr>
              <a:t>// different page</a:t>
            </a:r>
          </a:p>
          <a:p>
            <a:pPr>
              <a:lnSpc>
                <a:spcPts val="1860"/>
              </a:lnSpc>
              <a:spcBef>
                <a:spcPts val="0"/>
              </a:spcBef>
              <a:spcAft>
                <a:spcPts val="0"/>
              </a:spcAft>
            </a:pPr>
            <a:r>
              <a:rPr sz="1500">
                <a:solidFill>
                  <a:srgbClr val="1D1D1F"/>
                </a:solidFill>
                <a:latin typeface="Consolas"/>
              </a:rPr>
              <a:t>assert(PAGE_OF(src0) != PAGE_OF(dst0));</a:t>
            </a:r>
          </a:p>
          <a:p>
            <a:pPr>
              <a:lnSpc>
                <a:spcPts val="1860"/>
              </a:lnSpc>
              <a:spcBef>
                <a:spcPts val="0"/>
              </a:spcBef>
              <a:spcAft>
                <a:spcPts val="0"/>
              </a:spcAft>
            </a:pPr>
            <a:r>
              <a:rPr sz="1500">
                <a:solidFill>
                  <a:srgbClr val="1D1D1F"/>
                </a:solidFill>
                <a:latin typeface="Consolas"/>
              </a:rPr>
              <a:t>probe_memcpy(src0, dst0); </a:t>
            </a:r>
            <a:r>
              <a:rPr sz="1500">
                <a:solidFill>
                  <a:srgbClr val="6E6E73"/>
                </a:solidFill>
                <a:latin typeface="Consolas"/>
              </a:rPr>
              <a:t>// prime devtlb</a:t>
            </a:r>
          </a:p>
          <a:p>
            <a:pPr>
              <a:lnSpc>
                <a:spcPts val="1860"/>
              </a:lnSpc>
              <a:spcBef>
                <a:spcPts val="0"/>
              </a:spcBef>
              <a:spcAft>
                <a:spcPts val="0"/>
              </a:spcAft>
            </a:pPr>
            <a:r>
              <a:rPr sz="1500">
                <a:solidFill>
                  <a:srgbClr val="6E6E73"/>
                </a:solidFill>
                <a:latin typeface="Consolas"/>
              </a:rPr>
              <a:t>// src1 is on a different page with the src</a:t>
            </a:r>
          </a:p>
          <a:p>
            <a:pPr>
              <a:lnSpc>
                <a:spcPts val="1860"/>
              </a:lnSpc>
              <a:spcBef>
                <a:spcPts val="0"/>
              </a:spcBef>
              <a:spcAft>
                <a:spcPts val="0"/>
              </a:spcAft>
            </a:pPr>
            <a:r>
              <a:rPr sz="1500">
                <a:solidFill>
                  <a:srgbClr val="1D1D1F"/>
                </a:solidFill>
                <a:latin typeface="Consolas"/>
              </a:rPr>
              <a:t>probe_memcpy(src1, dst0);</a:t>
            </a:r>
          </a:p>
        </p:txBody>
      </p:sp>
      <p:sp>
        <p:nvSpPr>
          <p:cNvPr id="9" name="rect_1200"/>
          <p:cNvSpPr/>
          <p:nvPr/>
        </p:nvSpPr>
        <p:spPr>
          <a:xfrm>
            <a:off x="6309360" y="1783080"/>
            <a:ext cx="5074920" cy="2423160"/>
          </a:xfrm>
          <a:prstGeom prst="roundRect">
            <a:avLst>
              <a:gd name="adj" fmla="val 452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x_1201"/>
          <p:cNvSpPr txBox="1"/>
          <p:nvPr/>
        </p:nvSpPr>
        <p:spPr>
          <a:xfrm>
            <a:off x="6537960" y="1929384"/>
            <a:ext cx="4617720" cy="246888"/>
          </a:xfrm>
          <a:prstGeom prst="rect">
            <a:avLst/>
          </a:prstGeom>
          <a:noFill/>
        </p:spPr>
        <p:txBody>
          <a:bodyPr wrap="square" lIns="0" rIns="0" tIns="0" bIns="0">
            <a:spAutoFit/>
          </a:bodyPr>
          <a:lstStyle/>
          <a:p>
            <a:pPr>
              <a:spcAft>
                <a:spcPts val="400"/>
              </a:spcAft>
              <a:defRPr sz="1100" b="0" i="0">
                <a:solidFill>
                  <a:srgbClr val="0071E3"/>
                </a:solidFill>
                <a:latin typeface="Segoe UI Semibold"/>
              </a:defRPr>
            </a:pPr>
            <a:r>
              <a:t>LISTING 4 · PAPER EXCERPT</a:t>
            </a:r>
          </a:p>
        </p:txBody>
      </p:sp>
      <p:sp>
        <p:nvSpPr>
          <p:cNvPr id="11" name="Editable paper Listing 4"/>
          <p:cNvSpPr txBox="1"/>
          <p:nvPr/>
        </p:nvSpPr>
        <p:spPr>
          <a:xfrm>
            <a:off x="6537960" y="2286000"/>
            <a:ext cx="4617720" cy="1828800"/>
          </a:xfrm>
          <a:prstGeom prst="rect">
            <a:avLst/>
          </a:prstGeom>
          <a:noFill/>
        </p:spPr>
        <p:txBody>
          <a:bodyPr wrap="none" lIns="0" rIns="0" tIns="0" bIns="0">
            <a:spAutoFit/>
          </a:bodyPr>
          <a:lstStyle/>
          <a:p>
            <a:pPr>
              <a:lnSpc>
                <a:spcPts val="2046"/>
              </a:lnSpc>
              <a:spcBef>
                <a:spcPts val="0"/>
              </a:spcBef>
              <a:spcAft>
                <a:spcPts val="0"/>
              </a:spcAft>
            </a:pPr>
            <a:r>
              <a:rPr sz="1650">
                <a:solidFill>
                  <a:srgbClr val="6E6E73"/>
                </a:solidFill>
                <a:latin typeface="Consolas"/>
              </a:rPr>
              <a:t>// src2 overlaps dst</a:t>
            </a:r>
          </a:p>
          <a:p>
            <a:pPr>
              <a:lnSpc>
                <a:spcPts val="2046"/>
              </a:lnSpc>
              <a:spcBef>
                <a:spcPts val="0"/>
              </a:spcBef>
              <a:spcAft>
                <a:spcPts val="0"/>
              </a:spcAft>
            </a:pPr>
            <a:r>
              <a:rPr sz="1650">
                <a:solidFill>
                  <a:srgbClr val="1D1D1F"/>
                </a:solidFill>
                <a:latin typeface="Consolas"/>
              </a:rPr>
              <a:t>probe_memcmp(src, src2);</a:t>
            </a:r>
          </a:p>
          <a:p>
            <a:pPr>
              <a:lnSpc>
                <a:spcPts val="2046"/>
              </a:lnSpc>
              <a:spcBef>
                <a:spcPts val="0"/>
              </a:spcBef>
              <a:spcAft>
                <a:spcPts val="0"/>
              </a:spcAft>
            </a:pPr>
            <a:r>
              <a:rPr sz="1650">
                <a:solidFill>
                  <a:srgbClr val="6E6E73"/>
                </a:solidFill>
                <a:latin typeface="Consolas"/>
              </a:rPr>
              <a:t>// dst and src2 in same page</a:t>
            </a:r>
          </a:p>
          <a:p>
            <a:pPr>
              <a:lnSpc>
                <a:spcPts val="2046"/>
              </a:lnSpc>
              <a:spcBef>
                <a:spcPts val="0"/>
              </a:spcBef>
              <a:spcAft>
                <a:spcPts val="0"/>
              </a:spcAft>
            </a:pPr>
            <a:r>
              <a:rPr sz="1650">
                <a:solidFill>
                  <a:srgbClr val="1D1D1F"/>
                </a:solidFill>
                <a:latin typeface="Consolas"/>
              </a:rPr>
              <a:t>probe_memcpy(src, dst);</a:t>
            </a:r>
          </a:p>
        </p:txBody>
      </p:sp>
      <p:sp>
        <p:nvSpPr>
          <p:cNvPr id="12" name="tx_1202"/>
          <p:cNvSpPr txBox="1"/>
          <p:nvPr/>
        </p:nvSpPr>
        <p:spPr>
          <a:xfrm>
            <a:off x="822960" y="4507992"/>
            <a:ext cx="5074920" cy="658368"/>
          </a:xfrm>
          <a:prstGeom prst="rect">
            <a:avLst/>
          </a:prstGeom>
          <a:noFill/>
        </p:spPr>
        <p:txBody>
          <a:bodyPr wrap="square" lIns="0" rIns="0" tIns="0" bIns="0">
            <a:spAutoFit/>
          </a:bodyPr>
          <a:lstStyle/>
          <a:p>
            <a:pPr>
              <a:lnSpc>
                <a:spcPct val="115000"/>
              </a:lnSpc>
              <a:spcAft>
                <a:spcPts val="400"/>
              </a:spcAft>
              <a:defRPr sz="1800" b="0" i="0">
                <a:solidFill>
                  <a:srgbClr val="1D1D1F"/>
                </a:solidFill>
                <a:latin typeface="Segoe UI Semibold"/>
              </a:defRPr>
            </a:pPr>
            <a:r>
              <a:t>Change src; keep dst.</a:t>
            </a:r>
          </a:p>
          <a:p>
            <a:pPr>
              <a:lnSpc>
                <a:spcPct val="115000"/>
              </a:lnSpc>
              <a:spcAft>
                <a:spcPts val="400"/>
              </a:spcAft>
              <a:defRPr sz="1800" b="0" i="0">
                <a:solidFill>
                  <a:srgbClr val="1D1D1F"/>
                </a:solidFill>
                <a:latin typeface="Segoe UI Semibold"/>
              </a:defRPr>
            </a:pPr>
            <a:r>
              <a:t>The destination translation survives.</a:t>
            </a:r>
          </a:p>
        </p:txBody>
      </p:sp>
      <p:sp>
        <p:nvSpPr>
          <p:cNvPr id="13" name="tx_1203"/>
          <p:cNvSpPr txBox="1"/>
          <p:nvPr/>
        </p:nvSpPr>
        <p:spPr>
          <a:xfrm>
            <a:off x="6309360" y="4507992"/>
            <a:ext cx="5074920" cy="658368"/>
          </a:xfrm>
          <a:prstGeom prst="rect">
            <a:avLst/>
          </a:prstGeom>
          <a:noFill/>
        </p:spPr>
        <p:txBody>
          <a:bodyPr wrap="square" lIns="0" rIns="0" tIns="0" bIns="0">
            <a:spAutoFit/>
          </a:bodyPr>
          <a:lstStyle/>
          <a:p>
            <a:pPr>
              <a:lnSpc>
                <a:spcPct val="115000"/>
              </a:lnSpc>
              <a:spcAft>
                <a:spcPts val="400"/>
              </a:spcAft>
              <a:defRPr sz="1800" b="0" i="0">
                <a:solidFill>
                  <a:srgbClr val="1D1D1F"/>
                </a:solidFill>
                <a:latin typeface="Segoe UI Semibold"/>
              </a:defRPr>
            </a:pPr>
            <a:r>
              <a:t>Same page / encoding position; different role.</a:t>
            </a:r>
          </a:p>
          <a:p>
            <a:pPr>
              <a:lnSpc>
                <a:spcPct val="115000"/>
              </a:lnSpc>
              <a:spcAft>
                <a:spcPts val="400"/>
              </a:spcAft>
              <a:defRPr sz="1800" b="0" i="0">
                <a:solidFill>
                  <a:srgbClr val="1D1D1F"/>
                </a:solidFill>
                <a:latin typeface="Segoe UI Semibold"/>
              </a:defRPr>
            </a:pPr>
            <a:r>
              <a:t>Only src contributes the reuse hit.</a:t>
            </a:r>
          </a:p>
        </p:txBody>
      </p:sp>
      <p:sp>
        <p:nvSpPr>
          <p:cNvPr id="14" name="rect_1204"/>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x_1205"/>
          <p:cNvSpPr txBox="1"/>
          <p:nvPr/>
        </p:nvSpPr>
        <p:spPr>
          <a:xfrm>
            <a:off x="822960" y="5779008"/>
            <a:ext cx="10546079" cy="548640"/>
          </a:xfrm>
          <a:prstGeom prst="rect">
            <a:avLst/>
          </a:prstGeom>
          <a:noFill/>
        </p:spPr>
        <p:txBody>
          <a:bodyPr wrap="square" lIns="0" rIns="0" tIns="0" bIns="0">
            <a:spAutoFit/>
          </a:bodyPr>
          <a:lstStyle/>
          <a:p>
            <a:pPr>
              <a:spcAft>
                <a:spcPts val="400"/>
              </a:spcAft>
              <a:defRPr sz="2000" b="0" i="0">
                <a:solidFill>
                  <a:srgbClr val="1D1D1F"/>
                </a:solidFill>
                <a:latin typeface="Segoe UI Semibold"/>
              </a:defRPr>
            </a:pPr>
            <a:r>
              <a:t>Different semantic fields use different DevTLB slots.</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x_0337"/>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2400" b="0" i="0">
                <a:solidFill>
                  <a:srgbClr val="1D1D1F"/>
                </a:solidFill>
                <a:latin typeface="Segoe UI Semibold"/>
              </a:defRPr>
            </a:pPr>
            <a:r>
              <a:t>The money shot — eviction follows the engine, not the queue</a:t>
            </a:r>
          </a:p>
        </p:txBody>
      </p:sp>
      <p:sp>
        <p:nvSpPr>
          <p:cNvPr id="5" name="tx_0339"/>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13</a:t>
            </a:r>
          </a:p>
        </p:txBody>
      </p:sp>
      <p:pic>
        <p:nvPicPr>
          <p:cNvPr id="6" name="Original paper Figure 5 — page 6" descr="paper_fig5.png"/>
          <p:cNvPicPr>
            <a:picLocks noChangeAspect="1"/>
          </p:cNvPicPr>
          <p:nvPr/>
        </p:nvPicPr>
        <p:blipFill>
          <a:blip r:embed="rId3"/>
          <a:stretch>
            <a:fillRect/>
          </a:stretch>
        </p:blipFill>
        <p:spPr>
          <a:xfrm>
            <a:off x="822960" y="1797901"/>
            <a:ext cx="5486400" cy="4039437"/>
          </a:xfrm>
          <a:prstGeom prst="rect">
            <a:avLst/>
          </a:prstGeom>
        </p:spPr>
      </p:pic>
      <p:sp>
        <p:nvSpPr>
          <p:cNvPr id="7" name="tx_1206"/>
          <p:cNvSpPr txBox="1"/>
          <p:nvPr/>
        </p:nvSpPr>
        <p:spPr>
          <a:xfrm>
            <a:off x="6720840" y="2240280"/>
            <a:ext cx="614934"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CASE</a:t>
            </a:r>
          </a:p>
        </p:txBody>
      </p:sp>
      <p:sp>
        <p:nvSpPr>
          <p:cNvPr id="8" name="tx_1207"/>
          <p:cNvSpPr txBox="1"/>
          <p:nvPr/>
        </p:nvSpPr>
        <p:spPr>
          <a:xfrm>
            <a:off x="7427214" y="2240280"/>
            <a:ext cx="2922422"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SHARED RESOURCE</a:t>
            </a:r>
          </a:p>
        </p:txBody>
      </p:sp>
      <p:sp>
        <p:nvSpPr>
          <p:cNvPr id="9" name="tx_1208"/>
          <p:cNvSpPr txBox="1"/>
          <p:nvPr/>
        </p:nvSpPr>
        <p:spPr>
          <a:xfrm>
            <a:off x="10441076" y="2240280"/>
            <a:ext cx="897483"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PROBE</a:t>
            </a:r>
          </a:p>
        </p:txBody>
      </p:sp>
      <p:cxnSp>
        <p:nvCxnSpPr>
          <p:cNvPr id="10" name="hl_1209"/>
          <p:cNvCxnSpPr/>
          <p:nvPr/>
        </p:nvCxnSpPr>
        <p:spPr>
          <a:xfrm>
            <a:off x="6675120" y="2606040"/>
            <a:ext cx="4709160"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11" name="tx_1210"/>
          <p:cNvSpPr txBox="1"/>
          <p:nvPr/>
        </p:nvSpPr>
        <p:spPr>
          <a:xfrm>
            <a:off x="6720840" y="2788920"/>
            <a:ext cx="614934" cy="365760"/>
          </a:xfrm>
          <a:prstGeom prst="rect">
            <a:avLst/>
          </a:prstGeom>
          <a:noFill/>
        </p:spPr>
        <p:txBody>
          <a:bodyPr wrap="square" lIns="0" rIns="0" tIns="0" bIns="0" anchor="ctr">
            <a:spAutoFit/>
          </a:bodyPr>
          <a:lstStyle/>
          <a:p>
            <a:pPr>
              <a:spcAft>
                <a:spcPts val="400"/>
              </a:spcAft>
              <a:defRPr sz="1700" b="0" i="0">
                <a:solidFill>
                  <a:srgbClr val="1D1D1F"/>
                </a:solidFill>
                <a:latin typeface="Segoe UI Semibold"/>
              </a:defRPr>
            </a:pPr>
            <a:r>
              <a:t>E0</a:t>
            </a:r>
          </a:p>
        </p:txBody>
      </p:sp>
      <p:sp>
        <p:nvSpPr>
          <p:cNvPr id="12" name="tx_1211"/>
          <p:cNvSpPr txBox="1"/>
          <p:nvPr/>
        </p:nvSpPr>
        <p:spPr>
          <a:xfrm>
            <a:off x="7427214" y="2788920"/>
            <a:ext cx="2922422" cy="365760"/>
          </a:xfrm>
          <a:prstGeom prst="rect">
            <a:avLst/>
          </a:prstGeom>
          <a:noFill/>
        </p:spPr>
        <p:txBody>
          <a:bodyPr wrap="square" lIns="0" rIns="0" tIns="0" bIns="0" anchor="ctr">
            <a:spAutoFit/>
          </a:bodyPr>
          <a:lstStyle/>
          <a:p>
            <a:pPr>
              <a:spcAft>
                <a:spcPts val="400"/>
              </a:spcAft>
              <a:defRPr sz="1700" b="0" i="0">
                <a:solidFill>
                  <a:srgbClr val="1D1D1F"/>
                </a:solidFill>
                <a:latin typeface="Segoe UI"/>
              </a:defRPr>
            </a:pPr>
            <a:r>
              <a:t>same WQ + engine</a:t>
            </a:r>
          </a:p>
        </p:txBody>
      </p:sp>
      <p:sp>
        <p:nvSpPr>
          <p:cNvPr id="13" name="tx_1212"/>
          <p:cNvSpPr txBox="1"/>
          <p:nvPr/>
        </p:nvSpPr>
        <p:spPr>
          <a:xfrm>
            <a:off x="10441076" y="2788920"/>
            <a:ext cx="897483" cy="365760"/>
          </a:xfrm>
          <a:prstGeom prst="rect">
            <a:avLst/>
          </a:prstGeom>
          <a:noFill/>
        </p:spPr>
        <p:txBody>
          <a:bodyPr wrap="square" lIns="0" rIns="0" tIns="0" bIns="0" anchor="ctr">
            <a:spAutoFit/>
          </a:bodyPr>
          <a:lstStyle/>
          <a:p>
            <a:pPr>
              <a:spcAft>
                <a:spcPts val="400"/>
              </a:spcAft>
              <a:defRPr sz="1700" b="0" i="0">
                <a:solidFill>
                  <a:srgbClr val="1D1D1F"/>
                </a:solidFill>
                <a:latin typeface="Segoe UI"/>
              </a:defRPr>
            </a:pPr>
            <a:r>
              <a:t>Miss</a:t>
            </a:r>
          </a:p>
        </p:txBody>
      </p:sp>
      <p:cxnSp>
        <p:nvCxnSpPr>
          <p:cNvPr id="14" name="hl_1213"/>
          <p:cNvCxnSpPr/>
          <p:nvPr/>
        </p:nvCxnSpPr>
        <p:spPr>
          <a:xfrm>
            <a:off x="6675120" y="3337560"/>
            <a:ext cx="470916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5" name="tx_1214"/>
          <p:cNvSpPr txBox="1"/>
          <p:nvPr/>
        </p:nvSpPr>
        <p:spPr>
          <a:xfrm>
            <a:off x="6720840" y="3520440"/>
            <a:ext cx="614934" cy="365760"/>
          </a:xfrm>
          <a:prstGeom prst="rect">
            <a:avLst/>
          </a:prstGeom>
          <a:noFill/>
        </p:spPr>
        <p:txBody>
          <a:bodyPr wrap="square" lIns="0" rIns="0" tIns="0" bIns="0" anchor="ctr">
            <a:spAutoFit/>
          </a:bodyPr>
          <a:lstStyle/>
          <a:p>
            <a:pPr>
              <a:spcAft>
                <a:spcPts val="400"/>
              </a:spcAft>
              <a:defRPr sz="1700" b="0" i="0">
                <a:solidFill>
                  <a:srgbClr val="1D1D1F"/>
                </a:solidFill>
                <a:latin typeface="Segoe UI Semibold"/>
              </a:defRPr>
            </a:pPr>
            <a:r>
              <a:t>E1</a:t>
            </a:r>
          </a:p>
        </p:txBody>
      </p:sp>
      <p:sp>
        <p:nvSpPr>
          <p:cNvPr id="16" name="tx_1215"/>
          <p:cNvSpPr txBox="1"/>
          <p:nvPr/>
        </p:nvSpPr>
        <p:spPr>
          <a:xfrm>
            <a:off x="7427214" y="3520440"/>
            <a:ext cx="2922422" cy="365760"/>
          </a:xfrm>
          <a:prstGeom prst="rect">
            <a:avLst/>
          </a:prstGeom>
          <a:noFill/>
        </p:spPr>
        <p:txBody>
          <a:bodyPr wrap="square" lIns="0" rIns="0" tIns="0" bIns="0" anchor="ctr">
            <a:spAutoFit/>
          </a:bodyPr>
          <a:lstStyle/>
          <a:p>
            <a:pPr>
              <a:spcAft>
                <a:spcPts val="400"/>
              </a:spcAft>
              <a:defRPr sz="1700" b="0" i="0">
                <a:solidFill>
                  <a:srgbClr val="1D1D1F"/>
                </a:solidFill>
                <a:latin typeface="Segoe UI"/>
              </a:defRPr>
            </a:pPr>
            <a:r>
              <a:t>different WQs; same engine</a:t>
            </a:r>
          </a:p>
        </p:txBody>
      </p:sp>
      <p:sp>
        <p:nvSpPr>
          <p:cNvPr id="17" name="tx_1216"/>
          <p:cNvSpPr txBox="1"/>
          <p:nvPr/>
        </p:nvSpPr>
        <p:spPr>
          <a:xfrm>
            <a:off x="10441076" y="3520440"/>
            <a:ext cx="897483" cy="365760"/>
          </a:xfrm>
          <a:prstGeom prst="rect">
            <a:avLst/>
          </a:prstGeom>
          <a:noFill/>
        </p:spPr>
        <p:txBody>
          <a:bodyPr wrap="square" lIns="0" rIns="0" tIns="0" bIns="0" anchor="ctr">
            <a:spAutoFit/>
          </a:bodyPr>
          <a:lstStyle/>
          <a:p>
            <a:pPr>
              <a:spcAft>
                <a:spcPts val="400"/>
              </a:spcAft>
              <a:defRPr sz="1700" b="0" i="0">
                <a:solidFill>
                  <a:srgbClr val="1D1D1F"/>
                </a:solidFill>
                <a:latin typeface="Segoe UI"/>
              </a:defRPr>
            </a:pPr>
            <a:r>
              <a:t>Miss</a:t>
            </a:r>
          </a:p>
        </p:txBody>
      </p:sp>
      <p:cxnSp>
        <p:nvCxnSpPr>
          <p:cNvPr id="18" name="hl_1217"/>
          <p:cNvCxnSpPr/>
          <p:nvPr/>
        </p:nvCxnSpPr>
        <p:spPr>
          <a:xfrm>
            <a:off x="6675120" y="4069080"/>
            <a:ext cx="470916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9" name="tx_1218"/>
          <p:cNvSpPr txBox="1"/>
          <p:nvPr/>
        </p:nvSpPr>
        <p:spPr>
          <a:xfrm>
            <a:off x="6720840" y="4251960"/>
            <a:ext cx="614934" cy="365760"/>
          </a:xfrm>
          <a:prstGeom prst="rect">
            <a:avLst/>
          </a:prstGeom>
          <a:noFill/>
        </p:spPr>
        <p:txBody>
          <a:bodyPr wrap="square" lIns="0" rIns="0" tIns="0" bIns="0" anchor="ctr">
            <a:spAutoFit/>
          </a:bodyPr>
          <a:lstStyle/>
          <a:p>
            <a:pPr>
              <a:spcAft>
                <a:spcPts val="400"/>
              </a:spcAft>
              <a:defRPr sz="1700" b="0" i="0">
                <a:solidFill>
                  <a:srgbClr val="248A3D"/>
                </a:solidFill>
                <a:latin typeface="Segoe UI Semibold"/>
              </a:defRPr>
            </a:pPr>
            <a:r>
              <a:t>E2</a:t>
            </a:r>
          </a:p>
        </p:txBody>
      </p:sp>
      <p:sp>
        <p:nvSpPr>
          <p:cNvPr id="20" name="tx_1219"/>
          <p:cNvSpPr txBox="1"/>
          <p:nvPr/>
        </p:nvSpPr>
        <p:spPr>
          <a:xfrm>
            <a:off x="7427214" y="4251960"/>
            <a:ext cx="2922422" cy="365760"/>
          </a:xfrm>
          <a:prstGeom prst="rect">
            <a:avLst/>
          </a:prstGeom>
          <a:noFill/>
        </p:spPr>
        <p:txBody>
          <a:bodyPr wrap="square" lIns="0" rIns="0" tIns="0" bIns="0" anchor="ctr">
            <a:spAutoFit/>
          </a:bodyPr>
          <a:lstStyle/>
          <a:p>
            <a:pPr>
              <a:spcAft>
                <a:spcPts val="400"/>
              </a:spcAft>
              <a:defRPr sz="1700" b="0" i="0">
                <a:solidFill>
                  <a:srgbClr val="248A3D"/>
                </a:solidFill>
                <a:latin typeface="Segoe UI Semibold"/>
              </a:defRPr>
            </a:pPr>
            <a:r>
              <a:t>different engines</a:t>
            </a:r>
          </a:p>
        </p:txBody>
      </p:sp>
      <p:sp>
        <p:nvSpPr>
          <p:cNvPr id="21" name="tx_1220"/>
          <p:cNvSpPr txBox="1"/>
          <p:nvPr/>
        </p:nvSpPr>
        <p:spPr>
          <a:xfrm>
            <a:off x="10441076" y="4251960"/>
            <a:ext cx="897483" cy="365760"/>
          </a:xfrm>
          <a:prstGeom prst="rect">
            <a:avLst/>
          </a:prstGeom>
          <a:noFill/>
        </p:spPr>
        <p:txBody>
          <a:bodyPr wrap="square" lIns="0" rIns="0" tIns="0" bIns="0" anchor="ctr">
            <a:spAutoFit/>
          </a:bodyPr>
          <a:lstStyle/>
          <a:p>
            <a:pPr>
              <a:spcAft>
                <a:spcPts val="400"/>
              </a:spcAft>
              <a:defRPr sz="1700" b="0" i="0">
                <a:solidFill>
                  <a:srgbClr val="248A3D"/>
                </a:solidFill>
                <a:latin typeface="Segoe UI Semibold"/>
              </a:defRPr>
            </a:pPr>
            <a:r>
              <a:t>Hit</a:t>
            </a:r>
          </a:p>
        </p:txBody>
      </p:sp>
      <p:cxnSp>
        <p:nvCxnSpPr>
          <p:cNvPr id="22" name="hl_1221"/>
          <p:cNvCxnSpPr/>
          <p:nvPr/>
        </p:nvCxnSpPr>
        <p:spPr>
          <a:xfrm>
            <a:off x="6675120" y="4800600"/>
            <a:ext cx="470916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3" name="tx_1222"/>
          <p:cNvSpPr txBox="1"/>
          <p:nvPr/>
        </p:nvSpPr>
        <p:spPr>
          <a:xfrm>
            <a:off x="6675120" y="4864608"/>
            <a:ext cx="4709160" cy="777240"/>
          </a:xfrm>
          <a:prstGeom prst="rect">
            <a:avLst/>
          </a:prstGeom>
          <a:noFill/>
        </p:spPr>
        <p:txBody>
          <a:bodyPr wrap="square" lIns="0" rIns="0" tIns="0" bIns="0">
            <a:spAutoFit/>
          </a:bodyPr>
          <a:lstStyle/>
          <a:p>
            <a:pPr>
              <a:lnSpc>
                <a:spcPct val="110000"/>
              </a:lnSpc>
              <a:spcAft>
                <a:spcPts val="500"/>
              </a:spcAft>
              <a:defRPr sz="1500" b="0" i="0">
                <a:solidFill>
                  <a:srgbClr val="6E6E73"/>
                </a:solidFill>
                <a:latin typeface="Segoe UI"/>
              </a:defRPr>
            </a:pPr>
            <a:r>
              <a:t>E1: separate queues still share DevTLB capacity.</a:t>
            </a:r>
          </a:p>
          <a:p>
            <a:pPr>
              <a:lnSpc>
                <a:spcPct val="110000"/>
              </a:lnSpc>
              <a:spcAft>
                <a:spcPts val="500"/>
              </a:spcAft>
              <a:defRPr sz="1500" b="0" i="0">
                <a:solidFill>
                  <a:srgbClr val="6E6E73"/>
                </a:solidFill>
                <a:latin typeface="Segoe UI"/>
              </a:defRPr>
            </a:pPr>
            <a:r>
              <a:t>E2: separate engines preserve the primed entry.</a:t>
            </a:r>
          </a:p>
        </p:txBody>
      </p:sp>
      <p:sp>
        <p:nvSpPr>
          <p:cNvPr id="24" name="rect_1223"/>
          <p:cNvSpPr/>
          <p:nvPr/>
        </p:nvSpPr>
        <p:spPr>
          <a:xfrm>
            <a:off x="822960" y="580644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x_1224"/>
          <p:cNvSpPr txBox="1"/>
          <p:nvPr/>
        </p:nvSpPr>
        <p:spPr>
          <a:xfrm>
            <a:off x="822960" y="5961888"/>
            <a:ext cx="10546079" cy="548640"/>
          </a:xfrm>
          <a:prstGeom prst="rect">
            <a:avLst/>
          </a:prstGeom>
          <a:noFill/>
        </p:spPr>
        <p:txBody>
          <a:bodyPr wrap="square" lIns="0" rIns="0" tIns="0" bIns="0">
            <a:spAutoFit/>
          </a:bodyPr>
          <a:lstStyle/>
          <a:p>
            <a:pPr>
              <a:spcAft>
                <a:spcPts val="400"/>
              </a:spcAft>
              <a:defRPr sz="2000" b="0" i="0">
                <a:solidFill>
                  <a:srgbClr val="1D1D1F"/>
                </a:solidFill>
                <a:latin typeface="Segoe UI Semibold"/>
              </a:defRPr>
            </a:pPr>
            <a:r>
              <a:t>In these experiments, eviction followed the shared engine.</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x_0358"/>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The clock still works — even under noise</a:t>
            </a:r>
          </a:p>
        </p:txBody>
      </p:sp>
      <p:sp>
        <p:nvSpPr>
          <p:cNvPr id="5" name="tx_0360"/>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14</a:t>
            </a:r>
          </a:p>
        </p:txBody>
      </p:sp>
      <p:pic>
        <p:nvPicPr>
          <p:cNvPr id="6" name="pic_0361" descr="latency.png"/>
          <p:cNvPicPr>
            <a:picLocks noChangeAspect="1"/>
          </p:cNvPicPr>
          <p:nvPr/>
        </p:nvPicPr>
        <p:blipFill>
          <a:blip r:embed="rId3"/>
          <a:stretch>
            <a:fillRect/>
          </a:stretch>
        </p:blipFill>
        <p:spPr>
          <a:xfrm>
            <a:off x="2261521" y="1783080"/>
            <a:ext cx="4163756" cy="3749039"/>
          </a:xfrm>
          <a:prstGeom prst="rect">
            <a:avLst/>
          </a:prstGeom>
        </p:spPr>
      </p:pic>
      <p:sp>
        <p:nvSpPr>
          <p:cNvPr id="7" name="tx_0362"/>
          <p:cNvSpPr txBox="1"/>
          <p:nvPr/>
        </p:nvSpPr>
        <p:spPr>
          <a:xfrm>
            <a:off x="8229600" y="1965960"/>
            <a:ext cx="3108960" cy="365760"/>
          </a:xfrm>
          <a:prstGeom prst="rect">
            <a:avLst/>
          </a:prstGeom>
          <a:noFill/>
        </p:spPr>
        <p:txBody>
          <a:bodyPr wrap="square" lIns="0" rIns="0" tIns="0" bIns="0">
            <a:spAutoFit/>
          </a:bodyPr>
          <a:lstStyle/>
          <a:p>
            <a:pPr>
              <a:spcAft>
                <a:spcPts val="400"/>
              </a:spcAft>
              <a:defRPr sz="1600" b="0" i="0">
                <a:solidFill>
                  <a:srgbClr val="0071E3"/>
                </a:solidFill>
                <a:latin typeface="Segoe UI Semibold"/>
              </a:defRPr>
            </a:pPr>
            <a:r>
              <a:t>Measured signal</a:t>
            </a:r>
          </a:p>
        </p:txBody>
      </p:sp>
      <p:cxnSp>
        <p:nvCxnSpPr>
          <p:cNvPr id="8" name="hl_0363"/>
          <p:cNvCxnSpPr/>
          <p:nvPr/>
        </p:nvCxnSpPr>
        <p:spPr>
          <a:xfrm>
            <a:off x="8229600" y="2350008"/>
            <a:ext cx="310896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9" name="tx_0364"/>
          <p:cNvSpPr txBox="1"/>
          <p:nvPr/>
        </p:nvSpPr>
        <p:spPr>
          <a:xfrm>
            <a:off x="8229600" y="2560320"/>
            <a:ext cx="1371600" cy="365760"/>
          </a:xfrm>
          <a:prstGeom prst="rect">
            <a:avLst/>
          </a:prstGeom>
          <a:noFill/>
        </p:spPr>
        <p:txBody>
          <a:bodyPr wrap="square" lIns="0" rIns="0" tIns="0" bIns="0">
            <a:spAutoFit/>
          </a:bodyPr>
          <a:lstStyle/>
          <a:p>
            <a:pPr>
              <a:spcAft>
                <a:spcPts val="400"/>
              </a:spcAft>
              <a:defRPr sz="1800" b="0" i="0">
                <a:solidFill>
                  <a:srgbClr val="1D1D1F"/>
                </a:solidFill>
                <a:latin typeface="Segoe UI Semibold"/>
              </a:defRPr>
            </a:pPr>
            <a:r>
              <a:t>Hit</a:t>
            </a:r>
          </a:p>
        </p:txBody>
      </p:sp>
      <p:sp>
        <p:nvSpPr>
          <p:cNvPr id="10" name="tx_0365"/>
          <p:cNvSpPr txBox="1"/>
          <p:nvPr/>
        </p:nvSpPr>
        <p:spPr>
          <a:xfrm>
            <a:off x="9509760" y="2560320"/>
            <a:ext cx="1828800" cy="36576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 500 cycles</a:t>
            </a:r>
          </a:p>
        </p:txBody>
      </p:sp>
      <p:sp>
        <p:nvSpPr>
          <p:cNvPr id="11" name="tx_0366"/>
          <p:cNvSpPr txBox="1"/>
          <p:nvPr/>
        </p:nvSpPr>
        <p:spPr>
          <a:xfrm>
            <a:off x="8229600" y="3127248"/>
            <a:ext cx="1371600" cy="365760"/>
          </a:xfrm>
          <a:prstGeom prst="rect">
            <a:avLst/>
          </a:prstGeom>
          <a:noFill/>
        </p:spPr>
        <p:txBody>
          <a:bodyPr wrap="square" lIns="0" rIns="0" tIns="0" bIns="0">
            <a:spAutoFit/>
          </a:bodyPr>
          <a:lstStyle/>
          <a:p>
            <a:pPr>
              <a:spcAft>
                <a:spcPts val="400"/>
              </a:spcAft>
              <a:defRPr sz="1800" b="0" i="0">
                <a:solidFill>
                  <a:srgbClr val="1D1D1F"/>
                </a:solidFill>
                <a:latin typeface="Segoe UI Semibold"/>
              </a:defRPr>
            </a:pPr>
            <a:r>
              <a:t>Miss</a:t>
            </a:r>
          </a:p>
        </p:txBody>
      </p:sp>
      <p:sp>
        <p:nvSpPr>
          <p:cNvPr id="12" name="tx_0367"/>
          <p:cNvSpPr txBox="1"/>
          <p:nvPr/>
        </p:nvSpPr>
        <p:spPr>
          <a:xfrm>
            <a:off x="9509760" y="3127248"/>
            <a:ext cx="1828800" cy="36576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 &gt; 1000 cycles</a:t>
            </a:r>
          </a:p>
        </p:txBody>
      </p:sp>
      <p:sp>
        <p:nvSpPr>
          <p:cNvPr id="13" name="tx_0368"/>
          <p:cNvSpPr txBox="1"/>
          <p:nvPr/>
        </p:nvSpPr>
        <p:spPr>
          <a:xfrm>
            <a:off x="8229600" y="3694176"/>
            <a:ext cx="1371600" cy="365760"/>
          </a:xfrm>
          <a:prstGeom prst="rect">
            <a:avLst/>
          </a:prstGeom>
          <a:noFill/>
        </p:spPr>
        <p:txBody>
          <a:bodyPr wrap="square" lIns="0" rIns="0" tIns="0" bIns="0">
            <a:spAutoFit/>
          </a:bodyPr>
          <a:lstStyle/>
          <a:p>
            <a:pPr>
              <a:spcAft>
                <a:spcPts val="400"/>
              </a:spcAft>
              <a:defRPr sz="1800" b="0" i="0">
                <a:solidFill>
                  <a:srgbClr val="1D1D1F"/>
                </a:solidFill>
                <a:latin typeface="Segoe UI Semibold"/>
              </a:defRPr>
            </a:pPr>
            <a:r>
              <a:t>Threshold</a:t>
            </a:r>
          </a:p>
        </p:txBody>
      </p:sp>
      <p:sp>
        <p:nvSpPr>
          <p:cNvPr id="14" name="tx_0369"/>
          <p:cNvSpPr txBox="1"/>
          <p:nvPr/>
        </p:nvSpPr>
        <p:spPr>
          <a:xfrm>
            <a:off x="9509760" y="3694176"/>
            <a:ext cx="1828800" cy="36576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600 – 900</a:t>
            </a:r>
          </a:p>
        </p:txBody>
      </p:sp>
      <p:sp>
        <p:nvSpPr>
          <p:cNvPr id="15" name="tx_0370"/>
          <p:cNvSpPr txBox="1"/>
          <p:nvPr/>
        </p:nvSpPr>
        <p:spPr>
          <a:xfrm>
            <a:off x="8229600" y="4434840"/>
            <a:ext cx="3108960" cy="914400"/>
          </a:xfrm>
          <a:prstGeom prst="rect">
            <a:avLst/>
          </a:prstGeom>
          <a:noFill/>
        </p:spPr>
        <p:txBody>
          <a:bodyPr wrap="square" lIns="0" rIns="0" tIns="0" bIns="0">
            <a:spAutoFit/>
          </a:bodyPr>
          <a:lstStyle/>
          <a:p>
            <a:pPr>
              <a:lnSpc>
                <a:spcPct val="115000"/>
              </a:lnSpc>
              <a:spcAft>
                <a:spcPts val="400"/>
              </a:spcAft>
              <a:defRPr sz="1500" b="0" i="0">
                <a:solidFill>
                  <a:srgbClr val="6E6E73"/>
                </a:solidFill>
                <a:latin typeface="Segoe UI"/>
              </a:defRPr>
            </a:pPr>
            <a:r>
              <a:t>Noise shifts latency; the separation survives in every tested environment.</a:t>
            </a:r>
          </a:p>
        </p:txBody>
      </p:sp>
      <p:sp>
        <p:nvSpPr>
          <p:cNvPr id="16" name="rect_0371"/>
          <p:cNvSpPr/>
          <p:nvPr/>
        </p:nvSpPr>
        <p:spPr>
          <a:xfrm>
            <a:off x="822960" y="576072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x_0372"/>
          <p:cNvSpPr txBox="1"/>
          <p:nvPr/>
        </p:nvSpPr>
        <p:spPr>
          <a:xfrm>
            <a:off x="822960" y="591616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An unprivileged clock cleanly tells a hit from a miss.</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x_0374"/>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Weapon #1 — Prime → Idle → Probe</a:t>
            </a:r>
          </a:p>
        </p:txBody>
      </p:sp>
      <p:sp>
        <p:nvSpPr>
          <p:cNvPr id="5" name="tx_0376"/>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15</a:t>
            </a:r>
          </a:p>
        </p:txBody>
      </p:sp>
      <p:sp>
        <p:nvSpPr>
          <p:cNvPr id="6" name="tx_1225"/>
          <p:cNvSpPr txBox="1"/>
          <p:nvPr/>
        </p:nvSpPr>
        <p:spPr>
          <a:xfrm>
            <a:off x="822960" y="1783080"/>
            <a:ext cx="10546079" cy="475488"/>
          </a:xfrm>
          <a:prstGeom prst="rect">
            <a:avLst/>
          </a:prstGeom>
          <a:noFill/>
        </p:spPr>
        <p:txBody>
          <a:bodyPr wrap="square" lIns="0" rIns="0" tIns="0" bIns="0">
            <a:spAutoFit/>
          </a:bodyPr>
          <a:lstStyle/>
          <a:p>
            <a:pPr>
              <a:spcAft>
                <a:spcPts val="400"/>
              </a:spcAft>
              <a:defRPr sz="1700" b="0" i="0">
                <a:solidFill>
                  <a:srgbClr val="1D1D1F"/>
                </a:solidFill>
                <a:latin typeface="Segoe UI Semibold"/>
              </a:defRPr>
            </a:pPr>
            <a:r>
              <a:t>PRIME: own completion page   →   IDLE: allow victim activity   →   PROBE: time own request</a:t>
            </a:r>
          </a:p>
        </p:txBody>
      </p:sp>
      <p:sp>
        <p:nvSpPr>
          <p:cNvPr id="7" name="rect_1226"/>
          <p:cNvSpPr/>
          <p:nvPr/>
        </p:nvSpPr>
        <p:spPr>
          <a:xfrm>
            <a:off x="822960" y="2468880"/>
            <a:ext cx="6812280" cy="2514600"/>
          </a:xfrm>
          <a:prstGeom prst="roundRect">
            <a:avLst>
              <a:gd name="adj" fmla="val 4363"/>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x_1227"/>
          <p:cNvSpPr txBox="1"/>
          <p:nvPr/>
        </p:nvSpPr>
        <p:spPr>
          <a:xfrm>
            <a:off x="1051560" y="2615184"/>
            <a:ext cx="6355080" cy="246888"/>
          </a:xfrm>
          <a:prstGeom prst="rect">
            <a:avLst/>
          </a:prstGeom>
          <a:noFill/>
        </p:spPr>
        <p:txBody>
          <a:bodyPr wrap="square" lIns="0" rIns="0" tIns="0" bIns="0">
            <a:spAutoFit/>
          </a:bodyPr>
          <a:lstStyle/>
          <a:p>
            <a:pPr>
              <a:spcAft>
                <a:spcPts val="400"/>
              </a:spcAft>
              <a:defRPr sz="1100" b="0" i="0">
                <a:solidFill>
                  <a:srgbClr val="0071E3"/>
                </a:solidFill>
                <a:latin typeface="Segoe UI Semibold"/>
              </a:defRPr>
            </a:pPr>
            <a:r>
              <a:t>LISTING 1 · LINES 7–12 · PAPER EXCERPT</a:t>
            </a:r>
          </a:p>
        </p:txBody>
      </p:sp>
      <p:sp>
        <p:nvSpPr>
          <p:cNvPr id="9" name="Editable paper Listing 1 lines 7-12"/>
          <p:cNvSpPr txBox="1"/>
          <p:nvPr/>
        </p:nvSpPr>
        <p:spPr>
          <a:xfrm>
            <a:off x="1051560" y="2971800"/>
            <a:ext cx="6355080" cy="1920240"/>
          </a:xfrm>
          <a:prstGeom prst="rect">
            <a:avLst/>
          </a:prstGeom>
          <a:noFill/>
        </p:spPr>
        <p:txBody>
          <a:bodyPr wrap="none" lIns="0" rIns="0" tIns="0" bIns="0">
            <a:spAutoFit/>
          </a:bodyPr>
          <a:lstStyle/>
          <a:p>
            <a:pPr>
              <a:lnSpc>
                <a:spcPts val="2480"/>
              </a:lnSpc>
              <a:spcBef>
                <a:spcPts val="0"/>
              </a:spcBef>
              <a:spcAft>
                <a:spcPts val="0"/>
              </a:spcAft>
            </a:pPr>
            <a:r>
              <a:rPr sz="2000">
                <a:solidFill>
                  <a:srgbClr val="1D1D1F"/>
                </a:solidFill>
                <a:latin typeface="Consolas"/>
              </a:rPr>
              <a:t>enqcmd(wq_portal, &amp;desc);</a:t>
            </a:r>
          </a:p>
          <a:p>
            <a:pPr>
              <a:lnSpc>
                <a:spcPts val="2480"/>
              </a:lnSpc>
              <a:spcBef>
                <a:spcPts val="0"/>
              </a:spcBef>
              <a:spcAft>
                <a:spcPts val="0"/>
              </a:spcAft>
            </a:pPr>
            <a:r>
              <a:rPr sz="2000">
                <a:solidFill>
                  <a:srgbClr val="6E6E73"/>
                </a:solidFill>
                <a:latin typeface="Consolas"/>
              </a:rPr>
              <a:t>// time polling for completion</a:t>
            </a:r>
          </a:p>
          <a:p>
            <a:pPr>
              <a:lnSpc>
                <a:spcPts val="2480"/>
              </a:lnSpc>
              <a:spcBef>
                <a:spcPts val="0"/>
              </a:spcBef>
              <a:spcAft>
                <a:spcPts val="0"/>
              </a:spcAft>
            </a:pPr>
            <a:r>
              <a:rPr sz="2000">
                <a:solidFill>
                  <a:srgbClr val="1D1D1F"/>
                </a:solidFill>
                <a:latin typeface="Consolas"/>
              </a:rPr>
              <a:t>start = rdtsc();</a:t>
            </a:r>
          </a:p>
          <a:p>
            <a:pPr>
              <a:lnSpc>
                <a:spcPts val="2480"/>
              </a:lnSpc>
              <a:spcBef>
                <a:spcPts val="0"/>
              </a:spcBef>
              <a:spcAft>
                <a:spcPts val="0"/>
              </a:spcAft>
            </a:pPr>
            <a:r>
              <a:rPr sz="2000">
                <a:solidFill>
                  <a:srgbClr val="1D1D1F"/>
                </a:solidFill>
                <a:latin typeface="Consolas"/>
              </a:rPr>
              <a:t>while (comp.status == 0);</a:t>
            </a:r>
          </a:p>
          <a:p>
            <a:pPr>
              <a:lnSpc>
                <a:spcPts val="2480"/>
              </a:lnSpc>
              <a:spcBef>
                <a:spcPts val="0"/>
              </a:spcBef>
              <a:spcAft>
                <a:spcPts val="0"/>
              </a:spcAft>
            </a:pPr>
            <a:r>
              <a:rPr sz="2000">
                <a:solidFill>
                  <a:srgbClr val="1D1D1F"/>
                </a:solidFill>
                <a:latin typeface="Consolas"/>
              </a:rPr>
              <a:t>end = rdtsc();</a:t>
            </a:r>
          </a:p>
          <a:p>
            <a:pPr>
              <a:lnSpc>
                <a:spcPts val="2480"/>
              </a:lnSpc>
              <a:spcBef>
                <a:spcPts val="0"/>
              </a:spcBef>
              <a:spcAft>
                <a:spcPts val="0"/>
              </a:spcAft>
            </a:pPr>
            <a:r>
              <a:rPr sz="2000">
                <a:solidFill>
                  <a:srgbClr val="1D1D1F"/>
                </a:solidFill>
                <a:latin typeface="Consolas"/>
              </a:rPr>
              <a:t>return end - start;</a:t>
            </a:r>
          </a:p>
        </p:txBody>
      </p:sp>
      <p:sp>
        <p:nvSpPr>
          <p:cNvPr id="10" name="tx_1228"/>
          <p:cNvSpPr txBox="1"/>
          <p:nvPr/>
        </p:nvSpPr>
        <p:spPr>
          <a:xfrm>
            <a:off x="8092440" y="2514600"/>
            <a:ext cx="3291840" cy="347472"/>
          </a:xfrm>
          <a:prstGeom prst="rect">
            <a:avLst/>
          </a:prstGeom>
          <a:noFill/>
        </p:spPr>
        <p:txBody>
          <a:bodyPr wrap="square" lIns="0" rIns="0" tIns="0" bIns="0">
            <a:spAutoFit/>
          </a:bodyPr>
          <a:lstStyle/>
          <a:p>
            <a:pPr>
              <a:spcAft>
                <a:spcPts val="400"/>
              </a:spcAft>
              <a:defRPr sz="1600" b="0" i="0">
                <a:solidFill>
                  <a:srgbClr val="0071E3"/>
                </a:solidFill>
                <a:latin typeface="Segoe UI Semibold"/>
              </a:defRPr>
            </a:pPr>
            <a:r>
              <a:t>What the timer measures</a:t>
            </a:r>
          </a:p>
        </p:txBody>
      </p:sp>
      <p:cxnSp>
        <p:nvCxnSpPr>
          <p:cNvPr id="11" name="hl_1229"/>
          <p:cNvCxnSpPr/>
          <p:nvPr/>
        </p:nvCxnSpPr>
        <p:spPr>
          <a:xfrm>
            <a:off x="8092440" y="2898648"/>
            <a:ext cx="329184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2" name="tx_1230"/>
          <p:cNvSpPr txBox="1"/>
          <p:nvPr/>
        </p:nvSpPr>
        <p:spPr>
          <a:xfrm>
            <a:off x="8092440" y="3072384"/>
            <a:ext cx="3291840" cy="2651760"/>
          </a:xfrm>
          <a:prstGeom prst="rect">
            <a:avLst/>
          </a:prstGeom>
          <a:noFill/>
        </p:spPr>
        <p:txBody>
          <a:bodyPr wrap="square" lIns="0" rIns="0" tIns="0" bIns="0">
            <a:spAutoFit/>
          </a:bodyPr>
          <a:lstStyle/>
          <a:p>
            <a:pPr>
              <a:lnSpc>
                <a:spcPct val="112000"/>
              </a:lnSpc>
              <a:spcAft>
                <a:spcPts val="0"/>
              </a:spcAft>
              <a:defRPr sz="1600" b="0" i="0">
                <a:solidFill>
                  <a:srgbClr val="1D1D1F"/>
                </a:solidFill>
                <a:latin typeface="Segoe UI"/>
              </a:defRPr>
            </a:pPr>
            <a:r>
              <a:t>ENQCMD returns first.</a:t>
            </a:r>
          </a:p>
          <a:p>
            <a:pPr>
              <a:lnSpc>
                <a:spcPct val="112000"/>
              </a:lnSpc>
              <a:spcAft>
                <a:spcPts val="0"/>
              </a:spcAft>
              <a:defRPr sz="1600" b="0" i="0">
                <a:solidFill>
                  <a:srgbClr val="1D1D1F"/>
                </a:solidFill>
                <a:latin typeface="Segoe UI"/>
              </a:defRPr>
            </a:pPr>
          </a:p>
          <a:p>
            <a:pPr>
              <a:lnSpc>
                <a:spcPct val="112000"/>
              </a:lnSpc>
              <a:spcAft>
                <a:spcPts val="0"/>
              </a:spcAft>
              <a:defRPr sz="1600" b="0" i="0">
                <a:solidFill>
                  <a:srgbClr val="1D1D1F"/>
                </a:solidFill>
                <a:latin typeface="Segoe UI"/>
              </a:defRPr>
            </a:pPr>
            <a:r>
              <a:t>RDTSC brackets completion polling.</a:t>
            </a:r>
          </a:p>
          <a:p>
            <a:pPr>
              <a:lnSpc>
                <a:spcPct val="112000"/>
              </a:lnSpc>
              <a:spcAft>
                <a:spcPts val="0"/>
              </a:spcAft>
              <a:defRPr sz="1600" b="0" i="0">
                <a:solidFill>
                  <a:srgbClr val="1D1D1F"/>
                </a:solidFill>
                <a:latin typeface="Segoe UI"/>
              </a:defRPr>
            </a:pPr>
          </a:p>
          <a:p>
            <a:pPr>
              <a:lnSpc>
                <a:spcPct val="112000"/>
              </a:lnSpc>
              <a:spcAft>
                <a:spcPts val="0"/>
              </a:spcAft>
              <a:defRPr sz="1600" b="0" i="0">
                <a:solidFill>
                  <a:srgbClr val="1D1D1F"/>
                </a:solidFill>
                <a:latin typeface="Segoe UI"/>
              </a:defRPr>
            </a:pPr>
            <a:r>
              <a:t>The result is the attacker’s own</a:t>
            </a:r>
          </a:p>
          <a:p>
            <a:pPr>
              <a:lnSpc>
                <a:spcPct val="112000"/>
              </a:lnSpc>
              <a:spcAft>
                <a:spcPts val="0"/>
              </a:spcAft>
              <a:defRPr sz="1600" b="0" i="0">
                <a:solidFill>
                  <a:srgbClr val="1D1D1F"/>
                </a:solidFill>
                <a:latin typeface="Segoe UI"/>
              </a:defRPr>
            </a:pPr>
            <a:r>
              <a:t>completion duration.</a:t>
            </a:r>
          </a:p>
        </p:txBody>
      </p:sp>
      <p:sp>
        <p:nvSpPr>
          <p:cNvPr id="13" name="tx_1231"/>
          <p:cNvSpPr txBox="1"/>
          <p:nvPr/>
        </p:nvSpPr>
        <p:spPr>
          <a:xfrm>
            <a:off x="822960" y="5230368"/>
            <a:ext cx="10546079" cy="457200"/>
          </a:xfrm>
          <a:prstGeom prst="rect">
            <a:avLst/>
          </a:prstGeom>
          <a:noFill/>
        </p:spPr>
        <p:txBody>
          <a:bodyPr wrap="square" lIns="0" rIns="0" tIns="0" bIns="0">
            <a:spAutoFit/>
          </a:bodyPr>
          <a:lstStyle/>
          <a:p>
            <a:pPr>
              <a:spcAft>
                <a:spcPts val="400"/>
              </a:spcAft>
              <a:defRPr sz="1500" b="0" i="0">
                <a:solidFill>
                  <a:srgbClr val="6E6E73"/>
                </a:solidFill>
                <a:latin typeface="Segoe UI"/>
              </a:defRPr>
            </a:pPr>
            <a:r>
              <a:t>Listing 1 times a compare helper; §V-B uses NOOP for the attack. The timing pattern carries over.</a:t>
            </a:r>
          </a:p>
        </p:txBody>
      </p:sp>
      <p:sp>
        <p:nvSpPr>
          <p:cNvPr id="14" name="rect_1232"/>
          <p:cNvSpPr/>
          <p:nvPr/>
        </p:nvSpPr>
        <p:spPr>
          <a:xfrm>
            <a:off x="822960" y="571500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x_1233"/>
          <p:cNvSpPr txBox="1"/>
          <p:nvPr/>
        </p:nvSpPr>
        <p:spPr>
          <a:xfrm>
            <a:off x="822960" y="5870448"/>
            <a:ext cx="10546079" cy="548640"/>
          </a:xfrm>
          <a:prstGeom prst="rect">
            <a:avLst/>
          </a:prstGeom>
          <a:noFill/>
        </p:spPr>
        <p:txBody>
          <a:bodyPr wrap="square" lIns="0" rIns="0" tIns="0" bIns="0">
            <a:spAutoFit/>
          </a:bodyPr>
          <a:lstStyle/>
          <a:p>
            <a:pPr>
              <a:spcAft>
                <a:spcPts val="400"/>
              </a:spcAft>
              <a:defRPr sz="1900" b="0" i="0">
                <a:solidFill>
                  <a:srgbClr val="1D1D1F"/>
                </a:solidFill>
                <a:latin typeface="Segoe UI Semibold"/>
              </a:defRPr>
            </a:pPr>
            <a:r>
              <a:t>Slow completion suggests replacement; it does not reveal the victim’s address.</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x_0406"/>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The dead end that wasn’t — a flag talks</a:t>
            </a:r>
          </a:p>
        </p:txBody>
      </p:sp>
      <p:sp>
        <p:nvSpPr>
          <p:cNvPr id="5" name="tx_0408"/>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16</a:t>
            </a:r>
          </a:p>
        </p:txBody>
      </p:sp>
      <p:pic>
        <p:nvPicPr>
          <p:cNvPr id="6" name="pic_0409" descr="submit.png"/>
          <p:cNvPicPr>
            <a:picLocks noChangeAspect="1"/>
          </p:cNvPicPr>
          <p:nvPr/>
        </p:nvPicPr>
        <p:blipFill>
          <a:blip r:embed="rId3"/>
          <a:stretch>
            <a:fillRect/>
          </a:stretch>
        </p:blipFill>
        <p:spPr>
          <a:xfrm>
            <a:off x="822960" y="1862315"/>
            <a:ext cx="7040880" cy="3590568"/>
          </a:xfrm>
          <a:prstGeom prst="rect">
            <a:avLst/>
          </a:prstGeom>
        </p:spPr>
      </p:pic>
      <p:sp>
        <p:nvSpPr>
          <p:cNvPr id="7" name="tx_0410"/>
          <p:cNvSpPr txBox="1"/>
          <p:nvPr/>
        </p:nvSpPr>
        <p:spPr>
          <a:xfrm>
            <a:off x="8229600" y="1965960"/>
            <a:ext cx="3108960" cy="365760"/>
          </a:xfrm>
          <a:prstGeom prst="rect">
            <a:avLst/>
          </a:prstGeom>
          <a:noFill/>
        </p:spPr>
        <p:txBody>
          <a:bodyPr wrap="square" lIns="0" rIns="0" tIns="0" bIns="0">
            <a:spAutoFit/>
          </a:bodyPr>
          <a:lstStyle/>
          <a:p>
            <a:pPr>
              <a:spcAft>
                <a:spcPts val="400"/>
              </a:spcAft>
              <a:defRPr sz="1600" b="0" i="0">
                <a:solidFill>
                  <a:srgbClr val="0071E3"/>
                </a:solidFill>
                <a:latin typeface="Segoe UI Semibold"/>
              </a:defRPr>
            </a:pPr>
            <a:r>
              <a:t>Two observables</a:t>
            </a:r>
          </a:p>
        </p:txBody>
      </p:sp>
      <p:cxnSp>
        <p:nvCxnSpPr>
          <p:cNvPr id="8" name="hl_0411"/>
          <p:cNvCxnSpPr/>
          <p:nvPr/>
        </p:nvCxnSpPr>
        <p:spPr>
          <a:xfrm>
            <a:off x="8229600" y="2350008"/>
            <a:ext cx="310896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9" name="tx_0412"/>
          <p:cNvSpPr txBox="1"/>
          <p:nvPr/>
        </p:nvSpPr>
        <p:spPr>
          <a:xfrm>
            <a:off x="8229600" y="2560320"/>
            <a:ext cx="1463040" cy="365760"/>
          </a:xfrm>
          <a:prstGeom prst="rect">
            <a:avLst/>
          </a:prstGeom>
          <a:noFill/>
        </p:spPr>
        <p:txBody>
          <a:bodyPr wrap="square" lIns="0" rIns="0" tIns="0" bIns="0">
            <a:spAutoFit/>
          </a:bodyPr>
          <a:lstStyle/>
          <a:p>
            <a:pPr>
              <a:spcAft>
                <a:spcPts val="400"/>
              </a:spcAft>
              <a:defRPr sz="1800" b="0" i="0">
                <a:solidFill>
                  <a:srgbClr val="1D1D1F"/>
                </a:solidFill>
                <a:latin typeface="Segoe UI Semibold"/>
              </a:defRPr>
            </a:pPr>
            <a:r>
              <a:t>Submission</a:t>
            </a:r>
          </a:p>
        </p:txBody>
      </p:sp>
      <p:sp>
        <p:nvSpPr>
          <p:cNvPr id="10" name="tx_0413"/>
          <p:cNvSpPr txBox="1"/>
          <p:nvPr/>
        </p:nvSpPr>
        <p:spPr>
          <a:xfrm>
            <a:off x="9601200" y="2560320"/>
            <a:ext cx="1737360" cy="36576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flat ≈ 700 cycles</a:t>
            </a:r>
          </a:p>
        </p:txBody>
      </p:sp>
      <p:sp>
        <p:nvSpPr>
          <p:cNvPr id="11" name="tx_0414"/>
          <p:cNvSpPr txBox="1"/>
          <p:nvPr/>
        </p:nvSpPr>
        <p:spPr>
          <a:xfrm>
            <a:off x="8229600" y="3127248"/>
            <a:ext cx="1463040" cy="365760"/>
          </a:xfrm>
          <a:prstGeom prst="rect">
            <a:avLst/>
          </a:prstGeom>
          <a:noFill/>
        </p:spPr>
        <p:txBody>
          <a:bodyPr wrap="square" lIns="0" rIns="0" tIns="0" bIns="0">
            <a:spAutoFit/>
          </a:bodyPr>
          <a:lstStyle/>
          <a:p>
            <a:pPr>
              <a:spcAft>
                <a:spcPts val="400"/>
              </a:spcAft>
              <a:defRPr sz="1800" b="0" i="0">
                <a:solidFill>
                  <a:srgbClr val="1D1D1F"/>
                </a:solidFill>
                <a:latin typeface="Segoe UI Semibold"/>
              </a:defRPr>
            </a:pPr>
            <a:r>
              <a:t>Completion</a:t>
            </a:r>
          </a:p>
        </p:txBody>
      </p:sp>
      <p:sp>
        <p:nvSpPr>
          <p:cNvPr id="12" name="tx_0415"/>
          <p:cNvSpPr txBox="1"/>
          <p:nvPr/>
        </p:nvSpPr>
        <p:spPr>
          <a:xfrm>
            <a:off x="9601200" y="3127248"/>
            <a:ext cx="1737360" cy="36576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grows with size</a:t>
            </a:r>
          </a:p>
        </p:txBody>
      </p:sp>
      <p:sp>
        <p:nvSpPr>
          <p:cNvPr id="13" name="tx_0416"/>
          <p:cNvSpPr txBox="1"/>
          <p:nvPr/>
        </p:nvSpPr>
        <p:spPr>
          <a:xfrm>
            <a:off x="8229600" y="3694176"/>
            <a:ext cx="1463040" cy="365760"/>
          </a:xfrm>
          <a:prstGeom prst="rect">
            <a:avLst/>
          </a:prstGeom>
          <a:noFill/>
        </p:spPr>
        <p:txBody>
          <a:bodyPr wrap="square" lIns="0" rIns="0" tIns="0" bIns="0">
            <a:spAutoFit/>
          </a:bodyPr>
          <a:lstStyle/>
          <a:p>
            <a:pPr>
              <a:spcAft>
                <a:spcPts val="400"/>
              </a:spcAft>
              <a:defRPr sz="1800" b="0" i="0">
                <a:solidFill>
                  <a:srgbClr val="1D1D1F"/>
                </a:solidFill>
                <a:latin typeface="Segoe UI Semibold"/>
              </a:defRPr>
            </a:pPr>
            <a:r>
              <a:t>Queue-full</a:t>
            </a:r>
          </a:p>
        </p:txBody>
      </p:sp>
      <p:sp>
        <p:nvSpPr>
          <p:cNvPr id="14" name="tx_0417"/>
          <p:cNvSpPr txBox="1"/>
          <p:nvPr/>
        </p:nvSpPr>
        <p:spPr>
          <a:xfrm>
            <a:off x="9601200" y="3694176"/>
            <a:ext cx="1737360" cy="36576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a visible flag</a:t>
            </a:r>
          </a:p>
        </p:txBody>
      </p:sp>
      <p:sp>
        <p:nvSpPr>
          <p:cNvPr id="15" name="rect_0418"/>
          <p:cNvSpPr/>
          <p:nvPr/>
        </p:nvSpPr>
        <p:spPr>
          <a:xfrm>
            <a:off x="822960" y="576072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x_0419"/>
          <p:cNvSpPr txBox="1"/>
          <p:nvPr/>
        </p:nvSpPr>
        <p:spPr>
          <a:xfrm>
            <a:off x="822960" y="591616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The SWQ channel uses ENQCMD / EFLAGS.ZF — no timing threshold at all.</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x_0421"/>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Learning to hold the queue hostage</a:t>
            </a:r>
          </a:p>
        </p:txBody>
      </p:sp>
      <p:sp>
        <p:nvSpPr>
          <p:cNvPr id="5" name="tx_0423"/>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17</a:t>
            </a:r>
          </a:p>
        </p:txBody>
      </p:sp>
      <p:sp>
        <p:nvSpPr>
          <p:cNvPr id="6" name="rect_1234"/>
          <p:cNvSpPr/>
          <p:nvPr/>
        </p:nvSpPr>
        <p:spPr>
          <a:xfrm>
            <a:off x="822960" y="1783080"/>
            <a:ext cx="6903720" cy="2514600"/>
          </a:xfrm>
          <a:prstGeom prst="roundRect">
            <a:avLst>
              <a:gd name="adj" fmla="val 4363"/>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x_1235"/>
          <p:cNvSpPr txBox="1"/>
          <p:nvPr/>
        </p:nvSpPr>
        <p:spPr>
          <a:xfrm>
            <a:off x="1051560" y="1929384"/>
            <a:ext cx="6446520" cy="246888"/>
          </a:xfrm>
          <a:prstGeom prst="rect">
            <a:avLst/>
          </a:prstGeom>
          <a:noFill/>
        </p:spPr>
        <p:txBody>
          <a:bodyPr wrap="square" lIns="0" rIns="0" tIns="0" bIns="0">
            <a:spAutoFit/>
          </a:bodyPr>
          <a:lstStyle/>
          <a:p>
            <a:pPr>
              <a:spcAft>
                <a:spcPts val="400"/>
              </a:spcAft>
              <a:defRPr sz="1100" b="0" i="0">
                <a:solidFill>
                  <a:srgbClr val="0071E3"/>
                </a:solidFill>
                <a:latin typeface="Segoe UI Semibold"/>
              </a:defRPr>
            </a:pPr>
            <a:r>
              <a:t>LISTING 5 · PAPER EXCERPT</a:t>
            </a:r>
          </a:p>
        </p:txBody>
      </p:sp>
      <p:sp>
        <p:nvSpPr>
          <p:cNvPr id="8" name="Editable paper Listing 5"/>
          <p:cNvSpPr txBox="1"/>
          <p:nvPr/>
        </p:nvSpPr>
        <p:spPr>
          <a:xfrm>
            <a:off x="1051560" y="2286000"/>
            <a:ext cx="6446520" cy="1920240"/>
          </a:xfrm>
          <a:prstGeom prst="rect">
            <a:avLst/>
          </a:prstGeom>
          <a:noFill/>
        </p:spPr>
        <p:txBody>
          <a:bodyPr wrap="none" lIns="0" rIns="0" tIns="0" bIns="0">
            <a:spAutoFit/>
          </a:bodyPr>
          <a:lstStyle/>
          <a:p>
            <a:pPr>
              <a:lnSpc>
                <a:spcPts val="2108"/>
              </a:lnSpc>
              <a:spcBef>
                <a:spcPts val="0"/>
              </a:spcBef>
              <a:spcAft>
                <a:spcPts val="0"/>
              </a:spcAft>
            </a:pPr>
            <a:r>
              <a:rPr sz="1700">
                <a:solidFill>
                  <a:srgbClr val="1D1D1F"/>
                </a:solidFill>
                <a:latin typeface="Consolas"/>
              </a:rPr>
              <a:t>enqcmd(wq_portal, &amp;batch_desc);</a:t>
            </a:r>
            <a:r>
              <a:rPr sz="1700">
                <a:solidFill>
                  <a:srgbClr val="6E6E73"/>
                </a:solidFill>
                <a:latin typeface="Consolas"/>
              </a:rPr>
              <a:t>// (1)</a:t>
            </a:r>
          </a:p>
          <a:p>
            <a:pPr>
              <a:lnSpc>
                <a:spcPts val="2108"/>
              </a:lnSpc>
              <a:spcBef>
                <a:spcPts val="0"/>
              </a:spcBef>
              <a:spcAft>
                <a:spcPts val="0"/>
              </a:spcAft>
            </a:pPr>
            <a:r>
              <a:rPr sz="1700">
                <a:solidFill>
                  <a:srgbClr val="1D1D1F"/>
                </a:solidFill>
                <a:latin typeface="Consolas"/>
              </a:rPr>
              <a:t>_mm_sfence();</a:t>
            </a:r>
          </a:p>
          <a:p>
            <a:pPr>
              <a:lnSpc>
                <a:spcPts val="2108"/>
              </a:lnSpc>
              <a:spcBef>
                <a:spcPts val="0"/>
              </a:spcBef>
              <a:spcAft>
                <a:spcPts val="0"/>
              </a:spcAft>
            </a:pPr>
            <a:r>
              <a:rPr sz="1700">
                <a:solidFill>
                  <a:srgbClr val="1D1D1F"/>
                </a:solidFill>
                <a:latin typeface="Consolas"/>
              </a:rPr>
              <a:t>enqcmd(wq_portal, &amp;desc); start = rdtsc();</a:t>
            </a:r>
            <a:r>
              <a:rPr sz="1700">
                <a:solidFill>
                  <a:srgbClr val="6E6E73"/>
                </a:solidFill>
                <a:latin typeface="Consolas"/>
              </a:rPr>
              <a:t>// (2)</a:t>
            </a:r>
          </a:p>
          <a:p>
            <a:pPr>
              <a:lnSpc>
                <a:spcPts val="2108"/>
              </a:lnSpc>
              <a:spcBef>
                <a:spcPts val="0"/>
              </a:spcBef>
              <a:spcAft>
                <a:spcPts val="0"/>
              </a:spcAft>
            </a:pPr>
            <a:r>
              <a:rPr sz="1700">
                <a:solidFill>
                  <a:srgbClr val="1D1D1F"/>
                </a:solidFill>
                <a:latin typeface="Consolas"/>
              </a:rPr>
              <a:t>while (desc_comp.status == 0);</a:t>
            </a:r>
          </a:p>
          <a:p>
            <a:pPr>
              <a:lnSpc>
                <a:spcPts val="2108"/>
              </a:lnSpc>
              <a:spcBef>
                <a:spcPts val="0"/>
              </a:spcBef>
              <a:spcAft>
                <a:spcPts val="0"/>
              </a:spcAft>
            </a:pPr>
            <a:r>
              <a:rPr sz="1700">
                <a:solidFill>
                  <a:srgbClr val="1D1D1F"/>
                </a:solidFill>
                <a:latin typeface="Consolas"/>
              </a:rPr>
              <a:t>latency = rdtsc() - start;</a:t>
            </a:r>
          </a:p>
        </p:txBody>
      </p:sp>
      <p:sp>
        <p:nvSpPr>
          <p:cNvPr id="9" name="tx_1236"/>
          <p:cNvSpPr txBox="1"/>
          <p:nvPr/>
        </p:nvSpPr>
        <p:spPr>
          <a:xfrm>
            <a:off x="822960" y="4599432"/>
            <a:ext cx="6903720" cy="640080"/>
          </a:xfrm>
          <a:prstGeom prst="rect">
            <a:avLst/>
          </a:prstGeom>
          <a:noFill/>
        </p:spPr>
        <p:txBody>
          <a:bodyPr wrap="square" lIns="0" rIns="0" tIns="0" bIns="0">
            <a:spAutoFit/>
          </a:bodyPr>
          <a:lstStyle/>
          <a:p>
            <a:pPr>
              <a:spcAft>
                <a:spcPts val="400"/>
              </a:spcAft>
              <a:defRPr sz="1900" b="0" i="0">
                <a:solidFill>
                  <a:srgbClr val="1D1D1F"/>
                </a:solidFill>
                <a:latin typeface="Segoe UI Semibold"/>
              </a:defRPr>
            </a:pPr>
            <a:r>
              <a:t>Repeat the experiment after swapping</a:t>
            </a:r>
          </a:p>
          <a:p>
            <a:pPr>
              <a:spcAft>
                <a:spcPts val="400"/>
              </a:spcAft>
              <a:defRPr sz="1900" b="0" i="0">
                <a:solidFill>
                  <a:srgbClr val="1D1D1F"/>
                </a:solidFill>
                <a:latin typeface="Segoe UI Semibold"/>
              </a:defRPr>
            </a:pPr>
            <a:r>
              <a:t>the two ENQCMD submission positions.</a:t>
            </a:r>
          </a:p>
        </p:txBody>
      </p:sp>
      <p:sp>
        <p:nvSpPr>
          <p:cNvPr id="10" name="tx_1237"/>
          <p:cNvSpPr txBox="1"/>
          <p:nvPr/>
        </p:nvSpPr>
        <p:spPr>
          <a:xfrm>
            <a:off x="8138160" y="1874519"/>
            <a:ext cx="3246120" cy="347472"/>
          </a:xfrm>
          <a:prstGeom prst="rect">
            <a:avLst/>
          </a:prstGeom>
          <a:noFill/>
        </p:spPr>
        <p:txBody>
          <a:bodyPr wrap="square" lIns="0" rIns="0" tIns="0" bIns="0">
            <a:spAutoFit/>
          </a:bodyPr>
          <a:lstStyle/>
          <a:p>
            <a:pPr>
              <a:spcAft>
                <a:spcPts val="400"/>
              </a:spcAft>
              <a:defRPr sz="1600" b="0" i="0">
                <a:solidFill>
                  <a:srgbClr val="0071E3"/>
                </a:solidFill>
                <a:latin typeface="Segoe UI Semibold"/>
              </a:defRPr>
            </a:pPr>
            <a:r>
              <a:t>What the experiment found</a:t>
            </a:r>
          </a:p>
        </p:txBody>
      </p:sp>
      <p:cxnSp>
        <p:nvCxnSpPr>
          <p:cNvPr id="11" name="hl_1238"/>
          <p:cNvCxnSpPr/>
          <p:nvPr/>
        </p:nvCxnSpPr>
        <p:spPr>
          <a:xfrm>
            <a:off x="8138160" y="2258568"/>
            <a:ext cx="324612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2" name="tx_1239"/>
          <p:cNvSpPr txBox="1"/>
          <p:nvPr/>
        </p:nvSpPr>
        <p:spPr>
          <a:xfrm>
            <a:off x="8138160" y="2432303"/>
            <a:ext cx="3246120" cy="2651760"/>
          </a:xfrm>
          <a:prstGeom prst="rect">
            <a:avLst/>
          </a:prstGeom>
          <a:noFill/>
        </p:spPr>
        <p:txBody>
          <a:bodyPr wrap="square" lIns="0" rIns="0" tIns="0" bIns="0">
            <a:spAutoFit/>
          </a:bodyPr>
          <a:lstStyle/>
          <a:p>
            <a:pPr>
              <a:lnSpc>
                <a:spcPct val="112000"/>
              </a:lnSpc>
              <a:spcAft>
                <a:spcPts val="0"/>
              </a:spcAft>
              <a:defRPr sz="1600" b="0" i="0">
                <a:solidFill>
                  <a:srgbClr val="1D1D1F"/>
                </a:solidFill>
                <a:latin typeface="Segoe UI"/>
              </a:defRPr>
            </a:pPr>
            <a:r>
              <a:t>Work completion latency barely</a:t>
            </a:r>
          </a:p>
          <a:p>
            <a:pPr>
              <a:lnSpc>
                <a:spcPct val="112000"/>
              </a:lnSpc>
              <a:spcAft>
                <a:spcPts val="0"/>
              </a:spcAft>
              <a:defRPr sz="1600" b="0" i="0">
                <a:solidFill>
                  <a:srgbClr val="1D1D1F"/>
                </a:solidFill>
                <a:latin typeface="Segoe UI"/>
              </a:defRPr>
            </a:pPr>
            <a:r>
              <a:t>changed when order was swapped.</a:t>
            </a:r>
          </a:p>
          <a:p>
            <a:pPr>
              <a:lnSpc>
                <a:spcPct val="112000"/>
              </a:lnSpc>
              <a:spcAft>
                <a:spcPts val="0"/>
              </a:spcAft>
              <a:defRPr sz="1600" b="0" i="0">
                <a:solidFill>
                  <a:srgbClr val="1D1D1F"/>
                </a:solidFill>
                <a:latin typeface="Segoe UI"/>
              </a:defRPr>
            </a:pPr>
          </a:p>
          <a:p>
            <a:pPr>
              <a:lnSpc>
                <a:spcPct val="112000"/>
              </a:lnSpc>
              <a:spcAft>
                <a:spcPts val="0"/>
              </a:spcAft>
              <a:defRPr sz="1600" b="0" i="0">
                <a:solidFill>
                  <a:srgbClr val="1D1D1F"/>
                </a:solidFill>
                <a:latin typeface="Segoe UI"/>
              </a:defRPr>
            </a:pPr>
            <a:r>
              <a:t>Measured preference:</a:t>
            </a:r>
          </a:p>
          <a:p>
            <a:pPr>
              <a:lnSpc>
                <a:spcPct val="112000"/>
              </a:lnSpc>
              <a:spcAft>
                <a:spcPts val="0"/>
              </a:spcAft>
              <a:defRPr sz="1600" b="0" i="0">
                <a:solidFill>
                  <a:srgbClr val="1D1D1F"/>
                </a:solidFill>
                <a:latin typeface="Segoe UI"/>
              </a:defRPr>
            </a:pPr>
            <a:r>
              <a:t>ordinary work over batch work.</a:t>
            </a:r>
          </a:p>
          <a:p>
            <a:pPr>
              <a:lnSpc>
                <a:spcPct val="112000"/>
              </a:lnSpc>
              <a:spcAft>
                <a:spcPts val="0"/>
              </a:spcAft>
              <a:defRPr sz="1600" b="0" i="0">
                <a:solidFill>
                  <a:srgbClr val="1D1D1F"/>
                </a:solidFill>
                <a:latin typeface="Segoe UI"/>
              </a:defRPr>
            </a:pPr>
          </a:p>
          <a:p>
            <a:pPr>
              <a:lnSpc>
                <a:spcPct val="112000"/>
              </a:lnSpc>
              <a:spcAft>
                <a:spcPts val="0"/>
              </a:spcAft>
              <a:defRPr sz="1600" b="0" i="0">
                <a:solidFill>
                  <a:srgbClr val="1D1D1F"/>
                </a:solidFill>
                <a:latin typeface="Segoe UI"/>
              </a:defRPr>
            </a:pPr>
            <a:r>
              <a:t>A batch is an unreliable anchor.</a:t>
            </a:r>
          </a:p>
        </p:txBody>
      </p:sp>
      <p:sp>
        <p:nvSpPr>
          <p:cNvPr id="13" name="rect_1240"/>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x_1241"/>
          <p:cNvSpPr txBox="1"/>
          <p:nvPr/>
        </p:nvSpPr>
        <p:spPr>
          <a:xfrm>
            <a:off x="822960" y="5779008"/>
            <a:ext cx="10546079" cy="548640"/>
          </a:xfrm>
          <a:prstGeom prst="rect">
            <a:avLst/>
          </a:prstGeom>
          <a:noFill/>
        </p:spPr>
        <p:txBody>
          <a:bodyPr wrap="square" lIns="0" rIns="0" tIns="0" bIns="0">
            <a:spAutoFit/>
          </a:bodyPr>
          <a:lstStyle/>
          <a:p>
            <a:pPr>
              <a:spcAft>
                <a:spcPts val="400"/>
              </a:spcAft>
              <a:defRPr sz="2000" b="0" i="0">
                <a:solidFill>
                  <a:srgbClr val="1D1D1F"/>
                </a:solidFill>
                <a:latin typeface="Segoe UI Semibold"/>
              </a:defRPr>
            </a:pPr>
            <a:r>
              <a:t>Arbiter priority motivates a long ordinary copy for congestion.</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x_0433"/>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The trap — leave exactly one seat open</a:t>
            </a:r>
          </a:p>
        </p:txBody>
      </p:sp>
      <p:sp>
        <p:nvSpPr>
          <p:cNvPr id="5" name="tx_0435"/>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18</a:t>
            </a:r>
          </a:p>
        </p:txBody>
      </p:sp>
      <p:sp>
        <p:nvSpPr>
          <p:cNvPr id="6" name="rect_1242"/>
          <p:cNvSpPr/>
          <p:nvPr/>
        </p:nvSpPr>
        <p:spPr>
          <a:xfrm>
            <a:off x="822960" y="1783080"/>
            <a:ext cx="6903720" cy="3429000"/>
          </a:xfrm>
          <a:prstGeom prst="roundRect">
            <a:avLst>
              <a:gd name="adj" fmla="val 320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x_1243"/>
          <p:cNvSpPr txBox="1"/>
          <p:nvPr/>
        </p:nvSpPr>
        <p:spPr>
          <a:xfrm>
            <a:off x="1051560" y="1929384"/>
            <a:ext cx="6446520" cy="246888"/>
          </a:xfrm>
          <a:prstGeom prst="rect">
            <a:avLst/>
          </a:prstGeom>
          <a:noFill/>
        </p:spPr>
        <p:txBody>
          <a:bodyPr wrap="square" lIns="0" rIns="0" tIns="0" bIns="0">
            <a:spAutoFit/>
          </a:bodyPr>
          <a:lstStyle/>
          <a:p>
            <a:pPr>
              <a:spcAft>
                <a:spcPts val="400"/>
              </a:spcAft>
              <a:defRPr sz="1100" b="0" i="0">
                <a:solidFill>
                  <a:srgbClr val="0071E3"/>
                </a:solidFill>
                <a:latin typeface="Segoe UI Semibold"/>
              </a:defRPr>
            </a:pPr>
            <a:r>
              <a:t>LISTING 6 · PAPER EXCERPT</a:t>
            </a:r>
          </a:p>
        </p:txBody>
      </p:sp>
      <p:sp>
        <p:nvSpPr>
          <p:cNvPr id="8" name="Editable paper Listing 6"/>
          <p:cNvSpPr txBox="1"/>
          <p:nvPr/>
        </p:nvSpPr>
        <p:spPr>
          <a:xfrm>
            <a:off x="1051560" y="2286000"/>
            <a:ext cx="6446520" cy="2834640"/>
          </a:xfrm>
          <a:prstGeom prst="rect">
            <a:avLst/>
          </a:prstGeom>
          <a:noFill/>
        </p:spPr>
        <p:txBody>
          <a:bodyPr wrap="none" lIns="0" rIns="0" tIns="0" bIns="0">
            <a:spAutoFit/>
          </a:bodyPr>
          <a:lstStyle/>
          <a:p>
            <a:pPr>
              <a:lnSpc>
                <a:spcPts val="1984"/>
              </a:lnSpc>
              <a:spcBef>
                <a:spcPts val="0"/>
              </a:spcBef>
              <a:spcAft>
                <a:spcPts val="0"/>
              </a:spcAft>
            </a:pPr>
            <a:r>
              <a:rPr sz="1600">
                <a:solidFill>
                  <a:srgbClr val="1D1D1F"/>
                </a:solidFill>
                <a:latin typeface="Consolas"/>
              </a:rPr>
              <a:t>struct dsa_hw_desc desc_buf[] = {...};</a:t>
            </a:r>
          </a:p>
          <a:p>
            <a:pPr>
              <a:lnSpc>
                <a:spcPts val="1984"/>
              </a:lnSpc>
              <a:spcBef>
                <a:spcPts val="0"/>
              </a:spcBef>
              <a:spcAft>
                <a:spcPts val="0"/>
              </a:spcAft>
            </a:pPr>
          </a:p>
          <a:p>
            <a:pPr>
              <a:lnSpc>
                <a:spcPts val="1984"/>
              </a:lnSpc>
              <a:spcBef>
                <a:spcPts val="0"/>
              </a:spcBef>
              <a:spcAft>
                <a:spcPts val="0"/>
              </a:spcAft>
            </a:pPr>
            <a:r>
              <a:rPr sz="1600">
                <a:solidFill>
                  <a:srgbClr val="1D1D1F"/>
                </a:solidFill>
                <a:latin typeface="Consolas"/>
              </a:rPr>
              <a:t>void congest(int wq_size) {</a:t>
            </a:r>
          </a:p>
          <a:p>
            <a:pPr>
              <a:lnSpc>
                <a:spcPts val="1984"/>
              </a:lnSpc>
              <a:spcBef>
                <a:spcPts val="0"/>
              </a:spcBef>
              <a:spcAft>
                <a:spcPts val="0"/>
              </a:spcAft>
            </a:pPr>
            <a:r>
              <a:rPr sz="1600">
                <a:solidFill>
                  <a:srgbClr val="1D1D1F"/>
                </a:solidFill>
                <a:latin typeface="Consolas"/>
              </a:rPr>
              <a:t>    enqcmd(wq_portal, &amp;mass_desc);</a:t>
            </a:r>
          </a:p>
          <a:p>
            <a:pPr>
              <a:lnSpc>
                <a:spcPts val="1984"/>
              </a:lnSpc>
              <a:spcBef>
                <a:spcPts val="0"/>
              </a:spcBef>
              <a:spcAft>
                <a:spcPts val="0"/>
              </a:spcAft>
            </a:pPr>
            <a:r>
              <a:rPr sz="1600">
                <a:solidFill>
                  <a:srgbClr val="1D1D1F"/>
                </a:solidFill>
                <a:latin typeface="Consolas"/>
              </a:rPr>
              <a:t>    for(int i = 1; i &lt; wq_size - 1; i++)</a:t>
            </a:r>
          </a:p>
          <a:p>
            <a:pPr>
              <a:lnSpc>
                <a:spcPts val="1984"/>
              </a:lnSpc>
              <a:spcBef>
                <a:spcPts val="0"/>
              </a:spcBef>
              <a:spcAft>
                <a:spcPts val="0"/>
              </a:spcAft>
            </a:pPr>
            <a:r>
              <a:rPr sz="1600">
                <a:solidFill>
                  <a:srgbClr val="1D1D1F"/>
                </a:solidFill>
                <a:latin typeface="Consolas"/>
              </a:rPr>
              <a:t>        enqcmd(wq_portal, &amp;desc_buf[i]);</a:t>
            </a:r>
          </a:p>
          <a:p>
            <a:pPr>
              <a:lnSpc>
                <a:spcPts val="1984"/>
              </a:lnSpc>
              <a:spcBef>
                <a:spcPts val="0"/>
              </a:spcBef>
              <a:spcAft>
                <a:spcPts val="0"/>
              </a:spcAft>
            </a:pPr>
            <a:r>
              <a:rPr sz="1600">
                <a:solidFill>
                  <a:srgbClr val="1D1D1F"/>
                </a:solidFill>
                <a:latin typeface="Consolas"/>
              </a:rPr>
              <a:t>}</a:t>
            </a:r>
          </a:p>
          <a:p>
            <a:pPr>
              <a:lnSpc>
                <a:spcPts val="1984"/>
              </a:lnSpc>
              <a:spcBef>
                <a:spcPts val="0"/>
              </a:spcBef>
              <a:spcAft>
                <a:spcPts val="0"/>
              </a:spcAft>
            </a:pPr>
          </a:p>
          <a:p>
            <a:pPr>
              <a:lnSpc>
                <a:spcPts val="1984"/>
              </a:lnSpc>
              <a:spcBef>
                <a:spcPts val="0"/>
              </a:spcBef>
              <a:spcAft>
                <a:spcPts val="0"/>
              </a:spcAft>
            </a:pPr>
            <a:r>
              <a:rPr sz="1600">
                <a:solidFill>
                  <a:srgbClr val="1D1D1F"/>
                </a:solidFill>
                <a:latin typeface="Consolas"/>
              </a:rPr>
              <a:t>int probe() { return enqcmd(wq_portal, &amp;desc); }</a:t>
            </a:r>
          </a:p>
        </p:txBody>
      </p:sp>
      <p:sp>
        <p:nvSpPr>
          <p:cNvPr id="9" name="tx_1244"/>
          <p:cNvSpPr txBox="1"/>
          <p:nvPr/>
        </p:nvSpPr>
        <p:spPr>
          <a:xfrm>
            <a:off x="8138160" y="1828800"/>
            <a:ext cx="3246120" cy="347472"/>
          </a:xfrm>
          <a:prstGeom prst="rect">
            <a:avLst/>
          </a:prstGeom>
          <a:noFill/>
        </p:spPr>
        <p:txBody>
          <a:bodyPr wrap="square" lIns="0" rIns="0" tIns="0" bIns="0">
            <a:spAutoFit/>
          </a:bodyPr>
          <a:lstStyle/>
          <a:p>
            <a:pPr>
              <a:spcAft>
                <a:spcPts val="400"/>
              </a:spcAft>
              <a:defRPr sz="1600" b="0" i="0">
                <a:solidFill>
                  <a:srgbClr val="0071E3"/>
                </a:solidFill>
                <a:latin typeface="Segoe UI Semibold"/>
              </a:defRPr>
            </a:pPr>
            <a:r>
              <a:t>Connect code to queue state</a:t>
            </a:r>
          </a:p>
        </p:txBody>
      </p:sp>
      <p:cxnSp>
        <p:nvCxnSpPr>
          <p:cNvPr id="10" name="hl_1245"/>
          <p:cNvCxnSpPr/>
          <p:nvPr/>
        </p:nvCxnSpPr>
        <p:spPr>
          <a:xfrm>
            <a:off x="8138160" y="2212848"/>
            <a:ext cx="324612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1" name="tx_1246"/>
          <p:cNvSpPr txBox="1"/>
          <p:nvPr/>
        </p:nvSpPr>
        <p:spPr>
          <a:xfrm>
            <a:off x="8138160" y="2386584"/>
            <a:ext cx="3246120" cy="2651760"/>
          </a:xfrm>
          <a:prstGeom prst="rect">
            <a:avLst/>
          </a:prstGeom>
          <a:noFill/>
        </p:spPr>
        <p:txBody>
          <a:bodyPr wrap="square" lIns="0" rIns="0" tIns="0" bIns="0">
            <a:spAutoFit/>
          </a:bodyPr>
          <a:lstStyle/>
          <a:p>
            <a:pPr>
              <a:lnSpc>
                <a:spcPct val="112000"/>
              </a:lnSpc>
              <a:spcAft>
                <a:spcPts val="0"/>
              </a:spcAft>
              <a:defRPr sz="1600" b="0" i="0">
                <a:solidFill>
                  <a:srgbClr val="1D1D1F"/>
                </a:solidFill>
                <a:latin typeface="Segoe UI"/>
              </a:defRPr>
            </a:pPr>
            <a:r>
              <a:t>mass_desc = long ordinary copy.</a:t>
            </a:r>
          </a:p>
          <a:p>
            <a:pPr>
              <a:lnSpc>
                <a:spcPct val="112000"/>
              </a:lnSpc>
              <a:spcAft>
                <a:spcPts val="0"/>
              </a:spcAft>
              <a:defRPr sz="1600" b="0" i="0">
                <a:solidFill>
                  <a:srgbClr val="1D1D1F"/>
                </a:solidFill>
                <a:latin typeface="Segoe UI"/>
              </a:defRPr>
            </a:pPr>
          </a:p>
          <a:p>
            <a:pPr>
              <a:lnSpc>
                <a:spcPct val="112000"/>
              </a:lnSpc>
              <a:spcAft>
                <a:spcPts val="0"/>
              </a:spcAft>
              <a:defRPr sz="1600" b="0" i="0">
                <a:solidFill>
                  <a:srgbClr val="1D1D1F"/>
                </a:solidFill>
                <a:latin typeface="Segoe UI"/>
              </a:defRPr>
            </a:pPr>
            <a:r>
              <a:t>wq_size − 2 additional descriptors.</a:t>
            </a:r>
          </a:p>
          <a:p>
            <a:pPr>
              <a:lnSpc>
                <a:spcPct val="112000"/>
              </a:lnSpc>
              <a:spcAft>
                <a:spcPts val="0"/>
              </a:spcAft>
              <a:defRPr sz="1600" b="0" i="0">
                <a:solidFill>
                  <a:srgbClr val="1D1D1F"/>
                </a:solidFill>
                <a:latin typeface="Segoe UI"/>
              </a:defRPr>
            </a:pPr>
          </a:p>
          <a:p>
            <a:pPr>
              <a:lnSpc>
                <a:spcPct val="112000"/>
              </a:lnSpc>
              <a:spcAft>
                <a:spcPts val="0"/>
              </a:spcAft>
              <a:defRPr sz="1600" b="0" i="0">
                <a:solidFill>
                  <a:srgbClr val="1D1D1F"/>
                </a:solidFill>
                <a:latin typeface="Segoe UI"/>
              </a:defRPr>
            </a:pPr>
            <a:r>
              <a:t>Target: N − 1 occupied positions.</a:t>
            </a:r>
          </a:p>
          <a:p>
            <a:pPr>
              <a:lnSpc>
                <a:spcPct val="112000"/>
              </a:lnSpc>
              <a:spcAft>
                <a:spcPts val="0"/>
              </a:spcAft>
              <a:defRPr sz="1600" b="0" i="0">
                <a:solidFill>
                  <a:srgbClr val="1D1D1F"/>
                </a:solidFill>
                <a:latin typeface="Segoe UI"/>
              </a:defRPr>
            </a:pPr>
          </a:p>
          <a:p>
            <a:pPr>
              <a:lnSpc>
                <a:spcPct val="112000"/>
              </a:lnSpc>
              <a:spcAft>
                <a:spcPts val="0"/>
              </a:spcAft>
              <a:defRPr sz="1600" b="0" i="0">
                <a:solidFill>
                  <a:srgbClr val="1D1D1F"/>
                </a:solidFill>
                <a:latin typeface="Segoe UI"/>
              </a:defRPr>
            </a:pPr>
            <a:r>
              <a:t>probe() reads acceptance / retry,</a:t>
            </a:r>
          </a:p>
          <a:p>
            <a:pPr>
              <a:lnSpc>
                <a:spcPct val="112000"/>
              </a:lnSpc>
              <a:spcAft>
                <a:spcPts val="0"/>
              </a:spcAft>
              <a:defRPr sz="1600" b="0" i="0">
                <a:solidFill>
                  <a:srgbClr val="1D1D1F"/>
                </a:solidFill>
                <a:latin typeface="Segoe UI"/>
              </a:defRPr>
            </a:pPr>
            <a:r>
              <a:t>not the operation’s completion.</a:t>
            </a:r>
          </a:p>
        </p:txBody>
      </p:sp>
      <p:sp>
        <p:nvSpPr>
          <p:cNvPr id="12" name="tx_1247"/>
          <p:cNvSpPr txBox="1"/>
          <p:nvPr/>
        </p:nvSpPr>
        <p:spPr>
          <a:xfrm>
            <a:off x="822960" y="5422392"/>
            <a:ext cx="10546079" cy="365760"/>
          </a:xfrm>
          <a:prstGeom prst="rect">
            <a:avLst/>
          </a:prstGeom>
          <a:noFill/>
        </p:spPr>
        <p:txBody>
          <a:bodyPr wrap="square" lIns="0" rIns="0" tIns="0" bIns="0">
            <a:spAutoFit/>
          </a:bodyPr>
          <a:lstStyle/>
          <a:p>
            <a:pPr>
              <a:spcAft>
                <a:spcPts val="400"/>
              </a:spcAft>
              <a:defRPr sz="1400" b="0" i="0">
                <a:solidFill>
                  <a:srgbClr val="6E6E73"/>
                </a:solidFill>
                <a:latin typeface="Segoe UI"/>
              </a:defRPr>
            </a:pPr>
            <a:r>
              <a:t>Paper observation: congestion became visible for copies ≥ 32 MiB. Descriptor preparation is omitted.</a:t>
            </a:r>
          </a:p>
        </p:txBody>
      </p:sp>
      <p:sp>
        <p:nvSpPr>
          <p:cNvPr id="13" name="rect_1248"/>
          <p:cNvSpPr/>
          <p:nvPr/>
        </p:nvSpPr>
        <p:spPr>
          <a:xfrm>
            <a:off x="822960" y="580644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x_1249"/>
          <p:cNvSpPr txBox="1"/>
          <p:nvPr/>
        </p:nvSpPr>
        <p:spPr>
          <a:xfrm>
            <a:off x="822960" y="5961888"/>
            <a:ext cx="10546079" cy="548640"/>
          </a:xfrm>
          <a:prstGeom prst="rect">
            <a:avLst/>
          </a:prstGeom>
          <a:noFill/>
        </p:spPr>
        <p:txBody>
          <a:bodyPr wrap="square" lIns="0" rIns="0" tIns="0" bIns="0">
            <a:spAutoFit/>
          </a:bodyPr>
          <a:lstStyle/>
          <a:p>
            <a:pPr>
              <a:spcAft>
                <a:spcPts val="400"/>
              </a:spcAft>
              <a:defRPr sz="1900" b="0" i="0">
                <a:solidFill>
                  <a:srgbClr val="1D1D1F"/>
                </a:solidFill>
                <a:latin typeface="Segoe UI Semibold"/>
              </a:defRPr>
            </a:pPr>
            <a:r>
              <a:t>Keep the long copy active while leaving one admission position available.</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tx_0456"/>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Weapon #2 — Congest → Idle → Probe</a:t>
            </a:r>
          </a:p>
        </p:txBody>
      </p:sp>
      <p:sp>
        <p:nvSpPr>
          <p:cNvPr id="5" name="tx_0458"/>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19</a:t>
            </a:r>
          </a:p>
        </p:txBody>
      </p:sp>
      <p:sp>
        <p:nvSpPr>
          <p:cNvPr id="6" name="tx_0459"/>
          <p:cNvSpPr txBox="1"/>
          <p:nvPr/>
        </p:nvSpPr>
        <p:spPr>
          <a:xfrm>
            <a:off x="822960" y="1783080"/>
            <a:ext cx="3149599" cy="822960"/>
          </a:xfrm>
          <a:prstGeom prst="rect">
            <a:avLst/>
          </a:prstGeom>
          <a:noFill/>
        </p:spPr>
        <p:txBody>
          <a:bodyPr wrap="square" lIns="0" rIns="0" tIns="0" bIns="0">
            <a:spAutoFit/>
          </a:bodyPr>
          <a:lstStyle/>
          <a:p>
            <a:pPr>
              <a:spcAft>
                <a:spcPts val="400"/>
              </a:spcAft>
              <a:defRPr sz="4800" b="0" i="0">
                <a:solidFill>
                  <a:srgbClr val="D70015"/>
                </a:solidFill>
                <a:latin typeface="Segoe UI Semibold"/>
              </a:defRPr>
            </a:pPr>
            <a:r>
              <a:t>1</a:t>
            </a:r>
          </a:p>
        </p:txBody>
      </p:sp>
      <p:sp>
        <p:nvSpPr>
          <p:cNvPr id="7" name="tx_0460"/>
          <p:cNvSpPr txBox="1"/>
          <p:nvPr/>
        </p:nvSpPr>
        <p:spPr>
          <a:xfrm>
            <a:off x="822960" y="2697480"/>
            <a:ext cx="3149599" cy="548640"/>
          </a:xfrm>
          <a:prstGeom prst="rect">
            <a:avLst/>
          </a:prstGeom>
          <a:noFill/>
        </p:spPr>
        <p:txBody>
          <a:bodyPr wrap="square" lIns="0" rIns="0" tIns="0" bIns="0">
            <a:spAutoFit/>
          </a:bodyPr>
          <a:lstStyle/>
          <a:p>
            <a:pPr>
              <a:spcAft>
                <a:spcPts val="400"/>
              </a:spcAft>
              <a:defRPr sz="2600" b="0" i="0">
                <a:solidFill>
                  <a:srgbClr val="1D1D1F"/>
                </a:solidFill>
                <a:latin typeface="Segoe UI Semibold"/>
              </a:defRPr>
            </a:pPr>
            <a:r>
              <a:t>Congest</a:t>
            </a:r>
          </a:p>
        </p:txBody>
      </p:sp>
      <p:sp>
        <p:nvSpPr>
          <p:cNvPr id="8" name="tx_0461"/>
          <p:cNvSpPr txBox="1"/>
          <p:nvPr/>
        </p:nvSpPr>
        <p:spPr>
          <a:xfrm>
            <a:off x="822960" y="3337560"/>
            <a:ext cx="3149599" cy="365760"/>
          </a:xfrm>
          <a:prstGeom prst="rect">
            <a:avLst/>
          </a:prstGeom>
          <a:noFill/>
        </p:spPr>
        <p:txBody>
          <a:bodyPr wrap="square" lIns="0" rIns="0" tIns="0" bIns="0">
            <a:spAutoFit/>
          </a:bodyPr>
          <a:lstStyle/>
          <a:p>
            <a:pPr>
              <a:lnSpc>
                <a:spcPct val="112000"/>
              </a:lnSpc>
              <a:spcAft>
                <a:spcPts val="400"/>
              </a:spcAft>
              <a:defRPr sz="1800" b="0" i="0">
                <a:solidFill>
                  <a:srgbClr val="6E6E73"/>
                </a:solidFill>
                <a:latin typeface="Segoe UI"/>
              </a:defRPr>
            </a:pPr>
            <a:r>
              <a:t>Long memcpy + fillers →</a:t>
            </a:r>
          </a:p>
          <a:p>
            <a:pPr>
              <a:lnSpc>
                <a:spcPct val="112000"/>
              </a:lnSpc>
              <a:spcAft>
                <a:spcPts val="400"/>
              </a:spcAft>
              <a:defRPr sz="1800" b="0" i="0">
                <a:solidFill>
                  <a:srgbClr val="6E6E73"/>
                </a:solidFill>
                <a:latin typeface="Segoe UI"/>
              </a:defRPr>
            </a:pPr>
            <a:r>
              <a:t>near-full SWQ</a:t>
            </a:r>
          </a:p>
        </p:txBody>
      </p:sp>
      <p:sp>
        <p:nvSpPr>
          <p:cNvPr id="9" name="tx_0462"/>
          <p:cNvSpPr txBox="1"/>
          <p:nvPr/>
        </p:nvSpPr>
        <p:spPr>
          <a:xfrm>
            <a:off x="4082287" y="2697480"/>
            <a:ext cx="365760" cy="548640"/>
          </a:xfrm>
          <a:prstGeom prst="rect">
            <a:avLst/>
          </a:prstGeom>
          <a:noFill/>
        </p:spPr>
        <p:txBody>
          <a:bodyPr wrap="square" lIns="0" rIns="0" tIns="0" bIns="0">
            <a:spAutoFit/>
          </a:bodyPr>
          <a:lstStyle/>
          <a:p>
            <a:pPr>
              <a:spcAft>
                <a:spcPts val="400"/>
              </a:spcAft>
              <a:defRPr sz="2400" b="0" i="0">
                <a:solidFill>
                  <a:srgbClr val="D2D2D7"/>
                </a:solidFill>
                <a:latin typeface="Segoe UI"/>
              </a:defRPr>
            </a:pPr>
            <a:r>
              <a:t>→</a:t>
            </a:r>
          </a:p>
        </p:txBody>
      </p:sp>
      <p:sp>
        <p:nvSpPr>
          <p:cNvPr id="10" name="tx_0463"/>
          <p:cNvSpPr txBox="1"/>
          <p:nvPr/>
        </p:nvSpPr>
        <p:spPr>
          <a:xfrm>
            <a:off x="4521199" y="1783080"/>
            <a:ext cx="3149599" cy="822960"/>
          </a:xfrm>
          <a:prstGeom prst="rect">
            <a:avLst/>
          </a:prstGeom>
          <a:noFill/>
        </p:spPr>
        <p:txBody>
          <a:bodyPr wrap="square" lIns="0" rIns="0" tIns="0" bIns="0">
            <a:spAutoFit/>
          </a:bodyPr>
          <a:lstStyle/>
          <a:p>
            <a:pPr>
              <a:spcAft>
                <a:spcPts val="400"/>
              </a:spcAft>
              <a:defRPr sz="4800" b="0" i="0">
                <a:solidFill>
                  <a:srgbClr val="0071E3"/>
                </a:solidFill>
                <a:latin typeface="Segoe UI Semibold"/>
              </a:defRPr>
            </a:pPr>
            <a:r>
              <a:t>2</a:t>
            </a:r>
          </a:p>
        </p:txBody>
      </p:sp>
      <p:sp>
        <p:nvSpPr>
          <p:cNvPr id="11" name="tx_0464"/>
          <p:cNvSpPr txBox="1"/>
          <p:nvPr/>
        </p:nvSpPr>
        <p:spPr>
          <a:xfrm>
            <a:off x="4521199" y="2697480"/>
            <a:ext cx="3149599" cy="548640"/>
          </a:xfrm>
          <a:prstGeom prst="rect">
            <a:avLst/>
          </a:prstGeom>
          <a:noFill/>
        </p:spPr>
        <p:txBody>
          <a:bodyPr wrap="square" lIns="0" rIns="0" tIns="0" bIns="0">
            <a:spAutoFit/>
          </a:bodyPr>
          <a:lstStyle/>
          <a:p>
            <a:pPr>
              <a:spcAft>
                <a:spcPts val="400"/>
              </a:spcAft>
              <a:defRPr sz="2600" b="0" i="0">
                <a:solidFill>
                  <a:srgbClr val="1D1D1F"/>
                </a:solidFill>
                <a:latin typeface="Segoe UI Semibold"/>
              </a:defRPr>
            </a:pPr>
            <a:r>
              <a:t>Idle</a:t>
            </a:r>
          </a:p>
        </p:txBody>
      </p:sp>
      <p:sp>
        <p:nvSpPr>
          <p:cNvPr id="12" name="tx_0465"/>
          <p:cNvSpPr txBox="1"/>
          <p:nvPr/>
        </p:nvSpPr>
        <p:spPr>
          <a:xfrm>
            <a:off x="4521199" y="3337560"/>
            <a:ext cx="3149599" cy="365760"/>
          </a:xfrm>
          <a:prstGeom prst="rect">
            <a:avLst/>
          </a:prstGeom>
          <a:noFill/>
        </p:spPr>
        <p:txBody>
          <a:bodyPr wrap="square" lIns="0" rIns="0" tIns="0" bIns="0">
            <a:spAutoFit/>
          </a:bodyPr>
          <a:lstStyle/>
          <a:p>
            <a:pPr>
              <a:lnSpc>
                <a:spcPct val="112000"/>
              </a:lnSpc>
              <a:spcAft>
                <a:spcPts val="400"/>
              </a:spcAft>
              <a:defRPr sz="1800" b="0" i="0">
                <a:solidFill>
                  <a:srgbClr val="6E6E73"/>
                </a:solidFill>
                <a:latin typeface="Segoe UI"/>
              </a:defRPr>
            </a:pPr>
            <a:r>
              <a:t>Hold the window;</a:t>
            </a:r>
          </a:p>
          <a:p>
            <a:pPr>
              <a:lnSpc>
                <a:spcPct val="112000"/>
              </a:lnSpc>
              <a:spcAft>
                <a:spcPts val="400"/>
              </a:spcAft>
              <a:defRPr sz="1800" b="0" i="0">
                <a:solidFill>
                  <a:srgbClr val="6E6E73"/>
                </a:solidFill>
                <a:latin typeface="Segoe UI"/>
              </a:defRPr>
            </a:pPr>
            <a:r>
              <a:t>the victim may enqueue</a:t>
            </a:r>
          </a:p>
        </p:txBody>
      </p:sp>
      <p:sp>
        <p:nvSpPr>
          <p:cNvPr id="13" name="tx_0466"/>
          <p:cNvSpPr txBox="1"/>
          <p:nvPr/>
        </p:nvSpPr>
        <p:spPr>
          <a:xfrm>
            <a:off x="7780527" y="2697480"/>
            <a:ext cx="365760" cy="548640"/>
          </a:xfrm>
          <a:prstGeom prst="rect">
            <a:avLst/>
          </a:prstGeom>
          <a:noFill/>
        </p:spPr>
        <p:txBody>
          <a:bodyPr wrap="square" lIns="0" rIns="0" tIns="0" bIns="0">
            <a:spAutoFit/>
          </a:bodyPr>
          <a:lstStyle/>
          <a:p>
            <a:pPr>
              <a:spcAft>
                <a:spcPts val="400"/>
              </a:spcAft>
              <a:defRPr sz="2400" b="0" i="0">
                <a:solidFill>
                  <a:srgbClr val="D2D2D7"/>
                </a:solidFill>
                <a:latin typeface="Segoe UI"/>
              </a:defRPr>
            </a:pPr>
            <a:r>
              <a:t>→</a:t>
            </a:r>
          </a:p>
        </p:txBody>
      </p:sp>
      <p:sp>
        <p:nvSpPr>
          <p:cNvPr id="14" name="tx_0467"/>
          <p:cNvSpPr txBox="1"/>
          <p:nvPr/>
        </p:nvSpPr>
        <p:spPr>
          <a:xfrm>
            <a:off x="8219439" y="1783080"/>
            <a:ext cx="3149599" cy="822960"/>
          </a:xfrm>
          <a:prstGeom prst="rect">
            <a:avLst/>
          </a:prstGeom>
          <a:noFill/>
        </p:spPr>
        <p:txBody>
          <a:bodyPr wrap="square" lIns="0" rIns="0" tIns="0" bIns="0">
            <a:spAutoFit/>
          </a:bodyPr>
          <a:lstStyle/>
          <a:p>
            <a:pPr>
              <a:spcAft>
                <a:spcPts val="400"/>
              </a:spcAft>
              <a:defRPr sz="4800" b="0" i="0">
                <a:solidFill>
                  <a:srgbClr val="1D1D1F"/>
                </a:solidFill>
                <a:latin typeface="Segoe UI Semibold"/>
              </a:defRPr>
            </a:pPr>
            <a:r>
              <a:t>3</a:t>
            </a:r>
          </a:p>
        </p:txBody>
      </p:sp>
      <p:sp>
        <p:nvSpPr>
          <p:cNvPr id="15" name="tx_0468"/>
          <p:cNvSpPr txBox="1"/>
          <p:nvPr/>
        </p:nvSpPr>
        <p:spPr>
          <a:xfrm>
            <a:off x="8219439" y="2697480"/>
            <a:ext cx="3149599" cy="548640"/>
          </a:xfrm>
          <a:prstGeom prst="rect">
            <a:avLst/>
          </a:prstGeom>
          <a:noFill/>
        </p:spPr>
        <p:txBody>
          <a:bodyPr wrap="square" lIns="0" rIns="0" tIns="0" bIns="0">
            <a:spAutoFit/>
          </a:bodyPr>
          <a:lstStyle/>
          <a:p>
            <a:pPr>
              <a:spcAft>
                <a:spcPts val="400"/>
              </a:spcAft>
              <a:defRPr sz="2600" b="0" i="0">
                <a:solidFill>
                  <a:srgbClr val="1D1D1F"/>
                </a:solidFill>
                <a:latin typeface="Segoe UI Semibold"/>
              </a:defRPr>
            </a:pPr>
            <a:r>
              <a:t>Probe</a:t>
            </a:r>
          </a:p>
        </p:txBody>
      </p:sp>
      <p:sp>
        <p:nvSpPr>
          <p:cNvPr id="16" name="tx_0469"/>
          <p:cNvSpPr txBox="1"/>
          <p:nvPr/>
        </p:nvSpPr>
        <p:spPr>
          <a:xfrm>
            <a:off x="8219439" y="3337560"/>
            <a:ext cx="3149599" cy="365760"/>
          </a:xfrm>
          <a:prstGeom prst="rect">
            <a:avLst/>
          </a:prstGeom>
          <a:noFill/>
        </p:spPr>
        <p:txBody>
          <a:bodyPr wrap="square" lIns="0" rIns="0" tIns="0" bIns="0">
            <a:spAutoFit/>
          </a:bodyPr>
          <a:lstStyle/>
          <a:p>
            <a:pPr>
              <a:lnSpc>
                <a:spcPct val="112000"/>
              </a:lnSpc>
              <a:spcAft>
                <a:spcPts val="400"/>
              </a:spcAft>
              <a:defRPr sz="1800" b="0" i="0">
                <a:solidFill>
                  <a:srgbClr val="6E6E73"/>
                </a:solidFill>
                <a:latin typeface="Segoe UI"/>
              </a:defRPr>
            </a:pPr>
            <a:r>
              <a:t>Submit once,</a:t>
            </a:r>
          </a:p>
          <a:p>
            <a:pPr>
              <a:lnSpc>
                <a:spcPct val="112000"/>
              </a:lnSpc>
              <a:spcAft>
                <a:spcPts val="400"/>
              </a:spcAft>
              <a:defRPr sz="1800" b="0" i="0">
                <a:solidFill>
                  <a:srgbClr val="6E6E73"/>
                </a:solidFill>
                <a:latin typeface="Segoe UI"/>
              </a:defRPr>
            </a:pPr>
            <a:r>
              <a:t>read EFLAGS.ZF</a:t>
            </a:r>
          </a:p>
        </p:txBody>
      </p:sp>
      <p:cxnSp>
        <p:nvCxnSpPr>
          <p:cNvPr id="17" name="hl_0470"/>
          <p:cNvCxnSpPr/>
          <p:nvPr/>
        </p:nvCxnSpPr>
        <p:spPr>
          <a:xfrm>
            <a:off x="822960" y="425196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8" name="tx_0471"/>
          <p:cNvSpPr txBox="1"/>
          <p:nvPr/>
        </p:nvSpPr>
        <p:spPr>
          <a:xfrm>
            <a:off x="822960" y="4480560"/>
            <a:ext cx="4998719" cy="457200"/>
          </a:xfrm>
          <a:prstGeom prst="rect">
            <a:avLst/>
          </a:prstGeom>
          <a:noFill/>
        </p:spPr>
        <p:txBody>
          <a:bodyPr wrap="square" lIns="0" rIns="0" tIns="0" bIns="0">
            <a:spAutoFit/>
          </a:bodyPr>
          <a:lstStyle/>
          <a:p>
            <a:pPr algn="ctr">
              <a:spcAft>
                <a:spcPts val="400"/>
              </a:spcAft>
              <a:defRPr sz="1900" b="0" i="0">
                <a:solidFill>
                  <a:srgbClr val="248A3D"/>
                </a:solidFill>
                <a:latin typeface="Segoe UI Semibold"/>
              </a:defRPr>
            </a:pPr>
            <a:r>
              <a:t>ZF = 0   →   accepted (capacity available)</a:t>
            </a:r>
          </a:p>
        </p:txBody>
      </p:sp>
      <p:sp>
        <p:nvSpPr>
          <p:cNvPr id="19" name="tx_0472"/>
          <p:cNvSpPr txBox="1"/>
          <p:nvPr/>
        </p:nvSpPr>
        <p:spPr>
          <a:xfrm>
            <a:off x="6370319" y="4480560"/>
            <a:ext cx="4998719" cy="457200"/>
          </a:xfrm>
          <a:prstGeom prst="rect">
            <a:avLst/>
          </a:prstGeom>
          <a:noFill/>
        </p:spPr>
        <p:txBody>
          <a:bodyPr wrap="square" lIns="0" rIns="0" tIns="0" bIns="0">
            <a:spAutoFit/>
          </a:bodyPr>
          <a:lstStyle/>
          <a:p>
            <a:pPr algn="ctr">
              <a:spcAft>
                <a:spcPts val="400"/>
              </a:spcAft>
              <a:defRPr sz="1900" b="0" i="0">
                <a:solidFill>
                  <a:srgbClr val="D70015"/>
                </a:solidFill>
                <a:latin typeface="Segoe UI Semibold"/>
              </a:defRPr>
            </a:pPr>
            <a:r>
              <a:t>ZF = 1   →   retry (full in this experiment)</a:t>
            </a:r>
          </a:p>
        </p:txBody>
      </p:sp>
      <p:sp>
        <p:nvSpPr>
          <p:cNvPr id="20" name="rect_0473"/>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x_0474"/>
          <p:cNvSpPr txBox="1"/>
          <p:nvPr/>
        </p:nvSpPr>
        <p:spPr>
          <a:xfrm>
            <a:off x="822960" y="577900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“Timer-free” describes the signal; the window still needs control.</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516"/>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What it steals</a:t>
            </a:r>
          </a:p>
        </p:txBody>
      </p:sp>
      <p:sp>
        <p:nvSpPr>
          <p:cNvPr id="3" name="tx_0517"/>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Can it even carry a message?</a:t>
            </a:r>
          </a:p>
        </p:txBody>
      </p:sp>
      <p:sp>
        <p:nvSpPr>
          <p:cNvPr id="5" name="tx_0519"/>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20</a:t>
            </a:r>
          </a:p>
        </p:txBody>
      </p:sp>
      <p:sp>
        <p:nvSpPr>
          <p:cNvPr id="6" name="tx_0520"/>
          <p:cNvSpPr txBox="1"/>
          <p:nvPr/>
        </p:nvSpPr>
        <p:spPr>
          <a:xfrm>
            <a:off x="868680" y="1783080"/>
            <a:ext cx="2017775"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PHASE</a:t>
            </a:r>
          </a:p>
        </p:txBody>
      </p:sp>
      <p:sp>
        <p:nvSpPr>
          <p:cNvPr id="7" name="tx_0521"/>
          <p:cNvSpPr txBox="1"/>
          <p:nvPr/>
        </p:nvSpPr>
        <p:spPr>
          <a:xfrm>
            <a:off x="2977895" y="1783080"/>
            <a:ext cx="4126991"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RECEIVER</a:t>
            </a:r>
          </a:p>
        </p:txBody>
      </p:sp>
      <p:sp>
        <p:nvSpPr>
          <p:cNvPr id="8" name="tx_0522"/>
          <p:cNvSpPr txBox="1"/>
          <p:nvPr/>
        </p:nvSpPr>
        <p:spPr>
          <a:xfrm>
            <a:off x="7196327" y="1783080"/>
            <a:ext cx="4126991"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SENDER</a:t>
            </a:r>
          </a:p>
        </p:txBody>
      </p:sp>
      <p:cxnSp>
        <p:nvCxnSpPr>
          <p:cNvPr id="9" name="hl_0523"/>
          <p:cNvCxnSpPr/>
          <p:nvPr/>
        </p:nvCxnSpPr>
        <p:spPr>
          <a:xfrm>
            <a:off x="822960" y="2148840"/>
            <a:ext cx="10546079"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10" name="tx_0524"/>
          <p:cNvSpPr txBox="1"/>
          <p:nvPr/>
        </p:nvSpPr>
        <p:spPr>
          <a:xfrm>
            <a:off x="868680" y="2267712"/>
            <a:ext cx="2017775"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Semibold"/>
              </a:defRPr>
            </a:pPr>
            <a:r>
              <a:t>Synchronize</a:t>
            </a:r>
          </a:p>
        </p:txBody>
      </p:sp>
      <p:sp>
        <p:nvSpPr>
          <p:cNvPr id="11" name="tx_0525"/>
          <p:cNvSpPr txBox="1"/>
          <p:nvPr/>
        </p:nvSpPr>
        <p:spPr>
          <a:xfrm>
            <a:off x="2977895" y="2267712"/>
            <a:ext cx="4126991"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a:defRPr>
            </a:pPr>
            <a:r>
              <a:t>detect preamble</a:t>
            </a:r>
          </a:p>
        </p:txBody>
      </p:sp>
      <p:sp>
        <p:nvSpPr>
          <p:cNvPr id="12" name="tx_0526"/>
          <p:cNvSpPr txBox="1"/>
          <p:nvPr/>
        </p:nvSpPr>
        <p:spPr>
          <a:xfrm>
            <a:off x="7196327" y="2267712"/>
            <a:ext cx="4126991"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a:defRPr>
            </a:pPr>
            <a:r>
              <a:t>transmit consecutive 1 bits</a:t>
            </a:r>
          </a:p>
        </p:txBody>
      </p:sp>
      <p:cxnSp>
        <p:nvCxnSpPr>
          <p:cNvPr id="13" name="hl_0527"/>
          <p:cNvCxnSpPr/>
          <p:nvPr/>
        </p:nvCxnSpPr>
        <p:spPr>
          <a:xfrm>
            <a:off x="822960" y="2752344"/>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4" name="tx_0528"/>
          <p:cNvSpPr txBox="1"/>
          <p:nvPr/>
        </p:nvSpPr>
        <p:spPr>
          <a:xfrm>
            <a:off x="868680" y="2871216"/>
            <a:ext cx="2017775"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Semibold"/>
              </a:defRPr>
            </a:pPr>
            <a:r>
              <a:t>Prepare</a:t>
            </a:r>
          </a:p>
        </p:txBody>
      </p:sp>
      <p:sp>
        <p:nvSpPr>
          <p:cNvPr id="15" name="tx_0529"/>
          <p:cNvSpPr txBox="1"/>
          <p:nvPr/>
        </p:nvSpPr>
        <p:spPr>
          <a:xfrm>
            <a:off x="2977895" y="2871216"/>
            <a:ext cx="4126991"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a:defRPr>
            </a:pPr>
            <a:r>
              <a:t>prime DevTLB / congest SWQ</a:t>
            </a:r>
          </a:p>
        </p:txBody>
      </p:sp>
      <p:sp>
        <p:nvSpPr>
          <p:cNvPr id="16" name="tx_0530"/>
          <p:cNvSpPr txBox="1"/>
          <p:nvPr/>
        </p:nvSpPr>
        <p:spPr>
          <a:xfrm>
            <a:off x="7196327" y="2871216"/>
            <a:ext cx="4126991"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a:defRPr>
            </a:pPr>
            <a:r>
              <a:t>wait for data slot</a:t>
            </a:r>
          </a:p>
        </p:txBody>
      </p:sp>
      <p:cxnSp>
        <p:nvCxnSpPr>
          <p:cNvPr id="17" name="hl_0531"/>
          <p:cNvCxnSpPr/>
          <p:nvPr/>
        </p:nvCxnSpPr>
        <p:spPr>
          <a:xfrm>
            <a:off x="822960" y="3355848"/>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8" name="tx_0532"/>
          <p:cNvSpPr txBox="1"/>
          <p:nvPr/>
        </p:nvSpPr>
        <p:spPr>
          <a:xfrm>
            <a:off x="868680" y="3474720"/>
            <a:ext cx="2017775"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Semibold"/>
              </a:defRPr>
            </a:pPr>
            <a:r>
              <a:t>Encode</a:t>
            </a:r>
          </a:p>
        </p:txBody>
      </p:sp>
      <p:sp>
        <p:nvSpPr>
          <p:cNvPr id="19" name="tx_0533"/>
          <p:cNvSpPr txBox="1"/>
          <p:nvPr/>
        </p:nvSpPr>
        <p:spPr>
          <a:xfrm>
            <a:off x="2977895" y="3474720"/>
            <a:ext cx="4126991"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a:defRPr>
            </a:pPr>
            <a:r>
              <a:t>open observation window</a:t>
            </a:r>
          </a:p>
        </p:txBody>
      </p:sp>
      <p:sp>
        <p:nvSpPr>
          <p:cNvPr id="20" name="tx_0534"/>
          <p:cNvSpPr txBox="1"/>
          <p:nvPr/>
        </p:nvSpPr>
        <p:spPr>
          <a:xfrm>
            <a:off x="7196327" y="3474720"/>
            <a:ext cx="4126991"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a:defRPr>
            </a:pPr>
            <a:r>
              <a:t>1 → submit · 0 → idle</a:t>
            </a:r>
          </a:p>
        </p:txBody>
      </p:sp>
      <p:cxnSp>
        <p:nvCxnSpPr>
          <p:cNvPr id="21" name="hl_0535"/>
          <p:cNvCxnSpPr/>
          <p:nvPr/>
        </p:nvCxnSpPr>
        <p:spPr>
          <a:xfrm>
            <a:off x="822960" y="3959352"/>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2" name="tx_0536"/>
          <p:cNvSpPr txBox="1"/>
          <p:nvPr/>
        </p:nvSpPr>
        <p:spPr>
          <a:xfrm>
            <a:off x="868680" y="4078224"/>
            <a:ext cx="2017775"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Semibold"/>
              </a:defRPr>
            </a:pPr>
            <a:r>
              <a:t>Decode</a:t>
            </a:r>
          </a:p>
        </p:txBody>
      </p:sp>
      <p:sp>
        <p:nvSpPr>
          <p:cNvPr id="23" name="tx_0537"/>
          <p:cNvSpPr txBox="1"/>
          <p:nvPr/>
        </p:nvSpPr>
        <p:spPr>
          <a:xfrm>
            <a:off x="2977895" y="4078224"/>
            <a:ext cx="4126991"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a:defRPr>
            </a:pPr>
            <a:r>
              <a:t>time completion / read ZF</a:t>
            </a:r>
          </a:p>
        </p:txBody>
      </p:sp>
      <p:sp>
        <p:nvSpPr>
          <p:cNvPr id="24" name="tx_0538"/>
          <p:cNvSpPr txBox="1"/>
          <p:nvPr/>
        </p:nvSpPr>
        <p:spPr>
          <a:xfrm>
            <a:off x="7196327" y="4078224"/>
            <a:ext cx="4126991"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a:defRPr>
            </a:pPr>
            <a:r>
              <a:t>advance to next slot</a:t>
            </a:r>
          </a:p>
        </p:txBody>
      </p:sp>
      <p:cxnSp>
        <p:nvCxnSpPr>
          <p:cNvPr id="25" name="hl_0539"/>
          <p:cNvCxnSpPr/>
          <p:nvPr/>
        </p:nvCxnSpPr>
        <p:spPr>
          <a:xfrm>
            <a:off x="822960" y="4562856"/>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6" name="rect_0540"/>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x_0541"/>
          <p:cNvSpPr txBox="1"/>
          <p:nvPr/>
        </p:nvSpPr>
        <p:spPr>
          <a:xfrm>
            <a:off x="822960" y="577900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Covert-channel feasibility is a separate claim from inference accuracy.</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542"/>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What it steals</a:t>
            </a:r>
          </a:p>
        </p:txBody>
      </p:sp>
      <p:sp>
        <p:nvSpPr>
          <p:cNvPr id="3" name="tx_0543"/>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17.19 kbps — and a bandwidth / error tradeoff</a:t>
            </a:r>
          </a:p>
        </p:txBody>
      </p:sp>
      <p:sp>
        <p:nvSpPr>
          <p:cNvPr id="5" name="tx_0545"/>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21</a:t>
            </a:r>
          </a:p>
        </p:txBody>
      </p:sp>
      <p:pic>
        <p:nvPicPr>
          <p:cNvPr id="6" name="pic_0546" descr="capacity.png"/>
          <p:cNvPicPr>
            <a:picLocks noChangeAspect="1"/>
          </p:cNvPicPr>
          <p:nvPr/>
        </p:nvPicPr>
        <p:blipFill>
          <a:blip r:embed="rId3"/>
          <a:stretch>
            <a:fillRect/>
          </a:stretch>
        </p:blipFill>
        <p:spPr>
          <a:xfrm>
            <a:off x="822960" y="2156854"/>
            <a:ext cx="7040880" cy="3001490"/>
          </a:xfrm>
          <a:prstGeom prst="rect">
            <a:avLst/>
          </a:prstGeom>
        </p:spPr>
      </p:pic>
      <p:sp>
        <p:nvSpPr>
          <p:cNvPr id="7" name="tx_0547"/>
          <p:cNvSpPr txBox="1"/>
          <p:nvPr/>
        </p:nvSpPr>
        <p:spPr>
          <a:xfrm>
            <a:off x="8229600" y="1965960"/>
            <a:ext cx="3108960" cy="914400"/>
          </a:xfrm>
          <a:prstGeom prst="rect">
            <a:avLst/>
          </a:prstGeom>
          <a:noFill/>
        </p:spPr>
        <p:txBody>
          <a:bodyPr wrap="square" lIns="0" rIns="0" tIns="0" bIns="0">
            <a:spAutoFit/>
          </a:bodyPr>
          <a:lstStyle/>
          <a:p>
            <a:pPr>
              <a:spcAft>
                <a:spcPts val="400"/>
              </a:spcAft>
              <a:defRPr sz="4000" b="0" i="0">
                <a:solidFill>
                  <a:srgbClr val="0071E3"/>
                </a:solidFill>
                <a:latin typeface="Segoe UI Semibold"/>
              </a:defRPr>
            </a:pPr>
            <a:r>
              <a:t>17.19 kbps</a:t>
            </a:r>
          </a:p>
        </p:txBody>
      </p:sp>
      <p:sp>
        <p:nvSpPr>
          <p:cNvPr id="8" name="tx_0548"/>
          <p:cNvSpPr txBox="1"/>
          <p:nvPr/>
        </p:nvSpPr>
        <p:spPr>
          <a:xfrm>
            <a:off x="8229600" y="2971800"/>
            <a:ext cx="3108960" cy="41148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DevTLB</a:t>
            </a:r>
          </a:p>
        </p:txBody>
      </p:sp>
      <p:sp>
        <p:nvSpPr>
          <p:cNvPr id="9" name="tx_0549"/>
          <p:cNvSpPr txBox="1"/>
          <p:nvPr/>
        </p:nvSpPr>
        <p:spPr>
          <a:xfrm>
            <a:off x="8229600" y="3383280"/>
            <a:ext cx="3108960" cy="365760"/>
          </a:xfrm>
          <a:prstGeom prst="rect">
            <a:avLst/>
          </a:prstGeom>
          <a:noFill/>
        </p:spPr>
        <p:txBody>
          <a:bodyPr wrap="square" lIns="0" rIns="0" tIns="0" bIns="0">
            <a:spAutoFit/>
          </a:bodyPr>
          <a:lstStyle/>
          <a:p>
            <a:pPr>
              <a:spcAft>
                <a:spcPts val="400"/>
              </a:spcAft>
              <a:defRPr sz="1600" b="0" i="0">
                <a:solidFill>
                  <a:srgbClr val="6E6E73"/>
                </a:solidFill>
                <a:latin typeface="Segoe UI"/>
              </a:defRPr>
            </a:pPr>
            <a:r>
              <a:t>4.63% bit error</a:t>
            </a:r>
          </a:p>
        </p:txBody>
      </p:sp>
      <p:sp>
        <p:nvSpPr>
          <p:cNvPr id="10" name="tx_0550"/>
          <p:cNvSpPr txBox="1"/>
          <p:nvPr/>
        </p:nvSpPr>
        <p:spPr>
          <a:xfrm>
            <a:off x="8229600" y="3794760"/>
            <a:ext cx="3108960" cy="914400"/>
          </a:xfrm>
          <a:prstGeom prst="rect">
            <a:avLst/>
          </a:prstGeom>
          <a:noFill/>
        </p:spPr>
        <p:txBody>
          <a:bodyPr wrap="square" lIns="0" rIns="0" tIns="0" bIns="0">
            <a:spAutoFit/>
          </a:bodyPr>
          <a:lstStyle/>
          <a:p>
            <a:pPr>
              <a:spcAft>
                <a:spcPts val="400"/>
              </a:spcAft>
              <a:defRPr sz="4000" b="0" i="0">
                <a:solidFill>
                  <a:srgbClr val="1D1D1F"/>
                </a:solidFill>
                <a:latin typeface="Segoe UI Semibold"/>
              </a:defRPr>
            </a:pPr>
            <a:r>
              <a:t>4.02 kbps</a:t>
            </a:r>
          </a:p>
        </p:txBody>
      </p:sp>
      <p:sp>
        <p:nvSpPr>
          <p:cNvPr id="11" name="tx_0551"/>
          <p:cNvSpPr txBox="1"/>
          <p:nvPr/>
        </p:nvSpPr>
        <p:spPr>
          <a:xfrm>
            <a:off x="8229600" y="4800600"/>
            <a:ext cx="3108960" cy="41148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SWQ</a:t>
            </a:r>
          </a:p>
        </p:txBody>
      </p:sp>
      <p:sp>
        <p:nvSpPr>
          <p:cNvPr id="12" name="tx_0552"/>
          <p:cNvSpPr txBox="1"/>
          <p:nvPr/>
        </p:nvSpPr>
        <p:spPr>
          <a:xfrm>
            <a:off x="8229600" y="5212080"/>
            <a:ext cx="3108960" cy="365760"/>
          </a:xfrm>
          <a:prstGeom prst="rect">
            <a:avLst/>
          </a:prstGeom>
          <a:noFill/>
        </p:spPr>
        <p:txBody>
          <a:bodyPr wrap="square" lIns="0" rIns="0" tIns="0" bIns="0">
            <a:spAutoFit/>
          </a:bodyPr>
          <a:lstStyle/>
          <a:p>
            <a:pPr>
              <a:spcAft>
                <a:spcPts val="400"/>
              </a:spcAft>
              <a:defRPr sz="1600" b="0" i="0">
                <a:solidFill>
                  <a:srgbClr val="6E6E73"/>
                </a:solidFill>
                <a:latin typeface="Segoe UI"/>
              </a:defRPr>
            </a:pPr>
            <a:r>
              <a:t>13.11% bit error</a:t>
            </a:r>
          </a:p>
        </p:txBody>
      </p:sp>
      <p:sp>
        <p:nvSpPr>
          <p:cNvPr id="13" name="rect_0553"/>
          <p:cNvSpPr/>
          <p:nvPr/>
        </p:nvSpPr>
        <p:spPr>
          <a:xfrm>
            <a:off x="822960" y="576072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x_0554"/>
          <p:cNvSpPr txBox="1"/>
          <p:nvPr/>
        </p:nvSpPr>
        <p:spPr>
          <a:xfrm>
            <a:off x="822960" y="591616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Faster raw signalling loses useful throughput as the error rate climbs.</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555"/>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What it steals</a:t>
            </a:r>
          </a:p>
        </p:txBody>
      </p:sp>
      <p:sp>
        <p:nvSpPr>
          <p:cNvPr id="3" name="tx_0556"/>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Attack #1 — websites leak through the stack</a:t>
            </a:r>
          </a:p>
        </p:txBody>
      </p:sp>
      <p:sp>
        <p:nvSpPr>
          <p:cNvPr id="5" name="tx_0558"/>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22</a:t>
            </a:r>
          </a:p>
        </p:txBody>
      </p:sp>
      <p:pic>
        <p:nvPicPr>
          <p:cNvPr id="6" name="Original paper Figure 8 — page 8" descr="paper_fig8.png"/>
          <p:cNvPicPr>
            <a:picLocks noChangeAspect="1"/>
          </p:cNvPicPr>
          <p:nvPr/>
        </p:nvPicPr>
        <p:blipFill>
          <a:blip r:embed="rId3"/>
          <a:stretch>
            <a:fillRect/>
          </a:stretch>
        </p:blipFill>
        <p:spPr>
          <a:xfrm>
            <a:off x="1390967" y="1828800"/>
            <a:ext cx="9410064" cy="3337560"/>
          </a:xfrm>
          <a:prstGeom prst="rect">
            <a:avLst/>
          </a:prstGeom>
        </p:spPr>
      </p:pic>
      <p:sp>
        <p:nvSpPr>
          <p:cNvPr id="7" name="tx_1250"/>
          <p:cNvSpPr txBox="1"/>
          <p:nvPr/>
        </p:nvSpPr>
        <p:spPr>
          <a:xfrm>
            <a:off x="822960" y="5303520"/>
            <a:ext cx="10546079" cy="457200"/>
          </a:xfrm>
          <a:prstGeom prst="rect">
            <a:avLst/>
          </a:prstGeom>
          <a:noFill/>
        </p:spPr>
        <p:txBody>
          <a:bodyPr wrap="square" lIns="0" rIns="0" tIns="0" bIns="0">
            <a:spAutoFit/>
          </a:bodyPr>
          <a:lstStyle/>
          <a:p>
            <a:pPr algn="ctr">
              <a:spcAft>
                <a:spcPts val="400"/>
              </a:spcAft>
              <a:defRPr sz="1700" b="0" i="0">
                <a:solidFill>
                  <a:srgbClr val="1D1D1F"/>
                </a:solidFill>
                <a:latin typeface="Segoe UI Semibold"/>
              </a:defRPr>
            </a:pPr>
            <a:r>
              <a:t>Website traffic → DSA-accelerated memif transfers → shared-engine activity → miss-count trace</a:t>
            </a:r>
          </a:p>
        </p:txBody>
      </p:sp>
      <p:sp>
        <p:nvSpPr>
          <p:cNvPr id="8" name="rect_1251"/>
          <p:cNvSpPr/>
          <p:nvPr/>
        </p:nvSpPr>
        <p:spPr>
          <a:xfrm>
            <a:off x="822960" y="576072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x_1252"/>
          <p:cNvSpPr txBox="1"/>
          <p:nvPr/>
        </p:nvSpPr>
        <p:spPr>
          <a:xfrm>
            <a:off x="822960" y="5916168"/>
            <a:ext cx="10546079" cy="548640"/>
          </a:xfrm>
          <a:prstGeom prst="rect">
            <a:avLst/>
          </a:prstGeom>
          <a:noFill/>
        </p:spPr>
        <p:txBody>
          <a:bodyPr wrap="square" lIns="0" rIns="0" tIns="0" bIns="0">
            <a:spAutoFit/>
          </a:bodyPr>
          <a:lstStyle/>
          <a:p>
            <a:pPr>
              <a:spcAft>
                <a:spcPts val="400"/>
              </a:spcAft>
              <a:defRPr sz="2000" b="0" i="0">
                <a:solidFill>
                  <a:srgbClr val="1D1D1F"/>
                </a:solidFill>
                <a:latin typeface="Segoe UI Semibold"/>
              </a:defRPr>
            </a:pPr>
            <a:r>
              <a:t>The spy observes its own probes; the classifier supplies the website label.</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576"/>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What it steals</a:t>
            </a:r>
          </a:p>
        </p:txBody>
      </p:sp>
      <p:sp>
        <p:nvSpPr>
          <p:cNvPr id="3" name="tx_0577"/>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The pipeline, laid bare — and it is closed-world</a:t>
            </a:r>
          </a:p>
        </p:txBody>
      </p:sp>
      <p:sp>
        <p:nvSpPr>
          <p:cNvPr id="5" name="tx_0579"/>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23</a:t>
            </a:r>
          </a:p>
        </p:txBody>
      </p:sp>
      <p:cxnSp>
        <p:nvCxnSpPr>
          <p:cNvPr id="6" name="hl_0580"/>
          <p:cNvCxnSpPr/>
          <p:nvPr/>
        </p:nvCxnSpPr>
        <p:spPr>
          <a:xfrm>
            <a:off x="822960" y="1965960"/>
            <a:ext cx="321055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7" name="tx_0581"/>
          <p:cNvSpPr txBox="1"/>
          <p:nvPr/>
        </p:nvSpPr>
        <p:spPr>
          <a:xfrm>
            <a:off x="822960" y="2240279"/>
            <a:ext cx="3210559" cy="640080"/>
          </a:xfrm>
          <a:prstGeom prst="rect">
            <a:avLst/>
          </a:prstGeom>
          <a:noFill/>
        </p:spPr>
        <p:txBody>
          <a:bodyPr wrap="square" lIns="0" rIns="0" tIns="0" bIns="0">
            <a:spAutoFit/>
          </a:bodyPr>
          <a:lstStyle/>
          <a:p>
            <a:pPr>
              <a:spcAft>
                <a:spcPts val="400"/>
              </a:spcAft>
              <a:defRPr sz="2400" b="0" i="0">
                <a:solidFill>
                  <a:srgbClr val="1D1D1F"/>
                </a:solidFill>
                <a:latin typeface="Segoe UI Semibold"/>
              </a:defRPr>
            </a:pPr>
            <a:r>
              <a:t>Sampling</a:t>
            </a:r>
          </a:p>
        </p:txBody>
      </p:sp>
      <p:sp>
        <p:nvSpPr>
          <p:cNvPr id="8" name="tx_0582"/>
          <p:cNvSpPr txBox="1"/>
          <p:nvPr/>
        </p:nvSpPr>
        <p:spPr>
          <a:xfrm>
            <a:off x="822960" y="2971800"/>
            <a:ext cx="3210559" cy="2103120"/>
          </a:xfrm>
          <a:prstGeom prst="rect">
            <a:avLst/>
          </a:prstGeom>
          <a:noFill/>
        </p:spPr>
        <p:txBody>
          <a:bodyPr wrap="square" lIns="0" rIns="0" tIns="0" bIns="0">
            <a:spAutoFit/>
          </a:bodyPr>
          <a:lstStyle/>
          <a:p>
            <a:pPr>
              <a:lnSpc>
                <a:spcPct val="112000"/>
              </a:lnSpc>
              <a:spcAft>
                <a:spcPts val="600"/>
              </a:spcAft>
              <a:defRPr sz="1800" b="0" i="0">
                <a:solidFill>
                  <a:srgbClr val="6E6E73"/>
                </a:solidFill>
                <a:latin typeface="Segoe UI"/>
              </a:defRPr>
            </a:pPr>
            <a:r>
              <a:t>probe every 10 µs</a:t>
            </a:r>
          </a:p>
          <a:p>
            <a:pPr>
              <a:lnSpc>
                <a:spcPct val="112000"/>
              </a:lnSpc>
              <a:spcAft>
                <a:spcPts val="600"/>
              </a:spcAft>
              <a:defRPr sz="1800" b="0" i="0">
                <a:solidFill>
                  <a:srgbClr val="6E6E73"/>
                </a:solidFill>
                <a:latin typeface="Segoe UI"/>
              </a:defRPr>
            </a:pPr>
            <a:r>
              <a:t>400 probes / slot</a:t>
            </a:r>
          </a:p>
          <a:p>
            <a:pPr>
              <a:lnSpc>
                <a:spcPct val="112000"/>
              </a:lnSpc>
              <a:spcAft>
                <a:spcPts val="600"/>
              </a:spcAft>
              <a:defRPr sz="1800" b="0" i="0">
                <a:solidFill>
                  <a:srgbClr val="6E6E73"/>
                </a:solidFill>
                <a:latin typeface="Segoe UI"/>
              </a:defRPr>
            </a:pPr>
            <a:r>
              <a:t>≈ 4 ms per slot</a:t>
            </a:r>
          </a:p>
        </p:txBody>
      </p:sp>
      <p:cxnSp>
        <p:nvCxnSpPr>
          <p:cNvPr id="9" name="hl_0583"/>
          <p:cNvCxnSpPr/>
          <p:nvPr/>
        </p:nvCxnSpPr>
        <p:spPr>
          <a:xfrm>
            <a:off x="4490719" y="1965960"/>
            <a:ext cx="321056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0" name="tx_0584"/>
          <p:cNvSpPr txBox="1"/>
          <p:nvPr/>
        </p:nvSpPr>
        <p:spPr>
          <a:xfrm>
            <a:off x="4490719" y="2240279"/>
            <a:ext cx="3210559" cy="640080"/>
          </a:xfrm>
          <a:prstGeom prst="rect">
            <a:avLst/>
          </a:prstGeom>
          <a:noFill/>
        </p:spPr>
        <p:txBody>
          <a:bodyPr wrap="square" lIns="0" rIns="0" tIns="0" bIns="0">
            <a:spAutoFit/>
          </a:bodyPr>
          <a:lstStyle/>
          <a:p>
            <a:pPr>
              <a:spcAft>
                <a:spcPts val="400"/>
              </a:spcAft>
              <a:defRPr sz="2400" b="0" i="0">
                <a:solidFill>
                  <a:srgbClr val="1D1D1F"/>
                </a:solidFill>
                <a:latin typeface="Segoe UI Semibold"/>
              </a:defRPr>
            </a:pPr>
            <a:r>
              <a:t>Model</a:t>
            </a:r>
          </a:p>
        </p:txBody>
      </p:sp>
      <p:sp>
        <p:nvSpPr>
          <p:cNvPr id="11" name="tx_0585"/>
          <p:cNvSpPr txBox="1"/>
          <p:nvPr/>
        </p:nvSpPr>
        <p:spPr>
          <a:xfrm>
            <a:off x="4490719" y="2971800"/>
            <a:ext cx="3210559" cy="2103120"/>
          </a:xfrm>
          <a:prstGeom prst="rect">
            <a:avLst/>
          </a:prstGeom>
          <a:noFill/>
        </p:spPr>
        <p:txBody>
          <a:bodyPr wrap="square" lIns="0" rIns="0" tIns="0" bIns="0">
            <a:spAutoFit/>
          </a:bodyPr>
          <a:lstStyle/>
          <a:p>
            <a:pPr>
              <a:lnSpc>
                <a:spcPct val="112000"/>
              </a:lnSpc>
              <a:spcAft>
                <a:spcPts val="600"/>
              </a:spcAft>
              <a:defRPr sz="1800" b="0" i="0">
                <a:solidFill>
                  <a:srgbClr val="6E6E73"/>
                </a:solidFill>
                <a:latin typeface="Segoe UI"/>
              </a:defRPr>
            </a:pPr>
            <a:r>
              <a:t>2 × BiLSTM</a:t>
            </a:r>
          </a:p>
          <a:p>
            <a:pPr>
              <a:lnSpc>
                <a:spcPct val="112000"/>
              </a:lnSpc>
              <a:spcAft>
                <a:spcPts val="600"/>
              </a:spcAft>
              <a:defRPr sz="1800" b="0" i="0">
                <a:solidFill>
                  <a:srgbClr val="6E6E73"/>
                </a:solidFill>
                <a:latin typeface="Segoe UI"/>
              </a:defRPr>
            </a:pPr>
            <a:r>
              <a:t>attention + dropout</a:t>
            </a:r>
          </a:p>
          <a:p>
            <a:pPr>
              <a:lnSpc>
                <a:spcPct val="112000"/>
              </a:lnSpc>
              <a:spcAft>
                <a:spcPts val="600"/>
              </a:spcAft>
              <a:defRPr sz="1800" b="0" i="0">
                <a:solidFill>
                  <a:srgbClr val="6E6E73"/>
                </a:solidFill>
                <a:latin typeface="Segoe UI"/>
              </a:defRPr>
            </a:pPr>
            <a:r>
              <a:t>softmax classes</a:t>
            </a:r>
          </a:p>
        </p:txBody>
      </p:sp>
      <p:cxnSp>
        <p:nvCxnSpPr>
          <p:cNvPr id="12" name="hl_0586"/>
          <p:cNvCxnSpPr/>
          <p:nvPr/>
        </p:nvCxnSpPr>
        <p:spPr>
          <a:xfrm>
            <a:off x="8158479" y="1965960"/>
            <a:ext cx="321056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3" name="tx_0587"/>
          <p:cNvSpPr txBox="1"/>
          <p:nvPr/>
        </p:nvSpPr>
        <p:spPr>
          <a:xfrm>
            <a:off x="8158479" y="2240279"/>
            <a:ext cx="3210559" cy="640080"/>
          </a:xfrm>
          <a:prstGeom prst="rect">
            <a:avLst/>
          </a:prstGeom>
          <a:noFill/>
        </p:spPr>
        <p:txBody>
          <a:bodyPr wrap="square" lIns="0" rIns="0" tIns="0" bIns="0">
            <a:spAutoFit/>
          </a:bodyPr>
          <a:lstStyle/>
          <a:p>
            <a:pPr>
              <a:spcAft>
                <a:spcPts val="400"/>
              </a:spcAft>
              <a:defRPr sz="2400" b="0" i="0">
                <a:solidFill>
                  <a:srgbClr val="1D1D1F"/>
                </a:solidFill>
                <a:latin typeface="Segoe UI Semibold"/>
              </a:defRPr>
            </a:pPr>
            <a:r>
              <a:t>Dataset</a:t>
            </a:r>
          </a:p>
        </p:txBody>
      </p:sp>
      <p:sp>
        <p:nvSpPr>
          <p:cNvPr id="14" name="tx_0588"/>
          <p:cNvSpPr txBox="1"/>
          <p:nvPr/>
        </p:nvSpPr>
        <p:spPr>
          <a:xfrm>
            <a:off x="8158479" y="2971800"/>
            <a:ext cx="3210559" cy="2103120"/>
          </a:xfrm>
          <a:prstGeom prst="rect">
            <a:avLst/>
          </a:prstGeom>
          <a:noFill/>
        </p:spPr>
        <p:txBody>
          <a:bodyPr wrap="square" lIns="0" rIns="0" tIns="0" bIns="0">
            <a:spAutoFit/>
          </a:bodyPr>
          <a:lstStyle/>
          <a:p>
            <a:pPr>
              <a:lnSpc>
                <a:spcPct val="112000"/>
              </a:lnSpc>
              <a:spcAft>
                <a:spcPts val="600"/>
              </a:spcAft>
              <a:defRPr sz="1800" b="0" i="0">
                <a:solidFill>
                  <a:srgbClr val="6E6E73"/>
                </a:solidFill>
                <a:latin typeface="Segoe UI"/>
              </a:defRPr>
            </a:pPr>
            <a:r>
              <a:t>100 sites × 200 traces</a:t>
            </a:r>
          </a:p>
          <a:p>
            <a:pPr>
              <a:lnSpc>
                <a:spcPct val="112000"/>
              </a:lnSpc>
              <a:spcAft>
                <a:spcPts val="600"/>
              </a:spcAft>
              <a:defRPr sz="1800" b="0" i="0">
                <a:solidFill>
                  <a:srgbClr val="6E6E73"/>
                </a:solidFill>
                <a:latin typeface="Segoe UI"/>
              </a:defRPr>
            </a:pPr>
            <a:r>
              <a:t>80 / 20 split</a:t>
            </a:r>
          </a:p>
          <a:p>
            <a:pPr>
              <a:lnSpc>
                <a:spcPct val="112000"/>
              </a:lnSpc>
              <a:spcAft>
                <a:spcPts val="600"/>
              </a:spcAft>
              <a:defRPr sz="1800" b="0" i="0">
                <a:solidFill>
                  <a:srgbClr val="6E6E73"/>
                </a:solidFill>
                <a:latin typeface="Segoe UI"/>
              </a:defRPr>
            </a:pPr>
            <a:r>
              <a:t>≈ 16,000 / 4,000</a:t>
            </a:r>
          </a:p>
        </p:txBody>
      </p:sp>
      <p:sp>
        <p:nvSpPr>
          <p:cNvPr id="15" name="tx_0589"/>
          <p:cNvSpPr txBox="1"/>
          <p:nvPr/>
        </p:nvSpPr>
        <p:spPr>
          <a:xfrm>
            <a:off x="822960" y="5166360"/>
            <a:ext cx="10546079" cy="365760"/>
          </a:xfrm>
          <a:prstGeom prst="rect">
            <a:avLst/>
          </a:prstGeom>
          <a:noFill/>
        </p:spPr>
        <p:txBody>
          <a:bodyPr wrap="square" lIns="0" rIns="0" tIns="0" bIns="0">
            <a:spAutoFit/>
          </a:bodyPr>
          <a:lstStyle/>
          <a:p>
            <a:pPr>
              <a:spcAft>
                <a:spcPts val="400"/>
              </a:spcAft>
              <a:defRPr sz="1700" b="0" i="1">
                <a:solidFill>
                  <a:srgbClr val="6E6E73"/>
                </a:solidFill>
                <a:latin typeface="Segoe UI"/>
              </a:defRPr>
            </a:pPr>
            <a:r>
              <a:t>One feature per slot = the number of classified DevTLB misses.</a:t>
            </a:r>
          </a:p>
        </p:txBody>
      </p:sp>
      <p:sp>
        <p:nvSpPr>
          <p:cNvPr id="16" name="rect_0590"/>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x_0591"/>
          <p:cNvSpPr txBox="1"/>
          <p:nvPr/>
        </p:nvSpPr>
        <p:spPr>
          <a:xfrm>
            <a:off x="822960" y="577900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The evaluated problem is closed-world classification over known labels.</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592"/>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What it steals</a:t>
            </a:r>
          </a:p>
        </p:txBody>
      </p:sp>
      <p:sp>
        <p:nvSpPr>
          <p:cNvPr id="3" name="tx_0593"/>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The traces really are different</a:t>
            </a:r>
          </a:p>
        </p:txBody>
      </p:sp>
      <p:sp>
        <p:nvSpPr>
          <p:cNvPr id="5" name="tx_0595"/>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24</a:t>
            </a:r>
          </a:p>
        </p:txBody>
      </p:sp>
      <p:pic>
        <p:nvPicPr>
          <p:cNvPr id="6" name="pic_0596" descr="website_traces.png"/>
          <p:cNvPicPr>
            <a:picLocks noChangeAspect="1"/>
          </p:cNvPicPr>
          <p:nvPr/>
        </p:nvPicPr>
        <p:blipFill>
          <a:blip r:embed="rId3"/>
          <a:stretch>
            <a:fillRect/>
          </a:stretch>
        </p:blipFill>
        <p:spPr>
          <a:xfrm>
            <a:off x="1737360" y="1996925"/>
            <a:ext cx="8717279" cy="3229908"/>
          </a:xfrm>
          <a:prstGeom prst="rect">
            <a:avLst/>
          </a:prstGeom>
        </p:spPr>
      </p:pic>
      <p:sp>
        <p:nvSpPr>
          <p:cNvPr id="7" name="rect_0597"/>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x_0598"/>
          <p:cNvSpPr txBox="1"/>
          <p:nvPr/>
        </p:nvSpPr>
        <p:spPr>
          <a:xfrm>
            <a:off x="822960" y="577900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Temporal shape is the feature; miss count is a proxy for DSA activity.</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599"/>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What it steals</a:t>
            </a:r>
          </a:p>
        </p:txBody>
      </p:sp>
      <p:sp>
        <p:nvSpPr>
          <p:cNvPr id="3" name="tx_0600"/>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85.73% — the number you must not misquote</a:t>
            </a:r>
          </a:p>
        </p:txBody>
      </p:sp>
      <p:sp>
        <p:nvSpPr>
          <p:cNvPr id="5" name="tx_0602"/>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25</a:t>
            </a:r>
          </a:p>
        </p:txBody>
      </p:sp>
      <p:pic>
        <p:nvPicPr>
          <p:cNvPr id="6" name="pic_0603" descr="confusion.png"/>
          <p:cNvPicPr>
            <a:picLocks noChangeAspect="1"/>
          </p:cNvPicPr>
          <p:nvPr/>
        </p:nvPicPr>
        <p:blipFill>
          <a:blip r:embed="rId3"/>
          <a:stretch>
            <a:fillRect/>
          </a:stretch>
        </p:blipFill>
        <p:spPr>
          <a:xfrm>
            <a:off x="2430780" y="1783080"/>
            <a:ext cx="3825240" cy="3749039"/>
          </a:xfrm>
          <a:prstGeom prst="rect">
            <a:avLst/>
          </a:prstGeom>
        </p:spPr>
      </p:pic>
      <p:sp>
        <p:nvSpPr>
          <p:cNvPr id="7" name="tx_0604"/>
          <p:cNvSpPr txBox="1"/>
          <p:nvPr/>
        </p:nvSpPr>
        <p:spPr>
          <a:xfrm>
            <a:off x="8229600" y="1965960"/>
            <a:ext cx="3108960" cy="914400"/>
          </a:xfrm>
          <a:prstGeom prst="rect">
            <a:avLst/>
          </a:prstGeom>
          <a:noFill/>
        </p:spPr>
        <p:txBody>
          <a:bodyPr wrap="square" lIns="0" rIns="0" tIns="0" bIns="0">
            <a:spAutoFit/>
          </a:bodyPr>
          <a:lstStyle/>
          <a:p>
            <a:pPr>
              <a:spcAft>
                <a:spcPts val="400"/>
              </a:spcAft>
              <a:defRPr sz="4400" b="0" i="0">
                <a:solidFill>
                  <a:srgbClr val="0071E3"/>
                </a:solidFill>
                <a:latin typeface="Segoe UI Semibold"/>
              </a:defRPr>
            </a:pPr>
            <a:r>
              <a:t>85.73%</a:t>
            </a:r>
          </a:p>
        </p:txBody>
      </p:sp>
      <p:sp>
        <p:nvSpPr>
          <p:cNvPr id="8" name="tx_0605"/>
          <p:cNvSpPr txBox="1"/>
          <p:nvPr/>
        </p:nvSpPr>
        <p:spPr>
          <a:xfrm>
            <a:off x="8229600" y="2971800"/>
            <a:ext cx="3108960" cy="41148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Full dataset</a:t>
            </a:r>
          </a:p>
        </p:txBody>
      </p:sp>
      <p:sp>
        <p:nvSpPr>
          <p:cNvPr id="9" name="tx_0606"/>
          <p:cNvSpPr txBox="1"/>
          <p:nvPr/>
        </p:nvSpPr>
        <p:spPr>
          <a:xfrm>
            <a:off x="8229600" y="3383280"/>
            <a:ext cx="3108960" cy="365760"/>
          </a:xfrm>
          <a:prstGeom prst="rect">
            <a:avLst/>
          </a:prstGeom>
          <a:noFill/>
        </p:spPr>
        <p:txBody>
          <a:bodyPr wrap="square" lIns="0" rIns="0" tIns="0" bIns="0">
            <a:spAutoFit/>
          </a:bodyPr>
          <a:lstStyle/>
          <a:p>
            <a:pPr>
              <a:spcAft>
                <a:spcPts val="400"/>
              </a:spcAft>
              <a:defRPr sz="1600" b="0" i="0">
                <a:solidFill>
                  <a:srgbClr val="6E6E73"/>
                </a:solidFill>
                <a:latin typeface="Segoe UI"/>
              </a:defRPr>
            </a:pPr>
            <a:r>
              <a:t>100 websites · 1% baseline</a:t>
            </a:r>
          </a:p>
        </p:txBody>
      </p:sp>
      <p:sp>
        <p:nvSpPr>
          <p:cNvPr id="10" name="tx_0607"/>
          <p:cNvSpPr txBox="1"/>
          <p:nvPr/>
        </p:nvSpPr>
        <p:spPr>
          <a:xfrm>
            <a:off x="8229600" y="3794760"/>
            <a:ext cx="3108960" cy="914400"/>
          </a:xfrm>
          <a:prstGeom prst="rect">
            <a:avLst/>
          </a:prstGeom>
          <a:noFill/>
        </p:spPr>
        <p:txBody>
          <a:bodyPr wrap="square" lIns="0" rIns="0" tIns="0" bIns="0">
            <a:spAutoFit/>
          </a:bodyPr>
          <a:lstStyle/>
          <a:p>
            <a:pPr>
              <a:spcAft>
                <a:spcPts val="400"/>
              </a:spcAft>
              <a:defRPr sz="4400" b="0" i="0">
                <a:solidFill>
                  <a:srgbClr val="1D1D1F"/>
                </a:solidFill>
                <a:latin typeface="Segoe UI Semibold"/>
              </a:defRPr>
            </a:pPr>
            <a:r>
              <a:t>96.5%</a:t>
            </a:r>
          </a:p>
        </p:txBody>
      </p:sp>
      <p:sp>
        <p:nvSpPr>
          <p:cNvPr id="11" name="tx_0608"/>
          <p:cNvSpPr txBox="1"/>
          <p:nvPr/>
        </p:nvSpPr>
        <p:spPr>
          <a:xfrm>
            <a:off x="8229600" y="4800600"/>
            <a:ext cx="3108960" cy="41148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Displayed subset</a:t>
            </a:r>
          </a:p>
        </p:txBody>
      </p:sp>
      <p:sp>
        <p:nvSpPr>
          <p:cNvPr id="12" name="tx_0609"/>
          <p:cNvSpPr txBox="1"/>
          <p:nvPr/>
        </p:nvSpPr>
        <p:spPr>
          <a:xfrm>
            <a:off x="8229600" y="5212080"/>
            <a:ext cx="3108960" cy="365760"/>
          </a:xfrm>
          <a:prstGeom prst="rect">
            <a:avLst/>
          </a:prstGeom>
          <a:noFill/>
        </p:spPr>
        <p:txBody>
          <a:bodyPr wrap="square" lIns="0" rIns="0" tIns="0" bIns="0">
            <a:spAutoFit/>
          </a:bodyPr>
          <a:lstStyle/>
          <a:p>
            <a:pPr>
              <a:spcAft>
                <a:spcPts val="400"/>
              </a:spcAft>
              <a:defRPr sz="1600" b="0" i="0">
                <a:solidFill>
                  <a:srgbClr val="6E6E73"/>
                </a:solidFill>
                <a:latin typeface="Segoe UI"/>
              </a:defRPr>
            </a:pPr>
            <a:r>
              <a:t>15 selected websites only</a:t>
            </a:r>
          </a:p>
        </p:txBody>
      </p:sp>
      <p:sp>
        <p:nvSpPr>
          <p:cNvPr id="13" name="rect_0610"/>
          <p:cNvSpPr/>
          <p:nvPr/>
        </p:nvSpPr>
        <p:spPr>
          <a:xfrm>
            <a:off x="822960" y="576072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x_0611"/>
          <p:cNvSpPr txBox="1"/>
          <p:nvPr/>
        </p:nvSpPr>
        <p:spPr>
          <a:xfrm>
            <a:off x="822960" y="591616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The headline is 85.73% on 100 sites; 96.5% is the 15-site subset.</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612"/>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What it steals</a:t>
            </a:r>
          </a:p>
        </p:txBody>
      </p:sp>
      <p:sp>
        <p:nvSpPr>
          <p:cNvPr id="3" name="tx_0613"/>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Attack #2 — keystrokes, via transparent offload</a:t>
            </a:r>
          </a:p>
        </p:txBody>
      </p:sp>
      <p:sp>
        <p:nvSpPr>
          <p:cNvPr id="5" name="tx_0615"/>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26</a:t>
            </a:r>
          </a:p>
        </p:txBody>
      </p:sp>
      <p:sp>
        <p:nvSpPr>
          <p:cNvPr id="6" name="rect_0616"/>
          <p:cNvSpPr/>
          <p:nvPr/>
        </p:nvSpPr>
        <p:spPr>
          <a:xfrm>
            <a:off x="822960" y="2057400"/>
            <a:ext cx="2259329" cy="1554480"/>
          </a:xfrm>
          <a:prstGeom prst="roundRect">
            <a:avLst>
              <a:gd name="adj" fmla="val 1294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x_0617"/>
          <p:cNvSpPr txBox="1"/>
          <p:nvPr/>
        </p:nvSpPr>
        <p:spPr>
          <a:xfrm>
            <a:off x="1097280" y="2331720"/>
            <a:ext cx="1710689" cy="548640"/>
          </a:xfrm>
          <a:prstGeom prst="rect">
            <a:avLst/>
          </a:prstGeom>
          <a:noFill/>
        </p:spPr>
        <p:txBody>
          <a:bodyPr wrap="square" lIns="0" rIns="0" tIns="0" bIns="0">
            <a:spAutoFit/>
          </a:bodyPr>
          <a:lstStyle/>
          <a:p>
            <a:pPr>
              <a:spcAft>
                <a:spcPts val="400"/>
              </a:spcAft>
              <a:defRPr sz="1900" b="0" i="0">
                <a:solidFill>
                  <a:srgbClr val="1D1D1F"/>
                </a:solidFill>
                <a:latin typeface="Segoe UI Semibold"/>
              </a:defRPr>
            </a:pPr>
            <a:r>
              <a:t>User input</a:t>
            </a:r>
          </a:p>
        </p:txBody>
      </p:sp>
      <p:sp>
        <p:nvSpPr>
          <p:cNvPr id="8" name="tx_0618"/>
          <p:cNvSpPr txBox="1"/>
          <p:nvPr/>
        </p:nvSpPr>
        <p:spPr>
          <a:xfrm>
            <a:off x="1097280" y="2926080"/>
            <a:ext cx="1710689" cy="548639"/>
          </a:xfrm>
          <a:prstGeom prst="rect">
            <a:avLst/>
          </a:prstGeom>
          <a:noFill/>
        </p:spPr>
        <p:txBody>
          <a:bodyPr wrap="square" lIns="0" rIns="0" tIns="0" bIns="0">
            <a:spAutoFit/>
          </a:bodyPr>
          <a:lstStyle/>
          <a:p>
            <a:pPr>
              <a:lnSpc>
                <a:spcPct val="110000"/>
              </a:lnSpc>
              <a:spcAft>
                <a:spcPts val="400"/>
              </a:spcAft>
              <a:defRPr sz="1600" b="0" i="0">
                <a:solidFill>
                  <a:srgbClr val="6E6E73"/>
                </a:solidFill>
                <a:latin typeface="Segoe UI"/>
              </a:defRPr>
            </a:pPr>
            <a:r>
              <a:t>interactive SSH event</a:t>
            </a:r>
          </a:p>
        </p:txBody>
      </p:sp>
      <p:cxnSp>
        <p:nvCxnSpPr>
          <p:cNvPr id="9" name="ar_0619"/>
          <p:cNvCxnSpPr/>
          <p:nvPr/>
        </p:nvCxnSpPr>
        <p:spPr>
          <a:xfrm>
            <a:off x="3173729" y="2834640"/>
            <a:ext cx="320040" cy="0"/>
          </a:xfrm>
          <a:prstGeom prst="line">
            <a:avLst/>
          </a:prstGeom>
          <a:ln w="15875">
            <a:solidFill>
              <a:srgbClr val="86868B"/>
            </a:solidFill>
            <a:tailEnd type="triangle" w="sm" len="med"/>
          </a:ln>
        </p:spPr>
        <p:style>
          <a:lnRef idx="2">
            <a:schemeClr val="accent1"/>
          </a:lnRef>
          <a:fillRef idx="0">
            <a:schemeClr val="accent1"/>
          </a:fillRef>
          <a:effectRef idx="1">
            <a:schemeClr val="accent1"/>
          </a:effectRef>
          <a:fontRef idx="minor">
            <a:schemeClr val="tx1"/>
          </a:fontRef>
        </p:style>
      </p:cxnSp>
      <p:sp>
        <p:nvSpPr>
          <p:cNvPr id="10" name="rect_0620"/>
          <p:cNvSpPr/>
          <p:nvPr/>
        </p:nvSpPr>
        <p:spPr>
          <a:xfrm>
            <a:off x="3585209" y="2057400"/>
            <a:ext cx="2259329" cy="1554480"/>
          </a:xfrm>
          <a:prstGeom prst="roundRect">
            <a:avLst>
              <a:gd name="adj" fmla="val 1294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x_0621"/>
          <p:cNvSpPr txBox="1"/>
          <p:nvPr/>
        </p:nvSpPr>
        <p:spPr>
          <a:xfrm>
            <a:off x="3859529" y="2331720"/>
            <a:ext cx="1710689" cy="548640"/>
          </a:xfrm>
          <a:prstGeom prst="rect">
            <a:avLst/>
          </a:prstGeom>
          <a:noFill/>
        </p:spPr>
        <p:txBody>
          <a:bodyPr wrap="square" lIns="0" rIns="0" tIns="0" bIns="0">
            <a:spAutoFit/>
          </a:bodyPr>
          <a:lstStyle/>
          <a:p>
            <a:pPr>
              <a:spcAft>
                <a:spcPts val="400"/>
              </a:spcAft>
              <a:defRPr sz="1900" b="0" i="0">
                <a:solidFill>
                  <a:srgbClr val="1D1D1F"/>
                </a:solidFill>
                <a:latin typeface="Segoe UI Semibold"/>
              </a:defRPr>
            </a:pPr>
            <a:r>
              <a:t>Packet handling</a:t>
            </a:r>
          </a:p>
        </p:txBody>
      </p:sp>
      <p:sp>
        <p:nvSpPr>
          <p:cNvPr id="12" name="tx_0622"/>
          <p:cNvSpPr txBox="1"/>
          <p:nvPr/>
        </p:nvSpPr>
        <p:spPr>
          <a:xfrm>
            <a:off x="3859529" y="2926080"/>
            <a:ext cx="1710689" cy="548639"/>
          </a:xfrm>
          <a:prstGeom prst="rect">
            <a:avLst/>
          </a:prstGeom>
          <a:noFill/>
        </p:spPr>
        <p:txBody>
          <a:bodyPr wrap="square" lIns="0" rIns="0" tIns="0" bIns="0">
            <a:spAutoFit/>
          </a:bodyPr>
          <a:lstStyle/>
          <a:p>
            <a:pPr>
              <a:lnSpc>
                <a:spcPct val="110000"/>
              </a:lnSpc>
              <a:spcAft>
                <a:spcPts val="400"/>
              </a:spcAft>
              <a:defRPr sz="1600" b="0" i="0">
                <a:solidFill>
                  <a:srgbClr val="6E6E73"/>
                </a:solidFill>
                <a:latin typeface="Segoe UI"/>
              </a:defRPr>
            </a:pPr>
            <a:r>
              <a:t>OpenSSH mem* calls</a:t>
            </a:r>
          </a:p>
        </p:txBody>
      </p:sp>
      <p:cxnSp>
        <p:nvCxnSpPr>
          <p:cNvPr id="13" name="ar_0623"/>
          <p:cNvCxnSpPr/>
          <p:nvPr/>
        </p:nvCxnSpPr>
        <p:spPr>
          <a:xfrm>
            <a:off x="5935979" y="2834640"/>
            <a:ext cx="320040" cy="0"/>
          </a:xfrm>
          <a:prstGeom prst="line">
            <a:avLst/>
          </a:prstGeom>
          <a:ln w="15875">
            <a:solidFill>
              <a:srgbClr val="86868B"/>
            </a:solidFill>
            <a:tailEnd type="triangle" w="sm" len="med"/>
          </a:ln>
        </p:spPr>
        <p:style>
          <a:lnRef idx="2">
            <a:schemeClr val="accent1"/>
          </a:lnRef>
          <a:fillRef idx="0">
            <a:schemeClr val="accent1"/>
          </a:fillRef>
          <a:effectRef idx="1">
            <a:schemeClr val="accent1"/>
          </a:effectRef>
          <a:fontRef idx="minor">
            <a:schemeClr val="tx1"/>
          </a:fontRef>
        </p:style>
      </p:cxnSp>
      <p:sp>
        <p:nvSpPr>
          <p:cNvPr id="14" name="rect_0624"/>
          <p:cNvSpPr/>
          <p:nvPr/>
        </p:nvSpPr>
        <p:spPr>
          <a:xfrm>
            <a:off x="6347459" y="2057400"/>
            <a:ext cx="2259329" cy="1554480"/>
          </a:xfrm>
          <a:prstGeom prst="roundRect">
            <a:avLst>
              <a:gd name="adj" fmla="val 1294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x_0625"/>
          <p:cNvSpPr txBox="1"/>
          <p:nvPr/>
        </p:nvSpPr>
        <p:spPr>
          <a:xfrm>
            <a:off x="6621779" y="2331720"/>
            <a:ext cx="1710689" cy="548640"/>
          </a:xfrm>
          <a:prstGeom prst="rect">
            <a:avLst/>
          </a:prstGeom>
          <a:noFill/>
        </p:spPr>
        <p:txBody>
          <a:bodyPr wrap="square" lIns="0" rIns="0" tIns="0" bIns="0">
            <a:spAutoFit/>
          </a:bodyPr>
          <a:lstStyle/>
          <a:p>
            <a:pPr>
              <a:spcAft>
                <a:spcPts val="400"/>
              </a:spcAft>
              <a:defRPr sz="1900" b="0" i="0">
                <a:solidFill>
                  <a:srgbClr val="1D1D1F"/>
                </a:solidFill>
                <a:latin typeface="Segoe UI Semibold"/>
              </a:defRPr>
            </a:pPr>
            <a:r>
              <a:t>DTO offload</a:t>
            </a:r>
          </a:p>
        </p:txBody>
      </p:sp>
      <p:sp>
        <p:nvSpPr>
          <p:cNvPr id="16" name="tx_0626"/>
          <p:cNvSpPr txBox="1"/>
          <p:nvPr/>
        </p:nvSpPr>
        <p:spPr>
          <a:xfrm>
            <a:off x="6621779" y="2926080"/>
            <a:ext cx="1710689" cy="548639"/>
          </a:xfrm>
          <a:prstGeom prst="rect">
            <a:avLst/>
          </a:prstGeom>
          <a:noFill/>
        </p:spPr>
        <p:txBody>
          <a:bodyPr wrap="square" lIns="0" rIns="0" tIns="0" bIns="0">
            <a:spAutoFit/>
          </a:bodyPr>
          <a:lstStyle/>
          <a:p>
            <a:pPr>
              <a:lnSpc>
                <a:spcPct val="110000"/>
              </a:lnSpc>
              <a:spcAft>
                <a:spcPts val="400"/>
              </a:spcAft>
              <a:defRPr sz="1600" b="0" i="0">
                <a:solidFill>
                  <a:srgbClr val="6E6E73"/>
                </a:solidFill>
                <a:latin typeface="Segoe UI"/>
              </a:defRPr>
            </a:pPr>
            <a:r>
              <a:t>eligible calls → DSA</a:t>
            </a:r>
          </a:p>
        </p:txBody>
      </p:sp>
      <p:cxnSp>
        <p:nvCxnSpPr>
          <p:cNvPr id="17" name="ar_0627"/>
          <p:cNvCxnSpPr/>
          <p:nvPr/>
        </p:nvCxnSpPr>
        <p:spPr>
          <a:xfrm>
            <a:off x="8698229" y="2834640"/>
            <a:ext cx="320040" cy="0"/>
          </a:xfrm>
          <a:prstGeom prst="line">
            <a:avLst/>
          </a:prstGeom>
          <a:ln w="15875">
            <a:solidFill>
              <a:srgbClr val="86868B"/>
            </a:solidFill>
            <a:tailEnd type="triangle" w="sm" len="med"/>
          </a:ln>
        </p:spPr>
        <p:style>
          <a:lnRef idx="2">
            <a:schemeClr val="accent1"/>
          </a:lnRef>
          <a:fillRef idx="0">
            <a:schemeClr val="accent1"/>
          </a:fillRef>
          <a:effectRef idx="1">
            <a:schemeClr val="accent1"/>
          </a:effectRef>
          <a:fontRef idx="minor">
            <a:schemeClr val="tx1"/>
          </a:fontRef>
        </p:style>
      </p:cxnSp>
      <p:sp>
        <p:nvSpPr>
          <p:cNvPr id="18" name="rect_0628"/>
          <p:cNvSpPr/>
          <p:nvPr/>
        </p:nvSpPr>
        <p:spPr>
          <a:xfrm>
            <a:off x="9109709" y="2057400"/>
            <a:ext cx="2259329" cy="1554480"/>
          </a:xfrm>
          <a:prstGeom prst="roundRect">
            <a:avLst>
              <a:gd name="adj" fmla="val 1294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x_0629"/>
          <p:cNvSpPr txBox="1"/>
          <p:nvPr/>
        </p:nvSpPr>
        <p:spPr>
          <a:xfrm>
            <a:off x="9384029" y="2331720"/>
            <a:ext cx="1710689" cy="548640"/>
          </a:xfrm>
          <a:prstGeom prst="rect">
            <a:avLst/>
          </a:prstGeom>
          <a:noFill/>
        </p:spPr>
        <p:txBody>
          <a:bodyPr wrap="square" lIns="0" rIns="0" tIns="0" bIns="0">
            <a:spAutoFit/>
          </a:bodyPr>
          <a:lstStyle/>
          <a:p>
            <a:pPr>
              <a:spcAft>
                <a:spcPts val="400"/>
              </a:spcAft>
              <a:defRPr sz="1900" b="0" i="0">
                <a:solidFill>
                  <a:srgbClr val="D70015"/>
                </a:solidFill>
                <a:latin typeface="Segoe UI Semibold"/>
              </a:defRPr>
            </a:pPr>
            <a:r>
              <a:t>DSA observation</a:t>
            </a:r>
          </a:p>
        </p:txBody>
      </p:sp>
      <p:sp>
        <p:nvSpPr>
          <p:cNvPr id="20" name="tx_0630"/>
          <p:cNvSpPr txBox="1"/>
          <p:nvPr/>
        </p:nvSpPr>
        <p:spPr>
          <a:xfrm>
            <a:off x="9384029" y="2926080"/>
            <a:ext cx="1710689" cy="548639"/>
          </a:xfrm>
          <a:prstGeom prst="rect">
            <a:avLst/>
          </a:prstGeom>
          <a:noFill/>
        </p:spPr>
        <p:txBody>
          <a:bodyPr wrap="square" lIns="0" rIns="0" tIns="0" bIns="0">
            <a:spAutoFit/>
          </a:bodyPr>
          <a:lstStyle/>
          <a:p>
            <a:pPr>
              <a:lnSpc>
                <a:spcPct val="110000"/>
              </a:lnSpc>
              <a:spcAft>
                <a:spcPts val="400"/>
              </a:spcAft>
              <a:defRPr sz="1600" b="0" i="0">
                <a:solidFill>
                  <a:srgbClr val="6E6E73"/>
                </a:solidFill>
                <a:latin typeface="Segoe UI"/>
              </a:defRPr>
            </a:pPr>
            <a:r>
              <a:t>eviction or congestion</a:t>
            </a:r>
          </a:p>
        </p:txBody>
      </p:sp>
      <p:sp>
        <p:nvSpPr>
          <p:cNvPr id="21" name="rect_0631"/>
          <p:cNvSpPr/>
          <p:nvPr/>
        </p:nvSpPr>
        <p:spPr>
          <a:xfrm>
            <a:off x="822960" y="4937760"/>
            <a:ext cx="502920" cy="41148"/>
          </a:xfrm>
          <a:prstGeom prst="rect">
            <a:avLst/>
          </a:prstGeom>
          <a:solidFill>
            <a:srgbClr val="D70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x_0632"/>
          <p:cNvSpPr txBox="1"/>
          <p:nvPr/>
        </p:nvSpPr>
        <p:spPr>
          <a:xfrm>
            <a:off x="822960" y="5093208"/>
            <a:ext cx="10546079" cy="548640"/>
          </a:xfrm>
          <a:prstGeom prst="rect">
            <a:avLst/>
          </a:prstGeom>
          <a:noFill/>
        </p:spPr>
        <p:txBody>
          <a:bodyPr wrap="square" lIns="0" rIns="0" tIns="0" bIns="0">
            <a:spAutoFit/>
          </a:bodyPr>
          <a:lstStyle/>
          <a:p>
            <a:pPr>
              <a:spcAft>
                <a:spcPts val="400"/>
              </a:spcAft>
              <a:defRPr sz="2100" b="0" i="0">
                <a:solidFill>
                  <a:srgbClr val="D70015"/>
                </a:solidFill>
                <a:latin typeface="Segoe UI Semibold"/>
              </a:defRPr>
            </a:pPr>
            <a:r>
              <a:t>The demonstrated output is keystroke timing — not recovered command text.</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633"/>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What it steals</a:t>
            </a:r>
          </a:p>
        </p:txBody>
      </p:sp>
      <p:sp>
        <p:nvSpPr>
          <p:cNvPr id="3" name="tx_0634"/>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You can see the typing</a:t>
            </a:r>
          </a:p>
        </p:txBody>
      </p:sp>
      <p:sp>
        <p:nvSpPr>
          <p:cNvPr id="5" name="tx_0636"/>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27</a:t>
            </a:r>
          </a:p>
        </p:txBody>
      </p:sp>
      <p:pic>
        <p:nvPicPr>
          <p:cNvPr id="6" name="pic_0637" descr="keystrokes.png"/>
          <p:cNvPicPr>
            <a:picLocks noChangeAspect="1"/>
          </p:cNvPicPr>
          <p:nvPr/>
        </p:nvPicPr>
        <p:blipFill>
          <a:blip r:embed="rId3"/>
          <a:stretch>
            <a:fillRect/>
          </a:stretch>
        </p:blipFill>
        <p:spPr>
          <a:xfrm>
            <a:off x="1984295" y="1783080"/>
            <a:ext cx="4901088" cy="3749039"/>
          </a:xfrm>
          <a:prstGeom prst="rect">
            <a:avLst/>
          </a:prstGeom>
        </p:spPr>
      </p:pic>
      <p:sp>
        <p:nvSpPr>
          <p:cNvPr id="7" name="tx_0638"/>
          <p:cNvSpPr txBox="1"/>
          <p:nvPr/>
        </p:nvSpPr>
        <p:spPr>
          <a:xfrm>
            <a:off x="8412480" y="1965960"/>
            <a:ext cx="2926080" cy="365760"/>
          </a:xfrm>
          <a:prstGeom prst="rect">
            <a:avLst/>
          </a:prstGeom>
          <a:noFill/>
        </p:spPr>
        <p:txBody>
          <a:bodyPr wrap="square" lIns="0" rIns="0" tIns="0" bIns="0">
            <a:spAutoFit/>
          </a:bodyPr>
          <a:lstStyle/>
          <a:p>
            <a:pPr>
              <a:spcAft>
                <a:spcPts val="400"/>
              </a:spcAft>
              <a:defRPr sz="1600" b="0" i="0">
                <a:solidFill>
                  <a:srgbClr val="0071E3"/>
                </a:solidFill>
                <a:latin typeface="Segoe UI Semibold"/>
              </a:defRPr>
            </a:pPr>
            <a:r>
              <a:t>Read the panels</a:t>
            </a:r>
          </a:p>
        </p:txBody>
      </p:sp>
      <p:cxnSp>
        <p:nvCxnSpPr>
          <p:cNvPr id="8" name="hl_0639"/>
          <p:cNvCxnSpPr/>
          <p:nvPr/>
        </p:nvCxnSpPr>
        <p:spPr>
          <a:xfrm>
            <a:off x="8412480" y="2350008"/>
            <a:ext cx="292608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9" name="tx_0640"/>
          <p:cNvSpPr txBox="1"/>
          <p:nvPr/>
        </p:nvSpPr>
        <p:spPr>
          <a:xfrm>
            <a:off x="8412480" y="2560320"/>
            <a:ext cx="2926080" cy="457200"/>
          </a:xfrm>
          <a:prstGeom prst="rect">
            <a:avLst/>
          </a:prstGeom>
          <a:noFill/>
        </p:spPr>
        <p:txBody>
          <a:bodyPr wrap="square" lIns="0" rIns="0" tIns="0" bIns="0">
            <a:spAutoFit/>
          </a:bodyPr>
          <a:lstStyle/>
          <a:p>
            <a:pPr>
              <a:spcAft>
                <a:spcPts val="400"/>
              </a:spcAft>
              <a:defRPr sz="1700" b="0" i="0">
                <a:solidFill>
                  <a:srgbClr val="1D1D1F"/>
                </a:solidFill>
                <a:latin typeface="Segoe UI"/>
              </a:defRPr>
            </a:pPr>
            <a:r>
              <a:t>Top: completion latency</a:t>
            </a:r>
          </a:p>
        </p:txBody>
      </p:sp>
      <p:sp>
        <p:nvSpPr>
          <p:cNvPr id="10" name="tx_0641"/>
          <p:cNvSpPr txBox="1"/>
          <p:nvPr/>
        </p:nvSpPr>
        <p:spPr>
          <a:xfrm>
            <a:off x="8412480" y="3063239"/>
            <a:ext cx="2926080" cy="457200"/>
          </a:xfrm>
          <a:prstGeom prst="rect">
            <a:avLst/>
          </a:prstGeom>
          <a:noFill/>
        </p:spPr>
        <p:txBody>
          <a:bodyPr wrap="square" lIns="0" rIns="0" tIns="0" bIns="0">
            <a:spAutoFit/>
          </a:bodyPr>
          <a:lstStyle/>
          <a:p>
            <a:pPr>
              <a:spcAft>
                <a:spcPts val="400"/>
              </a:spcAft>
              <a:defRPr sz="1700" b="0" i="0">
                <a:solidFill>
                  <a:srgbClr val="1D1D1F"/>
                </a:solidFill>
                <a:latin typeface="Segoe UI"/>
              </a:defRPr>
            </a:pPr>
            <a:r>
              <a:t>Bottom: queue contention</a:t>
            </a:r>
          </a:p>
        </p:txBody>
      </p:sp>
      <p:sp>
        <p:nvSpPr>
          <p:cNvPr id="11" name="tx_0642"/>
          <p:cNvSpPr txBox="1"/>
          <p:nvPr/>
        </p:nvSpPr>
        <p:spPr>
          <a:xfrm>
            <a:off x="8412480" y="3566160"/>
            <a:ext cx="2926080" cy="457200"/>
          </a:xfrm>
          <a:prstGeom prst="rect">
            <a:avLst/>
          </a:prstGeom>
          <a:noFill/>
        </p:spPr>
        <p:txBody>
          <a:bodyPr wrap="square" lIns="0" rIns="0" tIns="0" bIns="0">
            <a:spAutoFit/>
          </a:bodyPr>
          <a:lstStyle/>
          <a:p>
            <a:pPr>
              <a:spcAft>
                <a:spcPts val="400"/>
              </a:spcAft>
              <a:defRPr sz="1700" b="0" i="0">
                <a:solidFill>
                  <a:srgbClr val="1D1D1F"/>
                </a:solidFill>
                <a:latin typeface="Segoe UI"/>
              </a:defRPr>
            </a:pPr>
            <a:r>
              <a:t>Labels: ground-truth input</a:t>
            </a:r>
          </a:p>
        </p:txBody>
      </p:sp>
      <p:sp>
        <p:nvSpPr>
          <p:cNvPr id="12" name="tx_0643"/>
          <p:cNvSpPr txBox="1"/>
          <p:nvPr/>
        </p:nvSpPr>
        <p:spPr>
          <a:xfrm>
            <a:off x="8412480" y="4251960"/>
            <a:ext cx="2926080" cy="822960"/>
          </a:xfrm>
          <a:prstGeom prst="rect">
            <a:avLst/>
          </a:prstGeom>
          <a:noFill/>
        </p:spPr>
        <p:txBody>
          <a:bodyPr wrap="square" lIns="0" rIns="0" tIns="0" bIns="0">
            <a:spAutoFit/>
          </a:bodyPr>
          <a:lstStyle/>
          <a:p>
            <a:pPr>
              <a:lnSpc>
                <a:spcPct val="115000"/>
              </a:lnSpc>
              <a:spcAft>
                <a:spcPts val="400"/>
              </a:spcAft>
              <a:defRPr sz="1500" b="0" i="0">
                <a:solidFill>
                  <a:srgbClr val="6E6E73"/>
                </a:solidFill>
                <a:latin typeface="Segoe UI"/>
              </a:defRPr>
            </a:pPr>
            <a:r>
              <a:t>Filtering affects event metrics; thresholds matter.</a:t>
            </a:r>
          </a:p>
        </p:txBody>
      </p:sp>
      <p:sp>
        <p:nvSpPr>
          <p:cNvPr id="13" name="rect_0644"/>
          <p:cNvSpPr/>
          <p:nvPr/>
        </p:nvSpPr>
        <p:spPr>
          <a:xfrm>
            <a:off x="822960" y="576072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x_0645"/>
          <p:cNvSpPr txBox="1"/>
          <p:nvPr/>
        </p:nvSpPr>
        <p:spPr>
          <a:xfrm>
            <a:off x="822960" y="591616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Both primitives reveal candidate keystroke events.</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646"/>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What it steals</a:t>
            </a:r>
          </a:p>
        </p:txBody>
      </p:sp>
      <p:sp>
        <p:nvSpPr>
          <p:cNvPr id="3" name="tx_0647"/>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SWQ wins timing — and a caveat I owe you</a:t>
            </a:r>
          </a:p>
        </p:txBody>
      </p:sp>
      <p:sp>
        <p:nvSpPr>
          <p:cNvPr id="5" name="tx_0649"/>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28</a:t>
            </a:r>
          </a:p>
        </p:txBody>
      </p:sp>
      <p:sp>
        <p:nvSpPr>
          <p:cNvPr id="6" name="tx_0650"/>
          <p:cNvSpPr txBox="1"/>
          <p:nvPr/>
        </p:nvSpPr>
        <p:spPr>
          <a:xfrm>
            <a:off x="868680" y="1783080"/>
            <a:ext cx="3388766"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PRIMITIVE</a:t>
            </a:r>
          </a:p>
        </p:txBody>
      </p:sp>
      <p:sp>
        <p:nvSpPr>
          <p:cNvPr id="7" name="tx_0651"/>
          <p:cNvSpPr txBox="1"/>
          <p:nvPr/>
        </p:nvSpPr>
        <p:spPr>
          <a:xfrm>
            <a:off x="4348886" y="1783080"/>
            <a:ext cx="3388766"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REPORTED F1</a:t>
            </a:r>
          </a:p>
        </p:txBody>
      </p:sp>
      <p:sp>
        <p:nvSpPr>
          <p:cNvPr id="8" name="tx_0652"/>
          <p:cNvSpPr txBox="1"/>
          <p:nvPr/>
        </p:nvSpPr>
        <p:spPr>
          <a:xfrm>
            <a:off x="7829092" y="1783080"/>
            <a:ext cx="3494227"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TIMESTAMP DEVIATION (Σ)</a:t>
            </a:r>
          </a:p>
        </p:txBody>
      </p:sp>
      <p:cxnSp>
        <p:nvCxnSpPr>
          <p:cNvPr id="9" name="hl_0653"/>
          <p:cNvCxnSpPr/>
          <p:nvPr/>
        </p:nvCxnSpPr>
        <p:spPr>
          <a:xfrm>
            <a:off x="822960" y="2148840"/>
            <a:ext cx="10546079"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10" name="tx_0654"/>
          <p:cNvSpPr txBox="1"/>
          <p:nvPr/>
        </p:nvSpPr>
        <p:spPr>
          <a:xfrm>
            <a:off x="868680" y="2286000"/>
            <a:ext cx="3388766" cy="365760"/>
          </a:xfrm>
          <a:prstGeom prst="rect">
            <a:avLst/>
          </a:prstGeom>
          <a:noFill/>
        </p:spPr>
        <p:txBody>
          <a:bodyPr wrap="square" lIns="0" rIns="0" tIns="0" bIns="0" anchor="ctr">
            <a:spAutoFit/>
          </a:bodyPr>
          <a:lstStyle/>
          <a:p>
            <a:pPr>
              <a:spcAft>
                <a:spcPts val="400"/>
              </a:spcAft>
              <a:defRPr sz="2000" b="0" i="0">
                <a:solidFill>
                  <a:srgbClr val="1D1D1F"/>
                </a:solidFill>
                <a:latin typeface="Segoe UI Semibold"/>
              </a:defRPr>
            </a:pPr>
            <a:r>
              <a:t>DevTLB</a:t>
            </a:r>
          </a:p>
        </p:txBody>
      </p:sp>
      <p:sp>
        <p:nvSpPr>
          <p:cNvPr id="11" name="tx_0655"/>
          <p:cNvSpPr txBox="1"/>
          <p:nvPr/>
        </p:nvSpPr>
        <p:spPr>
          <a:xfrm>
            <a:off x="4348886" y="2286000"/>
            <a:ext cx="3388766" cy="365760"/>
          </a:xfrm>
          <a:prstGeom prst="rect">
            <a:avLst/>
          </a:prstGeom>
          <a:noFill/>
        </p:spPr>
        <p:txBody>
          <a:bodyPr wrap="square" lIns="0" rIns="0" tIns="0" bIns="0" anchor="ctr">
            <a:spAutoFit/>
          </a:bodyPr>
          <a:lstStyle/>
          <a:p>
            <a:pPr>
              <a:spcAft>
                <a:spcPts val="400"/>
              </a:spcAft>
              <a:defRPr sz="2000" b="0" i="0">
                <a:solidFill>
                  <a:srgbClr val="1D1D1F"/>
                </a:solidFill>
                <a:latin typeface="Segoe UI"/>
              </a:defRPr>
            </a:pPr>
            <a:r>
              <a:t>92.0%</a:t>
            </a:r>
          </a:p>
        </p:txBody>
      </p:sp>
      <p:sp>
        <p:nvSpPr>
          <p:cNvPr id="12" name="tx_0656"/>
          <p:cNvSpPr txBox="1"/>
          <p:nvPr/>
        </p:nvSpPr>
        <p:spPr>
          <a:xfrm>
            <a:off x="7829092" y="2286000"/>
            <a:ext cx="3494227" cy="365760"/>
          </a:xfrm>
          <a:prstGeom prst="rect">
            <a:avLst/>
          </a:prstGeom>
          <a:noFill/>
        </p:spPr>
        <p:txBody>
          <a:bodyPr wrap="square" lIns="0" rIns="0" tIns="0" bIns="0" anchor="ctr">
            <a:spAutoFit/>
          </a:bodyPr>
          <a:lstStyle/>
          <a:p>
            <a:pPr>
              <a:spcAft>
                <a:spcPts val="400"/>
              </a:spcAft>
              <a:defRPr sz="2000" b="0" i="0">
                <a:solidFill>
                  <a:srgbClr val="1D1D1F"/>
                </a:solidFill>
                <a:latin typeface="Segoe UI"/>
              </a:defRPr>
            </a:pPr>
            <a:r>
              <a:t>5.29 ms</a:t>
            </a:r>
          </a:p>
        </p:txBody>
      </p:sp>
      <p:cxnSp>
        <p:nvCxnSpPr>
          <p:cNvPr id="13" name="hl_0657"/>
          <p:cNvCxnSpPr/>
          <p:nvPr/>
        </p:nvCxnSpPr>
        <p:spPr>
          <a:xfrm>
            <a:off x="822960" y="278892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4" name="tx_0658"/>
          <p:cNvSpPr txBox="1"/>
          <p:nvPr/>
        </p:nvSpPr>
        <p:spPr>
          <a:xfrm>
            <a:off x="868680" y="2926079"/>
            <a:ext cx="3388766" cy="365760"/>
          </a:xfrm>
          <a:prstGeom prst="rect">
            <a:avLst/>
          </a:prstGeom>
          <a:noFill/>
        </p:spPr>
        <p:txBody>
          <a:bodyPr wrap="square" lIns="0" rIns="0" tIns="0" bIns="0" anchor="ctr">
            <a:spAutoFit/>
          </a:bodyPr>
          <a:lstStyle/>
          <a:p>
            <a:pPr>
              <a:spcAft>
                <a:spcPts val="400"/>
              </a:spcAft>
              <a:defRPr sz="2000" b="0" i="0">
                <a:solidFill>
                  <a:srgbClr val="0071E3"/>
                </a:solidFill>
                <a:latin typeface="Segoe UI Semibold"/>
              </a:defRPr>
            </a:pPr>
            <a:r>
              <a:t>SWQ</a:t>
            </a:r>
          </a:p>
        </p:txBody>
      </p:sp>
      <p:sp>
        <p:nvSpPr>
          <p:cNvPr id="15" name="tx_0659"/>
          <p:cNvSpPr txBox="1"/>
          <p:nvPr/>
        </p:nvSpPr>
        <p:spPr>
          <a:xfrm>
            <a:off x="4348886" y="2926079"/>
            <a:ext cx="3388766" cy="365760"/>
          </a:xfrm>
          <a:prstGeom prst="rect">
            <a:avLst/>
          </a:prstGeom>
          <a:noFill/>
        </p:spPr>
        <p:txBody>
          <a:bodyPr wrap="square" lIns="0" rIns="0" tIns="0" bIns="0" anchor="ctr">
            <a:spAutoFit/>
          </a:bodyPr>
          <a:lstStyle/>
          <a:p>
            <a:pPr>
              <a:spcAft>
                <a:spcPts val="400"/>
              </a:spcAft>
              <a:defRPr sz="2000" b="0" i="0">
                <a:solidFill>
                  <a:srgbClr val="0071E3"/>
                </a:solidFill>
                <a:latin typeface="Segoe UI Semibold"/>
              </a:defRPr>
            </a:pPr>
            <a:r>
              <a:t>98.4%</a:t>
            </a:r>
          </a:p>
        </p:txBody>
      </p:sp>
      <p:sp>
        <p:nvSpPr>
          <p:cNvPr id="16" name="tx_0660"/>
          <p:cNvSpPr txBox="1"/>
          <p:nvPr/>
        </p:nvSpPr>
        <p:spPr>
          <a:xfrm>
            <a:off x="7829092" y="2926079"/>
            <a:ext cx="3494227" cy="365760"/>
          </a:xfrm>
          <a:prstGeom prst="rect">
            <a:avLst/>
          </a:prstGeom>
          <a:noFill/>
        </p:spPr>
        <p:txBody>
          <a:bodyPr wrap="square" lIns="0" rIns="0" tIns="0" bIns="0" anchor="ctr">
            <a:spAutoFit/>
          </a:bodyPr>
          <a:lstStyle/>
          <a:p>
            <a:pPr>
              <a:spcAft>
                <a:spcPts val="400"/>
              </a:spcAft>
              <a:defRPr sz="2000" b="0" i="0">
                <a:solidFill>
                  <a:srgbClr val="0071E3"/>
                </a:solidFill>
                <a:latin typeface="Segoe UI Semibold"/>
              </a:defRPr>
            </a:pPr>
            <a:r>
              <a:t>1.21 ms</a:t>
            </a:r>
          </a:p>
        </p:txBody>
      </p:sp>
      <p:cxnSp>
        <p:nvCxnSpPr>
          <p:cNvPr id="17" name="hl_0661"/>
          <p:cNvCxnSpPr/>
          <p:nvPr/>
        </p:nvCxnSpPr>
        <p:spPr>
          <a:xfrm>
            <a:off x="822960" y="342900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8" name="tx_0662"/>
          <p:cNvSpPr txBox="1"/>
          <p:nvPr/>
        </p:nvSpPr>
        <p:spPr>
          <a:xfrm>
            <a:off x="822960" y="3886200"/>
            <a:ext cx="10546079" cy="457200"/>
          </a:xfrm>
          <a:prstGeom prst="rect">
            <a:avLst/>
          </a:prstGeom>
          <a:noFill/>
        </p:spPr>
        <p:txBody>
          <a:bodyPr wrap="square" lIns="0" rIns="0" tIns="0" bIns="0">
            <a:spAutoFit/>
          </a:bodyPr>
          <a:lstStyle/>
          <a:p>
            <a:pPr>
              <a:spcAft>
                <a:spcPts val="400"/>
              </a:spcAft>
              <a:defRPr sz="1600" b="0" i="1">
                <a:solidFill>
                  <a:srgbClr val="D70015"/>
                </a:solidFill>
                <a:latin typeface="Segoe UI"/>
              </a:defRPr>
            </a:pPr>
            <a:r>
              <a:t>Reporting caveat: the detection / FP / FN counts in § VI-C do not fully reconcile with the printed F1 (see backup).</a:t>
            </a:r>
          </a:p>
        </p:txBody>
      </p:sp>
      <p:sp>
        <p:nvSpPr>
          <p:cNvPr id="19" name="rect_0663"/>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x_0664"/>
          <p:cNvSpPr txBox="1"/>
          <p:nvPr/>
        </p:nvSpPr>
        <p:spPr>
          <a:xfrm>
            <a:off x="822960" y="577900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Use the headline values with attribution; disclose the arithmetic gap.</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665"/>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What it steals</a:t>
            </a:r>
          </a:p>
        </p:txBody>
      </p:sp>
      <p:sp>
        <p:nvSpPr>
          <p:cNvPr id="3" name="tx_0666"/>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Attack #3 — fingerprinting the LLM next door</a:t>
            </a:r>
          </a:p>
        </p:txBody>
      </p:sp>
      <p:sp>
        <p:nvSpPr>
          <p:cNvPr id="5" name="tx_0668"/>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29</a:t>
            </a:r>
          </a:p>
        </p:txBody>
      </p:sp>
      <p:sp>
        <p:nvSpPr>
          <p:cNvPr id="6" name="tx_0669"/>
          <p:cNvSpPr txBox="1"/>
          <p:nvPr/>
        </p:nvSpPr>
        <p:spPr>
          <a:xfrm>
            <a:off x="868680" y="1783080"/>
            <a:ext cx="3494227"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FAMILY</a:t>
            </a:r>
          </a:p>
        </p:txBody>
      </p:sp>
      <p:sp>
        <p:nvSpPr>
          <p:cNvPr id="7" name="tx_0670"/>
          <p:cNvSpPr txBox="1"/>
          <p:nvPr/>
        </p:nvSpPr>
        <p:spPr>
          <a:xfrm>
            <a:off x="4454347" y="1783080"/>
            <a:ext cx="4548835"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PARAMETER COUNTS</a:t>
            </a:r>
          </a:p>
        </p:txBody>
      </p:sp>
      <p:sp>
        <p:nvSpPr>
          <p:cNvPr id="8" name="tx_0671"/>
          <p:cNvSpPr txBox="1"/>
          <p:nvPr/>
        </p:nvSpPr>
        <p:spPr>
          <a:xfrm>
            <a:off x="9094622" y="1783080"/>
            <a:ext cx="2228697"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CHOICES</a:t>
            </a:r>
          </a:p>
        </p:txBody>
      </p:sp>
      <p:cxnSp>
        <p:nvCxnSpPr>
          <p:cNvPr id="9" name="hl_0672"/>
          <p:cNvCxnSpPr/>
          <p:nvPr/>
        </p:nvCxnSpPr>
        <p:spPr>
          <a:xfrm>
            <a:off x="822960" y="2148840"/>
            <a:ext cx="10546079"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10" name="tx_0673"/>
          <p:cNvSpPr txBox="1"/>
          <p:nvPr/>
        </p:nvSpPr>
        <p:spPr>
          <a:xfrm>
            <a:off x="868680" y="2240280"/>
            <a:ext cx="3494227"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Semibold"/>
              </a:defRPr>
            </a:pPr>
            <a:r>
              <a:t>TinyStories</a:t>
            </a:r>
          </a:p>
        </p:txBody>
      </p:sp>
      <p:sp>
        <p:nvSpPr>
          <p:cNvPr id="11" name="tx_0674"/>
          <p:cNvSpPr txBox="1"/>
          <p:nvPr/>
        </p:nvSpPr>
        <p:spPr>
          <a:xfrm>
            <a:off x="4454347" y="2240280"/>
            <a:ext cx="4548835" cy="365760"/>
          </a:xfrm>
          <a:prstGeom prst="rect">
            <a:avLst/>
          </a:prstGeom>
          <a:noFill/>
        </p:spPr>
        <p:txBody>
          <a:bodyPr wrap="square" lIns="0" rIns="0" tIns="0" bIns="0" anchor="ctr">
            <a:spAutoFit/>
          </a:bodyPr>
          <a:lstStyle/>
          <a:p>
            <a:pPr>
              <a:spcAft>
                <a:spcPts val="400"/>
              </a:spcAft>
              <a:defRPr sz="1800" b="0" i="0">
                <a:solidFill>
                  <a:srgbClr val="6E6E73"/>
                </a:solidFill>
                <a:latin typeface="Segoe UI"/>
              </a:defRPr>
            </a:pPr>
            <a:r>
              <a:t>15M / 42M / 110M</a:t>
            </a:r>
          </a:p>
        </p:txBody>
      </p:sp>
      <p:sp>
        <p:nvSpPr>
          <p:cNvPr id="12" name="tx_0675"/>
          <p:cNvSpPr txBox="1"/>
          <p:nvPr/>
        </p:nvSpPr>
        <p:spPr>
          <a:xfrm>
            <a:off x="9094622" y="2240280"/>
            <a:ext cx="2228697" cy="365760"/>
          </a:xfrm>
          <a:prstGeom prst="rect">
            <a:avLst/>
          </a:prstGeom>
          <a:noFill/>
        </p:spPr>
        <p:txBody>
          <a:bodyPr wrap="square" lIns="0" rIns="0" tIns="0" bIns="0" anchor="ctr">
            <a:spAutoFit/>
          </a:bodyPr>
          <a:lstStyle/>
          <a:p>
            <a:pPr>
              <a:spcAft>
                <a:spcPts val="400"/>
              </a:spcAft>
              <a:defRPr sz="1800" b="0" i="0">
                <a:solidFill>
                  <a:srgbClr val="6E6E73"/>
                </a:solidFill>
                <a:latin typeface="Segoe UI"/>
              </a:defRPr>
            </a:pPr>
            <a:r>
              <a:t>3</a:t>
            </a:r>
          </a:p>
        </p:txBody>
      </p:sp>
      <p:cxnSp>
        <p:nvCxnSpPr>
          <p:cNvPr id="13" name="hl_0676"/>
          <p:cNvCxnSpPr/>
          <p:nvPr/>
        </p:nvCxnSpPr>
        <p:spPr>
          <a:xfrm>
            <a:off x="822960" y="269748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4" name="tx_0677"/>
          <p:cNvSpPr txBox="1"/>
          <p:nvPr/>
        </p:nvSpPr>
        <p:spPr>
          <a:xfrm>
            <a:off x="868680" y="2788920"/>
            <a:ext cx="3494227"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Semibold"/>
              </a:defRPr>
            </a:pPr>
            <a:r>
              <a:t>LLaMA 2</a:t>
            </a:r>
          </a:p>
        </p:txBody>
      </p:sp>
      <p:sp>
        <p:nvSpPr>
          <p:cNvPr id="15" name="tx_0678"/>
          <p:cNvSpPr txBox="1"/>
          <p:nvPr/>
        </p:nvSpPr>
        <p:spPr>
          <a:xfrm>
            <a:off x="4454347" y="2788920"/>
            <a:ext cx="4548835" cy="365760"/>
          </a:xfrm>
          <a:prstGeom prst="rect">
            <a:avLst/>
          </a:prstGeom>
          <a:noFill/>
        </p:spPr>
        <p:txBody>
          <a:bodyPr wrap="square" lIns="0" rIns="0" tIns="0" bIns="0" anchor="ctr">
            <a:spAutoFit/>
          </a:bodyPr>
          <a:lstStyle/>
          <a:p>
            <a:pPr>
              <a:spcAft>
                <a:spcPts val="400"/>
              </a:spcAft>
              <a:defRPr sz="1800" b="0" i="0">
                <a:solidFill>
                  <a:srgbClr val="6E6E73"/>
                </a:solidFill>
                <a:latin typeface="Segoe UI"/>
              </a:defRPr>
            </a:pPr>
            <a:r>
              <a:t>7B</a:t>
            </a:r>
          </a:p>
        </p:txBody>
      </p:sp>
      <p:sp>
        <p:nvSpPr>
          <p:cNvPr id="16" name="tx_0679"/>
          <p:cNvSpPr txBox="1"/>
          <p:nvPr/>
        </p:nvSpPr>
        <p:spPr>
          <a:xfrm>
            <a:off x="9094622" y="2788920"/>
            <a:ext cx="2228697" cy="365760"/>
          </a:xfrm>
          <a:prstGeom prst="rect">
            <a:avLst/>
          </a:prstGeom>
          <a:noFill/>
        </p:spPr>
        <p:txBody>
          <a:bodyPr wrap="square" lIns="0" rIns="0" tIns="0" bIns="0" anchor="ctr">
            <a:spAutoFit/>
          </a:bodyPr>
          <a:lstStyle/>
          <a:p>
            <a:pPr>
              <a:spcAft>
                <a:spcPts val="400"/>
              </a:spcAft>
              <a:defRPr sz="1800" b="0" i="0">
                <a:solidFill>
                  <a:srgbClr val="6E6E73"/>
                </a:solidFill>
                <a:latin typeface="Segoe UI"/>
              </a:defRPr>
            </a:pPr>
            <a:r>
              <a:t>1</a:t>
            </a:r>
          </a:p>
        </p:txBody>
      </p:sp>
      <p:cxnSp>
        <p:nvCxnSpPr>
          <p:cNvPr id="17" name="hl_0680"/>
          <p:cNvCxnSpPr/>
          <p:nvPr/>
        </p:nvCxnSpPr>
        <p:spPr>
          <a:xfrm>
            <a:off x="822960" y="324612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8" name="tx_0681"/>
          <p:cNvSpPr txBox="1"/>
          <p:nvPr/>
        </p:nvSpPr>
        <p:spPr>
          <a:xfrm>
            <a:off x="868680" y="3337560"/>
            <a:ext cx="3494227"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Semibold"/>
              </a:defRPr>
            </a:pPr>
            <a:r>
              <a:t>Gemma 3</a:t>
            </a:r>
          </a:p>
        </p:txBody>
      </p:sp>
      <p:sp>
        <p:nvSpPr>
          <p:cNvPr id="19" name="tx_0682"/>
          <p:cNvSpPr txBox="1"/>
          <p:nvPr/>
        </p:nvSpPr>
        <p:spPr>
          <a:xfrm>
            <a:off x="4454347" y="3337560"/>
            <a:ext cx="4548835" cy="365760"/>
          </a:xfrm>
          <a:prstGeom prst="rect">
            <a:avLst/>
          </a:prstGeom>
          <a:noFill/>
        </p:spPr>
        <p:txBody>
          <a:bodyPr wrap="square" lIns="0" rIns="0" tIns="0" bIns="0" anchor="ctr">
            <a:spAutoFit/>
          </a:bodyPr>
          <a:lstStyle/>
          <a:p>
            <a:pPr>
              <a:spcAft>
                <a:spcPts val="400"/>
              </a:spcAft>
              <a:defRPr sz="1800" b="0" i="0">
                <a:solidFill>
                  <a:srgbClr val="6E6E73"/>
                </a:solidFill>
                <a:latin typeface="Segoe UI"/>
              </a:defRPr>
            </a:pPr>
            <a:r>
              <a:t>1B / 4B</a:t>
            </a:r>
          </a:p>
        </p:txBody>
      </p:sp>
      <p:sp>
        <p:nvSpPr>
          <p:cNvPr id="20" name="tx_0683"/>
          <p:cNvSpPr txBox="1"/>
          <p:nvPr/>
        </p:nvSpPr>
        <p:spPr>
          <a:xfrm>
            <a:off x="9094622" y="3337560"/>
            <a:ext cx="2228697" cy="365760"/>
          </a:xfrm>
          <a:prstGeom prst="rect">
            <a:avLst/>
          </a:prstGeom>
          <a:noFill/>
        </p:spPr>
        <p:txBody>
          <a:bodyPr wrap="square" lIns="0" rIns="0" tIns="0" bIns="0" anchor="ctr">
            <a:spAutoFit/>
          </a:bodyPr>
          <a:lstStyle/>
          <a:p>
            <a:pPr>
              <a:spcAft>
                <a:spcPts val="400"/>
              </a:spcAft>
              <a:defRPr sz="1800" b="0" i="0">
                <a:solidFill>
                  <a:srgbClr val="6E6E73"/>
                </a:solidFill>
                <a:latin typeface="Segoe UI"/>
              </a:defRPr>
            </a:pPr>
            <a:r>
              <a:t>2</a:t>
            </a:r>
          </a:p>
        </p:txBody>
      </p:sp>
      <p:cxnSp>
        <p:nvCxnSpPr>
          <p:cNvPr id="21" name="hl_0684"/>
          <p:cNvCxnSpPr/>
          <p:nvPr/>
        </p:nvCxnSpPr>
        <p:spPr>
          <a:xfrm>
            <a:off x="822960" y="3794759"/>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2" name="tx_0685"/>
          <p:cNvSpPr txBox="1"/>
          <p:nvPr/>
        </p:nvSpPr>
        <p:spPr>
          <a:xfrm>
            <a:off x="868680" y="3886200"/>
            <a:ext cx="3494227"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Semibold"/>
              </a:defRPr>
            </a:pPr>
            <a:r>
              <a:t>Qwen3</a:t>
            </a:r>
          </a:p>
        </p:txBody>
      </p:sp>
      <p:sp>
        <p:nvSpPr>
          <p:cNvPr id="23" name="tx_0686"/>
          <p:cNvSpPr txBox="1"/>
          <p:nvPr/>
        </p:nvSpPr>
        <p:spPr>
          <a:xfrm>
            <a:off x="4454347" y="3886200"/>
            <a:ext cx="4548835" cy="365760"/>
          </a:xfrm>
          <a:prstGeom prst="rect">
            <a:avLst/>
          </a:prstGeom>
          <a:noFill/>
        </p:spPr>
        <p:txBody>
          <a:bodyPr wrap="square" lIns="0" rIns="0" tIns="0" bIns="0" anchor="ctr">
            <a:spAutoFit/>
          </a:bodyPr>
          <a:lstStyle/>
          <a:p>
            <a:pPr>
              <a:spcAft>
                <a:spcPts val="400"/>
              </a:spcAft>
              <a:defRPr sz="1800" b="0" i="0">
                <a:solidFill>
                  <a:srgbClr val="6E6E73"/>
                </a:solidFill>
                <a:latin typeface="Segoe UI"/>
              </a:defRPr>
            </a:pPr>
            <a:r>
              <a:t>1.7B / 4B</a:t>
            </a:r>
          </a:p>
        </p:txBody>
      </p:sp>
      <p:sp>
        <p:nvSpPr>
          <p:cNvPr id="24" name="tx_0687"/>
          <p:cNvSpPr txBox="1"/>
          <p:nvPr/>
        </p:nvSpPr>
        <p:spPr>
          <a:xfrm>
            <a:off x="9094622" y="3886200"/>
            <a:ext cx="2228697" cy="365760"/>
          </a:xfrm>
          <a:prstGeom prst="rect">
            <a:avLst/>
          </a:prstGeom>
          <a:noFill/>
        </p:spPr>
        <p:txBody>
          <a:bodyPr wrap="square" lIns="0" rIns="0" tIns="0" bIns="0" anchor="ctr">
            <a:spAutoFit/>
          </a:bodyPr>
          <a:lstStyle/>
          <a:p>
            <a:pPr>
              <a:spcAft>
                <a:spcPts val="400"/>
              </a:spcAft>
              <a:defRPr sz="1800" b="0" i="0">
                <a:solidFill>
                  <a:srgbClr val="6E6E73"/>
                </a:solidFill>
                <a:latin typeface="Segoe UI"/>
              </a:defRPr>
            </a:pPr>
            <a:r>
              <a:t>2</a:t>
            </a:r>
          </a:p>
        </p:txBody>
      </p:sp>
      <p:cxnSp>
        <p:nvCxnSpPr>
          <p:cNvPr id="25" name="hl_0688"/>
          <p:cNvCxnSpPr/>
          <p:nvPr/>
        </p:nvCxnSpPr>
        <p:spPr>
          <a:xfrm>
            <a:off x="822960" y="434340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6" name="tx_0689"/>
          <p:cNvSpPr txBox="1"/>
          <p:nvPr/>
        </p:nvSpPr>
        <p:spPr>
          <a:xfrm>
            <a:off x="822960" y="4617720"/>
            <a:ext cx="10546079" cy="365760"/>
          </a:xfrm>
          <a:prstGeom prst="rect">
            <a:avLst/>
          </a:prstGeom>
          <a:noFill/>
        </p:spPr>
        <p:txBody>
          <a:bodyPr wrap="square" lIns="0" rIns="0" tIns="0" bIns="0">
            <a:spAutoFit/>
          </a:bodyPr>
          <a:lstStyle/>
          <a:p>
            <a:pPr>
              <a:spcAft>
                <a:spcPts val="400"/>
              </a:spcAft>
              <a:defRPr sz="1700" b="0" i="1">
                <a:solidFill>
                  <a:srgbClr val="6E6E73"/>
                </a:solidFill>
                <a:latin typeface="Segoe UI"/>
              </a:defRPr>
            </a:pPr>
            <a:r>
              <a:t>50 traces per model · identical prompts · 80 / 20 split · 8 ms slots</a:t>
            </a:r>
          </a:p>
        </p:txBody>
      </p:sp>
      <p:sp>
        <p:nvSpPr>
          <p:cNvPr id="27" name="rect_0690"/>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x_0691"/>
          <p:cNvSpPr txBox="1"/>
          <p:nvPr/>
        </p:nvSpPr>
        <p:spPr>
          <a:xfrm>
            <a:off x="822960" y="577900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The label is a model configuration — no weights or prompts are recovered.</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692"/>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What it steals</a:t>
            </a:r>
          </a:p>
        </p:txBody>
      </p:sp>
      <p:sp>
        <p:nvSpPr>
          <p:cNvPr id="3" name="tx_0693"/>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98.6% — impressive, and bounded</a:t>
            </a:r>
          </a:p>
        </p:txBody>
      </p:sp>
      <p:sp>
        <p:nvSpPr>
          <p:cNvPr id="5" name="tx_0695"/>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30</a:t>
            </a:r>
          </a:p>
        </p:txBody>
      </p:sp>
      <p:pic>
        <p:nvPicPr>
          <p:cNvPr id="6" name="pic_0696" descr="llm_traces.png"/>
          <p:cNvPicPr>
            <a:picLocks noChangeAspect="1"/>
          </p:cNvPicPr>
          <p:nvPr/>
        </p:nvPicPr>
        <p:blipFill>
          <a:blip r:embed="rId3"/>
          <a:stretch>
            <a:fillRect/>
          </a:stretch>
        </p:blipFill>
        <p:spPr>
          <a:xfrm>
            <a:off x="822960" y="2017144"/>
            <a:ext cx="7223760" cy="3280910"/>
          </a:xfrm>
          <a:prstGeom prst="rect">
            <a:avLst/>
          </a:prstGeom>
        </p:spPr>
      </p:pic>
      <p:sp>
        <p:nvSpPr>
          <p:cNvPr id="7" name="tx_0697"/>
          <p:cNvSpPr txBox="1"/>
          <p:nvPr/>
        </p:nvSpPr>
        <p:spPr>
          <a:xfrm>
            <a:off x="8412480" y="2057400"/>
            <a:ext cx="2926080" cy="914400"/>
          </a:xfrm>
          <a:prstGeom prst="rect">
            <a:avLst/>
          </a:prstGeom>
          <a:noFill/>
        </p:spPr>
        <p:txBody>
          <a:bodyPr wrap="square" lIns="0" rIns="0" tIns="0" bIns="0">
            <a:spAutoFit/>
          </a:bodyPr>
          <a:lstStyle/>
          <a:p>
            <a:pPr>
              <a:spcAft>
                <a:spcPts val="400"/>
              </a:spcAft>
              <a:defRPr sz="4800" b="0" i="0">
                <a:solidFill>
                  <a:srgbClr val="0071E3"/>
                </a:solidFill>
                <a:latin typeface="Segoe UI Semibold"/>
              </a:defRPr>
            </a:pPr>
            <a:r>
              <a:t>98.6%</a:t>
            </a:r>
          </a:p>
        </p:txBody>
      </p:sp>
      <p:sp>
        <p:nvSpPr>
          <p:cNvPr id="8" name="tx_0698"/>
          <p:cNvSpPr txBox="1"/>
          <p:nvPr/>
        </p:nvSpPr>
        <p:spPr>
          <a:xfrm>
            <a:off x="8412480" y="3063240"/>
            <a:ext cx="2926080" cy="41148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Validation accuracy</a:t>
            </a:r>
          </a:p>
        </p:txBody>
      </p:sp>
      <p:sp>
        <p:nvSpPr>
          <p:cNvPr id="9" name="tx_0699"/>
          <p:cNvSpPr txBox="1"/>
          <p:nvPr/>
        </p:nvSpPr>
        <p:spPr>
          <a:xfrm>
            <a:off x="8412480" y="3474720"/>
            <a:ext cx="2926080" cy="365760"/>
          </a:xfrm>
          <a:prstGeom prst="rect">
            <a:avLst/>
          </a:prstGeom>
          <a:noFill/>
        </p:spPr>
        <p:txBody>
          <a:bodyPr wrap="square" lIns="0" rIns="0" tIns="0" bIns="0">
            <a:spAutoFit/>
          </a:bodyPr>
          <a:lstStyle/>
          <a:p>
            <a:pPr>
              <a:spcAft>
                <a:spcPts val="400"/>
              </a:spcAft>
              <a:defRPr sz="1600" b="0" i="0">
                <a:solidFill>
                  <a:srgbClr val="6E6E73"/>
                </a:solidFill>
                <a:latin typeface="Segoe UI"/>
              </a:defRPr>
            </a:pPr>
            <a:r>
              <a:t>8 model choices</a:t>
            </a:r>
          </a:p>
        </p:txBody>
      </p:sp>
      <p:sp>
        <p:nvSpPr>
          <p:cNvPr id="10" name="tx_0700"/>
          <p:cNvSpPr txBox="1"/>
          <p:nvPr/>
        </p:nvSpPr>
        <p:spPr>
          <a:xfrm>
            <a:off x="8412480" y="3886200"/>
            <a:ext cx="2926080" cy="1097280"/>
          </a:xfrm>
          <a:prstGeom prst="rect">
            <a:avLst/>
          </a:prstGeom>
          <a:noFill/>
        </p:spPr>
        <p:txBody>
          <a:bodyPr wrap="square" lIns="0" rIns="0" tIns="0" bIns="0">
            <a:spAutoFit/>
          </a:bodyPr>
          <a:lstStyle/>
          <a:p>
            <a:pPr>
              <a:lnSpc>
                <a:spcPct val="120000"/>
              </a:lnSpc>
              <a:spcAft>
                <a:spcPts val="400"/>
              </a:spcAft>
              <a:defRPr sz="1600" b="0" i="0">
                <a:solidFill>
                  <a:srgbClr val="6E6E73"/>
                </a:solidFill>
                <a:latin typeface="Segoe UI"/>
              </a:defRPr>
            </a:pPr>
            <a:r>
              <a:t>Generality beyond identical prompts and fixed runtimes remains open.</a:t>
            </a:r>
          </a:p>
        </p:txBody>
      </p:sp>
      <p:sp>
        <p:nvSpPr>
          <p:cNvPr id="11" name="rect_0701"/>
          <p:cNvSpPr/>
          <p:nvPr/>
        </p:nvSpPr>
        <p:spPr>
          <a:xfrm>
            <a:off x="822960" y="576072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x_0702"/>
          <p:cNvSpPr txBox="1"/>
          <p:nvPr/>
        </p:nvSpPr>
        <p:spPr>
          <a:xfrm>
            <a:off x="822960" y="591616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Distinguishable configurations within a controlled dataset.</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710"/>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Does it hold up?</a:t>
            </a:r>
          </a:p>
        </p:txBody>
      </p:sp>
      <p:sp>
        <p:nvSpPr>
          <p:cNvPr id="3" name="tx_0711"/>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It barely flinches under stress</a:t>
            </a:r>
          </a:p>
        </p:txBody>
      </p:sp>
      <p:sp>
        <p:nvSpPr>
          <p:cNvPr id="5" name="tx_0713"/>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31</a:t>
            </a:r>
          </a:p>
        </p:txBody>
      </p:sp>
      <p:sp>
        <p:nvSpPr>
          <p:cNvPr id="6" name="tx_0714"/>
          <p:cNvSpPr txBox="1"/>
          <p:nvPr/>
        </p:nvSpPr>
        <p:spPr>
          <a:xfrm>
            <a:off x="868680" y="1783080"/>
            <a:ext cx="3283305"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METRIC</a:t>
            </a:r>
          </a:p>
        </p:txBody>
      </p:sp>
      <p:sp>
        <p:nvSpPr>
          <p:cNvPr id="7" name="tx_0715"/>
          <p:cNvSpPr txBox="1"/>
          <p:nvPr/>
        </p:nvSpPr>
        <p:spPr>
          <a:xfrm>
            <a:off x="4243425" y="1783080"/>
            <a:ext cx="1701393"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LOCAL</a:t>
            </a:r>
          </a:p>
        </p:txBody>
      </p:sp>
      <p:sp>
        <p:nvSpPr>
          <p:cNvPr id="8" name="tx_0716"/>
          <p:cNvSpPr txBox="1"/>
          <p:nvPr/>
        </p:nvSpPr>
        <p:spPr>
          <a:xfrm>
            <a:off x="6036259" y="1783080"/>
            <a:ext cx="1701393"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NOISY LOCAL</a:t>
            </a:r>
          </a:p>
        </p:txBody>
      </p:sp>
      <p:sp>
        <p:nvSpPr>
          <p:cNvPr id="9" name="tx_0717"/>
          <p:cNvSpPr txBox="1"/>
          <p:nvPr/>
        </p:nvSpPr>
        <p:spPr>
          <a:xfrm>
            <a:off x="7829092" y="1783080"/>
            <a:ext cx="1701393"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CLOUD</a:t>
            </a:r>
          </a:p>
        </p:txBody>
      </p:sp>
      <p:sp>
        <p:nvSpPr>
          <p:cNvPr id="10" name="tx_0718"/>
          <p:cNvSpPr txBox="1"/>
          <p:nvPr/>
        </p:nvSpPr>
        <p:spPr>
          <a:xfrm>
            <a:off x="9621926" y="1783080"/>
            <a:ext cx="1701393"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NOISY CLOUD</a:t>
            </a:r>
          </a:p>
        </p:txBody>
      </p:sp>
      <p:cxnSp>
        <p:nvCxnSpPr>
          <p:cNvPr id="11" name="hl_0719"/>
          <p:cNvCxnSpPr/>
          <p:nvPr/>
        </p:nvCxnSpPr>
        <p:spPr>
          <a:xfrm>
            <a:off x="822960" y="2148840"/>
            <a:ext cx="10546079"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12" name="tx_0720"/>
          <p:cNvSpPr txBox="1"/>
          <p:nvPr/>
        </p:nvSpPr>
        <p:spPr>
          <a:xfrm>
            <a:off x="868680" y="2217420"/>
            <a:ext cx="3283305"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DevTLB covert (kbps)</a:t>
            </a:r>
          </a:p>
        </p:txBody>
      </p:sp>
      <p:sp>
        <p:nvSpPr>
          <p:cNvPr id="13" name="tx_0721"/>
          <p:cNvSpPr txBox="1"/>
          <p:nvPr/>
        </p:nvSpPr>
        <p:spPr>
          <a:xfrm>
            <a:off x="4243425" y="221742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17.19</a:t>
            </a:r>
          </a:p>
        </p:txBody>
      </p:sp>
      <p:sp>
        <p:nvSpPr>
          <p:cNvPr id="14" name="tx_0722"/>
          <p:cNvSpPr txBox="1"/>
          <p:nvPr/>
        </p:nvSpPr>
        <p:spPr>
          <a:xfrm>
            <a:off x="6036259" y="221742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16.81</a:t>
            </a:r>
          </a:p>
        </p:txBody>
      </p:sp>
      <p:sp>
        <p:nvSpPr>
          <p:cNvPr id="15" name="tx_0723"/>
          <p:cNvSpPr txBox="1"/>
          <p:nvPr/>
        </p:nvSpPr>
        <p:spPr>
          <a:xfrm>
            <a:off x="7829092" y="221742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16.97</a:t>
            </a:r>
          </a:p>
        </p:txBody>
      </p:sp>
      <p:sp>
        <p:nvSpPr>
          <p:cNvPr id="16" name="tx_0724"/>
          <p:cNvSpPr txBox="1"/>
          <p:nvPr/>
        </p:nvSpPr>
        <p:spPr>
          <a:xfrm>
            <a:off x="9621926" y="221742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16.52</a:t>
            </a:r>
          </a:p>
        </p:txBody>
      </p:sp>
      <p:cxnSp>
        <p:nvCxnSpPr>
          <p:cNvPr id="17" name="hl_0725"/>
          <p:cNvCxnSpPr/>
          <p:nvPr/>
        </p:nvCxnSpPr>
        <p:spPr>
          <a:xfrm>
            <a:off x="822960" y="265176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8" name="tx_0726"/>
          <p:cNvSpPr txBox="1"/>
          <p:nvPr/>
        </p:nvSpPr>
        <p:spPr>
          <a:xfrm>
            <a:off x="868680" y="2720340"/>
            <a:ext cx="3283305"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SWQ covert (kbps)</a:t>
            </a:r>
          </a:p>
        </p:txBody>
      </p:sp>
      <p:sp>
        <p:nvSpPr>
          <p:cNvPr id="19" name="tx_0727"/>
          <p:cNvSpPr txBox="1"/>
          <p:nvPr/>
        </p:nvSpPr>
        <p:spPr>
          <a:xfrm>
            <a:off x="4243425" y="272034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4.02</a:t>
            </a:r>
          </a:p>
        </p:txBody>
      </p:sp>
      <p:sp>
        <p:nvSpPr>
          <p:cNvPr id="20" name="tx_0728"/>
          <p:cNvSpPr txBox="1"/>
          <p:nvPr/>
        </p:nvSpPr>
        <p:spPr>
          <a:xfrm>
            <a:off x="6036259" y="272034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4.08</a:t>
            </a:r>
          </a:p>
        </p:txBody>
      </p:sp>
      <p:sp>
        <p:nvSpPr>
          <p:cNvPr id="21" name="tx_0729"/>
          <p:cNvSpPr txBox="1"/>
          <p:nvPr/>
        </p:nvSpPr>
        <p:spPr>
          <a:xfrm>
            <a:off x="7829092" y="272034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3.96</a:t>
            </a:r>
          </a:p>
        </p:txBody>
      </p:sp>
      <p:sp>
        <p:nvSpPr>
          <p:cNvPr id="22" name="tx_0730"/>
          <p:cNvSpPr txBox="1"/>
          <p:nvPr/>
        </p:nvSpPr>
        <p:spPr>
          <a:xfrm>
            <a:off x="9621926" y="272034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3.80</a:t>
            </a:r>
          </a:p>
        </p:txBody>
      </p:sp>
      <p:cxnSp>
        <p:nvCxnSpPr>
          <p:cNvPr id="23" name="hl_0731"/>
          <p:cNvCxnSpPr/>
          <p:nvPr/>
        </p:nvCxnSpPr>
        <p:spPr>
          <a:xfrm>
            <a:off x="822960" y="315468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4" name="tx_0732"/>
          <p:cNvSpPr txBox="1"/>
          <p:nvPr/>
        </p:nvSpPr>
        <p:spPr>
          <a:xfrm>
            <a:off x="868680" y="3223260"/>
            <a:ext cx="3283305"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Website accuracy</a:t>
            </a:r>
          </a:p>
        </p:txBody>
      </p:sp>
      <p:sp>
        <p:nvSpPr>
          <p:cNvPr id="25" name="tx_0733"/>
          <p:cNvSpPr txBox="1"/>
          <p:nvPr/>
        </p:nvSpPr>
        <p:spPr>
          <a:xfrm>
            <a:off x="4243425" y="322326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85.7%</a:t>
            </a:r>
          </a:p>
        </p:txBody>
      </p:sp>
      <p:sp>
        <p:nvSpPr>
          <p:cNvPr id="26" name="tx_0734"/>
          <p:cNvSpPr txBox="1"/>
          <p:nvPr/>
        </p:nvSpPr>
        <p:spPr>
          <a:xfrm>
            <a:off x="6036259" y="322326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86.0%</a:t>
            </a:r>
          </a:p>
        </p:txBody>
      </p:sp>
      <p:sp>
        <p:nvSpPr>
          <p:cNvPr id="27" name="tx_0735"/>
          <p:cNvSpPr txBox="1"/>
          <p:nvPr/>
        </p:nvSpPr>
        <p:spPr>
          <a:xfrm>
            <a:off x="7829092" y="322326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85.5%</a:t>
            </a:r>
          </a:p>
        </p:txBody>
      </p:sp>
      <p:sp>
        <p:nvSpPr>
          <p:cNvPr id="28" name="tx_0736"/>
          <p:cNvSpPr txBox="1"/>
          <p:nvPr/>
        </p:nvSpPr>
        <p:spPr>
          <a:xfrm>
            <a:off x="9621926" y="322326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85.1%</a:t>
            </a:r>
          </a:p>
        </p:txBody>
      </p:sp>
      <p:cxnSp>
        <p:nvCxnSpPr>
          <p:cNvPr id="29" name="hl_0737"/>
          <p:cNvCxnSpPr/>
          <p:nvPr/>
        </p:nvCxnSpPr>
        <p:spPr>
          <a:xfrm>
            <a:off x="822960" y="365760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30" name="tx_0738"/>
          <p:cNvSpPr txBox="1"/>
          <p:nvPr/>
        </p:nvSpPr>
        <p:spPr>
          <a:xfrm>
            <a:off x="868680" y="3726180"/>
            <a:ext cx="3283305"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DevTLB keystroke F1</a:t>
            </a:r>
          </a:p>
        </p:txBody>
      </p:sp>
      <p:sp>
        <p:nvSpPr>
          <p:cNvPr id="31" name="tx_0739"/>
          <p:cNvSpPr txBox="1"/>
          <p:nvPr/>
        </p:nvSpPr>
        <p:spPr>
          <a:xfrm>
            <a:off x="4243425" y="372618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92.0%</a:t>
            </a:r>
          </a:p>
        </p:txBody>
      </p:sp>
      <p:sp>
        <p:nvSpPr>
          <p:cNvPr id="32" name="tx_0740"/>
          <p:cNvSpPr txBox="1"/>
          <p:nvPr/>
        </p:nvSpPr>
        <p:spPr>
          <a:xfrm>
            <a:off x="6036259" y="372618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90.5%</a:t>
            </a:r>
          </a:p>
        </p:txBody>
      </p:sp>
      <p:sp>
        <p:nvSpPr>
          <p:cNvPr id="33" name="tx_0741"/>
          <p:cNvSpPr txBox="1"/>
          <p:nvPr/>
        </p:nvSpPr>
        <p:spPr>
          <a:xfrm>
            <a:off x="7829092" y="372618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93.4%</a:t>
            </a:r>
          </a:p>
        </p:txBody>
      </p:sp>
      <p:sp>
        <p:nvSpPr>
          <p:cNvPr id="34" name="tx_0742"/>
          <p:cNvSpPr txBox="1"/>
          <p:nvPr/>
        </p:nvSpPr>
        <p:spPr>
          <a:xfrm>
            <a:off x="9621926" y="372618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93.0%</a:t>
            </a:r>
          </a:p>
        </p:txBody>
      </p:sp>
      <p:cxnSp>
        <p:nvCxnSpPr>
          <p:cNvPr id="35" name="hl_0743"/>
          <p:cNvCxnSpPr/>
          <p:nvPr/>
        </p:nvCxnSpPr>
        <p:spPr>
          <a:xfrm>
            <a:off x="822960" y="416052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36" name="tx_0744"/>
          <p:cNvSpPr txBox="1"/>
          <p:nvPr/>
        </p:nvSpPr>
        <p:spPr>
          <a:xfrm>
            <a:off x="868680" y="4229100"/>
            <a:ext cx="3283305"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SWQ keystroke F1</a:t>
            </a:r>
          </a:p>
        </p:txBody>
      </p:sp>
      <p:sp>
        <p:nvSpPr>
          <p:cNvPr id="37" name="tx_0745"/>
          <p:cNvSpPr txBox="1"/>
          <p:nvPr/>
        </p:nvSpPr>
        <p:spPr>
          <a:xfrm>
            <a:off x="4243425" y="422910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98.4%</a:t>
            </a:r>
          </a:p>
        </p:txBody>
      </p:sp>
      <p:sp>
        <p:nvSpPr>
          <p:cNvPr id="38" name="tx_0746"/>
          <p:cNvSpPr txBox="1"/>
          <p:nvPr/>
        </p:nvSpPr>
        <p:spPr>
          <a:xfrm>
            <a:off x="6036259" y="422910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98.2%</a:t>
            </a:r>
          </a:p>
        </p:txBody>
      </p:sp>
      <p:sp>
        <p:nvSpPr>
          <p:cNvPr id="39" name="tx_0747"/>
          <p:cNvSpPr txBox="1"/>
          <p:nvPr/>
        </p:nvSpPr>
        <p:spPr>
          <a:xfrm>
            <a:off x="7829092" y="422910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99.1%</a:t>
            </a:r>
          </a:p>
        </p:txBody>
      </p:sp>
      <p:sp>
        <p:nvSpPr>
          <p:cNvPr id="40" name="tx_0748"/>
          <p:cNvSpPr txBox="1"/>
          <p:nvPr/>
        </p:nvSpPr>
        <p:spPr>
          <a:xfrm>
            <a:off x="9621926" y="422910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98.9%</a:t>
            </a:r>
          </a:p>
        </p:txBody>
      </p:sp>
      <p:cxnSp>
        <p:nvCxnSpPr>
          <p:cNvPr id="41" name="hl_0749"/>
          <p:cNvCxnSpPr/>
          <p:nvPr/>
        </p:nvCxnSpPr>
        <p:spPr>
          <a:xfrm>
            <a:off x="822960" y="466344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42" name="tx_0750"/>
          <p:cNvSpPr txBox="1"/>
          <p:nvPr/>
        </p:nvSpPr>
        <p:spPr>
          <a:xfrm>
            <a:off x="868680" y="4732020"/>
            <a:ext cx="3283305"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LLM accuracy</a:t>
            </a:r>
          </a:p>
        </p:txBody>
      </p:sp>
      <p:sp>
        <p:nvSpPr>
          <p:cNvPr id="43" name="tx_0751"/>
          <p:cNvSpPr txBox="1"/>
          <p:nvPr/>
        </p:nvSpPr>
        <p:spPr>
          <a:xfrm>
            <a:off x="4243425" y="473202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98.6%</a:t>
            </a:r>
          </a:p>
        </p:txBody>
      </p:sp>
      <p:sp>
        <p:nvSpPr>
          <p:cNvPr id="44" name="tx_0752"/>
          <p:cNvSpPr txBox="1"/>
          <p:nvPr/>
        </p:nvSpPr>
        <p:spPr>
          <a:xfrm>
            <a:off x="6036259" y="473202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98.6%</a:t>
            </a:r>
          </a:p>
        </p:txBody>
      </p:sp>
      <p:sp>
        <p:nvSpPr>
          <p:cNvPr id="45" name="tx_0753"/>
          <p:cNvSpPr txBox="1"/>
          <p:nvPr/>
        </p:nvSpPr>
        <p:spPr>
          <a:xfrm>
            <a:off x="7829092" y="473202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97.7%</a:t>
            </a:r>
          </a:p>
        </p:txBody>
      </p:sp>
      <p:sp>
        <p:nvSpPr>
          <p:cNvPr id="46" name="tx_0754"/>
          <p:cNvSpPr txBox="1"/>
          <p:nvPr/>
        </p:nvSpPr>
        <p:spPr>
          <a:xfrm>
            <a:off x="9621926" y="4732020"/>
            <a:ext cx="170139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98.0%</a:t>
            </a:r>
          </a:p>
        </p:txBody>
      </p:sp>
      <p:cxnSp>
        <p:nvCxnSpPr>
          <p:cNvPr id="47" name="hl_0755"/>
          <p:cNvCxnSpPr/>
          <p:nvPr/>
        </p:nvCxnSpPr>
        <p:spPr>
          <a:xfrm>
            <a:off x="822960" y="5166359"/>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48" name="rect_0756"/>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x_0757"/>
          <p:cNvSpPr txBox="1"/>
          <p:nvPr/>
        </p:nvSpPr>
        <p:spPr>
          <a:xfrm>
            <a:off x="822960" y="577900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Robustness covers these stressors; broader tenant interference remains open.</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758"/>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Does it hold up?</a:t>
            </a:r>
          </a:p>
        </p:txBody>
      </p:sp>
      <p:sp>
        <p:nvSpPr>
          <p:cNvPr id="3" name="tx_0759"/>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Better on two axes — honestly, not all</a:t>
            </a:r>
          </a:p>
        </p:txBody>
      </p:sp>
      <p:sp>
        <p:nvSpPr>
          <p:cNvPr id="5" name="tx_0761"/>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32</a:t>
            </a:r>
          </a:p>
        </p:txBody>
      </p:sp>
      <p:sp>
        <p:nvSpPr>
          <p:cNvPr id="6" name="tx_0762"/>
          <p:cNvSpPr txBox="1"/>
          <p:nvPr/>
        </p:nvSpPr>
        <p:spPr>
          <a:xfrm>
            <a:off x="868680" y="1783080"/>
            <a:ext cx="2650540"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WORK / MECHANISM</a:t>
            </a:r>
          </a:p>
        </p:txBody>
      </p:sp>
      <p:sp>
        <p:nvSpPr>
          <p:cNvPr id="7" name="tx_0763"/>
          <p:cNvSpPr txBox="1"/>
          <p:nvPr/>
        </p:nvSpPr>
        <p:spPr>
          <a:xfrm>
            <a:off x="3610660" y="1783080"/>
            <a:ext cx="1490471"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CAPACITY</a:t>
            </a:r>
          </a:p>
        </p:txBody>
      </p:sp>
      <p:sp>
        <p:nvSpPr>
          <p:cNvPr id="8" name="tx_0764"/>
          <p:cNvSpPr txBox="1"/>
          <p:nvPr/>
        </p:nvSpPr>
        <p:spPr>
          <a:xfrm>
            <a:off x="5192572" y="1783080"/>
            <a:ext cx="1279550"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BIT ERROR</a:t>
            </a:r>
          </a:p>
        </p:txBody>
      </p:sp>
      <p:sp>
        <p:nvSpPr>
          <p:cNvPr id="9" name="tx_0765"/>
          <p:cNvSpPr txBox="1"/>
          <p:nvPr/>
        </p:nvSpPr>
        <p:spPr>
          <a:xfrm>
            <a:off x="6563563" y="1783080"/>
            <a:ext cx="1490471"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KEYSTROKE F1</a:t>
            </a:r>
          </a:p>
        </p:txBody>
      </p:sp>
      <p:sp>
        <p:nvSpPr>
          <p:cNvPr id="10" name="tx_0766"/>
          <p:cNvSpPr txBox="1"/>
          <p:nvPr/>
        </p:nvSpPr>
        <p:spPr>
          <a:xfrm>
            <a:off x="8145474" y="1783080"/>
            <a:ext cx="1490471"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KEYSTROKE Σ</a:t>
            </a:r>
          </a:p>
        </p:txBody>
      </p:sp>
      <p:sp>
        <p:nvSpPr>
          <p:cNvPr id="11" name="tx_0767"/>
          <p:cNvSpPr txBox="1"/>
          <p:nvPr/>
        </p:nvSpPr>
        <p:spPr>
          <a:xfrm>
            <a:off x="9727386" y="1783080"/>
            <a:ext cx="1595932"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WEBSITE ACC.</a:t>
            </a:r>
          </a:p>
        </p:txBody>
      </p:sp>
      <p:cxnSp>
        <p:nvCxnSpPr>
          <p:cNvPr id="12" name="hl_0768"/>
          <p:cNvCxnSpPr/>
          <p:nvPr/>
        </p:nvCxnSpPr>
        <p:spPr>
          <a:xfrm>
            <a:off x="822960" y="2148840"/>
            <a:ext cx="10546079"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13" name="tx_0769"/>
          <p:cNvSpPr txBox="1"/>
          <p:nvPr/>
        </p:nvSpPr>
        <p:spPr>
          <a:xfrm>
            <a:off x="868680" y="2240280"/>
            <a:ext cx="2650540"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IPI</a:t>
            </a:r>
          </a:p>
        </p:txBody>
      </p:sp>
      <p:sp>
        <p:nvSpPr>
          <p:cNvPr id="14" name="tx_0770"/>
          <p:cNvSpPr txBox="1"/>
          <p:nvPr/>
        </p:nvSpPr>
        <p:spPr>
          <a:xfrm>
            <a:off x="3610660" y="2240280"/>
            <a:ext cx="149047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3.45 kbps</a:t>
            </a:r>
          </a:p>
        </p:txBody>
      </p:sp>
      <p:sp>
        <p:nvSpPr>
          <p:cNvPr id="15" name="tx_0771"/>
          <p:cNvSpPr txBox="1"/>
          <p:nvPr/>
        </p:nvSpPr>
        <p:spPr>
          <a:xfrm>
            <a:off x="5192572" y="2240280"/>
            <a:ext cx="1279550"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18.9%</a:t>
            </a:r>
          </a:p>
        </p:txBody>
      </p:sp>
      <p:sp>
        <p:nvSpPr>
          <p:cNvPr id="16" name="tx_0772"/>
          <p:cNvSpPr txBox="1"/>
          <p:nvPr/>
        </p:nvSpPr>
        <p:spPr>
          <a:xfrm>
            <a:off x="6563563" y="2240280"/>
            <a:ext cx="149047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97.9%</a:t>
            </a:r>
          </a:p>
        </p:txBody>
      </p:sp>
      <p:sp>
        <p:nvSpPr>
          <p:cNvPr id="17" name="tx_0773"/>
          <p:cNvSpPr txBox="1"/>
          <p:nvPr/>
        </p:nvSpPr>
        <p:spPr>
          <a:xfrm>
            <a:off x="8145474" y="2240280"/>
            <a:ext cx="149047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6.15 ms</a:t>
            </a:r>
          </a:p>
        </p:txBody>
      </p:sp>
      <p:sp>
        <p:nvSpPr>
          <p:cNvPr id="18" name="tx_0774"/>
          <p:cNvSpPr txBox="1"/>
          <p:nvPr/>
        </p:nvSpPr>
        <p:spPr>
          <a:xfrm>
            <a:off x="9727386" y="2240280"/>
            <a:ext cx="1595932"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 (F1 80.4%)</a:t>
            </a:r>
          </a:p>
        </p:txBody>
      </p:sp>
      <p:cxnSp>
        <p:nvCxnSpPr>
          <p:cNvPr id="19" name="hl_0775"/>
          <p:cNvCxnSpPr/>
          <p:nvPr/>
        </p:nvCxnSpPr>
        <p:spPr>
          <a:xfrm>
            <a:off x="822960" y="269748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0" name="tx_0776"/>
          <p:cNvSpPr txBox="1"/>
          <p:nvPr/>
        </p:nvSpPr>
        <p:spPr>
          <a:xfrm>
            <a:off x="868680" y="2788920"/>
            <a:ext cx="2650540"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DEVIOUS / IOTLB</a:t>
            </a:r>
          </a:p>
        </p:txBody>
      </p:sp>
      <p:sp>
        <p:nvSpPr>
          <p:cNvPr id="21" name="tx_0777"/>
          <p:cNvSpPr txBox="1"/>
          <p:nvPr/>
        </p:nvSpPr>
        <p:spPr>
          <a:xfrm>
            <a:off x="3610660" y="2788920"/>
            <a:ext cx="149047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2.16 kbps</a:t>
            </a:r>
          </a:p>
        </p:txBody>
      </p:sp>
      <p:sp>
        <p:nvSpPr>
          <p:cNvPr id="22" name="tx_0778"/>
          <p:cNvSpPr txBox="1"/>
          <p:nvPr/>
        </p:nvSpPr>
        <p:spPr>
          <a:xfrm>
            <a:off x="5192572" y="2788920"/>
            <a:ext cx="1279550"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2.18%</a:t>
            </a:r>
          </a:p>
        </p:txBody>
      </p:sp>
      <p:sp>
        <p:nvSpPr>
          <p:cNvPr id="23" name="tx_0779"/>
          <p:cNvSpPr txBox="1"/>
          <p:nvPr/>
        </p:nvSpPr>
        <p:spPr>
          <a:xfrm>
            <a:off x="6563563" y="2788920"/>
            <a:ext cx="149047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a:t>
            </a:r>
          </a:p>
        </p:txBody>
      </p:sp>
      <p:sp>
        <p:nvSpPr>
          <p:cNvPr id="24" name="tx_0780"/>
          <p:cNvSpPr txBox="1"/>
          <p:nvPr/>
        </p:nvSpPr>
        <p:spPr>
          <a:xfrm>
            <a:off x="8145474" y="2788920"/>
            <a:ext cx="149047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10.08 ms</a:t>
            </a:r>
          </a:p>
        </p:txBody>
      </p:sp>
      <p:sp>
        <p:nvSpPr>
          <p:cNvPr id="25" name="tx_0781"/>
          <p:cNvSpPr txBox="1"/>
          <p:nvPr/>
        </p:nvSpPr>
        <p:spPr>
          <a:xfrm>
            <a:off x="9727386" y="2788920"/>
            <a:ext cx="1595932"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98.9% ¹</a:t>
            </a:r>
          </a:p>
        </p:txBody>
      </p:sp>
      <p:cxnSp>
        <p:nvCxnSpPr>
          <p:cNvPr id="26" name="hl_0782"/>
          <p:cNvCxnSpPr/>
          <p:nvPr/>
        </p:nvCxnSpPr>
        <p:spPr>
          <a:xfrm>
            <a:off x="822960" y="324612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7" name="tx_0783"/>
          <p:cNvSpPr txBox="1"/>
          <p:nvPr/>
        </p:nvSpPr>
        <p:spPr>
          <a:xfrm>
            <a:off x="868680" y="3337560"/>
            <a:ext cx="2650540" cy="365760"/>
          </a:xfrm>
          <a:prstGeom prst="rect">
            <a:avLst/>
          </a:prstGeom>
          <a:noFill/>
        </p:spPr>
        <p:txBody>
          <a:bodyPr wrap="square" lIns="0" rIns="0" tIns="0" bIns="0" anchor="ctr">
            <a:spAutoFit/>
          </a:bodyPr>
          <a:lstStyle/>
          <a:p>
            <a:pPr>
              <a:spcAft>
                <a:spcPts val="400"/>
              </a:spcAft>
              <a:defRPr sz="1600" b="0" i="0">
                <a:solidFill>
                  <a:srgbClr val="0071E3"/>
                </a:solidFill>
                <a:latin typeface="Segoe UI Semibold"/>
              </a:defRPr>
            </a:pPr>
            <a:r>
              <a:t>This work / DevTLB</a:t>
            </a:r>
          </a:p>
        </p:txBody>
      </p:sp>
      <p:sp>
        <p:nvSpPr>
          <p:cNvPr id="28" name="tx_0784"/>
          <p:cNvSpPr txBox="1"/>
          <p:nvPr/>
        </p:nvSpPr>
        <p:spPr>
          <a:xfrm>
            <a:off x="3610660" y="3337560"/>
            <a:ext cx="1490471" cy="365760"/>
          </a:xfrm>
          <a:prstGeom prst="rect">
            <a:avLst/>
          </a:prstGeom>
          <a:noFill/>
        </p:spPr>
        <p:txBody>
          <a:bodyPr wrap="square" lIns="0" rIns="0" tIns="0" bIns="0" anchor="ctr">
            <a:spAutoFit/>
          </a:bodyPr>
          <a:lstStyle/>
          <a:p>
            <a:pPr>
              <a:spcAft>
                <a:spcPts val="400"/>
              </a:spcAft>
              <a:defRPr sz="1600" b="0" i="0">
                <a:solidFill>
                  <a:srgbClr val="0071E3"/>
                </a:solidFill>
                <a:latin typeface="Segoe UI Semibold"/>
              </a:defRPr>
            </a:pPr>
            <a:r>
              <a:t>17.19 kbps</a:t>
            </a:r>
          </a:p>
        </p:txBody>
      </p:sp>
      <p:sp>
        <p:nvSpPr>
          <p:cNvPr id="29" name="tx_0785"/>
          <p:cNvSpPr txBox="1"/>
          <p:nvPr/>
        </p:nvSpPr>
        <p:spPr>
          <a:xfrm>
            <a:off x="5192572" y="3337560"/>
            <a:ext cx="1279550" cy="365760"/>
          </a:xfrm>
          <a:prstGeom prst="rect">
            <a:avLst/>
          </a:prstGeom>
          <a:noFill/>
        </p:spPr>
        <p:txBody>
          <a:bodyPr wrap="square" lIns="0" rIns="0" tIns="0" bIns="0" anchor="ctr">
            <a:spAutoFit/>
          </a:bodyPr>
          <a:lstStyle/>
          <a:p>
            <a:pPr>
              <a:spcAft>
                <a:spcPts val="400"/>
              </a:spcAft>
              <a:defRPr sz="1600" b="0" i="0">
                <a:solidFill>
                  <a:srgbClr val="0071E3"/>
                </a:solidFill>
                <a:latin typeface="Segoe UI Semibold"/>
              </a:defRPr>
            </a:pPr>
            <a:r>
              <a:t>4.63%</a:t>
            </a:r>
          </a:p>
        </p:txBody>
      </p:sp>
      <p:sp>
        <p:nvSpPr>
          <p:cNvPr id="30" name="tx_0786"/>
          <p:cNvSpPr txBox="1"/>
          <p:nvPr/>
        </p:nvSpPr>
        <p:spPr>
          <a:xfrm>
            <a:off x="6563563" y="3337560"/>
            <a:ext cx="1490471" cy="365760"/>
          </a:xfrm>
          <a:prstGeom prst="rect">
            <a:avLst/>
          </a:prstGeom>
          <a:noFill/>
        </p:spPr>
        <p:txBody>
          <a:bodyPr wrap="square" lIns="0" rIns="0" tIns="0" bIns="0" anchor="ctr">
            <a:spAutoFit/>
          </a:bodyPr>
          <a:lstStyle/>
          <a:p>
            <a:pPr>
              <a:spcAft>
                <a:spcPts val="400"/>
              </a:spcAft>
              <a:defRPr sz="1600" b="0" i="0">
                <a:solidFill>
                  <a:srgbClr val="0071E3"/>
                </a:solidFill>
                <a:latin typeface="Segoe UI Semibold"/>
              </a:defRPr>
            </a:pPr>
            <a:r>
              <a:t>92.0%</a:t>
            </a:r>
          </a:p>
        </p:txBody>
      </p:sp>
      <p:sp>
        <p:nvSpPr>
          <p:cNvPr id="31" name="tx_0787"/>
          <p:cNvSpPr txBox="1"/>
          <p:nvPr/>
        </p:nvSpPr>
        <p:spPr>
          <a:xfrm>
            <a:off x="8145474" y="3337560"/>
            <a:ext cx="1490471" cy="365760"/>
          </a:xfrm>
          <a:prstGeom prst="rect">
            <a:avLst/>
          </a:prstGeom>
          <a:noFill/>
        </p:spPr>
        <p:txBody>
          <a:bodyPr wrap="square" lIns="0" rIns="0" tIns="0" bIns="0" anchor="ctr">
            <a:spAutoFit/>
          </a:bodyPr>
          <a:lstStyle/>
          <a:p>
            <a:pPr>
              <a:spcAft>
                <a:spcPts val="400"/>
              </a:spcAft>
              <a:defRPr sz="1600" b="0" i="0">
                <a:solidFill>
                  <a:srgbClr val="0071E3"/>
                </a:solidFill>
                <a:latin typeface="Segoe UI Semibold"/>
              </a:defRPr>
            </a:pPr>
            <a:r>
              <a:t>5.29 ms</a:t>
            </a:r>
          </a:p>
        </p:txBody>
      </p:sp>
      <p:sp>
        <p:nvSpPr>
          <p:cNvPr id="32" name="tx_0788"/>
          <p:cNvSpPr txBox="1"/>
          <p:nvPr/>
        </p:nvSpPr>
        <p:spPr>
          <a:xfrm>
            <a:off x="9727386" y="3337560"/>
            <a:ext cx="1595932" cy="365760"/>
          </a:xfrm>
          <a:prstGeom prst="rect">
            <a:avLst/>
          </a:prstGeom>
          <a:noFill/>
        </p:spPr>
        <p:txBody>
          <a:bodyPr wrap="square" lIns="0" rIns="0" tIns="0" bIns="0" anchor="ctr">
            <a:spAutoFit/>
          </a:bodyPr>
          <a:lstStyle/>
          <a:p>
            <a:pPr>
              <a:spcAft>
                <a:spcPts val="400"/>
              </a:spcAft>
              <a:defRPr sz="1600" b="0" i="0">
                <a:solidFill>
                  <a:srgbClr val="0071E3"/>
                </a:solidFill>
                <a:latin typeface="Segoe UI Semibold"/>
              </a:defRPr>
            </a:pPr>
            <a:r>
              <a:t>85.7%</a:t>
            </a:r>
          </a:p>
        </p:txBody>
      </p:sp>
      <p:cxnSp>
        <p:nvCxnSpPr>
          <p:cNvPr id="33" name="hl_0789"/>
          <p:cNvCxnSpPr/>
          <p:nvPr/>
        </p:nvCxnSpPr>
        <p:spPr>
          <a:xfrm>
            <a:off x="822960" y="3794759"/>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34" name="tx_0790"/>
          <p:cNvSpPr txBox="1"/>
          <p:nvPr/>
        </p:nvSpPr>
        <p:spPr>
          <a:xfrm>
            <a:off x="868680" y="3886200"/>
            <a:ext cx="2650540" cy="365760"/>
          </a:xfrm>
          <a:prstGeom prst="rect">
            <a:avLst/>
          </a:prstGeom>
          <a:noFill/>
        </p:spPr>
        <p:txBody>
          <a:bodyPr wrap="square" lIns="0" rIns="0" tIns="0" bIns="0" anchor="ctr">
            <a:spAutoFit/>
          </a:bodyPr>
          <a:lstStyle/>
          <a:p>
            <a:pPr>
              <a:spcAft>
                <a:spcPts val="400"/>
              </a:spcAft>
              <a:defRPr sz="1600" b="0" i="0">
                <a:solidFill>
                  <a:srgbClr val="0071E3"/>
                </a:solidFill>
                <a:latin typeface="Segoe UI Semibold"/>
              </a:defRPr>
            </a:pPr>
            <a:r>
              <a:t>This work / SWQ</a:t>
            </a:r>
          </a:p>
        </p:txBody>
      </p:sp>
      <p:sp>
        <p:nvSpPr>
          <p:cNvPr id="35" name="tx_0791"/>
          <p:cNvSpPr txBox="1"/>
          <p:nvPr/>
        </p:nvSpPr>
        <p:spPr>
          <a:xfrm>
            <a:off x="3610660" y="3886200"/>
            <a:ext cx="1490471" cy="365760"/>
          </a:xfrm>
          <a:prstGeom prst="rect">
            <a:avLst/>
          </a:prstGeom>
          <a:noFill/>
        </p:spPr>
        <p:txBody>
          <a:bodyPr wrap="square" lIns="0" rIns="0" tIns="0" bIns="0" anchor="ctr">
            <a:spAutoFit/>
          </a:bodyPr>
          <a:lstStyle/>
          <a:p>
            <a:pPr>
              <a:spcAft>
                <a:spcPts val="400"/>
              </a:spcAft>
              <a:defRPr sz="1600" b="0" i="0">
                <a:solidFill>
                  <a:srgbClr val="0071E3"/>
                </a:solidFill>
                <a:latin typeface="Segoe UI Semibold"/>
              </a:defRPr>
            </a:pPr>
            <a:r>
              <a:t>4.02 kbps</a:t>
            </a:r>
          </a:p>
        </p:txBody>
      </p:sp>
      <p:sp>
        <p:nvSpPr>
          <p:cNvPr id="36" name="tx_0792"/>
          <p:cNvSpPr txBox="1"/>
          <p:nvPr/>
        </p:nvSpPr>
        <p:spPr>
          <a:xfrm>
            <a:off x="5192572" y="3886200"/>
            <a:ext cx="1279550" cy="365760"/>
          </a:xfrm>
          <a:prstGeom prst="rect">
            <a:avLst/>
          </a:prstGeom>
          <a:noFill/>
        </p:spPr>
        <p:txBody>
          <a:bodyPr wrap="square" lIns="0" rIns="0" tIns="0" bIns="0" anchor="ctr">
            <a:spAutoFit/>
          </a:bodyPr>
          <a:lstStyle/>
          <a:p>
            <a:pPr>
              <a:spcAft>
                <a:spcPts val="400"/>
              </a:spcAft>
              <a:defRPr sz="1600" b="0" i="0">
                <a:solidFill>
                  <a:srgbClr val="0071E3"/>
                </a:solidFill>
                <a:latin typeface="Segoe UI Semibold"/>
              </a:defRPr>
            </a:pPr>
            <a:r>
              <a:t>13.11%</a:t>
            </a:r>
          </a:p>
        </p:txBody>
      </p:sp>
      <p:sp>
        <p:nvSpPr>
          <p:cNvPr id="37" name="tx_0793"/>
          <p:cNvSpPr txBox="1"/>
          <p:nvPr/>
        </p:nvSpPr>
        <p:spPr>
          <a:xfrm>
            <a:off x="6563563" y="3886200"/>
            <a:ext cx="1490471" cy="365760"/>
          </a:xfrm>
          <a:prstGeom prst="rect">
            <a:avLst/>
          </a:prstGeom>
          <a:noFill/>
        </p:spPr>
        <p:txBody>
          <a:bodyPr wrap="square" lIns="0" rIns="0" tIns="0" bIns="0" anchor="ctr">
            <a:spAutoFit/>
          </a:bodyPr>
          <a:lstStyle/>
          <a:p>
            <a:pPr>
              <a:spcAft>
                <a:spcPts val="400"/>
              </a:spcAft>
              <a:defRPr sz="1600" b="0" i="0">
                <a:solidFill>
                  <a:srgbClr val="0071E3"/>
                </a:solidFill>
                <a:latin typeface="Segoe UI Semibold"/>
              </a:defRPr>
            </a:pPr>
            <a:r>
              <a:t>98.4%</a:t>
            </a:r>
          </a:p>
        </p:txBody>
      </p:sp>
      <p:sp>
        <p:nvSpPr>
          <p:cNvPr id="38" name="tx_0794"/>
          <p:cNvSpPr txBox="1"/>
          <p:nvPr/>
        </p:nvSpPr>
        <p:spPr>
          <a:xfrm>
            <a:off x="8145474" y="3886200"/>
            <a:ext cx="1490471" cy="365760"/>
          </a:xfrm>
          <a:prstGeom prst="rect">
            <a:avLst/>
          </a:prstGeom>
          <a:noFill/>
        </p:spPr>
        <p:txBody>
          <a:bodyPr wrap="square" lIns="0" rIns="0" tIns="0" bIns="0" anchor="ctr">
            <a:spAutoFit/>
          </a:bodyPr>
          <a:lstStyle/>
          <a:p>
            <a:pPr>
              <a:spcAft>
                <a:spcPts val="400"/>
              </a:spcAft>
              <a:defRPr sz="1600" b="0" i="0">
                <a:solidFill>
                  <a:srgbClr val="0071E3"/>
                </a:solidFill>
                <a:latin typeface="Segoe UI Semibold"/>
              </a:defRPr>
            </a:pPr>
            <a:r>
              <a:t>1.21 ms</a:t>
            </a:r>
          </a:p>
        </p:txBody>
      </p:sp>
      <p:sp>
        <p:nvSpPr>
          <p:cNvPr id="39" name="tx_0795"/>
          <p:cNvSpPr txBox="1"/>
          <p:nvPr/>
        </p:nvSpPr>
        <p:spPr>
          <a:xfrm>
            <a:off x="9727386" y="3886200"/>
            <a:ext cx="1595932" cy="365760"/>
          </a:xfrm>
          <a:prstGeom prst="rect">
            <a:avLst/>
          </a:prstGeom>
          <a:noFill/>
        </p:spPr>
        <p:txBody>
          <a:bodyPr wrap="square" lIns="0" rIns="0" tIns="0" bIns="0" anchor="ctr">
            <a:spAutoFit/>
          </a:bodyPr>
          <a:lstStyle/>
          <a:p>
            <a:pPr>
              <a:spcAft>
                <a:spcPts val="400"/>
              </a:spcAft>
              <a:defRPr sz="1600" b="0" i="0">
                <a:solidFill>
                  <a:srgbClr val="0071E3"/>
                </a:solidFill>
                <a:latin typeface="Segoe UI Semibold"/>
              </a:defRPr>
            </a:pPr>
            <a:r>
              <a:t>—</a:t>
            </a:r>
          </a:p>
        </p:txBody>
      </p:sp>
      <p:cxnSp>
        <p:nvCxnSpPr>
          <p:cNvPr id="40" name="hl_0796"/>
          <p:cNvCxnSpPr/>
          <p:nvPr/>
        </p:nvCxnSpPr>
        <p:spPr>
          <a:xfrm>
            <a:off x="822960" y="434340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41" name="tx_0797"/>
          <p:cNvSpPr txBox="1"/>
          <p:nvPr/>
        </p:nvSpPr>
        <p:spPr>
          <a:xfrm>
            <a:off x="822960" y="4709160"/>
            <a:ext cx="10546079" cy="365760"/>
          </a:xfrm>
          <a:prstGeom prst="rect">
            <a:avLst/>
          </a:prstGeom>
          <a:noFill/>
        </p:spPr>
        <p:txBody>
          <a:bodyPr wrap="square" lIns="0" rIns="0" tIns="0" bIns="0">
            <a:spAutoFit/>
          </a:bodyPr>
          <a:lstStyle/>
          <a:p>
            <a:pPr>
              <a:spcAft>
                <a:spcPts val="400"/>
              </a:spcAft>
              <a:defRPr sz="1400" b="0" i="1">
                <a:solidFill>
                  <a:srgbClr val="6E6E73"/>
                </a:solidFill>
                <a:latin typeface="Segoe UI"/>
              </a:defRPr>
            </a:pPr>
            <a:r>
              <a:t>¹ DEVIOUS traces include GPU fingerprints; its IOTLB channel is since mitigated by PASID.   IPI’s keystroke F1 beats DevTLB; DEVIOUS’s bit error beats both.</a:t>
            </a:r>
          </a:p>
        </p:txBody>
      </p:sp>
      <p:sp>
        <p:nvSpPr>
          <p:cNvPr id="42" name="rect_0798"/>
          <p:cNvSpPr/>
          <p:nvPr/>
        </p:nvSpPr>
        <p:spPr>
          <a:xfrm>
            <a:off x="822960" y="562356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x_0799"/>
          <p:cNvSpPr txBox="1"/>
          <p:nvPr/>
        </p:nvSpPr>
        <p:spPr>
          <a:xfrm>
            <a:off x="822960" y="577900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Best on capacity (DevTLB) and keystroke timing (SWQ) — not on every axis.</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800"/>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Does it hold up?</a:t>
            </a:r>
          </a:p>
        </p:txBody>
      </p:sp>
      <p:sp>
        <p:nvSpPr>
          <p:cNvPr id="3" name="tx_0801"/>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The clean hardware fix costs the thing DSA is for</a:t>
            </a:r>
          </a:p>
        </p:txBody>
      </p:sp>
      <p:sp>
        <p:nvSpPr>
          <p:cNvPr id="5" name="tx_0803"/>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33</a:t>
            </a:r>
          </a:p>
        </p:txBody>
      </p:sp>
      <p:sp>
        <p:nvSpPr>
          <p:cNvPr id="6" name="rect_0804"/>
          <p:cNvSpPr/>
          <p:nvPr/>
        </p:nvSpPr>
        <p:spPr>
          <a:xfrm>
            <a:off x="822960" y="1783080"/>
            <a:ext cx="5212080" cy="2743200"/>
          </a:xfrm>
          <a:prstGeom prst="roundRect">
            <a:avLst>
              <a:gd name="adj" fmla="val 7333"/>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x_0805"/>
          <p:cNvSpPr txBox="1"/>
          <p:nvPr/>
        </p:nvSpPr>
        <p:spPr>
          <a:xfrm>
            <a:off x="1143000" y="2075688"/>
            <a:ext cx="4572000" cy="548640"/>
          </a:xfrm>
          <a:prstGeom prst="rect">
            <a:avLst/>
          </a:prstGeom>
          <a:noFill/>
        </p:spPr>
        <p:txBody>
          <a:bodyPr wrap="square" lIns="0" rIns="0" tIns="0" bIns="0">
            <a:spAutoFit/>
          </a:bodyPr>
          <a:lstStyle/>
          <a:p>
            <a:pPr>
              <a:spcAft>
                <a:spcPts val="400"/>
              </a:spcAft>
              <a:defRPr sz="2200" b="0" i="0">
                <a:solidFill>
                  <a:srgbClr val="0071E3"/>
                </a:solidFill>
                <a:latin typeface="Segoe UI Semibold"/>
              </a:defRPr>
            </a:pPr>
            <a:r>
              <a:t>DevTLB</a:t>
            </a:r>
          </a:p>
        </p:txBody>
      </p:sp>
      <p:sp>
        <p:nvSpPr>
          <p:cNvPr id="8" name="tx_0806"/>
          <p:cNvSpPr txBox="1"/>
          <p:nvPr/>
        </p:nvSpPr>
        <p:spPr>
          <a:xfrm>
            <a:off x="1143000" y="2697480"/>
            <a:ext cx="4572000" cy="1645920"/>
          </a:xfrm>
          <a:prstGeom prst="rect">
            <a:avLst/>
          </a:prstGeom>
          <a:noFill/>
        </p:spPr>
        <p:txBody>
          <a:bodyPr wrap="square" lIns="0" rIns="0" tIns="0" bIns="0">
            <a:spAutoFit/>
          </a:bodyPr>
          <a:lstStyle/>
          <a:p>
            <a:pPr>
              <a:lnSpc>
                <a:spcPct val="110000"/>
              </a:lnSpc>
              <a:spcAft>
                <a:spcPts val="600"/>
              </a:spcAft>
              <a:defRPr sz="1800" b="0" i="0">
                <a:solidFill>
                  <a:srgbClr val="6E6E73"/>
                </a:solidFill>
                <a:latin typeface="Segoe UI"/>
              </a:defRPr>
            </a:pPr>
            <a:r>
              <a:t>Partition replacement state by PASID</a:t>
            </a:r>
          </a:p>
          <a:p>
            <a:pPr>
              <a:lnSpc>
                <a:spcPct val="110000"/>
              </a:lnSpc>
              <a:spcAft>
                <a:spcPts val="600"/>
              </a:spcAft>
              <a:defRPr sz="1800" b="0" i="0">
                <a:solidFill>
                  <a:srgbClr val="6E6E73"/>
                </a:solidFill>
                <a:latin typeface="Segoe UI"/>
              </a:defRPr>
            </a:pPr>
          </a:p>
          <a:p>
            <a:pPr>
              <a:lnSpc>
                <a:spcPct val="110000"/>
              </a:lnSpc>
              <a:spcAft>
                <a:spcPts val="600"/>
              </a:spcAft>
              <a:defRPr sz="1800" b="0" i="0">
                <a:solidFill>
                  <a:srgbClr val="6E6E73"/>
                </a:solidFill>
                <a:latin typeface="Segoe UI"/>
              </a:defRPr>
            </a:pPr>
            <a:r>
              <a:t>Cost: capacity · area · utilization</a:t>
            </a:r>
          </a:p>
          <a:p>
            <a:pPr>
              <a:lnSpc>
                <a:spcPct val="110000"/>
              </a:lnSpc>
              <a:spcAft>
                <a:spcPts val="600"/>
              </a:spcAft>
              <a:defRPr sz="1800" b="0" i="0">
                <a:solidFill>
                  <a:srgbClr val="6E6E73"/>
                </a:solidFill>
                <a:latin typeface="Segoe UI"/>
              </a:defRPr>
            </a:pPr>
            <a:r>
              <a:t>Goal: block cross-tenant eviction</a:t>
            </a:r>
          </a:p>
        </p:txBody>
      </p:sp>
      <p:sp>
        <p:nvSpPr>
          <p:cNvPr id="9" name="rect_0807"/>
          <p:cNvSpPr/>
          <p:nvPr/>
        </p:nvSpPr>
        <p:spPr>
          <a:xfrm>
            <a:off x="6156959" y="1783080"/>
            <a:ext cx="5212080" cy="2743200"/>
          </a:xfrm>
          <a:prstGeom prst="roundRect">
            <a:avLst>
              <a:gd name="adj" fmla="val 7333"/>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x_0808"/>
          <p:cNvSpPr txBox="1"/>
          <p:nvPr/>
        </p:nvSpPr>
        <p:spPr>
          <a:xfrm>
            <a:off x="6476999" y="2075688"/>
            <a:ext cx="4572000" cy="548640"/>
          </a:xfrm>
          <a:prstGeom prst="rect">
            <a:avLst/>
          </a:prstGeom>
          <a:noFill/>
        </p:spPr>
        <p:txBody>
          <a:bodyPr wrap="square" lIns="0" rIns="0" tIns="0" bIns="0">
            <a:spAutoFit/>
          </a:bodyPr>
          <a:lstStyle/>
          <a:p>
            <a:pPr>
              <a:spcAft>
                <a:spcPts val="400"/>
              </a:spcAft>
              <a:defRPr sz="2200" b="0" i="0">
                <a:solidFill>
                  <a:srgbClr val="D70015"/>
                </a:solidFill>
                <a:latin typeface="Segoe UI Semibold"/>
              </a:defRPr>
            </a:pPr>
            <a:r>
              <a:t>SWQ</a:t>
            </a:r>
          </a:p>
        </p:txBody>
      </p:sp>
      <p:sp>
        <p:nvSpPr>
          <p:cNvPr id="11" name="tx_0809"/>
          <p:cNvSpPr txBox="1"/>
          <p:nvPr/>
        </p:nvSpPr>
        <p:spPr>
          <a:xfrm>
            <a:off x="6476999" y="2697480"/>
            <a:ext cx="4572000" cy="1645920"/>
          </a:xfrm>
          <a:prstGeom prst="rect">
            <a:avLst/>
          </a:prstGeom>
          <a:noFill/>
        </p:spPr>
        <p:txBody>
          <a:bodyPr wrap="square" lIns="0" rIns="0" tIns="0" bIns="0">
            <a:spAutoFit/>
          </a:bodyPr>
          <a:lstStyle/>
          <a:p>
            <a:pPr>
              <a:lnSpc>
                <a:spcPct val="110000"/>
              </a:lnSpc>
              <a:spcAft>
                <a:spcPts val="600"/>
              </a:spcAft>
              <a:defRPr sz="1800" b="0" i="0">
                <a:solidFill>
                  <a:srgbClr val="6E6E73"/>
                </a:solidFill>
                <a:latin typeface="Segoe UI"/>
              </a:defRPr>
            </a:pPr>
            <a:r>
              <a:t>Make queue-state feedback privileged</a:t>
            </a:r>
          </a:p>
          <a:p>
            <a:pPr>
              <a:lnSpc>
                <a:spcPct val="110000"/>
              </a:lnSpc>
              <a:spcAft>
                <a:spcPts val="600"/>
              </a:spcAft>
              <a:defRPr sz="1800" b="0" i="0">
                <a:solidFill>
                  <a:srgbClr val="6E6E73"/>
                </a:solidFill>
                <a:latin typeface="Segoe UI"/>
              </a:defRPr>
            </a:pPr>
          </a:p>
          <a:p>
            <a:pPr>
              <a:lnSpc>
                <a:spcPct val="110000"/>
              </a:lnSpc>
              <a:spcAft>
                <a:spcPts val="600"/>
              </a:spcAft>
              <a:defRPr sz="1800" b="0" i="0">
                <a:solidFill>
                  <a:srgbClr val="6E6E73"/>
                </a:solidFill>
                <a:latin typeface="Segoe UI"/>
              </a:defRPr>
            </a:pPr>
            <a:r>
              <a:t>Challenge: legit submission retries</a:t>
            </a:r>
          </a:p>
          <a:p>
            <a:pPr>
              <a:lnSpc>
                <a:spcPct val="110000"/>
              </a:lnSpc>
              <a:spcAft>
                <a:spcPts val="600"/>
              </a:spcAft>
              <a:defRPr sz="1800" b="0" i="0">
                <a:solidFill>
                  <a:srgbClr val="6E6E73"/>
                </a:solidFill>
                <a:latin typeface="Segoe UI"/>
              </a:defRPr>
            </a:pPr>
            <a:r>
              <a:t>Goal: block occupancy inference</a:t>
            </a:r>
          </a:p>
        </p:txBody>
      </p:sp>
      <p:sp>
        <p:nvSpPr>
          <p:cNvPr id="12" name="rect_0810"/>
          <p:cNvSpPr/>
          <p:nvPr/>
        </p:nvSpPr>
        <p:spPr>
          <a:xfrm>
            <a:off x="822960" y="512064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x_0811"/>
          <p:cNvSpPr txBox="1"/>
          <p:nvPr/>
        </p:nvSpPr>
        <p:spPr>
          <a:xfrm>
            <a:off x="822960" y="527608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A defense must constrain interference and feedback, not just permissions.</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812"/>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Does it hold up?</a:t>
            </a:r>
          </a:p>
        </p:txBody>
      </p:sp>
      <p:sp>
        <p:nvSpPr>
          <p:cNvPr id="3" name="tx_0813"/>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What an operator can do right now</a:t>
            </a:r>
          </a:p>
        </p:txBody>
      </p:sp>
      <p:sp>
        <p:nvSpPr>
          <p:cNvPr id="5" name="tx_0815"/>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34</a:t>
            </a:r>
          </a:p>
        </p:txBody>
      </p:sp>
      <p:sp>
        <p:nvSpPr>
          <p:cNvPr id="6" name="tx_0816"/>
          <p:cNvSpPr txBox="1"/>
          <p:nvPr/>
        </p:nvSpPr>
        <p:spPr>
          <a:xfrm>
            <a:off x="868680" y="1783080"/>
            <a:ext cx="3072383"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EXPOSURE</a:t>
            </a:r>
          </a:p>
        </p:txBody>
      </p:sp>
      <p:sp>
        <p:nvSpPr>
          <p:cNvPr id="7" name="tx_0817"/>
          <p:cNvSpPr txBox="1"/>
          <p:nvPr/>
        </p:nvSpPr>
        <p:spPr>
          <a:xfrm>
            <a:off x="4032503" y="1783080"/>
            <a:ext cx="2861462"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BOUNDARY</a:t>
            </a:r>
          </a:p>
        </p:txBody>
      </p:sp>
      <p:sp>
        <p:nvSpPr>
          <p:cNvPr id="8" name="tx_0818"/>
          <p:cNvSpPr txBox="1"/>
          <p:nvPr/>
        </p:nvSpPr>
        <p:spPr>
          <a:xfrm>
            <a:off x="6985406" y="1783080"/>
            <a:ext cx="4337913"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SOFTWARE RESPONSE</a:t>
            </a:r>
          </a:p>
        </p:txBody>
      </p:sp>
      <p:cxnSp>
        <p:nvCxnSpPr>
          <p:cNvPr id="9" name="hl_0819"/>
          <p:cNvCxnSpPr/>
          <p:nvPr/>
        </p:nvCxnSpPr>
        <p:spPr>
          <a:xfrm>
            <a:off x="822960" y="2148840"/>
            <a:ext cx="10546079"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10" name="tx_0820"/>
          <p:cNvSpPr txBox="1"/>
          <p:nvPr/>
        </p:nvSpPr>
        <p:spPr>
          <a:xfrm>
            <a:off x="868680" y="2295144"/>
            <a:ext cx="3072383"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Semibold"/>
              </a:defRPr>
            </a:pPr>
            <a:r>
              <a:t>DevTLB eviction</a:t>
            </a:r>
          </a:p>
        </p:txBody>
      </p:sp>
      <p:sp>
        <p:nvSpPr>
          <p:cNvPr id="11" name="tx_0821"/>
          <p:cNvSpPr txBox="1"/>
          <p:nvPr/>
        </p:nvSpPr>
        <p:spPr>
          <a:xfrm>
            <a:off x="4032503" y="2295144"/>
            <a:ext cx="2861462" cy="365760"/>
          </a:xfrm>
          <a:prstGeom prst="rect">
            <a:avLst/>
          </a:prstGeom>
          <a:noFill/>
        </p:spPr>
        <p:txBody>
          <a:bodyPr wrap="square" lIns="0" rIns="0" tIns="0" bIns="0" anchor="ctr">
            <a:spAutoFit/>
          </a:bodyPr>
          <a:lstStyle/>
          <a:p>
            <a:pPr>
              <a:spcAft>
                <a:spcPts val="400"/>
              </a:spcAft>
              <a:defRPr sz="1800" b="0" i="0">
                <a:solidFill>
                  <a:srgbClr val="6E6E73"/>
                </a:solidFill>
                <a:latin typeface="Segoe UI"/>
              </a:defRPr>
            </a:pPr>
            <a:r>
              <a:t>DSA engine</a:t>
            </a:r>
          </a:p>
        </p:txBody>
      </p:sp>
      <p:sp>
        <p:nvSpPr>
          <p:cNvPr id="12" name="tx_0822"/>
          <p:cNvSpPr txBox="1"/>
          <p:nvPr/>
        </p:nvSpPr>
        <p:spPr>
          <a:xfrm>
            <a:off x="6985406" y="2295144"/>
            <a:ext cx="4337913"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a:defRPr>
            </a:pPr>
            <a:r>
              <a:t>Allocate engines by trust domain</a:t>
            </a:r>
          </a:p>
        </p:txBody>
      </p:sp>
      <p:cxnSp>
        <p:nvCxnSpPr>
          <p:cNvPr id="13" name="hl_0823"/>
          <p:cNvCxnSpPr/>
          <p:nvPr/>
        </p:nvCxnSpPr>
        <p:spPr>
          <a:xfrm>
            <a:off x="822960" y="2807208"/>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4" name="tx_0824"/>
          <p:cNvSpPr txBox="1"/>
          <p:nvPr/>
        </p:nvSpPr>
        <p:spPr>
          <a:xfrm>
            <a:off x="868680" y="2953512"/>
            <a:ext cx="3072383"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Semibold"/>
              </a:defRPr>
            </a:pPr>
            <a:r>
              <a:t>SWQ admission feedback</a:t>
            </a:r>
          </a:p>
        </p:txBody>
      </p:sp>
      <p:sp>
        <p:nvSpPr>
          <p:cNvPr id="15" name="tx_0825"/>
          <p:cNvSpPr txBox="1"/>
          <p:nvPr/>
        </p:nvSpPr>
        <p:spPr>
          <a:xfrm>
            <a:off x="4032503" y="2953512"/>
            <a:ext cx="2861462" cy="365760"/>
          </a:xfrm>
          <a:prstGeom prst="rect">
            <a:avLst/>
          </a:prstGeom>
          <a:noFill/>
        </p:spPr>
        <p:txBody>
          <a:bodyPr wrap="square" lIns="0" rIns="0" tIns="0" bIns="0" anchor="ctr">
            <a:spAutoFit/>
          </a:bodyPr>
          <a:lstStyle/>
          <a:p>
            <a:pPr>
              <a:spcAft>
                <a:spcPts val="400"/>
              </a:spcAft>
              <a:defRPr sz="1800" b="0" i="0">
                <a:solidFill>
                  <a:srgbClr val="6E6E73"/>
                </a:solidFill>
                <a:latin typeface="Segoe UI"/>
              </a:defRPr>
            </a:pPr>
            <a:r>
              <a:t>shared work queue</a:t>
            </a:r>
          </a:p>
        </p:txBody>
      </p:sp>
      <p:sp>
        <p:nvSpPr>
          <p:cNvPr id="16" name="tx_0826"/>
          <p:cNvSpPr txBox="1"/>
          <p:nvPr/>
        </p:nvSpPr>
        <p:spPr>
          <a:xfrm>
            <a:off x="6985406" y="2953512"/>
            <a:ext cx="4337913"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a:defRPr>
            </a:pPr>
            <a:r>
              <a:t>Avoid cross-tenant SWQ sharing</a:t>
            </a:r>
          </a:p>
        </p:txBody>
      </p:sp>
      <p:cxnSp>
        <p:nvCxnSpPr>
          <p:cNvPr id="17" name="hl_0827"/>
          <p:cNvCxnSpPr/>
          <p:nvPr/>
        </p:nvCxnSpPr>
        <p:spPr>
          <a:xfrm>
            <a:off x="822960" y="3465576"/>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8" name="tx_0828"/>
          <p:cNvSpPr txBox="1"/>
          <p:nvPr/>
        </p:nvSpPr>
        <p:spPr>
          <a:xfrm>
            <a:off x="868680" y="3611880"/>
            <a:ext cx="3072383"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Semibold"/>
              </a:defRPr>
            </a:pPr>
            <a:r>
              <a:t>Sensitive-op offload</a:t>
            </a:r>
          </a:p>
        </p:txBody>
      </p:sp>
      <p:sp>
        <p:nvSpPr>
          <p:cNvPr id="19" name="tx_0829"/>
          <p:cNvSpPr txBox="1"/>
          <p:nvPr/>
        </p:nvSpPr>
        <p:spPr>
          <a:xfrm>
            <a:off x="4032503" y="3611880"/>
            <a:ext cx="2861462" cy="365760"/>
          </a:xfrm>
          <a:prstGeom prst="rect">
            <a:avLst/>
          </a:prstGeom>
          <a:noFill/>
        </p:spPr>
        <p:txBody>
          <a:bodyPr wrap="square" lIns="0" rIns="0" tIns="0" bIns="0" anchor="ctr">
            <a:spAutoFit/>
          </a:bodyPr>
          <a:lstStyle/>
          <a:p>
            <a:pPr>
              <a:spcAft>
                <a:spcPts val="400"/>
              </a:spcAft>
              <a:defRPr sz="1800" b="0" i="0">
                <a:solidFill>
                  <a:srgbClr val="6E6E73"/>
                </a:solidFill>
                <a:latin typeface="Segoe UI"/>
              </a:defRPr>
            </a:pPr>
            <a:r>
              <a:t>application path</a:t>
            </a:r>
          </a:p>
        </p:txBody>
      </p:sp>
      <p:sp>
        <p:nvSpPr>
          <p:cNvPr id="20" name="tx_0830"/>
          <p:cNvSpPr txBox="1"/>
          <p:nvPr/>
        </p:nvSpPr>
        <p:spPr>
          <a:xfrm>
            <a:off x="6985406" y="3611880"/>
            <a:ext cx="4337913" cy="365760"/>
          </a:xfrm>
          <a:prstGeom prst="rect">
            <a:avLst/>
          </a:prstGeom>
          <a:noFill/>
        </p:spPr>
        <p:txBody>
          <a:bodyPr wrap="square" lIns="0" rIns="0" tIns="0" bIns="0" anchor="ctr">
            <a:spAutoFit/>
          </a:bodyPr>
          <a:lstStyle/>
          <a:p>
            <a:pPr>
              <a:spcAft>
                <a:spcPts val="400"/>
              </a:spcAft>
              <a:defRPr sz="1800" b="0" i="0">
                <a:solidFill>
                  <a:srgbClr val="1D1D1F"/>
                </a:solidFill>
                <a:latin typeface="Segoe UI"/>
              </a:defRPr>
            </a:pPr>
            <a:r>
              <a:t>Disable DSA on critical paths if needed</a:t>
            </a:r>
          </a:p>
        </p:txBody>
      </p:sp>
      <p:cxnSp>
        <p:nvCxnSpPr>
          <p:cNvPr id="21" name="hl_0831"/>
          <p:cNvCxnSpPr/>
          <p:nvPr/>
        </p:nvCxnSpPr>
        <p:spPr>
          <a:xfrm>
            <a:off x="822960" y="4123944"/>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2" name="rect_0832"/>
          <p:cNvSpPr/>
          <p:nvPr/>
        </p:nvSpPr>
        <p:spPr>
          <a:xfrm>
            <a:off x="822960" y="5486400"/>
            <a:ext cx="502920" cy="41148"/>
          </a:xfrm>
          <a:prstGeom prst="rect">
            <a:avLst/>
          </a:prstGeom>
          <a:solidFill>
            <a:srgbClr val="D70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x_0833"/>
          <p:cNvSpPr txBox="1"/>
          <p:nvPr/>
        </p:nvSpPr>
        <p:spPr>
          <a:xfrm>
            <a:off x="822960" y="5641848"/>
            <a:ext cx="10546079" cy="548640"/>
          </a:xfrm>
          <a:prstGeom prst="rect">
            <a:avLst/>
          </a:prstGeom>
          <a:noFill/>
        </p:spPr>
        <p:txBody>
          <a:bodyPr wrap="square" lIns="0" rIns="0" tIns="0" bIns="0">
            <a:spAutoFit/>
          </a:bodyPr>
          <a:lstStyle/>
          <a:p>
            <a:pPr>
              <a:spcAft>
                <a:spcPts val="400"/>
              </a:spcAft>
              <a:defRPr sz="2100" b="0" i="0">
                <a:solidFill>
                  <a:srgbClr val="D70015"/>
                </a:solidFill>
                <a:latin typeface="Segoe UI Semibold"/>
              </a:defRPr>
            </a:pPr>
            <a:r>
              <a:t>Separate queues do not close the shared-engine DevTLB channel.</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834"/>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Does it hold up?</a:t>
            </a:r>
          </a:p>
        </p:txBody>
      </p:sp>
      <p:sp>
        <p:nvSpPr>
          <p:cNvPr id="3" name="tx_0835"/>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They measured the cost — not the leftover leak</a:t>
            </a:r>
          </a:p>
        </p:txBody>
      </p:sp>
      <p:sp>
        <p:nvSpPr>
          <p:cNvPr id="5" name="tx_0837"/>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35</a:t>
            </a:r>
          </a:p>
        </p:txBody>
      </p:sp>
      <p:pic>
        <p:nvPicPr>
          <p:cNvPr id="6" name="pic_0838" descr="mitigation.png"/>
          <p:cNvPicPr>
            <a:picLocks noChangeAspect="1"/>
          </p:cNvPicPr>
          <p:nvPr/>
        </p:nvPicPr>
        <p:blipFill>
          <a:blip r:embed="rId3"/>
          <a:stretch>
            <a:fillRect/>
          </a:stretch>
        </p:blipFill>
        <p:spPr>
          <a:xfrm>
            <a:off x="822960" y="1873244"/>
            <a:ext cx="7223760" cy="3568710"/>
          </a:xfrm>
          <a:prstGeom prst="rect">
            <a:avLst/>
          </a:prstGeom>
        </p:spPr>
      </p:pic>
      <p:sp>
        <p:nvSpPr>
          <p:cNvPr id="7" name="tx_0839"/>
          <p:cNvSpPr txBox="1"/>
          <p:nvPr/>
        </p:nvSpPr>
        <p:spPr>
          <a:xfrm>
            <a:off x="8412480" y="1965960"/>
            <a:ext cx="2926080" cy="365760"/>
          </a:xfrm>
          <a:prstGeom prst="rect">
            <a:avLst/>
          </a:prstGeom>
          <a:noFill/>
        </p:spPr>
        <p:txBody>
          <a:bodyPr wrap="square" lIns="0" rIns="0" tIns="0" bIns="0">
            <a:spAutoFit/>
          </a:bodyPr>
          <a:lstStyle/>
          <a:p>
            <a:pPr>
              <a:spcAft>
                <a:spcPts val="400"/>
              </a:spcAft>
              <a:defRPr sz="1600" b="0" i="0">
                <a:solidFill>
                  <a:srgbClr val="D70015"/>
                </a:solidFill>
                <a:latin typeface="Segoe UI Semibold"/>
              </a:defRPr>
            </a:pPr>
            <a:r>
              <a:t>Maximum reported loss</a:t>
            </a:r>
          </a:p>
        </p:txBody>
      </p:sp>
      <p:cxnSp>
        <p:nvCxnSpPr>
          <p:cNvPr id="8" name="hl_0840"/>
          <p:cNvCxnSpPr/>
          <p:nvPr/>
        </p:nvCxnSpPr>
        <p:spPr>
          <a:xfrm>
            <a:off x="8412480" y="2350008"/>
            <a:ext cx="2926080"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9" name="tx_0841"/>
          <p:cNvSpPr txBox="1"/>
          <p:nvPr/>
        </p:nvSpPr>
        <p:spPr>
          <a:xfrm>
            <a:off x="8412480" y="2560320"/>
            <a:ext cx="1463040" cy="365760"/>
          </a:xfrm>
          <a:prstGeom prst="rect">
            <a:avLst/>
          </a:prstGeom>
          <a:noFill/>
        </p:spPr>
        <p:txBody>
          <a:bodyPr wrap="square" lIns="0" rIns="0" tIns="0" bIns="0">
            <a:spAutoFit/>
          </a:bodyPr>
          <a:lstStyle/>
          <a:p>
            <a:pPr>
              <a:spcAft>
                <a:spcPts val="400"/>
              </a:spcAft>
              <a:defRPr sz="1800" b="0" i="0">
                <a:solidFill>
                  <a:srgbClr val="1D1D1F"/>
                </a:solidFill>
                <a:latin typeface="Segoe UI Semibold"/>
              </a:defRPr>
            </a:pPr>
            <a:r>
              <a:t>Native DSA</a:t>
            </a:r>
          </a:p>
        </p:txBody>
      </p:sp>
      <p:sp>
        <p:nvSpPr>
          <p:cNvPr id="10" name="tx_0842"/>
          <p:cNvSpPr txBox="1"/>
          <p:nvPr/>
        </p:nvSpPr>
        <p:spPr>
          <a:xfrm>
            <a:off x="9784080" y="2560320"/>
            <a:ext cx="1554480" cy="36576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15.7%</a:t>
            </a:r>
          </a:p>
        </p:txBody>
      </p:sp>
      <p:sp>
        <p:nvSpPr>
          <p:cNvPr id="11" name="tx_0843"/>
          <p:cNvSpPr txBox="1"/>
          <p:nvPr/>
        </p:nvSpPr>
        <p:spPr>
          <a:xfrm>
            <a:off x="8412480" y="3127248"/>
            <a:ext cx="1463040" cy="365760"/>
          </a:xfrm>
          <a:prstGeom prst="rect">
            <a:avLst/>
          </a:prstGeom>
          <a:noFill/>
        </p:spPr>
        <p:txBody>
          <a:bodyPr wrap="square" lIns="0" rIns="0" tIns="0" bIns="0">
            <a:spAutoFit/>
          </a:bodyPr>
          <a:lstStyle/>
          <a:p>
            <a:pPr>
              <a:spcAft>
                <a:spcPts val="400"/>
              </a:spcAft>
              <a:defRPr sz="1800" b="0" i="0">
                <a:solidFill>
                  <a:srgbClr val="1D1D1F"/>
                </a:solidFill>
                <a:latin typeface="Segoe UI Semibold"/>
              </a:defRPr>
            </a:pPr>
            <a:r>
              <a:t>DTO</a:t>
            </a:r>
          </a:p>
        </p:txBody>
      </p:sp>
      <p:sp>
        <p:nvSpPr>
          <p:cNvPr id="12" name="tx_0844"/>
          <p:cNvSpPr txBox="1"/>
          <p:nvPr/>
        </p:nvSpPr>
        <p:spPr>
          <a:xfrm>
            <a:off x="9784080" y="3127248"/>
            <a:ext cx="1554480" cy="36576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17.9%</a:t>
            </a:r>
          </a:p>
        </p:txBody>
      </p:sp>
      <p:sp>
        <p:nvSpPr>
          <p:cNvPr id="13" name="tx_0845"/>
          <p:cNvSpPr txBox="1"/>
          <p:nvPr/>
        </p:nvSpPr>
        <p:spPr>
          <a:xfrm>
            <a:off x="8412480" y="3694176"/>
            <a:ext cx="1463040" cy="365760"/>
          </a:xfrm>
          <a:prstGeom prst="rect">
            <a:avLst/>
          </a:prstGeom>
          <a:noFill/>
        </p:spPr>
        <p:txBody>
          <a:bodyPr wrap="square" lIns="0" rIns="0" tIns="0" bIns="0">
            <a:spAutoFit/>
          </a:bodyPr>
          <a:lstStyle/>
          <a:p>
            <a:pPr>
              <a:spcAft>
                <a:spcPts val="400"/>
              </a:spcAft>
              <a:defRPr sz="1800" b="0" i="0">
                <a:solidFill>
                  <a:srgbClr val="1D1D1F"/>
                </a:solidFill>
                <a:latin typeface="Segoe UI Semibold"/>
              </a:defRPr>
            </a:pPr>
            <a:r>
              <a:t>At</a:t>
            </a:r>
          </a:p>
        </p:txBody>
      </p:sp>
      <p:sp>
        <p:nvSpPr>
          <p:cNvPr id="14" name="tx_0846"/>
          <p:cNvSpPr txBox="1"/>
          <p:nvPr/>
        </p:nvSpPr>
        <p:spPr>
          <a:xfrm>
            <a:off x="9784080" y="3694176"/>
            <a:ext cx="1554480" cy="36576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256-byte transfers</a:t>
            </a:r>
          </a:p>
        </p:txBody>
      </p:sp>
      <p:sp>
        <p:nvSpPr>
          <p:cNvPr id="15" name="rect_0847"/>
          <p:cNvSpPr/>
          <p:nvPr/>
        </p:nvSpPr>
        <p:spPr>
          <a:xfrm>
            <a:off x="822960" y="576072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x_0848"/>
          <p:cNvSpPr txBox="1"/>
          <p:nvPr/>
        </p:nvSpPr>
        <p:spPr>
          <a:xfrm>
            <a:off x="822960" y="5916168"/>
            <a:ext cx="10546079" cy="548640"/>
          </a:xfrm>
          <a:prstGeom prst="rect">
            <a:avLst/>
          </a:prstGeom>
          <a:noFill/>
        </p:spPr>
        <p:txBody>
          <a:bodyPr wrap="square" lIns="0" rIns="0" tIns="0" bIns="0">
            <a:spAutoFit/>
          </a:bodyPr>
          <a:lstStyle/>
          <a:p>
            <a:pPr>
              <a:spcAft>
                <a:spcPts val="400"/>
              </a:spcAft>
              <a:defRPr sz="2100" b="0" i="0">
                <a:solidFill>
                  <a:srgbClr val="1D1D1F"/>
                </a:solidFill>
                <a:latin typeface="Segoe UI Semibold"/>
              </a:defRPr>
            </a:pPr>
            <a:r>
              <a:t>The plot measures throughput overhead; residual leakage is not quantified.</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001"/>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Conclusion</a:t>
            </a:r>
          </a:p>
        </p:txBody>
      </p:sp>
      <p:sp>
        <p:nvSpPr>
          <p:cNvPr id="3" name="tx_0002"/>
          <p:cNvSpPr txBox="1"/>
          <p:nvPr/>
        </p:nvSpPr>
        <p:spPr>
          <a:xfrm>
            <a:off x="822960" y="822960"/>
            <a:ext cx="10546079" cy="914400"/>
          </a:xfrm>
          <a:prstGeom prst="rect">
            <a:avLst/>
          </a:prstGeom>
          <a:noFill/>
        </p:spPr>
        <p:txBody>
          <a:bodyPr wrap="square" lIns="0" rIns="0" tIns="0" bIns="0">
            <a:spAutoFit/>
          </a:bodyPr>
          <a:lstStyle/>
          <a:p>
            <a:pPr>
              <a:spcAft>
                <a:spcPts val="400"/>
              </a:spcAft>
              <a:defRPr sz="3000" b="0" i="0">
                <a:solidFill>
                  <a:srgbClr val="1D1D1F"/>
                </a:solidFill>
                <a:latin typeface="Segoe UI Semibold"/>
              </a:defRPr>
            </a:pPr>
            <a:r>
              <a:t>Findings and limits</a:t>
            </a:r>
          </a:p>
        </p:txBody>
      </p:sp>
      <p:sp>
        <p:nvSpPr>
          <p:cNvPr id="4" name="rect_0003"/>
          <p:cNvSpPr/>
          <p:nvPr/>
        </p:nvSpPr>
        <p:spPr>
          <a:xfrm>
            <a:off x="822960" y="2011679"/>
            <a:ext cx="109728" cy="109728"/>
          </a:xfrm>
          <a:prstGeom prst="ellipse">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x_0004"/>
          <p:cNvSpPr txBox="1"/>
          <p:nvPr/>
        </p:nvSpPr>
        <p:spPr>
          <a:xfrm>
            <a:off x="1188720" y="1874519"/>
            <a:ext cx="10180319" cy="457200"/>
          </a:xfrm>
          <a:prstGeom prst="rect">
            <a:avLst/>
          </a:prstGeom>
          <a:noFill/>
        </p:spPr>
        <p:txBody>
          <a:bodyPr wrap="square" lIns="0" rIns="0" tIns="0" bIns="0">
            <a:spAutoFit/>
          </a:bodyPr>
          <a:lstStyle/>
          <a:p>
            <a:pPr>
              <a:spcAft>
                <a:spcPts val="400"/>
              </a:spcAft>
              <a:defRPr sz="2400" b="0" i="0">
                <a:solidFill>
                  <a:srgbClr val="1D1D1F"/>
                </a:solidFill>
                <a:latin typeface="Segoe UI Semibold"/>
              </a:defRPr>
            </a:pPr>
            <a:r>
              <a:t>Channels</a:t>
            </a:r>
          </a:p>
        </p:txBody>
      </p:sp>
      <p:sp>
        <p:nvSpPr>
          <p:cNvPr id="6" name="tx_0005"/>
          <p:cNvSpPr txBox="1"/>
          <p:nvPr/>
        </p:nvSpPr>
        <p:spPr>
          <a:xfrm>
            <a:off x="1188720" y="2331720"/>
            <a:ext cx="10180319" cy="640080"/>
          </a:xfrm>
          <a:prstGeom prst="rect">
            <a:avLst/>
          </a:prstGeom>
          <a:noFill/>
        </p:spPr>
        <p:txBody>
          <a:bodyPr wrap="square" lIns="0" rIns="0" tIns="0" bIns="0">
            <a:spAutoFit/>
          </a:bodyPr>
          <a:lstStyle/>
          <a:p>
            <a:pPr>
              <a:spcAft>
                <a:spcPts val="400"/>
              </a:spcAft>
              <a:defRPr sz="1900" b="0" i="0">
                <a:solidFill>
                  <a:srgbClr val="6E6E73"/>
                </a:solidFill>
                <a:latin typeface="Segoe UI"/>
              </a:defRPr>
            </a:pPr>
            <a:r>
              <a:t>DevTLB replacement timing + SWQ admission feedback</a:t>
            </a:r>
          </a:p>
        </p:txBody>
      </p:sp>
      <p:sp>
        <p:nvSpPr>
          <p:cNvPr id="7" name="rect_0006"/>
          <p:cNvSpPr/>
          <p:nvPr/>
        </p:nvSpPr>
        <p:spPr>
          <a:xfrm>
            <a:off x="822960" y="3108960"/>
            <a:ext cx="109728" cy="109728"/>
          </a:xfrm>
          <a:prstGeom prst="ellipse">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x_0007"/>
          <p:cNvSpPr txBox="1"/>
          <p:nvPr/>
        </p:nvSpPr>
        <p:spPr>
          <a:xfrm>
            <a:off x="1188720" y="2971800"/>
            <a:ext cx="10180319" cy="457200"/>
          </a:xfrm>
          <a:prstGeom prst="rect">
            <a:avLst/>
          </a:prstGeom>
          <a:noFill/>
        </p:spPr>
        <p:txBody>
          <a:bodyPr wrap="square" lIns="0" rIns="0" tIns="0" bIns="0">
            <a:spAutoFit/>
          </a:bodyPr>
          <a:lstStyle/>
          <a:p>
            <a:pPr>
              <a:spcAft>
                <a:spcPts val="400"/>
              </a:spcAft>
              <a:defRPr sz="2400" b="0" i="0">
                <a:solidFill>
                  <a:srgbClr val="1D1D1F"/>
                </a:solidFill>
                <a:latin typeface="Segoe UI Semibold"/>
              </a:defRPr>
            </a:pPr>
            <a:r>
              <a:t>Evidence</a:t>
            </a:r>
          </a:p>
        </p:txBody>
      </p:sp>
      <p:sp>
        <p:nvSpPr>
          <p:cNvPr id="9" name="tx_0008"/>
          <p:cNvSpPr txBox="1"/>
          <p:nvPr/>
        </p:nvSpPr>
        <p:spPr>
          <a:xfrm>
            <a:off x="1188720" y="3429000"/>
            <a:ext cx="10180319" cy="640080"/>
          </a:xfrm>
          <a:prstGeom prst="rect">
            <a:avLst/>
          </a:prstGeom>
          <a:noFill/>
        </p:spPr>
        <p:txBody>
          <a:bodyPr wrap="square" lIns="0" rIns="0" tIns="0" bIns="0">
            <a:spAutoFit/>
          </a:bodyPr>
          <a:lstStyle/>
          <a:p>
            <a:pPr>
              <a:spcAft>
                <a:spcPts val="400"/>
              </a:spcAft>
              <a:defRPr sz="1900" b="0" i="0">
                <a:solidFill>
                  <a:srgbClr val="6E6E73"/>
                </a:solidFill>
                <a:latin typeface="Segoe UI"/>
              </a:defRPr>
            </a:pPr>
            <a:r>
              <a:t>Controlled page / field / engine tests and four workload demonstrations</a:t>
            </a:r>
          </a:p>
        </p:txBody>
      </p:sp>
      <p:sp>
        <p:nvSpPr>
          <p:cNvPr id="10" name="rect_0009"/>
          <p:cNvSpPr/>
          <p:nvPr/>
        </p:nvSpPr>
        <p:spPr>
          <a:xfrm>
            <a:off x="822960" y="4206240"/>
            <a:ext cx="109728" cy="109728"/>
          </a:xfrm>
          <a:prstGeom prst="ellipse">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x_0010"/>
          <p:cNvSpPr txBox="1"/>
          <p:nvPr/>
        </p:nvSpPr>
        <p:spPr>
          <a:xfrm>
            <a:off x="1188720" y="4069079"/>
            <a:ext cx="10180319" cy="457200"/>
          </a:xfrm>
          <a:prstGeom prst="rect">
            <a:avLst/>
          </a:prstGeom>
          <a:noFill/>
        </p:spPr>
        <p:txBody>
          <a:bodyPr wrap="square" lIns="0" rIns="0" tIns="0" bIns="0">
            <a:spAutoFit/>
          </a:bodyPr>
          <a:lstStyle/>
          <a:p>
            <a:pPr>
              <a:spcAft>
                <a:spcPts val="400"/>
              </a:spcAft>
              <a:defRPr sz="2400" b="0" i="0">
                <a:solidFill>
                  <a:srgbClr val="1D1D1F"/>
                </a:solidFill>
                <a:latin typeface="Segoe UI Semibold"/>
              </a:defRPr>
            </a:pPr>
            <a:r>
              <a:t>Scope</a:t>
            </a:r>
          </a:p>
        </p:txBody>
      </p:sp>
      <p:sp>
        <p:nvSpPr>
          <p:cNvPr id="12" name="tx_0011"/>
          <p:cNvSpPr txBox="1"/>
          <p:nvPr/>
        </p:nvSpPr>
        <p:spPr>
          <a:xfrm>
            <a:off x="1188720" y="4526279"/>
            <a:ext cx="10180319" cy="640080"/>
          </a:xfrm>
          <a:prstGeom prst="rect">
            <a:avLst/>
          </a:prstGeom>
          <a:noFill/>
        </p:spPr>
        <p:txBody>
          <a:bodyPr wrap="square" lIns="0" rIns="0" tIns="0" bIns="0">
            <a:spAutoFit/>
          </a:bodyPr>
          <a:lstStyle/>
          <a:p>
            <a:pPr>
              <a:spcAft>
                <a:spcPts val="400"/>
              </a:spcAft>
              <a:defRPr sz="1900" b="0" i="0">
                <a:solidFill>
                  <a:srgbClr val="6E6E73"/>
                </a:solidFill>
                <a:latin typeface="Segoe UI"/>
              </a:defRPr>
            </a:pPr>
            <a:r>
              <a:t>Provisioned co-location; controlled datasets; residual mitigation leakage unmeasured</a:t>
            </a:r>
          </a:p>
        </p:txBody>
      </p:sp>
      <p:sp>
        <p:nvSpPr>
          <p:cNvPr id="13" name="rect_0012"/>
          <p:cNvSpPr/>
          <p:nvPr/>
        </p:nvSpPr>
        <p:spPr>
          <a:xfrm>
            <a:off x="822960" y="5669280"/>
            <a:ext cx="502920" cy="41148"/>
          </a:xfrm>
          <a:prstGeom prst="rect">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x_0013"/>
          <p:cNvSpPr txBox="1"/>
          <p:nvPr/>
        </p:nvSpPr>
        <p:spPr>
          <a:xfrm>
            <a:off x="822960" y="5824728"/>
            <a:ext cx="10546079" cy="548640"/>
          </a:xfrm>
          <a:prstGeom prst="rect">
            <a:avLst/>
          </a:prstGeom>
          <a:noFill/>
        </p:spPr>
        <p:txBody>
          <a:bodyPr wrap="square" lIns="0" rIns="0" tIns="0" bIns="0">
            <a:spAutoFit/>
          </a:bodyPr>
          <a:lstStyle/>
          <a:p>
            <a:pPr>
              <a:spcAft>
                <a:spcPts val="400"/>
              </a:spcAft>
              <a:defRPr sz="2200" b="0" i="0">
                <a:solidFill>
                  <a:srgbClr val="1D1D1F"/>
                </a:solidFill>
                <a:latin typeface="Segoe UI Semibold"/>
              </a:defRPr>
            </a:pPr>
            <a:r>
              <a:t>Shared accelerator state belongs in the isolation model.</a:t>
            </a:r>
          </a:p>
        </p:txBody>
      </p:sp>
      <p:sp>
        <p:nvSpPr>
          <p:cNvPr id="16" name="tx_0015"/>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36</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919"/>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Backup · Glossary</a:t>
            </a:r>
          </a:p>
        </p:txBody>
      </p:sp>
      <p:sp>
        <p:nvSpPr>
          <p:cNvPr id="3" name="tx_0920"/>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Glossary</a:t>
            </a:r>
          </a:p>
        </p:txBody>
      </p:sp>
      <p:sp>
        <p:nvSpPr>
          <p:cNvPr id="5" name="tx_0922"/>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37</a:t>
            </a:r>
          </a:p>
        </p:txBody>
      </p:sp>
      <p:sp>
        <p:nvSpPr>
          <p:cNvPr id="6" name="tx_0923"/>
          <p:cNvSpPr txBox="1"/>
          <p:nvPr/>
        </p:nvSpPr>
        <p:spPr>
          <a:xfrm>
            <a:off x="868680" y="1783080"/>
            <a:ext cx="2545079"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TERM</a:t>
            </a:r>
          </a:p>
        </p:txBody>
      </p:sp>
      <p:sp>
        <p:nvSpPr>
          <p:cNvPr id="7" name="tx_0924"/>
          <p:cNvSpPr txBox="1"/>
          <p:nvPr/>
        </p:nvSpPr>
        <p:spPr>
          <a:xfrm>
            <a:off x="3505199" y="1783080"/>
            <a:ext cx="7818119"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MEANING IN THIS PAPER</a:t>
            </a:r>
          </a:p>
        </p:txBody>
      </p:sp>
      <p:cxnSp>
        <p:nvCxnSpPr>
          <p:cNvPr id="8" name="hl_0925"/>
          <p:cNvCxnSpPr/>
          <p:nvPr/>
        </p:nvCxnSpPr>
        <p:spPr>
          <a:xfrm>
            <a:off x="822960" y="2148840"/>
            <a:ext cx="10546079"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9" name="tx_0926"/>
          <p:cNvSpPr txBox="1"/>
          <p:nvPr/>
        </p:nvSpPr>
        <p:spPr>
          <a:xfrm>
            <a:off x="868680" y="2212848"/>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DSA</a:t>
            </a:r>
          </a:p>
        </p:txBody>
      </p:sp>
      <p:sp>
        <p:nvSpPr>
          <p:cNvPr id="10" name="tx_0927"/>
          <p:cNvSpPr txBox="1"/>
          <p:nvPr/>
        </p:nvSpPr>
        <p:spPr>
          <a:xfrm>
            <a:off x="3505199" y="2212848"/>
            <a:ext cx="7818119"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Intel Data Streaming Accelerator</a:t>
            </a:r>
          </a:p>
        </p:txBody>
      </p:sp>
      <p:cxnSp>
        <p:nvCxnSpPr>
          <p:cNvPr id="11" name="hl_0928"/>
          <p:cNvCxnSpPr/>
          <p:nvPr/>
        </p:nvCxnSpPr>
        <p:spPr>
          <a:xfrm>
            <a:off x="822960" y="2642616"/>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2" name="tx_0929"/>
          <p:cNvSpPr txBox="1"/>
          <p:nvPr/>
        </p:nvSpPr>
        <p:spPr>
          <a:xfrm>
            <a:off x="868680" y="2706624"/>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ATS / TA</a:t>
            </a:r>
          </a:p>
        </p:txBody>
      </p:sp>
      <p:sp>
        <p:nvSpPr>
          <p:cNvPr id="13" name="tx_0930"/>
          <p:cNvSpPr txBox="1"/>
          <p:nvPr/>
        </p:nvSpPr>
        <p:spPr>
          <a:xfrm>
            <a:off x="3505199" y="2706624"/>
            <a:ext cx="7818119"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Address Translation Services / Translation Agent</a:t>
            </a:r>
          </a:p>
        </p:txBody>
      </p:sp>
      <p:cxnSp>
        <p:nvCxnSpPr>
          <p:cNvPr id="14" name="hl_0931"/>
          <p:cNvCxnSpPr/>
          <p:nvPr/>
        </p:nvCxnSpPr>
        <p:spPr>
          <a:xfrm>
            <a:off x="822960" y="3136392"/>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5" name="tx_0932"/>
          <p:cNvSpPr txBox="1"/>
          <p:nvPr/>
        </p:nvSpPr>
        <p:spPr>
          <a:xfrm>
            <a:off x="868680" y="3200400"/>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ATC / DevTLB</a:t>
            </a:r>
          </a:p>
        </p:txBody>
      </p:sp>
      <p:sp>
        <p:nvSpPr>
          <p:cNvPr id="16" name="tx_0933"/>
          <p:cNvSpPr txBox="1"/>
          <p:nvPr/>
        </p:nvSpPr>
        <p:spPr>
          <a:xfrm>
            <a:off x="3505199" y="3200400"/>
            <a:ext cx="7818119"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device-side cache of address translations</a:t>
            </a:r>
          </a:p>
        </p:txBody>
      </p:sp>
      <p:cxnSp>
        <p:nvCxnSpPr>
          <p:cNvPr id="17" name="hl_0934"/>
          <p:cNvCxnSpPr/>
          <p:nvPr/>
        </p:nvCxnSpPr>
        <p:spPr>
          <a:xfrm>
            <a:off x="822960" y="3630168"/>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8" name="tx_0935"/>
          <p:cNvSpPr txBox="1"/>
          <p:nvPr/>
        </p:nvSpPr>
        <p:spPr>
          <a:xfrm>
            <a:off x="868680" y="3694176"/>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PASID</a:t>
            </a:r>
          </a:p>
        </p:txBody>
      </p:sp>
      <p:sp>
        <p:nvSpPr>
          <p:cNvPr id="19" name="tx_0936"/>
          <p:cNvSpPr txBox="1"/>
          <p:nvPr/>
        </p:nvSpPr>
        <p:spPr>
          <a:xfrm>
            <a:off x="3505199" y="3694176"/>
            <a:ext cx="7818119"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process address-space ID; translation context</a:t>
            </a:r>
          </a:p>
        </p:txBody>
      </p:sp>
      <p:cxnSp>
        <p:nvCxnSpPr>
          <p:cNvPr id="20" name="hl_0937"/>
          <p:cNvCxnSpPr/>
          <p:nvPr/>
        </p:nvCxnSpPr>
        <p:spPr>
          <a:xfrm>
            <a:off x="822960" y="4123944"/>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1" name="tx_0938"/>
          <p:cNvSpPr txBox="1"/>
          <p:nvPr/>
        </p:nvSpPr>
        <p:spPr>
          <a:xfrm>
            <a:off x="868680" y="4187952"/>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WQ / SWQ / DWQ</a:t>
            </a:r>
          </a:p>
        </p:txBody>
      </p:sp>
      <p:sp>
        <p:nvSpPr>
          <p:cNvPr id="22" name="tx_0939"/>
          <p:cNvSpPr txBox="1"/>
          <p:nvPr/>
        </p:nvSpPr>
        <p:spPr>
          <a:xfrm>
            <a:off x="3505199" y="4187952"/>
            <a:ext cx="7818119"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work queue / shared / dedicated work queue</a:t>
            </a:r>
          </a:p>
        </p:txBody>
      </p:sp>
      <p:cxnSp>
        <p:nvCxnSpPr>
          <p:cNvPr id="23" name="hl_0940"/>
          <p:cNvCxnSpPr/>
          <p:nvPr/>
        </p:nvCxnSpPr>
        <p:spPr>
          <a:xfrm>
            <a:off x="822960" y="461772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4" name="tx_0941"/>
          <p:cNvSpPr txBox="1"/>
          <p:nvPr/>
        </p:nvSpPr>
        <p:spPr>
          <a:xfrm>
            <a:off x="868680" y="4681728"/>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DMWr / ENQCMD</a:t>
            </a:r>
          </a:p>
        </p:txBody>
      </p:sp>
      <p:sp>
        <p:nvSpPr>
          <p:cNvPr id="25" name="tx_0942"/>
          <p:cNvSpPr txBox="1"/>
          <p:nvPr/>
        </p:nvSpPr>
        <p:spPr>
          <a:xfrm>
            <a:off x="3505199" y="4681728"/>
            <a:ext cx="7818119"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deferrable memory write / descriptor submission</a:t>
            </a:r>
          </a:p>
        </p:txBody>
      </p:sp>
      <p:cxnSp>
        <p:nvCxnSpPr>
          <p:cNvPr id="26" name="hl_0943"/>
          <p:cNvCxnSpPr/>
          <p:nvPr/>
        </p:nvCxnSpPr>
        <p:spPr>
          <a:xfrm>
            <a:off x="822960" y="5111496"/>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7" name="tx_0944"/>
          <p:cNvSpPr txBox="1"/>
          <p:nvPr/>
        </p:nvSpPr>
        <p:spPr>
          <a:xfrm>
            <a:off x="868680" y="5175504"/>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DTO</a:t>
            </a:r>
          </a:p>
        </p:txBody>
      </p:sp>
      <p:sp>
        <p:nvSpPr>
          <p:cNvPr id="28" name="tx_0945"/>
          <p:cNvSpPr txBox="1"/>
          <p:nvPr/>
        </p:nvSpPr>
        <p:spPr>
          <a:xfrm>
            <a:off x="3505199" y="5175504"/>
            <a:ext cx="7818119"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DSA Transparent Offload library</a:t>
            </a:r>
          </a:p>
        </p:txBody>
      </p:sp>
      <p:cxnSp>
        <p:nvCxnSpPr>
          <p:cNvPr id="29" name="hl_0946"/>
          <p:cNvCxnSpPr/>
          <p:nvPr/>
        </p:nvCxnSpPr>
        <p:spPr>
          <a:xfrm>
            <a:off x="822960" y="5605272"/>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0976"/>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Backup · Timing &amp; calibration</a:t>
            </a:r>
          </a:p>
        </p:txBody>
      </p:sp>
      <p:sp>
        <p:nvSpPr>
          <p:cNvPr id="3" name="tx_0977"/>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Observation windows have different constraints</a:t>
            </a:r>
          </a:p>
        </p:txBody>
      </p:sp>
      <p:sp>
        <p:nvSpPr>
          <p:cNvPr id="5" name="tx_0979"/>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38</a:t>
            </a:r>
          </a:p>
        </p:txBody>
      </p:sp>
      <p:sp>
        <p:nvSpPr>
          <p:cNvPr id="6" name="tx_0980"/>
          <p:cNvSpPr txBox="1"/>
          <p:nvPr/>
        </p:nvSpPr>
        <p:spPr>
          <a:xfrm>
            <a:off x="868680" y="1783080"/>
            <a:ext cx="2017775"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ASPECT</a:t>
            </a:r>
          </a:p>
        </p:txBody>
      </p:sp>
      <p:sp>
        <p:nvSpPr>
          <p:cNvPr id="7" name="tx_0981"/>
          <p:cNvSpPr txBox="1"/>
          <p:nvPr/>
        </p:nvSpPr>
        <p:spPr>
          <a:xfrm>
            <a:off x="2977895" y="1783080"/>
            <a:ext cx="4126991"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DEVTLB</a:t>
            </a:r>
          </a:p>
        </p:txBody>
      </p:sp>
      <p:sp>
        <p:nvSpPr>
          <p:cNvPr id="8" name="tx_0982"/>
          <p:cNvSpPr txBox="1"/>
          <p:nvPr/>
        </p:nvSpPr>
        <p:spPr>
          <a:xfrm>
            <a:off x="7196327" y="1783080"/>
            <a:ext cx="4126991"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SWQ</a:t>
            </a:r>
          </a:p>
        </p:txBody>
      </p:sp>
      <p:cxnSp>
        <p:nvCxnSpPr>
          <p:cNvPr id="9" name="hl_0983"/>
          <p:cNvCxnSpPr/>
          <p:nvPr/>
        </p:nvCxnSpPr>
        <p:spPr>
          <a:xfrm>
            <a:off x="822960" y="2148840"/>
            <a:ext cx="10546079"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10" name="tx_0984"/>
          <p:cNvSpPr txBox="1"/>
          <p:nvPr/>
        </p:nvSpPr>
        <p:spPr>
          <a:xfrm>
            <a:off x="868680" y="2240280"/>
            <a:ext cx="2017775"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Prepare</a:t>
            </a:r>
          </a:p>
        </p:txBody>
      </p:sp>
      <p:sp>
        <p:nvSpPr>
          <p:cNvPr id="11" name="tx_0985"/>
          <p:cNvSpPr txBox="1"/>
          <p:nvPr/>
        </p:nvSpPr>
        <p:spPr>
          <a:xfrm>
            <a:off x="2977895" y="2240280"/>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own comp-page cached</a:t>
            </a:r>
          </a:p>
        </p:txBody>
      </p:sp>
      <p:sp>
        <p:nvSpPr>
          <p:cNvPr id="12" name="tx_0986"/>
          <p:cNvSpPr txBox="1"/>
          <p:nvPr/>
        </p:nvSpPr>
        <p:spPr>
          <a:xfrm>
            <a:off x="7196327" y="2240280"/>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effective occupancy ≈ N−1</a:t>
            </a:r>
          </a:p>
        </p:txBody>
      </p:sp>
      <p:cxnSp>
        <p:nvCxnSpPr>
          <p:cNvPr id="13" name="hl_0987"/>
          <p:cNvCxnSpPr/>
          <p:nvPr/>
        </p:nvCxnSpPr>
        <p:spPr>
          <a:xfrm>
            <a:off x="822960" y="269748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4" name="tx_0988"/>
          <p:cNvSpPr txBox="1"/>
          <p:nvPr/>
        </p:nvSpPr>
        <p:spPr>
          <a:xfrm>
            <a:off x="868680" y="2788920"/>
            <a:ext cx="2017775"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Idle window</a:t>
            </a:r>
          </a:p>
        </p:txBody>
      </p:sp>
      <p:sp>
        <p:nvSpPr>
          <p:cNvPr id="15" name="tx_0989"/>
          <p:cNvSpPr txBox="1"/>
          <p:nvPr/>
        </p:nvSpPr>
        <p:spPr>
          <a:xfrm>
            <a:off x="2977895" y="2788920"/>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permit victim execution</a:t>
            </a:r>
          </a:p>
        </p:txBody>
      </p:sp>
      <p:sp>
        <p:nvSpPr>
          <p:cNvPr id="16" name="tx_0990"/>
          <p:cNvSpPr txBox="1"/>
          <p:nvPr/>
        </p:nvSpPr>
        <p:spPr>
          <a:xfrm>
            <a:off x="7196327" y="2788920"/>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shorter than holding copy</a:t>
            </a:r>
          </a:p>
        </p:txBody>
      </p:sp>
      <p:cxnSp>
        <p:nvCxnSpPr>
          <p:cNvPr id="17" name="hl_0991"/>
          <p:cNvCxnSpPr/>
          <p:nvPr/>
        </p:nvCxnSpPr>
        <p:spPr>
          <a:xfrm>
            <a:off x="822960" y="324612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8" name="tx_0992"/>
          <p:cNvSpPr txBox="1"/>
          <p:nvPr/>
        </p:nvSpPr>
        <p:spPr>
          <a:xfrm>
            <a:off x="868680" y="3337560"/>
            <a:ext cx="2017775"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Probe</a:t>
            </a:r>
          </a:p>
        </p:txBody>
      </p:sp>
      <p:sp>
        <p:nvSpPr>
          <p:cNvPr id="19" name="tx_0993"/>
          <p:cNvSpPr txBox="1"/>
          <p:nvPr/>
        </p:nvSpPr>
        <p:spPr>
          <a:xfrm>
            <a:off x="2977895" y="3337560"/>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time own completion</a:t>
            </a:r>
          </a:p>
        </p:txBody>
      </p:sp>
      <p:sp>
        <p:nvSpPr>
          <p:cNvPr id="20" name="tx_0994"/>
          <p:cNvSpPr txBox="1"/>
          <p:nvPr/>
        </p:nvSpPr>
        <p:spPr>
          <a:xfrm>
            <a:off x="7196327" y="3337560"/>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read acceptance / retry</a:t>
            </a:r>
          </a:p>
        </p:txBody>
      </p:sp>
      <p:cxnSp>
        <p:nvCxnSpPr>
          <p:cNvPr id="21" name="hl_0995"/>
          <p:cNvCxnSpPr/>
          <p:nvPr/>
        </p:nvCxnSpPr>
        <p:spPr>
          <a:xfrm>
            <a:off x="822960" y="3794759"/>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2" name="tx_0996"/>
          <p:cNvSpPr txBox="1"/>
          <p:nvPr/>
        </p:nvSpPr>
        <p:spPr>
          <a:xfrm>
            <a:off x="868680" y="3886200"/>
            <a:ext cx="2017775"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Calibration</a:t>
            </a:r>
          </a:p>
        </p:txBody>
      </p:sp>
      <p:sp>
        <p:nvSpPr>
          <p:cNvPr id="23" name="tx_0997"/>
          <p:cNvSpPr txBox="1"/>
          <p:nvPr/>
        </p:nvSpPr>
        <p:spPr>
          <a:xfrm>
            <a:off x="2977895" y="3886200"/>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hit / miss distributions</a:t>
            </a:r>
          </a:p>
        </p:txBody>
      </p:sp>
      <p:sp>
        <p:nvSpPr>
          <p:cNvPr id="24" name="tx_0998"/>
          <p:cNvSpPr txBox="1"/>
          <p:nvPr/>
        </p:nvSpPr>
        <p:spPr>
          <a:xfrm>
            <a:off x="7196327" y="3886200"/>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queue depth + drain</a:t>
            </a:r>
          </a:p>
        </p:txBody>
      </p:sp>
      <p:cxnSp>
        <p:nvCxnSpPr>
          <p:cNvPr id="25" name="hl_0999"/>
          <p:cNvCxnSpPr/>
          <p:nvPr/>
        </p:nvCxnSpPr>
        <p:spPr>
          <a:xfrm>
            <a:off x="822960" y="434340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6" name="tx_1000"/>
          <p:cNvSpPr txBox="1"/>
          <p:nvPr/>
        </p:nvSpPr>
        <p:spPr>
          <a:xfrm>
            <a:off x="868680" y="4434840"/>
            <a:ext cx="2017775"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Confounder</a:t>
            </a:r>
          </a:p>
        </p:txBody>
      </p:sp>
      <p:sp>
        <p:nvSpPr>
          <p:cNvPr id="27" name="tx_1001"/>
          <p:cNvSpPr txBox="1"/>
          <p:nvPr/>
        </p:nvSpPr>
        <p:spPr>
          <a:xfrm>
            <a:off x="2977895" y="4434840"/>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other users of the slot</a:t>
            </a:r>
          </a:p>
        </p:txBody>
      </p:sp>
      <p:sp>
        <p:nvSpPr>
          <p:cNvPr id="28" name="tx_1002"/>
          <p:cNvSpPr txBox="1"/>
          <p:nvPr/>
        </p:nvSpPr>
        <p:spPr>
          <a:xfrm>
            <a:off x="7196327" y="4434840"/>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other submissions / completions</a:t>
            </a:r>
          </a:p>
        </p:txBody>
      </p:sp>
      <p:cxnSp>
        <p:nvCxnSpPr>
          <p:cNvPr id="29" name="hl_1003"/>
          <p:cNvCxnSpPr/>
          <p:nvPr/>
        </p:nvCxnSpPr>
        <p:spPr>
          <a:xfrm>
            <a:off x="822960" y="489204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1004"/>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Backup · Reporting audit</a:t>
            </a:r>
          </a:p>
        </p:txBody>
      </p:sp>
      <p:sp>
        <p:nvSpPr>
          <p:cNvPr id="3" name="tx_1005"/>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Keystroke count arithmetic needs clarification</a:t>
            </a:r>
          </a:p>
        </p:txBody>
      </p:sp>
      <p:sp>
        <p:nvSpPr>
          <p:cNvPr id="5" name="tx_1007"/>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39</a:t>
            </a:r>
          </a:p>
        </p:txBody>
      </p:sp>
      <p:sp>
        <p:nvSpPr>
          <p:cNvPr id="6" name="tx_1008"/>
          <p:cNvSpPr txBox="1"/>
          <p:nvPr/>
        </p:nvSpPr>
        <p:spPr>
          <a:xfrm>
            <a:off x="868680" y="1783080"/>
            <a:ext cx="5181599"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FOR 512 GROUND-TRUTH EVENTS</a:t>
            </a:r>
          </a:p>
        </p:txBody>
      </p:sp>
      <p:sp>
        <p:nvSpPr>
          <p:cNvPr id="7" name="tx_1009"/>
          <p:cNvSpPr txBox="1"/>
          <p:nvPr/>
        </p:nvSpPr>
        <p:spPr>
          <a:xfrm>
            <a:off x="6141719" y="1783080"/>
            <a:ext cx="2545079"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DEVTLB</a:t>
            </a:r>
          </a:p>
        </p:txBody>
      </p:sp>
      <p:sp>
        <p:nvSpPr>
          <p:cNvPr id="8" name="tx_1010"/>
          <p:cNvSpPr txBox="1"/>
          <p:nvPr/>
        </p:nvSpPr>
        <p:spPr>
          <a:xfrm>
            <a:off x="8778239" y="1783080"/>
            <a:ext cx="2545079"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SWQ</a:t>
            </a:r>
          </a:p>
        </p:txBody>
      </p:sp>
      <p:cxnSp>
        <p:nvCxnSpPr>
          <p:cNvPr id="9" name="hl_1011"/>
          <p:cNvCxnSpPr/>
          <p:nvPr/>
        </p:nvCxnSpPr>
        <p:spPr>
          <a:xfrm>
            <a:off x="822960" y="2148840"/>
            <a:ext cx="10546079"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10" name="tx_1012"/>
          <p:cNvSpPr txBox="1"/>
          <p:nvPr/>
        </p:nvSpPr>
        <p:spPr>
          <a:xfrm>
            <a:off x="868680" y="2231136"/>
            <a:ext cx="518159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Reported detections / FP</a:t>
            </a:r>
          </a:p>
        </p:txBody>
      </p:sp>
      <p:sp>
        <p:nvSpPr>
          <p:cNvPr id="11" name="tx_1013"/>
          <p:cNvSpPr txBox="1"/>
          <p:nvPr/>
        </p:nvSpPr>
        <p:spPr>
          <a:xfrm>
            <a:off x="6141719" y="2231136"/>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515 / 15</a:t>
            </a:r>
          </a:p>
        </p:txBody>
      </p:sp>
      <p:sp>
        <p:nvSpPr>
          <p:cNvPr id="12" name="tx_1014"/>
          <p:cNvSpPr txBox="1"/>
          <p:nvPr/>
        </p:nvSpPr>
        <p:spPr>
          <a:xfrm>
            <a:off x="8778239" y="2231136"/>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511 / 7</a:t>
            </a:r>
          </a:p>
        </p:txBody>
      </p:sp>
      <p:cxnSp>
        <p:nvCxnSpPr>
          <p:cNvPr id="13" name="hl_1015"/>
          <p:cNvCxnSpPr/>
          <p:nvPr/>
        </p:nvCxnSpPr>
        <p:spPr>
          <a:xfrm>
            <a:off x="822960" y="2679192"/>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4" name="tx_1016"/>
          <p:cNvSpPr txBox="1"/>
          <p:nvPr/>
        </p:nvSpPr>
        <p:spPr>
          <a:xfrm>
            <a:off x="868680" y="2761488"/>
            <a:ext cx="518159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Implied TP = det − FP</a:t>
            </a:r>
          </a:p>
        </p:txBody>
      </p:sp>
      <p:sp>
        <p:nvSpPr>
          <p:cNvPr id="15" name="tx_1017"/>
          <p:cNvSpPr txBox="1"/>
          <p:nvPr/>
        </p:nvSpPr>
        <p:spPr>
          <a:xfrm>
            <a:off x="6141719" y="2761488"/>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500</a:t>
            </a:r>
          </a:p>
        </p:txBody>
      </p:sp>
      <p:sp>
        <p:nvSpPr>
          <p:cNvPr id="16" name="tx_1018"/>
          <p:cNvSpPr txBox="1"/>
          <p:nvPr/>
        </p:nvSpPr>
        <p:spPr>
          <a:xfrm>
            <a:off x="8778239" y="2761488"/>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504</a:t>
            </a:r>
          </a:p>
        </p:txBody>
      </p:sp>
      <p:cxnSp>
        <p:nvCxnSpPr>
          <p:cNvPr id="17" name="hl_1019"/>
          <p:cNvCxnSpPr/>
          <p:nvPr/>
        </p:nvCxnSpPr>
        <p:spPr>
          <a:xfrm>
            <a:off x="822960" y="3209544"/>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8" name="tx_1020"/>
          <p:cNvSpPr txBox="1"/>
          <p:nvPr/>
        </p:nvSpPr>
        <p:spPr>
          <a:xfrm>
            <a:off x="868680" y="3291839"/>
            <a:ext cx="518159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Implied FN = 512 − TP</a:t>
            </a:r>
          </a:p>
        </p:txBody>
      </p:sp>
      <p:sp>
        <p:nvSpPr>
          <p:cNvPr id="19" name="tx_1021"/>
          <p:cNvSpPr txBox="1"/>
          <p:nvPr/>
        </p:nvSpPr>
        <p:spPr>
          <a:xfrm>
            <a:off x="6141719" y="3291839"/>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12</a:t>
            </a:r>
          </a:p>
        </p:txBody>
      </p:sp>
      <p:sp>
        <p:nvSpPr>
          <p:cNvPr id="20" name="tx_1022"/>
          <p:cNvSpPr txBox="1"/>
          <p:nvPr/>
        </p:nvSpPr>
        <p:spPr>
          <a:xfrm>
            <a:off x="8778239" y="3291839"/>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8</a:t>
            </a:r>
          </a:p>
        </p:txBody>
      </p:sp>
      <p:cxnSp>
        <p:nvCxnSpPr>
          <p:cNvPr id="21" name="hl_1023"/>
          <p:cNvCxnSpPr/>
          <p:nvPr/>
        </p:nvCxnSpPr>
        <p:spPr>
          <a:xfrm>
            <a:off x="822960" y="3739896"/>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2" name="tx_1024"/>
          <p:cNvSpPr txBox="1"/>
          <p:nvPr/>
        </p:nvSpPr>
        <p:spPr>
          <a:xfrm>
            <a:off x="868680" y="3822191"/>
            <a:ext cx="5181599" cy="365760"/>
          </a:xfrm>
          <a:prstGeom prst="rect">
            <a:avLst/>
          </a:prstGeom>
          <a:noFill/>
        </p:spPr>
        <p:txBody>
          <a:bodyPr wrap="square" lIns="0" rIns="0" tIns="0" bIns="0" anchor="ctr">
            <a:spAutoFit/>
          </a:bodyPr>
          <a:lstStyle/>
          <a:p>
            <a:pPr>
              <a:spcAft>
                <a:spcPts val="400"/>
              </a:spcAft>
              <a:defRPr sz="1600" b="0" i="0">
                <a:solidFill>
                  <a:srgbClr val="D70015"/>
                </a:solidFill>
                <a:latin typeface="Segoe UI Semibold"/>
              </a:defRPr>
            </a:pPr>
            <a:r>
              <a:t>Printed FN / TP</a:t>
            </a:r>
          </a:p>
        </p:txBody>
      </p:sp>
      <p:sp>
        <p:nvSpPr>
          <p:cNvPr id="23" name="tx_1025"/>
          <p:cNvSpPr txBox="1"/>
          <p:nvPr/>
        </p:nvSpPr>
        <p:spPr>
          <a:xfrm>
            <a:off x="6141719" y="3822191"/>
            <a:ext cx="2545079" cy="365760"/>
          </a:xfrm>
          <a:prstGeom prst="rect">
            <a:avLst/>
          </a:prstGeom>
          <a:noFill/>
        </p:spPr>
        <p:txBody>
          <a:bodyPr wrap="square" lIns="0" rIns="0" tIns="0" bIns="0" anchor="ctr">
            <a:spAutoFit/>
          </a:bodyPr>
          <a:lstStyle/>
          <a:p>
            <a:pPr>
              <a:spcAft>
                <a:spcPts val="400"/>
              </a:spcAft>
              <a:defRPr sz="1600" b="0" i="0">
                <a:solidFill>
                  <a:srgbClr val="D70015"/>
                </a:solidFill>
                <a:latin typeface="Segoe UI Semibold"/>
              </a:defRPr>
            </a:pPr>
            <a:r>
              <a:t>61 / 500</a:t>
            </a:r>
          </a:p>
        </p:txBody>
      </p:sp>
      <p:sp>
        <p:nvSpPr>
          <p:cNvPr id="24" name="tx_1026"/>
          <p:cNvSpPr txBox="1"/>
          <p:nvPr/>
        </p:nvSpPr>
        <p:spPr>
          <a:xfrm>
            <a:off x="8778239" y="3822191"/>
            <a:ext cx="2545079" cy="365760"/>
          </a:xfrm>
          <a:prstGeom prst="rect">
            <a:avLst/>
          </a:prstGeom>
          <a:noFill/>
        </p:spPr>
        <p:txBody>
          <a:bodyPr wrap="square" lIns="0" rIns="0" tIns="0" bIns="0" anchor="ctr">
            <a:spAutoFit/>
          </a:bodyPr>
          <a:lstStyle/>
          <a:p>
            <a:pPr>
              <a:spcAft>
                <a:spcPts val="400"/>
              </a:spcAft>
              <a:defRPr sz="1600" b="0" i="0">
                <a:solidFill>
                  <a:srgbClr val="D70015"/>
                </a:solidFill>
                <a:latin typeface="Segoe UI Semibold"/>
              </a:defRPr>
            </a:pPr>
            <a:r>
              <a:t>9 / 507</a:t>
            </a:r>
          </a:p>
        </p:txBody>
      </p:sp>
      <p:cxnSp>
        <p:nvCxnSpPr>
          <p:cNvPr id="25" name="hl_1027"/>
          <p:cNvCxnSpPr/>
          <p:nvPr/>
        </p:nvCxnSpPr>
        <p:spPr>
          <a:xfrm>
            <a:off x="822960" y="4270248"/>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6" name="tx_1028"/>
          <p:cNvSpPr txBox="1"/>
          <p:nvPr/>
        </p:nvSpPr>
        <p:spPr>
          <a:xfrm>
            <a:off x="868680" y="4352544"/>
            <a:ext cx="518159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Diagnostic F1 (fixed totals)</a:t>
            </a:r>
          </a:p>
        </p:txBody>
      </p:sp>
      <p:sp>
        <p:nvSpPr>
          <p:cNvPr id="27" name="tx_1029"/>
          <p:cNvSpPr txBox="1"/>
          <p:nvPr/>
        </p:nvSpPr>
        <p:spPr>
          <a:xfrm>
            <a:off x="6141719" y="4352544"/>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97.37%</a:t>
            </a:r>
          </a:p>
        </p:txBody>
      </p:sp>
      <p:sp>
        <p:nvSpPr>
          <p:cNvPr id="28" name="tx_1030"/>
          <p:cNvSpPr txBox="1"/>
          <p:nvPr/>
        </p:nvSpPr>
        <p:spPr>
          <a:xfrm>
            <a:off x="8778239" y="4352544"/>
            <a:ext cx="2545079"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98.53%</a:t>
            </a:r>
          </a:p>
        </p:txBody>
      </p:sp>
      <p:cxnSp>
        <p:nvCxnSpPr>
          <p:cNvPr id="29" name="hl_1031"/>
          <p:cNvCxnSpPr/>
          <p:nvPr/>
        </p:nvCxnSpPr>
        <p:spPr>
          <a:xfrm>
            <a:off x="822960" y="480060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30" name="tx_1032"/>
          <p:cNvSpPr txBox="1"/>
          <p:nvPr/>
        </p:nvSpPr>
        <p:spPr>
          <a:xfrm>
            <a:off x="822960" y="4983480"/>
            <a:ext cx="10546079" cy="548640"/>
          </a:xfrm>
          <a:prstGeom prst="rect">
            <a:avLst/>
          </a:prstGeom>
          <a:noFill/>
        </p:spPr>
        <p:txBody>
          <a:bodyPr wrap="square" lIns="0" rIns="0" tIns="0" bIns="0">
            <a:spAutoFit/>
          </a:bodyPr>
          <a:lstStyle/>
          <a:p>
            <a:pPr>
              <a:spcAft>
                <a:spcPts val="400"/>
              </a:spcAft>
              <a:defRPr sz="1500" b="0" i="1">
                <a:solidFill>
                  <a:srgbClr val="D70015"/>
                </a:solidFill>
                <a:latin typeface="Segoe UI"/>
              </a:defRPr>
            </a:pPr>
            <a:r>
              <a:t>These calculations expose the inconsistency; they do not repair the experiment.  Also: the abstract/contributions say 4.64% covert bit error; §VI-A and Table IV say 4.63%.</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1033"/>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Backup · Evaluation detail</a:t>
            </a:r>
          </a:p>
        </p:txBody>
      </p:sp>
      <p:sp>
        <p:nvSpPr>
          <p:cNvPr id="3" name="tx_1034"/>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Sampling and dataset sizes</a:t>
            </a:r>
          </a:p>
        </p:txBody>
      </p:sp>
      <p:sp>
        <p:nvSpPr>
          <p:cNvPr id="5" name="tx_1036"/>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40</a:t>
            </a:r>
          </a:p>
        </p:txBody>
      </p:sp>
      <p:sp>
        <p:nvSpPr>
          <p:cNvPr id="6" name="tx_1037"/>
          <p:cNvSpPr txBox="1"/>
          <p:nvPr/>
        </p:nvSpPr>
        <p:spPr>
          <a:xfrm>
            <a:off x="868680" y="1783080"/>
            <a:ext cx="4126991"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SETTING</a:t>
            </a:r>
          </a:p>
        </p:txBody>
      </p:sp>
      <p:sp>
        <p:nvSpPr>
          <p:cNvPr id="7" name="tx_1038"/>
          <p:cNvSpPr txBox="1"/>
          <p:nvPr/>
        </p:nvSpPr>
        <p:spPr>
          <a:xfrm>
            <a:off x="5087111" y="1783080"/>
            <a:ext cx="3072383"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WEBSITE TASK</a:t>
            </a:r>
          </a:p>
        </p:txBody>
      </p:sp>
      <p:sp>
        <p:nvSpPr>
          <p:cNvPr id="8" name="tx_1039"/>
          <p:cNvSpPr txBox="1"/>
          <p:nvPr/>
        </p:nvSpPr>
        <p:spPr>
          <a:xfrm>
            <a:off x="8250935" y="1783080"/>
            <a:ext cx="3072383"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LLM TASK</a:t>
            </a:r>
          </a:p>
        </p:txBody>
      </p:sp>
      <p:cxnSp>
        <p:nvCxnSpPr>
          <p:cNvPr id="9" name="hl_1040"/>
          <p:cNvCxnSpPr/>
          <p:nvPr/>
        </p:nvCxnSpPr>
        <p:spPr>
          <a:xfrm>
            <a:off x="822960" y="2148840"/>
            <a:ext cx="10546079"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10" name="tx_1041"/>
          <p:cNvSpPr txBox="1"/>
          <p:nvPr/>
        </p:nvSpPr>
        <p:spPr>
          <a:xfrm>
            <a:off x="868680" y="2221992"/>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Sample interval</a:t>
            </a:r>
          </a:p>
        </p:txBody>
      </p:sp>
      <p:sp>
        <p:nvSpPr>
          <p:cNvPr id="11" name="tx_1042"/>
          <p:cNvSpPr txBox="1"/>
          <p:nvPr/>
        </p:nvSpPr>
        <p:spPr>
          <a:xfrm>
            <a:off x="5087111" y="2221992"/>
            <a:ext cx="307238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10 µs</a:t>
            </a:r>
          </a:p>
        </p:txBody>
      </p:sp>
      <p:sp>
        <p:nvSpPr>
          <p:cNvPr id="12" name="tx_1043"/>
          <p:cNvSpPr txBox="1"/>
          <p:nvPr/>
        </p:nvSpPr>
        <p:spPr>
          <a:xfrm>
            <a:off x="8250935" y="2221992"/>
            <a:ext cx="307238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10 µs</a:t>
            </a:r>
          </a:p>
        </p:txBody>
      </p:sp>
      <p:cxnSp>
        <p:nvCxnSpPr>
          <p:cNvPr id="13" name="hl_1044"/>
          <p:cNvCxnSpPr/>
          <p:nvPr/>
        </p:nvCxnSpPr>
        <p:spPr>
          <a:xfrm>
            <a:off x="822960" y="2660904"/>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4" name="tx_1045"/>
          <p:cNvSpPr txBox="1"/>
          <p:nvPr/>
        </p:nvSpPr>
        <p:spPr>
          <a:xfrm>
            <a:off x="868680" y="2734056"/>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Samples per slot</a:t>
            </a:r>
          </a:p>
        </p:txBody>
      </p:sp>
      <p:sp>
        <p:nvSpPr>
          <p:cNvPr id="15" name="tx_1046"/>
          <p:cNvSpPr txBox="1"/>
          <p:nvPr/>
        </p:nvSpPr>
        <p:spPr>
          <a:xfrm>
            <a:off x="5087111" y="2734056"/>
            <a:ext cx="307238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400</a:t>
            </a:r>
          </a:p>
        </p:txBody>
      </p:sp>
      <p:sp>
        <p:nvSpPr>
          <p:cNvPr id="16" name="tx_1047"/>
          <p:cNvSpPr txBox="1"/>
          <p:nvPr/>
        </p:nvSpPr>
        <p:spPr>
          <a:xfrm>
            <a:off x="8250935" y="2734056"/>
            <a:ext cx="307238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800</a:t>
            </a:r>
          </a:p>
        </p:txBody>
      </p:sp>
      <p:cxnSp>
        <p:nvCxnSpPr>
          <p:cNvPr id="17" name="hl_1048"/>
          <p:cNvCxnSpPr/>
          <p:nvPr/>
        </p:nvCxnSpPr>
        <p:spPr>
          <a:xfrm>
            <a:off x="822960" y="3172968"/>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8" name="tx_1049"/>
          <p:cNvSpPr txBox="1"/>
          <p:nvPr/>
        </p:nvSpPr>
        <p:spPr>
          <a:xfrm>
            <a:off x="868680" y="3246120"/>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Slot duration</a:t>
            </a:r>
          </a:p>
        </p:txBody>
      </p:sp>
      <p:sp>
        <p:nvSpPr>
          <p:cNvPr id="19" name="tx_1050"/>
          <p:cNvSpPr txBox="1"/>
          <p:nvPr/>
        </p:nvSpPr>
        <p:spPr>
          <a:xfrm>
            <a:off x="5087111" y="3246120"/>
            <a:ext cx="307238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4 ms</a:t>
            </a:r>
          </a:p>
        </p:txBody>
      </p:sp>
      <p:sp>
        <p:nvSpPr>
          <p:cNvPr id="20" name="tx_1051"/>
          <p:cNvSpPr txBox="1"/>
          <p:nvPr/>
        </p:nvSpPr>
        <p:spPr>
          <a:xfrm>
            <a:off x="8250935" y="3246120"/>
            <a:ext cx="307238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8 ms</a:t>
            </a:r>
          </a:p>
        </p:txBody>
      </p:sp>
      <p:cxnSp>
        <p:nvCxnSpPr>
          <p:cNvPr id="21" name="hl_1052"/>
          <p:cNvCxnSpPr/>
          <p:nvPr/>
        </p:nvCxnSpPr>
        <p:spPr>
          <a:xfrm>
            <a:off x="822960" y="3685032"/>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2" name="tx_1053"/>
          <p:cNvSpPr txBox="1"/>
          <p:nvPr/>
        </p:nvSpPr>
        <p:spPr>
          <a:xfrm>
            <a:off x="868680" y="3758184"/>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Classes × traces</a:t>
            </a:r>
          </a:p>
        </p:txBody>
      </p:sp>
      <p:sp>
        <p:nvSpPr>
          <p:cNvPr id="23" name="tx_1054"/>
          <p:cNvSpPr txBox="1"/>
          <p:nvPr/>
        </p:nvSpPr>
        <p:spPr>
          <a:xfrm>
            <a:off x="5087111" y="3758184"/>
            <a:ext cx="307238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100 × 200</a:t>
            </a:r>
          </a:p>
        </p:txBody>
      </p:sp>
      <p:sp>
        <p:nvSpPr>
          <p:cNvPr id="24" name="tx_1055"/>
          <p:cNvSpPr txBox="1"/>
          <p:nvPr/>
        </p:nvSpPr>
        <p:spPr>
          <a:xfrm>
            <a:off x="8250935" y="3758184"/>
            <a:ext cx="307238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8 × 50</a:t>
            </a:r>
          </a:p>
        </p:txBody>
      </p:sp>
      <p:cxnSp>
        <p:nvCxnSpPr>
          <p:cNvPr id="25" name="hl_1056"/>
          <p:cNvCxnSpPr/>
          <p:nvPr/>
        </p:nvCxnSpPr>
        <p:spPr>
          <a:xfrm>
            <a:off x="822960" y="4197096"/>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6" name="tx_1057"/>
          <p:cNvSpPr txBox="1"/>
          <p:nvPr/>
        </p:nvSpPr>
        <p:spPr>
          <a:xfrm>
            <a:off x="868680" y="4270248"/>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Total traces</a:t>
            </a:r>
          </a:p>
        </p:txBody>
      </p:sp>
      <p:sp>
        <p:nvSpPr>
          <p:cNvPr id="27" name="tx_1058"/>
          <p:cNvSpPr txBox="1"/>
          <p:nvPr/>
        </p:nvSpPr>
        <p:spPr>
          <a:xfrm>
            <a:off x="5087111" y="4270248"/>
            <a:ext cx="307238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20,000</a:t>
            </a:r>
          </a:p>
        </p:txBody>
      </p:sp>
      <p:sp>
        <p:nvSpPr>
          <p:cNvPr id="28" name="tx_1059"/>
          <p:cNvSpPr txBox="1"/>
          <p:nvPr/>
        </p:nvSpPr>
        <p:spPr>
          <a:xfrm>
            <a:off x="8250935" y="4270248"/>
            <a:ext cx="307238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400</a:t>
            </a:r>
          </a:p>
        </p:txBody>
      </p:sp>
      <p:cxnSp>
        <p:nvCxnSpPr>
          <p:cNvPr id="29" name="hl_1060"/>
          <p:cNvCxnSpPr/>
          <p:nvPr/>
        </p:nvCxnSpPr>
        <p:spPr>
          <a:xfrm>
            <a:off x="822960" y="470916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30" name="tx_1061"/>
          <p:cNvSpPr txBox="1"/>
          <p:nvPr/>
        </p:nvSpPr>
        <p:spPr>
          <a:xfrm>
            <a:off x="868680" y="4782312"/>
            <a:ext cx="4126991"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80 / 20 split</a:t>
            </a:r>
          </a:p>
        </p:txBody>
      </p:sp>
      <p:sp>
        <p:nvSpPr>
          <p:cNvPr id="31" name="tx_1062"/>
          <p:cNvSpPr txBox="1"/>
          <p:nvPr/>
        </p:nvSpPr>
        <p:spPr>
          <a:xfrm>
            <a:off x="5087111" y="4782312"/>
            <a:ext cx="307238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16,000 / 4,000</a:t>
            </a:r>
          </a:p>
        </p:txBody>
      </p:sp>
      <p:sp>
        <p:nvSpPr>
          <p:cNvPr id="32" name="tx_1063"/>
          <p:cNvSpPr txBox="1"/>
          <p:nvPr/>
        </p:nvSpPr>
        <p:spPr>
          <a:xfrm>
            <a:off x="8250935" y="4782312"/>
            <a:ext cx="3072383"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a:defRPr>
            </a:pPr>
            <a:r>
              <a:t>320 / 80</a:t>
            </a:r>
          </a:p>
        </p:txBody>
      </p:sp>
      <p:cxnSp>
        <p:nvCxnSpPr>
          <p:cNvPr id="33" name="hl_1064"/>
          <p:cNvCxnSpPr/>
          <p:nvPr/>
        </p:nvCxnSpPr>
        <p:spPr>
          <a:xfrm>
            <a:off x="822960" y="5221224"/>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1095"/>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Backup · Artifact &amp; reproducibility</a:t>
            </a:r>
          </a:p>
        </p:txBody>
      </p:sp>
      <p:sp>
        <p:nvSpPr>
          <p:cNvPr id="3" name="tx_1096"/>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Reproduction requires a configured DSA platform</a:t>
            </a:r>
          </a:p>
        </p:txBody>
      </p:sp>
      <p:sp>
        <p:nvSpPr>
          <p:cNvPr id="5" name="tx_1098"/>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41</a:t>
            </a:r>
          </a:p>
        </p:txBody>
      </p:sp>
      <p:sp>
        <p:nvSpPr>
          <p:cNvPr id="6" name="rect_1099"/>
          <p:cNvSpPr/>
          <p:nvPr/>
        </p:nvSpPr>
        <p:spPr>
          <a:xfrm>
            <a:off x="822960" y="2011679"/>
            <a:ext cx="109728" cy="109728"/>
          </a:xfrm>
          <a:prstGeom prst="ellipse">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x_1100"/>
          <p:cNvSpPr txBox="1"/>
          <p:nvPr/>
        </p:nvSpPr>
        <p:spPr>
          <a:xfrm>
            <a:off x="1188720" y="1874519"/>
            <a:ext cx="10180319" cy="457200"/>
          </a:xfrm>
          <a:prstGeom prst="rect">
            <a:avLst/>
          </a:prstGeom>
          <a:noFill/>
        </p:spPr>
        <p:txBody>
          <a:bodyPr wrap="square" lIns="0" rIns="0" tIns="0" bIns="0">
            <a:spAutoFit/>
          </a:bodyPr>
          <a:lstStyle/>
          <a:p>
            <a:pPr>
              <a:spcAft>
                <a:spcPts val="400"/>
              </a:spcAft>
              <a:defRPr sz="2200" b="0" i="0">
                <a:solidFill>
                  <a:srgbClr val="1D1D1F"/>
                </a:solidFill>
                <a:latin typeface="Segoe UI Semibold"/>
              </a:defRPr>
            </a:pPr>
            <a:r>
              <a:t>Hardware &amp; provisioning</a:t>
            </a:r>
          </a:p>
        </p:txBody>
      </p:sp>
      <p:sp>
        <p:nvSpPr>
          <p:cNvPr id="8" name="tx_1101"/>
          <p:cNvSpPr txBox="1"/>
          <p:nvPr/>
        </p:nvSpPr>
        <p:spPr>
          <a:xfrm>
            <a:off x="1188720" y="2331720"/>
            <a:ext cx="10180319" cy="594359"/>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DSA-capable Xeon; VT-d / IDXD; admin configuration + device access</a:t>
            </a:r>
          </a:p>
        </p:txBody>
      </p:sp>
      <p:sp>
        <p:nvSpPr>
          <p:cNvPr id="9" name="rect_1102"/>
          <p:cNvSpPr/>
          <p:nvPr/>
        </p:nvSpPr>
        <p:spPr>
          <a:xfrm>
            <a:off x="822960" y="3063239"/>
            <a:ext cx="109728" cy="109728"/>
          </a:xfrm>
          <a:prstGeom prst="ellipse">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x_1103"/>
          <p:cNvSpPr txBox="1"/>
          <p:nvPr/>
        </p:nvSpPr>
        <p:spPr>
          <a:xfrm>
            <a:off x="1188720" y="2926079"/>
            <a:ext cx="10180319" cy="457200"/>
          </a:xfrm>
          <a:prstGeom prst="rect">
            <a:avLst/>
          </a:prstGeom>
          <a:noFill/>
        </p:spPr>
        <p:txBody>
          <a:bodyPr wrap="square" lIns="0" rIns="0" tIns="0" bIns="0">
            <a:spAutoFit/>
          </a:bodyPr>
          <a:lstStyle/>
          <a:p>
            <a:pPr>
              <a:spcAft>
                <a:spcPts val="400"/>
              </a:spcAft>
              <a:defRPr sz="2200" b="0" i="0">
                <a:solidFill>
                  <a:srgbClr val="1D1D1F"/>
                </a:solidFill>
                <a:latin typeface="Segoe UI Semibold"/>
              </a:defRPr>
            </a:pPr>
            <a:r>
              <a:t>Victim-specific software</a:t>
            </a:r>
          </a:p>
        </p:txBody>
      </p:sp>
      <p:sp>
        <p:nvSpPr>
          <p:cNvPr id="11" name="tx_1104"/>
          <p:cNvSpPr txBox="1"/>
          <p:nvPr/>
        </p:nvSpPr>
        <p:spPr>
          <a:xfrm>
            <a:off x="1188720" y="3383279"/>
            <a:ext cx="10180319" cy="594359"/>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VPP / DPDK for websites; DTO-enabled SSH and inference workloads</a:t>
            </a:r>
          </a:p>
        </p:txBody>
      </p:sp>
      <p:sp>
        <p:nvSpPr>
          <p:cNvPr id="12" name="rect_1105"/>
          <p:cNvSpPr/>
          <p:nvPr/>
        </p:nvSpPr>
        <p:spPr>
          <a:xfrm>
            <a:off x="822960" y="4114800"/>
            <a:ext cx="109728" cy="109728"/>
          </a:xfrm>
          <a:prstGeom prst="ellipse">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x_1106"/>
          <p:cNvSpPr txBox="1"/>
          <p:nvPr/>
        </p:nvSpPr>
        <p:spPr>
          <a:xfrm>
            <a:off x="1188720" y="3977639"/>
            <a:ext cx="10180319" cy="457200"/>
          </a:xfrm>
          <a:prstGeom prst="rect">
            <a:avLst/>
          </a:prstGeom>
          <a:noFill/>
        </p:spPr>
        <p:txBody>
          <a:bodyPr wrap="square" lIns="0" rIns="0" tIns="0" bIns="0">
            <a:spAutoFit/>
          </a:bodyPr>
          <a:lstStyle/>
          <a:p>
            <a:pPr>
              <a:spcAft>
                <a:spcPts val="400"/>
              </a:spcAft>
              <a:defRPr sz="2200" b="0" i="0">
                <a:solidFill>
                  <a:srgbClr val="1D1D1F"/>
                </a:solidFill>
                <a:latin typeface="Segoe UI Semibold"/>
              </a:defRPr>
            </a:pPr>
            <a:r>
              <a:t>Artifact organization</a:t>
            </a:r>
          </a:p>
        </p:txBody>
      </p:sp>
      <p:sp>
        <p:nvSpPr>
          <p:cNvPr id="14" name="tx_1107"/>
          <p:cNvSpPr txBox="1"/>
          <p:nvPr/>
        </p:nvSpPr>
        <p:spPr>
          <a:xfrm>
            <a:off x="1188720" y="4434840"/>
            <a:ext cx="10180319" cy="594359"/>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playground → characterization; attack → traces; evaluate → metrics</a:t>
            </a:r>
          </a:p>
        </p:txBody>
      </p:sp>
      <p:sp>
        <p:nvSpPr>
          <p:cNvPr id="15" name="tx_1108"/>
          <p:cNvSpPr txBox="1"/>
          <p:nvPr/>
        </p:nvSpPr>
        <p:spPr>
          <a:xfrm>
            <a:off x="822960" y="5669280"/>
            <a:ext cx="10546079" cy="365760"/>
          </a:xfrm>
          <a:prstGeom prst="rect">
            <a:avLst/>
          </a:prstGeom>
          <a:noFill/>
        </p:spPr>
        <p:txBody>
          <a:bodyPr wrap="square" lIns="0" rIns="0" tIns="0" bIns="0">
            <a:spAutoFit/>
          </a:bodyPr>
          <a:lstStyle/>
          <a:p>
            <a:pPr>
              <a:spcAft>
                <a:spcPts val="400"/>
              </a:spcAft>
              <a:defRPr sz="1500" b="0" i="0">
                <a:solidFill>
                  <a:srgbClr val="6E6E73"/>
                </a:solidFill>
                <a:latin typeface="Segoe UI"/>
              </a:defRPr>
            </a:pPr>
            <a:r>
              <a:t>github.com/hkustgz-secarch/dsassassin   ·   DOI 10.5281/zenodo.17799273</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1109"/>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Backup · Q&amp;A preparation</a:t>
            </a:r>
          </a:p>
        </p:txBody>
      </p:sp>
      <p:sp>
        <p:nvSpPr>
          <p:cNvPr id="3" name="tx_1110"/>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Likely questions and concise answers</a:t>
            </a:r>
          </a:p>
        </p:txBody>
      </p:sp>
      <p:sp>
        <p:nvSpPr>
          <p:cNvPr id="5" name="tx_1112"/>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42</a:t>
            </a:r>
          </a:p>
        </p:txBody>
      </p:sp>
      <p:sp>
        <p:nvSpPr>
          <p:cNvPr id="6" name="tx_1113"/>
          <p:cNvSpPr txBox="1"/>
          <p:nvPr/>
        </p:nvSpPr>
        <p:spPr>
          <a:xfrm>
            <a:off x="868680" y="1783080"/>
            <a:ext cx="3705148"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QUESTION</a:t>
            </a:r>
          </a:p>
        </p:txBody>
      </p:sp>
      <p:sp>
        <p:nvSpPr>
          <p:cNvPr id="7" name="tx_1114"/>
          <p:cNvSpPr txBox="1"/>
          <p:nvPr/>
        </p:nvSpPr>
        <p:spPr>
          <a:xfrm>
            <a:off x="4665268" y="1783080"/>
            <a:ext cx="6658051" cy="274320"/>
          </a:xfrm>
          <a:prstGeom prst="rect">
            <a:avLst/>
          </a:prstGeom>
          <a:noFill/>
        </p:spPr>
        <p:txBody>
          <a:bodyPr wrap="square" lIns="0" rIns="0" tIns="0" bIns="0">
            <a:spAutoFit/>
          </a:bodyPr>
          <a:lstStyle/>
          <a:p>
            <a:pPr>
              <a:spcAft>
                <a:spcPts val="400"/>
              </a:spcAft>
              <a:defRPr sz="1200" b="0" i="0">
                <a:solidFill>
                  <a:srgbClr val="86868B"/>
                </a:solidFill>
                <a:latin typeface="Segoe UI Semibold"/>
              </a:defRPr>
            </a:pPr>
            <a:r>
              <a:t>ANSWER</a:t>
            </a:r>
          </a:p>
        </p:txBody>
      </p:sp>
      <p:cxnSp>
        <p:nvCxnSpPr>
          <p:cNvPr id="8" name="hl_1115"/>
          <p:cNvCxnSpPr/>
          <p:nvPr/>
        </p:nvCxnSpPr>
        <p:spPr>
          <a:xfrm>
            <a:off x="822960" y="2148840"/>
            <a:ext cx="10546079" cy="0"/>
          </a:xfrm>
          <a:prstGeom prst="line">
            <a:avLst/>
          </a:prstGeom>
          <a:ln w="12700">
            <a:solidFill>
              <a:srgbClr val="1D1D1F"/>
            </a:solidFill>
          </a:ln>
        </p:spPr>
        <p:style>
          <a:lnRef idx="2">
            <a:schemeClr val="accent1"/>
          </a:lnRef>
          <a:fillRef idx="0">
            <a:schemeClr val="accent1"/>
          </a:fillRef>
          <a:effectRef idx="1">
            <a:schemeClr val="accent1"/>
          </a:effectRef>
          <a:fontRef idx="minor">
            <a:schemeClr val="tx1"/>
          </a:fontRef>
        </p:style>
      </p:cxnSp>
      <p:sp>
        <p:nvSpPr>
          <p:cNvPr id="9" name="tx_1116"/>
          <p:cNvSpPr txBox="1"/>
          <p:nvPr/>
        </p:nvSpPr>
        <p:spPr>
          <a:xfrm>
            <a:off x="868680" y="2231136"/>
            <a:ext cx="3705148"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Does encryption stop it?</a:t>
            </a:r>
          </a:p>
        </p:txBody>
      </p:sp>
      <p:sp>
        <p:nvSpPr>
          <p:cNvPr id="10" name="tx_1117"/>
          <p:cNvSpPr txBox="1"/>
          <p:nvPr/>
        </p:nvSpPr>
        <p:spPr>
          <a:xfrm>
            <a:off x="4665268" y="2231136"/>
            <a:ext cx="6658051"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content protection does not remove activity patterns</a:t>
            </a:r>
          </a:p>
        </p:txBody>
      </p:sp>
      <p:cxnSp>
        <p:nvCxnSpPr>
          <p:cNvPr id="11" name="hl_1118"/>
          <p:cNvCxnSpPr/>
          <p:nvPr/>
        </p:nvCxnSpPr>
        <p:spPr>
          <a:xfrm>
            <a:off x="822960" y="2679192"/>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2" name="tx_1119"/>
          <p:cNvSpPr txBox="1"/>
          <p:nvPr/>
        </p:nvSpPr>
        <p:spPr>
          <a:xfrm>
            <a:off x="868680" y="2761488"/>
            <a:ext cx="3705148"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Do separate CPU cores help?</a:t>
            </a:r>
          </a:p>
        </p:txBody>
      </p:sp>
      <p:sp>
        <p:nvSpPr>
          <p:cNvPr id="13" name="tx_1120"/>
          <p:cNvSpPr txBox="1"/>
          <p:nvPr/>
        </p:nvSpPr>
        <p:spPr>
          <a:xfrm>
            <a:off x="4665268" y="2761488"/>
            <a:ext cx="6658051"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the observations arise in shared DSA resources</a:t>
            </a:r>
          </a:p>
        </p:txBody>
      </p:sp>
      <p:cxnSp>
        <p:nvCxnSpPr>
          <p:cNvPr id="14" name="hl_1121"/>
          <p:cNvCxnSpPr/>
          <p:nvPr/>
        </p:nvCxnSpPr>
        <p:spPr>
          <a:xfrm>
            <a:off x="822960" y="3209544"/>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5" name="tx_1122"/>
          <p:cNvSpPr txBox="1"/>
          <p:nvPr/>
        </p:nvSpPr>
        <p:spPr>
          <a:xfrm>
            <a:off x="868680" y="3291839"/>
            <a:ext cx="3705148"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Do separate queues help?</a:t>
            </a:r>
          </a:p>
        </p:txBody>
      </p:sp>
      <p:sp>
        <p:nvSpPr>
          <p:cNvPr id="16" name="tx_1123"/>
          <p:cNvSpPr txBox="1"/>
          <p:nvPr/>
        </p:nvSpPr>
        <p:spPr>
          <a:xfrm>
            <a:off x="4665268" y="3291839"/>
            <a:ext cx="6658051"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SWQ: yes; DevTLB: also separate the engines</a:t>
            </a:r>
          </a:p>
        </p:txBody>
      </p:sp>
      <p:cxnSp>
        <p:nvCxnSpPr>
          <p:cNvPr id="17" name="hl_1124"/>
          <p:cNvCxnSpPr/>
          <p:nvPr/>
        </p:nvCxnSpPr>
        <p:spPr>
          <a:xfrm>
            <a:off x="822960" y="3739896"/>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8" name="tx_1125"/>
          <p:cNvSpPr txBox="1"/>
          <p:nvPr/>
        </p:nvSpPr>
        <p:spPr>
          <a:xfrm>
            <a:off x="868680" y="3822191"/>
            <a:ext cx="3705148"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Are typed characters recovered?</a:t>
            </a:r>
          </a:p>
        </p:txBody>
      </p:sp>
      <p:sp>
        <p:nvSpPr>
          <p:cNvPr id="19" name="tx_1126"/>
          <p:cNvSpPr txBox="1"/>
          <p:nvPr/>
        </p:nvSpPr>
        <p:spPr>
          <a:xfrm>
            <a:off x="4665268" y="3822191"/>
            <a:ext cx="6658051"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it evaluates event timing, not full text recovery</a:t>
            </a:r>
          </a:p>
        </p:txBody>
      </p:sp>
      <p:cxnSp>
        <p:nvCxnSpPr>
          <p:cNvPr id="20" name="hl_1127"/>
          <p:cNvCxnSpPr/>
          <p:nvPr/>
        </p:nvCxnSpPr>
        <p:spPr>
          <a:xfrm>
            <a:off x="822960" y="4270248"/>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1" name="tx_1128"/>
          <p:cNvSpPr txBox="1"/>
          <p:nvPr/>
        </p:nvSpPr>
        <p:spPr>
          <a:xfrm>
            <a:off x="868680" y="4352544"/>
            <a:ext cx="3705148"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Would timer removal solve it?</a:t>
            </a:r>
          </a:p>
        </p:txBody>
      </p:sp>
      <p:sp>
        <p:nvSpPr>
          <p:cNvPr id="22" name="tx_1129"/>
          <p:cNvSpPr txBox="1"/>
          <p:nvPr/>
        </p:nvSpPr>
        <p:spPr>
          <a:xfrm>
            <a:off x="4665268" y="4352544"/>
            <a:ext cx="6658051"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SWQ reads admission feedback without a duration</a:t>
            </a:r>
          </a:p>
        </p:txBody>
      </p:sp>
      <p:cxnSp>
        <p:nvCxnSpPr>
          <p:cNvPr id="23" name="hl_1130"/>
          <p:cNvCxnSpPr/>
          <p:nvPr/>
        </p:nvCxnSpPr>
        <p:spPr>
          <a:xfrm>
            <a:off x="822960" y="4800600"/>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4" name="tx_1131"/>
          <p:cNvSpPr txBox="1"/>
          <p:nvPr/>
        </p:nvSpPr>
        <p:spPr>
          <a:xfrm>
            <a:off x="868680" y="4882896"/>
            <a:ext cx="3705148" cy="365760"/>
          </a:xfrm>
          <a:prstGeom prst="rect">
            <a:avLst/>
          </a:prstGeom>
          <a:noFill/>
        </p:spPr>
        <p:txBody>
          <a:bodyPr wrap="square" lIns="0" rIns="0" tIns="0" bIns="0" anchor="ctr">
            <a:spAutoFit/>
          </a:bodyPr>
          <a:lstStyle/>
          <a:p>
            <a:pPr>
              <a:spcAft>
                <a:spcPts val="400"/>
              </a:spcAft>
              <a:defRPr sz="1600" b="0" i="0">
                <a:solidFill>
                  <a:srgbClr val="1D1D1F"/>
                </a:solidFill>
                <a:latin typeface="Segoe UI Semibold"/>
              </a:defRPr>
            </a:pPr>
            <a:r>
              <a:t>Is random insertion a proven fix?</a:t>
            </a:r>
          </a:p>
        </p:txBody>
      </p:sp>
      <p:sp>
        <p:nvSpPr>
          <p:cNvPr id="25" name="tx_1132"/>
          <p:cNvSpPr txBox="1"/>
          <p:nvPr/>
        </p:nvSpPr>
        <p:spPr>
          <a:xfrm>
            <a:off x="4665268" y="4882896"/>
            <a:ext cx="6658051" cy="365760"/>
          </a:xfrm>
          <a:prstGeom prst="rect">
            <a:avLst/>
          </a:prstGeom>
          <a:noFill/>
        </p:spPr>
        <p:txBody>
          <a:bodyPr wrap="square" lIns="0" rIns="0" tIns="0" bIns="0" anchor="ctr">
            <a:spAutoFit/>
          </a:bodyPr>
          <a:lstStyle/>
          <a:p>
            <a:pPr>
              <a:spcAft>
                <a:spcPts val="400"/>
              </a:spcAft>
              <a:defRPr sz="1600" b="0" i="0">
                <a:solidFill>
                  <a:srgbClr val="6E6E73"/>
                </a:solidFill>
                <a:latin typeface="Segoe UI"/>
              </a:defRPr>
            </a:pPr>
            <a:r>
              <a:t>overhead is measured; residual leakage is not</a:t>
            </a:r>
          </a:p>
        </p:txBody>
      </p:sp>
      <p:cxnSp>
        <p:nvCxnSpPr>
          <p:cNvPr id="26" name="hl_1133"/>
          <p:cNvCxnSpPr/>
          <p:nvPr/>
        </p:nvCxnSpPr>
        <p:spPr>
          <a:xfrm>
            <a:off x="822960" y="5330952"/>
            <a:ext cx="105460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x_1134"/>
          <p:cNvSpPr txBox="1"/>
          <p:nvPr/>
        </p:nvSpPr>
        <p:spPr>
          <a:xfrm>
            <a:off x="822960" y="502920"/>
            <a:ext cx="10546079" cy="274320"/>
          </a:xfrm>
          <a:prstGeom prst="rect">
            <a:avLst/>
          </a:prstGeom>
          <a:noFill/>
        </p:spPr>
        <p:txBody>
          <a:bodyPr wrap="square" lIns="0" rIns="0" tIns="0" bIns="0">
            <a:spAutoFit/>
          </a:bodyPr>
          <a:lstStyle/>
          <a:p>
            <a:pPr>
              <a:spcAft>
                <a:spcPts val="400"/>
              </a:spcAft>
              <a:defRPr sz="1200" b="0" i="0">
                <a:solidFill>
                  <a:srgbClr val="0071E3"/>
                </a:solidFill>
                <a:latin typeface="Segoe UI Semibold"/>
              </a:defRPr>
            </a:pPr>
            <a:r>
              <a:t>Backup · References</a:t>
            </a:r>
          </a:p>
        </p:txBody>
      </p:sp>
      <p:sp>
        <p:nvSpPr>
          <p:cNvPr id="3" name="tx_1135"/>
          <p:cNvSpPr txBox="1"/>
          <p:nvPr/>
        </p:nvSpPr>
        <p:spPr>
          <a:xfrm>
            <a:off x="822960" y="822960"/>
            <a:ext cx="10546079" cy="914400"/>
          </a:xfrm>
          <a:prstGeom prst="rect">
            <a:avLst/>
          </a:prstGeom>
          <a:noFill/>
        </p:spPr>
        <p:txBody>
          <a:bodyPr wrap="square" lIns="0" rIns="0" tIns="0" bIns="0">
            <a:spAutoFit/>
          </a:bodyPr>
          <a:lstStyle/>
          <a:p>
            <a:pPr>
              <a:lnSpc>
                <a:spcPct val="100000"/>
              </a:lnSpc>
              <a:spcAft>
                <a:spcPts val="400"/>
              </a:spcAft>
              <a:defRPr sz="3000" b="0" i="0">
                <a:solidFill>
                  <a:srgbClr val="1D1D1F"/>
                </a:solidFill>
                <a:latin typeface="Segoe UI Semibold"/>
              </a:defRPr>
            </a:pPr>
            <a:r>
              <a:t>Sources and provenance</a:t>
            </a:r>
          </a:p>
        </p:txBody>
      </p:sp>
      <p:sp>
        <p:nvSpPr>
          <p:cNvPr id="5" name="tx_1137"/>
          <p:cNvSpPr txBox="1"/>
          <p:nvPr/>
        </p:nvSpPr>
        <p:spPr>
          <a:xfrm>
            <a:off x="10820399" y="6419088"/>
            <a:ext cx="548640" cy="228600"/>
          </a:xfrm>
          <a:prstGeom prst="rect">
            <a:avLst/>
          </a:prstGeom>
          <a:noFill/>
        </p:spPr>
        <p:txBody>
          <a:bodyPr wrap="square" lIns="0" rIns="0" tIns="0" bIns="0">
            <a:spAutoFit/>
          </a:bodyPr>
          <a:lstStyle/>
          <a:p>
            <a:pPr algn="r">
              <a:spcAft>
                <a:spcPts val="400"/>
              </a:spcAft>
              <a:defRPr sz="1000" b="0" i="0">
                <a:solidFill>
                  <a:srgbClr val="86868B"/>
                </a:solidFill>
                <a:latin typeface="Segoe UI"/>
              </a:defRPr>
            </a:pPr>
            <a:r>
              <a:t>43</a:t>
            </a:r>
          </a:p>
        </p:txBody>
      </p:sp>
      <p:sp>
        <p:nvSpPr>
          <p:cNvPr id="6" name="rect_1138"/>
          <p:cNvSpPr/>
          <p:nvPr/>
        </p:nvSpPr>
        <p:spPr>
          <a:xfrm>
            <a:off x="822960" y="2011679"/>
            <a:ext cx="109728" cy="109728"/>
          </a:xfrm>
          <a:prstGeom prst="ellipse">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x_1139"/>
          <p:cNvSpPr txBox="1"/>
          <p:nvPr/>
        </p:nvSpPr>
        <p:spPr>
          <a:xfrm>
            <a:off x="1188720" y="1874519"/>
            <a:ext cx="10180319" cy="457200"/>
          </a:xfrm>
          <a:prstGeom prst="rect">
            <a:avLst/>
          </a:prstGeom>
          <a:noFill/>
        </p:spPr>
        <p:txBody>
          <a:bodyPr wrap="square" lIns="0" rIns="0" tIns="0" bIns="0">
            <a:spAutoFit/>
          </a:bodyPr>
          <a:lstStyle/>
          <a:p>
            <a:pPr>
              <a:spcAft>
                <a:spcPts val="400"/>
              </a:spcAft>
              <a:defRPr sz="2200" b="0" i="0">
                <a:solidFill>
                  <a:srgbClr val="1D1D1F"/>
                </a:solidFill>
                <a:latin typeface="Segoe UI Semibold"/>
              </a:defRPr>
            </a:pPr>
            <a:r>
              <a:t>Primary paper</a:t>
            </a:r>
          </a:p>
        </p:txBody>
      </p:sp>
      <p:sp>
        <p:nvSpPr>
          <p:cNvPr id="8" name="tx_1140"/>
          <p:cNvSpPr txBox="1"/>
          <p:nvPr/>
        </p:nvSpPr>
        <p:spPr>
          <a:xfrm>
            <a:off x="1188720" y="2331720"/>
            <a:ext cx="10180319" cy="54864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Chen, Li, Deng, Wang, Chen. DSASSASSIN. HPCA 2026</a:t>
            </a:r>
          </a:p>
        </p:txBody>
      </p:sp>
      <p:sp>
        <p:nvSpPr>
          <p:cNvPr id="9" name="rect_1141"/>
          <p:cNvSpPr/>
          <p:nvPr/>
        </p:nvSpPr>
        <p:spPr>
          <a:xfrm>
            <a:off x="822960" y="3017520"/>
            <a:ext cx="109728" cy="109728"/>
          </a:xfrm>
          <a:prstGeom prst="ellipse">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x_1142"/>
          <p:cNvSpPr txBox="1"/>
          <p:nvPr/>
        </p:nvSpPr>
        <p:spPr>
          <a:xfrm>
            <a:off x="1188720" y="2880360"/>
            <a:ext cx="10180319" cy="457200"/>
          </a:xfrm>
          <a:prstGeom prst="rect">
            <a:avLst/>
          </a:prstGeom>
          <a:noFill/>
        </p:spPr>
        <p:txBody>
          <a:bodyPr wrap="square" lIns="0" rIns="0" tIns="0" bIns="0">
            <a:spAutoFit/>
          </a:bodyPr>
          <a:lstStyle/>
          <a:p>
            <a:pPr>
              <a:spcAft>
                <a:spcPts val="400"/>
              </a:spcAft>
              <a:defRPr sz="2200" b="0" i="0">
                <a:solidFill>
                  <a:srgbClr val="1D1D1F"/>
                </a:solidFill>
                <a:latin typeface="Segoe UI Semibold"/>
              </a:defRPr>
            </a:pPr>
            <a:r>
              <a:t>Author-hosted PDF</a:t>
            </a:r>
          </a:p>
        </p:txBody>
      </p:sp>
      <p:sp>
        <p:nvSpPr>
          <p:cNvPr id="11" name="tx_1143"/>
          <p:cNvSpPr txBox="1"/>
          <p:nvPr/>
        </p:nvSpPr>
        <p:spPr>
          <a:xfrm>
            <a:off x="1188720" y="3337560"/>
            <a:ext cx="10180319" cy="54864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i.benx.dev/assets/hpca26dsassassin.pdf</a:t>
            </a:r>
          </a:p>
        </p:txBody>
      </p:sp>
      <p:sp>
        <p:nvSpPr>
          <p:cNvPr id="12" name="rect_1144"/>
          <p:cNvSpPr/>
          <p:nvPr/>
        </p:nvSpPr>
        <p:spPr>
          <a:xfrm>
            <a:off x="822960" y="4023360"/>
            <a:ext cx="109728" cy="109728"/>
          </a:xfrm>
          <a:prstGeom prst="ellipse">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x_1145"/>
          <p:cNvSpPr txBox="1"/>
          <p:nvPr/>
        </p:nvSpPr>
        <p:spPr>
          <a:xfrm>
            <a:off x="1188720" y="3886200"/>
            <a:ext cx="10180319" cy="457200"/>
          </a:xfrm>
          <a:prstGeom prst="rect">
            <a:avLst/>
          </a:prstGeom>
          <a:noFill/>
        </p:spPr>
        <p:txBody>
          <a:bodyPr wrap="square" lIns="0" rIns="0" tIns="0" bIns="0">
            <a:spAutoFit/>
          </a:bodyPr>
          <a:lstStyle/>
          <a:p>
            <a:pPr>
              <a:spcAft>
                <a:spcPts val="400"/>
              </a:spcAft>
              <a:defRPr sz="2200" b="0" i="0">
                <a:solidFill>
                  <a:srgbClr val="1D1D1F"/>
                </a:solidFill>
                <a:latin typeface="Segoe UI Semibold"/>
              </a:defRPr>
            </a:pPr>
            <a:r>
              <a:t>Artifact</a:t>
            </a:r>
          </a:p>
        </p:txBody>
      </p:sp>
      <p:sp>
        <p:nvSpPr>
          <p:cNvPr id="14" name="tx_1146"/>
          <p:cNvSpPr txBox="1"/>
          <p:nvPr/>
        </p:nvSpPr>
        <p:spPr>
          <a:xfrm>
            <a:off x="1188720" y="4343400"/>
            <a:ext cx="10180319" cy="54864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github.com/hkustgz-secarch/dsassassin</a:t>
            </a:r>
          </a:p>
        </p:txBody>
      </p:sp>
      <p:sp>
        <p:nvSpPr>
          <p:cNvPr id="15" name="rect_1147"/>
          <p:cNvSpPr/>
          <p:nvPr/>
        </p:nvSpPr>
        <p:spPr>
          <a:xfrm>
            <a:off x="822960" y="5029200"/>
            <a:ext cx="109728" cy="109728"/>
          </a:xfrm>
          <a:prstGeom prst="ellipse">
            <a:avLst/>
          </a:prstGeom>
          <a:solidFill>
            <a:srgbClr val="007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x_1148"/>
          <p:cNvSpPr txBox="1"/>
          <p:nvPr/>
        </p:nvSpPr>
        <p:spPr>
          <a:xfrm>
            <a:off x="1188720" y="4892040"/>
            <a:ext cx="10180319" cy="457200"/>
          </a:xfrm>
          <a:prstGeom prst="rect">
            <a:avLst/>
          </a:prstGeom>
          <a:noFill/>
        </p:spPr>
        <p:txBody>
          <a:bodyPr wrap="square" lIns="0" rIns="0" tIns="0" bIns="0">
            <a:spAutoFit/>
          </a:bodyPr>
          <a:lstStyle/>
          <a:p>
            <a:pPr>
              <a:spcAft>
                <a:spcPts val="400"/>
              </a:spcAft>
              <a:defRPr sz="2200" b="0" i="0">
                <a:solidFill>
                  <a:srgbClr val="1D1D1F"/>
                </a:solidFill>
                <a:latin typeface="Segoe UI Semibold"/>
              </a:defRPr>
            </a:pPr>
            <a:r>
              <a:t>Archive + record</a:t>
            </a:r>
          </a:p>
        </p:txBody>
      </p:sp>
      <p:sp>
        <p:nvSpPr>
          <p:cNvPr id="17" name="tx_1149"/>
          <p:cNvSpPr txBox="1"/>
          <p:nvPr/>
        </p:nvSpPr>
        <p:spPr>
          <a:xfrm>
            <a:off x="1188720" y="5349240"/>
            <a:ext cx="10180319" cy="548640"/>
          </a:xfrm>
          <a:prstGeom prst="rect">
            <a:avLst/>
          </a:prstGeom>
          <a:noFill/>
        </p:spPr>
        <p:txBody>
          <a:bodyPr wrap="square" lIns="0" rIns="0" tIns="0" bIns="0">
            <a:spAutoFit/>
          </a:bodyPr>
          <a:lstStyle/>
          <a:p>
            <a:pPr>
              <a:spcAft>
                <a:spcPts val="400"/>
              </a:spcAft>
              <a:defRPr sz="1800" b="0" i="0">
                <a:solidFill>
                  <a:srgbClr val="6E6E73"/>
                </a:solidFill>
                <a:latin typeface="Segoe UI"/>
              </a:defRPr>
            </a:pPr>
            <a:r>
              <a:t>doi.org/10.5281/zenodo.17799273 · 2026.hpca-conf.org</a:t>
            </a:r>
          </a:p>
        </p:txBody>
      </p:sp>
    </p:spTree>
  </p:cSld>
  <p:clrMapOvr>
    <a:masterClrMapping/>
  </p:clrMapOvr>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DSASSASSIN — Cross-VM side channels through Intel DSA</dc:title>
  <dc:subject/>
  <dc:creator>Siddharth Banakar; Dinesh Samala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