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TALK | ~40 s</a:t>
            </a:r>
          </a:p>
          <a:p/>
          <a:p>
            <a:r>
              <a:t>Datacenters race to move memory work off the CPU. Intel's DSA ships in every recent Xeon. This is the first public security analysis of it. Seed the thesis: VT-d isolates addresses, not the accelerator's shared heartbeat.</a:t>
            </a:r>
          </a:p>
          <a:p/>
          <a:p>
            <a:r>
              <a:t>SOURCE: </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TALK | ~70 s</a:t>
            </a:r>
          </a:p>
          <a:p/>
          <a:p>
            <a:r>
              <a:t>The thesis in one picture. Two VMs, each its own PASID, cannot read each other's memory — VT-d works. But both use the SAME physical accelerator, whose internal state is NOT split. DSASSASSIN never reads victim memory; it watches the accelerator twitch. Confidentiality of addresses is not confidentiality of activity.</a:t>
            </a:r>
          </a:p>
          <a:p/>
          <a:p>
            <a:r>
              <a:t>SOURCE: Paper §§ I, IV–V · pp. 1–8</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TALK | ~70 s</a:t>
            </a:r>
          </a:p>
          <a:p/>
          <a:p>
            <a:r>
              <a:t>The twitch is enough for: a 17.19 kbps covert channel (5x faster, 4x cleaner than prior IPI); website fingerprinting 85.73% over 100 sites vs 1% baseline; SSH keystroke timing 98.4% F1; LLM fingerprinting 98.6%. Same 'accelerator is busy' signal, four different secrets. I'll flag which are rock-solid vs caveated.</a:t>
            </a:r>
          </a:p>
          <a:p/>
          <a:p>
            <a:r>
              <a:t>SOURCE: Paper § VI, Tables III–IV · pp. 9–12 · reported results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TALK | ~55 s</a:t>
            </a:r>
          </a:p>
          <a:p/>
          <a:p>
            <a:r>
              <a:t>The map. Machine, then the detective story of reverse engineering, then the four attacks, then defenses and comparison, then my own critique. Hold mechanism questions until after Act III.</a:t>
            </a:r>
          </a:p>
          <a:p/>
          <a:p>
            <a:r>
              <a:t>SOURCE: Six acts + backup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 2: Meet the machine</a:t>
            </a:r>
          </a:p>
          <a:p>
            <a:r>
              <a:t>What DSA is and how a job flows through it · The device-side translation cache (DevTLB) · The honest threat model — and two kinds of sharing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TALK | ~65 s</a:t>
            </a:r>
          </a:p>
          <a:p/>
          <a:p>
            <a:r>
              <a:t>DSA is a data mover: software hands it copy/compare/checksum jobs, done asynchronously. For years we studied how these ops leak on the CPU; the fix was partly to move them. The premise: 'somewhere else' is a new, unstudied, shared place to watch. We relocated the side channel to a building with no cameras.</a:t>
            </a:r>
          </a:p>
          <a:p/>
          <a:p>
            <a:r>
              <a:t>SOURCE: Paper §§ I–II-A · pp. 1–2</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TALK | ~75 s</a:t>
            </a:r>
          </a:p>
          <a:p/>
          <a:p>
            <a:r>
              <a:t>Follow one job: software fills a descriptor, writes it to an MMIO portal, it lands in a work queue, an engine executes and writes a completion record. Remember two observation handles: did my submission get in? and how long until my completion? Everything later is one of those two.</a:t>
            </a:r>
          </a:p>
          <a:p/>
          <a:p>
            <a:r>
              <a:t>SOURCE: Paper § II-A, Fig. 1 · pp. 2–3</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TALK | ~75 s</a:t>
            </a:r>
          </a:p>
          <a:p/>
          <a:p>
            <a:r>
              <a:t>To avoid asking the IOMMU every time, DSA caches translations on the device — the DevTLB. Key subtlety: it's read-only and PASID-tagged, so it does NOT leak contents. The leak is REPLACEMENT: if a neighbor evicts my entry, I can't see their address but I know they moved. First weapon is eviction, not disclosure.</a:t>
            </a:r>
          </a:p>
          <a:p/>
          <a:p>
            <a:r>
              <a:t>SOURCE: Paper § II-B, Fig. 1 · pp. 2–3</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TALK | ~75 s</a:t>
            </a:r>
          </a:p>
          <a:p/>
          <a:p>
            <a:r>
              <a:t>Be scrupulous. Unprivileged in the way that matters: no root, no host reconfiguration, no reading victim memory, and NOT sharing a CPU core — genuinely cross-VM, cross-core. But it still assumes provisioned device access and co-location on the same engine/queue. An assumption; I revisit it in the critique. Note a tension in §V-A: it first says configuring engine affinity / WQ settings needs root, then says setting affinity to an engine or queue does NOT need root — read this as: creating/configuring queues is root (accel-config), but binding to an existing portal is not. Kernel 6.11.0-25, IDXD driver.</a:t>
            </a:r>
          </a:p>
          <a:p/>
          <a:p>
            <a:r>
              <a:t>SOURCE: Paper § V-A · pp. 7–8</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TALK | ~80 s</a:t>
            </a:r>
          </a:p>
          <a:p/>
          <a:p>
            <a:r>
              <a:t>The slide I'd tattoo on an operator. DevTLB channel needs only the same ENGINE — different queues still leak. SWQ channel needs the same QUEUE. So separate queues, which operators call isolation, do NOT stop the DevTLB channel because the cache lives below the queues, at the engine. Remember this one fact.</a:t>
            </a:r>
          </a:p>
          <a:p/>
          <a:p>
            <a:r>
              <a:t>SOURCE: Paper §§ IV-A, V · pp. 3–8</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TALK | ~60 s</a:t>
            </a:r>
          </a:p>
          <a:p/>
          <a:p>
            <a:r>
              <a:t>No datasheet exists. So: form a hypothesis about structure, design a probe that gives a visibly different result under each hypothesis, keep the survivor. The next ten minutes are a chain of these, each eliminating a possibility until the scary truth is all that's left.</a:t>
            </a:r>
          </a:p>
          <a:p/>
          <a:p>
            <a:r>
              <a:t>SOURCE: Paper §§ III–IV · pp. 3–7</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TALK | ~70 s</a:t>
            </a:r>
          </a:p>
          <a:p/>
          <a:p>
            <a:r>
              <a:t>Fair challenge: aren't you using privileged counters? To UNDERSTAND the hardware, yes — Perfmon, for ground truth. But the ATTACK reads only what any user can: its own completion time, or whether its own submission succeeded. Counters are the microscope in the lab, not part of the weapon. Done on local and a real cloud instance.</a:t>
            </a:r>
          </a:p>
          <a:p/>
          <a:p>
            <a:r>
              <a:t>SOURCE: Paper § IV-B, Table I · pp. 4–6</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 3: The detective story</a:t>
            </a:r>
          </a:p>
          <a:p>
            <a:r>
              <a:t>Each microbenchmark rules out an alternative · Five one-entry slots — indexed by engine and field, not PASID · Prime → Idle → Probe   and   Congest → Idle → Probe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TALK | ~70 s</a:t>
            </a:r>
          </a:p>
          <a:p/>
          <a:p>
            <a:r>
              <a:t>First clue. The cache is indexed by a field's ROLE — src, src2, dst, dst2, comp — not by address. The authors pick which roles to exercise by picking the opcode. noop is the scalpel: touches only the completion slot, cheapest, cleanest timing. dualcast lights four slots. Surgical control.</a:t>
            </a:r>
          </a:p>
          <a:p/>
          <a:p>
            <a:r>
              <a:t>SOURCE: Paper § IV-B, Fig. 3 · pp. 4–5</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TALK | ~75 s</a:t>
            </a:r>
          </a:p>
          <a:p/>
          <a:p>
            <a:r>
              <a:t>Spoiler so the experiments make sense: each engine's DevTLB has exactly five entries, one per field role, each holding ONE translation. Direct-mapped to the extreme. Why catastrophic? No eviction set needed — any single different page in that role evicts the occupant. The drawer only fits one sock.</a:t>
            </a:r>
          </a:p>
          <a:p/>
          <a:p>
            <a:r>
              <a:t>SOURCE: Paper §§ IV-A–B, Fig. 2 · pp. 3–6 · empirical model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TALK | ~70 s</a:t>
            </a:r>
          </a:p>
          <a:p/>
          <a:p>
            <a:r>
              <a:t>Load base. Touch an address 'offset' away. Re-check base. Inside the same 4KB page, base survives → page granularity. Cross a page boundary → base is gone → only ONE slot (two would survive). They even evict a 4KB entry with a 2MB huge-page address — no separate drawers per page size.</a:t>
            </a:r>
          </a:p>
          <a:p/>
          <a:p>
            <a:r>
              <a:t>SOURCE: Paper § IV-B, Listing 2 · pp. 4–5</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TALK | ~75 s</a:t>
            </a:r>
          </a:p>
          <a:p/>
          <a:p>
            <a:r>
              <a:t>Change the source, keep the destination → destination survives: independent drawers. Then the elegant one: src2 and dst are encoded in the SAME bytes, told apart only by opcode. If indexed by raw bytes they'd collide. They don't — routed by MEANING, not bit position. This is what makes the reverse engineering credible.</a:t>
            </a:r>
          </a:p>
          <a:p/>
          <a:p>
            <a:r>
              <a:t>SOURCE: Paper § IV-B, Listings 3–4 · p. 5</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TALK | ~60 s</a:t>
            </a:r>
          </a:p>
          <a:p/>
          <a:p>
            <a:r>
              <a:t>Big transfers split per-page; the drawer keeps only the FINAL page's translation — a snapshot, not a replayable log. Also: batch-fetcher reads and completion writes bypass the cache. For the attacker that's a note: use ordinary work descriptors for reliable interference, not batch tricks.</a:t>
            </a:r>
          </a:p>
          <a:p/>
          <a:p>
            <a:r>
              <a:t>SOURCE: Paper § IV-B · pp. 5–6</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TALK | ~85 s</a:t>
            </a:r>
          </a:p>
          <a:p/>
          <a:p>
            <a:r>
              <a:t>Three experiments, two VMs. E0: same queue + engine → miss, expected. E1 (the dangerous one): DIFFERENT queues, same engine → still miss. So the leak isn't about the queue, and PASID isn't partitioning this cache. E2 is the beautiful negative control: separate ENGINES → hit, no leak. Separate engines fix it; separate queues don't. Spend time here.</a:t>
            </a:r>
          </a:p>
          <a:p/>
          <a:p>
            <a:r>
              <a:t>SOURCE: Paper § IV-B, Fig. 5 · p. 6</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TALK | ~70 s</a:t>
            </a:r>
          </a:p>
          <a:p/>
          <a:p>
            <a:r>
              <a:t>The attacker's real view: just rdtsc on its own completion. Hits ~500 cycles, misses &gt;1000 — two clean humps, threshold 600-900. They deliberately stress PCIe (2 GB/s NVMe) and memory (10 GB/s). Humps shift ~89 cycles in the cloud but never merge. Lab result survives reality.</a:t>
            </a:r>
          </a:p>
          <a:p/>
          <a:p>
            <a:r>
              <a:t>SOURCE: Paper § IV-B, Fig. 4 · pp. 5–6 · original distributions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TALK | ~75 s</a:t>
            </a:r>
          </a:p>
          <a:p/>
          <a:p>
            <a:r>
              <a:t>Prime+Probe with a twist. I prime a slot with MY OWN completion-record address — never need the victim's. Go quiet. If the victim runs anything on this engine, my single-slot drawer is evicted. Probe = re-run noop, time it. Fast = nobody moved (bit 0); slow = victim moved (bit 1). One bit of 'is the neighbor alive', from my own stopwatch.</a:t>
            </a:r>
          </a:p>
          <a:p/>
          <a:p>
            <a:r>
              <a:t>SOURCE: Paper § V-B · p. 8</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TALK | ~60 s</a:t>
            </a:r>
          </a:p>
          <a:p/>
          <a:p>
            <a:r>
              <a:t>Versus LLC Prime+Probe, half the battle is eviction sets and alignment. Here the one-slot design hands you the eviction for free — that's the power. The limit, honestly: the signal is coarse, just 'the engine was busy'. So every real attack is a pattern-recognition problem on top of this heartbeat. That framing is where my critique bites.</a:t>
            </a:r>
          </a:p>
          <a:p/>
          <a:p>
            <a:r>
              <a:t>SOURCE: Paper §§ IV-B, V-B · pp. 4–8 · interpretation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TALK | ~70 s</a:t>
            </a:r>
          </a:p>
          <a:p/>
          <a:p>
            <a:r>
              <a:t>You'd expect a shared queue to leak via submission timing. They measure it — submission time is FLAT. Timing is a dead end. The save: submission is a Deferrable Memory Write, and when the queue is full the hardware refuses and sets EFLAGS.ZF. Fullness leaks through yes/no, not how-long. Timer-free — better, no clock noise.</a:t>
            </a:r>
          </a:p>
          <a:p/>
          <a:p>
            <a:r>
              <a:t>SOURCE: Paper § IV-C, Fig. 6 · pp. 6–7 · original latency plot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TALK | ~65 s</a:t>
            </a:r>
          </a:p>
          <a:p/>
          <a:p>
            <a:r>
              <a:t>Two facts to pin down. One: the fullness check happens at enqueue against config registers in constant time — that's why the flag is timer-free. Two: the arbiter always prefers WORK descriptors over BATCH (race them, latency unchanged). So to hold the queue hostage reliably, use one long ordinary memcpy, not a batch trick.</a:t>
            </a:r>
          </a:p>
          <a:p/>
          <a:p>
            <a:r>
              <a:t>SOURCE: Paper §§ IV-A, IV-C · pp. 3–4, 6–7</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TALK | ~70 s</a:t>
            </a:r>
          </a:p>
          <a:p/>
          <a:p>
            <a:r>
              <a:t>A theater with N seats. The attacker buys all but one — a long copy holds the front row so the queue drains slowly, fillers take the rest. One seat left. If the victim submits, it takes that seat and the house is full. Queue size readable without root. A stopwatch-free race against the long copy finishing.</a:t>
            </a:r>
          </a:p>
          <a:p/>
          <a:p>
            <a:r>
              <a:t>SOURCE: Paper §§ IV-C, V-C, Listing 6 · pp. 7–8</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TALK | ~75 s</a:t>
            </a:r>
          </a:p>
          <a:p/>
          <a:p>
            <a:r>
              <a:t>Same three-beat rhythm as DevTLB. Congest to one-from-full. Hold it there. Try to submit one job and read the flag. ZF=0 it went in → victim idle. ZF=1 it bounced → victim took the last seat → active. No timer anywhere. Virtue: precision. Cost (I hammer later): it's LOUD — actively congesting a resource the victim needs.</a:t>
            </a:r>
          </a:p>
          <a:p/>
          <a:p>
            <a:r>
              <a:t>SOURCE: Paper § V-C · p. 8</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TALK | ~70 s</a:t>
            </a:r>
          </a:p>
          <a:p/>
          <a:p>
            <a:r>
              <a:t>DevTLB: quiet sniper — tiny noops, reaches anyone on the engine, needs a clock. SWQ: blunt instrument — must actively jam a shared queue, reaches only queue-mates, no clock, gorgeous timing. You'll see DevTLB win covert bandwidth, SWQ win keystroke timing. The 'footprint' row is my interpretation — flagged as such.</a:t>
            </a:r>
          </a:p>
          <a:p/>
          <a:p>
            <a:r>
              <a:t>SOURCE: Paper §§ V–VI · pp. 7–12 · footprint row = presenter reading</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 4: What it steals</a:t>
            </a:r>
          </a:p>
          <a:p>
            <a:r>
              <a:t>A covert channel proves the channel carries bits · Websites, SSH keystrokes, and the LLM next door · Strong numbers — quoted honestly, caveats and all</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TALK | ~65 s</a:t>
            </a:r>
          </a:p>
          <a:p/>
          <a:p>
            <a:r>
              <a:t>A covert channel is the controlled test: make the 'victim' a cooperative SENDER and see how cleanly bits move. Sender encodes 1 by causing activity, 0 by idling; receiver reads the heartbeat. A preamble of 1s syncs the clocks. This proves capacity under clean conditions — real victims are messier.</a:t>
            </a:r>
          </a:p>
          <a:p/>
          <a:p>
            <a:r>
              <a:t>SOURCE: Paper § VI-A · p. 9 · simplified protocol</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TALK | ~70 s</a:t>
            </a:r>
          </a:p>
          <a:p/>
          <a:p>
            <a:r>
              <a:t>DevTLB hits 17.19 kbps under 5% error — quiet sniper packs probes tightly, beats SWQ. Curve shape: crank the RAW rate and errors climb until USEFUL throughput peaks then collapses — hence a best point. That 17-and-change is 5x faster, 4x cleaner than the prior IPI channel. Capacity: proven.</a:t>
            </a:r>
          </a:p>
          <a:p/>
          <a:p>
            <a:r>
              <a:t>SOURCE: Paper § VI-A, Fig. 9, Table IV · pp. 9, 12</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TALK | ~70 s</a:t>
            </a:r>
          </a:p>
          <a:p/>
          <a:p>
            <a:r>
              <a:t>A realistic victim: a VM running VPP, a DPDK userspace network stack that uses DSA to move packets through memif. Every burst of traffic becomes a burst of DSA activity on the shared engine. The attacker runs the quiet DevTLB probe and counts evictions over time. Never sees a packet — only the rhythm.</a:t>
            </a:r>
          </a:p>
          <a:p/>
          <a:p>
            <a:r>
              <a:t>SOURCE: Paper § VI-B, Fig. 8 · pp. 8–10 · simplified path</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TALK | ~65 s</a:t>
            </a:r>
          </a:p>
          <a:p/>
          <a:p>
            <a:r>
              <a:t>Each site → a ~250-slot time series, each slot a count of evictions. Feed an attention-BiLSTM, standard here. Notice one honest word: closed-world. 100 KNOWN sites, train and test from the same 100. Legitimate and strong, but not open-world detection of arbitrary pages. I hold them to that in the critique.</a:t>
            </a:r>
          </a:p>
          <a:p/>
          <a:p>
            <a:r>
              <a:t>SOURCE: Paper § VI-B · pp. 9–10 · dataset arithmetic from stated split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TALK | ~55 s</a:t>
            </a:r>
          </a:p>
          <a:p/>
          <a:p>
            <a:r>
              <a:t>Three sites, three visibly different signatures — different burst timing and height. That's what the model keys on. No URLs, no content — just the silhouette of the accelerator working as the page loads. Striking that something this coarse separates sites at all.</a:t>
            </a:r>
          </a:p>
          <a:p/>
          <a:p>
            <a:r>
              <a:t>SOURCE: Paper § VI-B, Fig. 10 · p. 9 · original example traces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TALK | ~70 s</a:t>
            </a:r>
          </a:p>
          <a:p/>
          <a:p>
            <a:r>
              <a:t>On all 100 sites: 85.73% vs a 1% coin-flip. Strong. CAREFUL: the pretty confusion matrix is a 15-site SUBSET at 96.5% — not the headline. Don't let anyone quote 96.5% as the result. Misses are sensible — sites with similar traffic shapes (canva, notion) blur; authors call it future work.</a:t>
            </a:r>
          </a:p>
          <a:p/>
          <a:p>
            <a:r>
              <a:t>SOURCE: Paper § VI-B, Fig. 11 · pp. 9–10 · original 15-site matrix</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TALK | ~70 s</a:t>
            </a:r>
          </a:p>
          <a:p/>
          <a:p>
            <a:r>
              <a:t>DTO silently redirects ordinary memcpy-style calls to DSA, no code changes. So unmodified OpenSSH, handling each interactive keystroke packet, generates DSA activity per keypress. The attacker times those. The line I won't blur: the paper recovers keystroke TIMING, and notes it could feed a text model — it does NOT recover what you typed.</a:t>
            </a:r>
          </a:p>
          <a:p/>
          <a:p>
            <a:r>
              <a:t>SOURCE: Paper § VI-C · p. 10 · no end-to-end text recovery</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TALK | ~60 s</a:t>
            </a:r>
          </a:p>
          <a:p/>
          <a:p>
            <a:r>
              <a:t>Top: DevTLB attack; bottom: SWQ attack — both resolving 'ssh root' keystroke by keystroke. SWQ gives crisper spikes, foreshadowing its better timing. Honesty note for Q&amp;A: events are filtered by byte-size and latency thresholds, so exact counts depend on those knobs — which matters for the next slide.</a:t>
            </a:r>
          </a:p>
          <a:p/>
          <a:p>
            <a:r>
              <a:t>SOURCE: Paper § VI-C, Fig. 12 · p. 10 · original filtered traces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TALK | ~70 s</a:t>
            </a:r>
          </a:p>
          <a:p/>
          <a:p>
            <a:r>
              <a:t>SWQ wins keystroke timing cleanly — 98.4% F1, 1.21 ms spread vs 5.29 for DevTLB, exactly what timer-free predicts. Use these headlines. But full disclosure: the paper's own detection/FP/FN counts don't perfectly reconcile with the printed F1 (backup). Doesn't overturn the conclusion, but a careful reader should know.</a:t>
            </a:r>
          </a:p>
          <a:p/>
          <a:p>
            <a:r>
              <a:t>SOURCE: Paper § VI-C, Tables III–IV · pp. 10–12 · headline metrics as reported</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TALK | ~65 s</a:t>
            </a:r>
          </a:p>
          <a:p/>
          <a:p>
            <a:r>
              <a:t>LLM inference shuffles weights around memory; with DTO those moves hit DSA. Different sizes/architectures move memory in different rhythms. A slightly longer 8ms window becomes a model fingerprint. Be precise: which of 8 KNOWN configs, under IDENTICAL prompts. Not stealing weights, not reading prompts, not open-world.</a:t>
            </a:r>
          </a:p>
          <a:p/>
          <a:p>
            <a:r>
              <a:t>SOURCE: Paper § VI-D, Table II · pp. 10–11</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TALK | ~65 s</a:t>
            </a:r>
          </a:p>
          <a:p/>
          <a:p>
            <a:r>
              <a:t>98.6%. Traces differ across sizes within a family and across families at a size — the model gets both. Striking that an accelerator twitch distinguishes LLMs through two VM walls. But keep the fence: fixed prompts, fixed runtimes, same host. Proves separability, not open-world identification.</a:t>
            </a:r>
          </a:p>
          <a:p/>
          <a:p>
            <a:r>
              <a:t>SOURCE: Paper § VI-D, Fig. 13 · p. 11 · original model traces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 5: Does it hold up?</a:t>
            </a:r>
          </a:p>
          <a:p>
            <a:r>
              <a:t>Robust across quiet / noisy and local / cloud · Better than prior work on capacity and timing — not every axis · The clean fix costs the thing DSA is for</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TALK | ~70 s</a:t>
            </a:r>
          </a:p>
          <a:p/>
          <a:p>
            <a:r>
              <a:t>Full Table III, all six rows. Most numbers barely move — tight CIs, no collapse. The one row worth naming: the DevTLB keystroke F1 varies a few points (90.5-93.4%), and cloud / noise can even raise it; the covert, website, SWQ-keystroke and LLM numbers stay within a point. Synthetic PCIe and memory pressure don't save you. Precise language: they stressed background NOISE, not a dozen real tenants fighting the same engine. 'Robust to noise' is proven; 'robust to a busy multi-tenant host' is not — open question. (Local column = the paper's geometric-mean baseline; other columns are the reported noisy / cloud runs.)</a:t>
            </a:r>
          </a:p>
          <a:p/>
          <a:p>
            <a:r>
              <a:t>SOURCE: Paper § VI-E, Table III · p. 11 · all six reported rows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TALK | ~70 s</a:t>
            </a:r>
          </a:p>
          <a:p/>
          <a:p>
            <a:r>
              <a:t>Vs the prior IPI channel, DevTLB is ~5x capacity at a quarter of the error. SWQ has the best keystroke timing here. Fair referee: DEVIOUS actually has LOWER bit error than DevTLB. DSASSASSIN wins throughput and timing, not every axis. And these are cross-paper numbers, not a head-to-head — multipliers are indicative.</a:t>
            </a:r>
          </a:p>
          <a:p/>
          <a:p>
            <a:r>
              <a:t>SOURCE: Paper § VI-F, Table IV · pp. 11–12 · cross-paper values, not matched re-runs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TALK | ~65 s</a:t>
            </a:r>
          </a:p>
          <a:p/>
          <a:p>
            <a:r>
              <a:t>Root cause is structural: PASID TAGS entries but doesn't PARTITION the structure, and queue-full is a visible flag. Clean fix: partition the DevTLB by PASID like the IOTLB. Irony: that costs the capacity/perf DSA exists to provide. Hiding the queue flag collides with honest submitters needing retry info. Sketches, not deployed.</a:t>
            </a:r>
          </a:p>
          <a:p/>
          <a:p>
            <a:r>
              <a:t>SOURCE: Paper § VII · pp. 11–12 · proposals, not shipped fixes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TALK | ~65 s</a:t>
            </a:r>
          </a:p>
          <a:p/>
          <a:p>
            <a:r>
              <a:t>Via accel-config: give sensitive tenants their own ENGINE — not just queue, callback to slide 9, because separate queues leave the DevTLB channel open. Don't share SWQs across trust boundaries. For crown-jewel paths, turn DSA off. This is the misconception most likely to bite an operator, so I say it twice.</a:t>
            </a:r>
          </a:p>
          <a:p/>
          <a:p>
            <a:r>
              <a:t>SOURCE: Paper § VII · p. 12 · deployment guidance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TALK | ~65 s</a:t>
            </a:r>
          </a:p>
          <a:p/>
          <a:p>
            <a:r>
              <a:t>Their defense sprinkles random translations to confuse the attacker, and they honestly measure cost — up to ~16-18% at small transfers, shrinking as transfers grow. The gap, and the perfect transition to critique: they measured what it COSTS, never how much leakage it LEAVES. Overhead study, not a proven fix.</a:t>
            </a:r>
          </a:p>
          <a:p/>
          <a:p>
            <a:r>
              <a:t>SOURCE: Paper § VII, Fig. 14 · p. 12 · original throughput chart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 6: My verdict</a:t>
            </a:r>
          </a:p>
          <a:p>
            <a:r>
              <a:t>The lasting contribution is the causal hardware analysis · Scope and reporting gaps qualify the headline claims · An isolation contract for shared accelerator state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TALK | ~65 s</a:t>
            </a:r>
          </a:p>
          <a:p/>
          <a:p>
            <a:r>
              <a:t>My honest take: the lasting contribution is NOT the kbps number — it's the reverse engineering. Disciplined, falsifiable, with a real negative control in E2, which most exploit papers skip. First public look inside DSA, and it reframes accelerator internal state as part of the isolation boundary. Credit — disclosed to Intel.</a:t>
            </a:r>
          </a:p>
          <a:p/>
          <a:p>
            <a:r>
              <a:t>SOURCE: Presenter assessment · paper §§ IV–VI</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TALK | ~70 s</a:t>
            </a:r>
          </a:p>
          <a:p/>
          <a:p>
            <a:r>
              <a:t>Four pushbacks. One: it rests on CO-LOCATION, assumed more than demonstrated. Two: classifiers are closed-world, fixed-prompt — generality unproven. Three: the SWQ attack is ACTIVE — jamming a queue the victim needs — so perf and detectability costs aren't really evaluated. Four: keystroke metrics don't reconcile. None breaks the core finding; they mean the shouting numbers need more evidence.</a:t>
            </a:r>
          </a:p>
          <a:p/>
          <a:p>
            <a:r>
              <a:t>SOURCE: Presenter assessment · paper §§ V–VII, esp. § VI-C</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TALK | ~65 s</a:t>
            </a:r>
          </a:p>
          <a:p/>
          <a:p>
            <a:r>
              <a:t>If I supervised the follow-up: close the loop on the defense — leakage AND throughput in one config, for the real security-performance curve. Break the closed world — train one day, test another; train some sites, test unseen. Study it under a crowd — many tenants, how loud and detectable the attacker is. My proposed experiments.</a:t>
            </a:r>
          </a:p>
          <a:p/>
          <a:p>
            <a:r>
              <a:t>SOURCE: Presenter-proposed · not reported in the paper</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TALK | ~70 s</a:t>
            </a:r>
          </a:p>
          <a:p/>
          <a:p>
            <a:r>
              <a:t>Where we landed — the sentence I opened with, now earned. VT-d guards addresses and works. But the accelerator behind that wall has a shared heartbeat — in its translation cache and its queue — and offloaded apps give it meaning. As we offload more, the isolation model must cover internal state, not just addresses. Open question: when a cloud sells an 'isolated' accelerator, what must that contract guarantee? Thank you.</a:t>
            </a:r>
          </a:p>
          <a:p/>
          <a:p>
            <a:r>
              <a:t>SOURCE: Based on Chen et al., HPCA 2026 · main talk ends here</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 ~45 s</a:t>
            </a:r>
          </a:p>
          <a:p/>
          <a:p>
            <a:r>
              <a:t>Reference for acronyms.</a:t>
            </a:r>
          </a:p>
          <a:p/>
          <a:p>
            <a:r>
              <a:t>SOURCE: Paper §§ II–V · pp. 2–8</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 ~45 s</a:t>
            </a:r>
          </a:p>
          <a:p/>
          <a:p>
            <a:r>
              <a:t>Note the offset-24 overlap.</a:t>
            </a:r>
          </a:p>
          <a:p/>
          <a:p>
            <a:r>
              <a:t>SOURCE: Paper Fig. 3 · p. 4</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 ~45 s</a:t>
            </a:r>
          </a:p>
          <a:p/>
          <a:p>
            <a:r>
              <a:t>Calibration / timing.</a:t>
            </a:r>
          </a:p>
          <a:p/>
          <a:p>
            <a:r>
              <a:t>SOURCE: Paper §§ IV-B–C, V-B–C · pp. 5–8</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 ~45 s</a:t>
            </a:r>
          </a:p>
          <a:p/>
          <a:p>
            <a:r>
              <a:t>Reported detection / FP / FN do not match the printed F1.</a:t>
            </a:r>
          </a:p>
          <a:p/>
          <a:p>
            <a:r>
              <a:t>SOURCE: Paper § VI-C · p. 10 · diagnostic only</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 ~45 s</a:t>
            </a:r>
          </a:p>
          <a:p/>
          <a:p>
            <a:r>
              <a:t>Reproducibility.</a:t>
            </a:r>
          </a:p>
          <a:p/>
          <a:p>
            <a:r>
              <a:t>SOURCE: Paper §§ VI-B, VI-D · pp. 9–11</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 ~45 s</a:t>
            </a:r>
          </a:p>
          <a:p/>
          <a:p>
            <a:r>
              <a:t>What each metric means.</a:t>
            </a:r>
          </a:p>
          <a:p/>
          <a:p>
            <a:r>
              <a:t>SOURCE: Paper §§ VI-A–F · pp. 9–12</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 ~45 s</a:t>
            </a:r>
          </a:p>
          <a:p/>
          <a:p>
            <a:r>
              <a:t>DEVIOUS trace includes GPU fingerprints.</a:t>
            </a:r>
          </a:p>
          <a:p/>
          <a:p>
            <a:r>
              <a:t>SOURCE: Paper Table IV · p. 12 · blank cells = not reported</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 ~45 s</a:t>
            </a:r>
          </a:p>
          <a:p/>
          <a:p>
            <a:r>
              <a:t>Hardware, victim software, artifact layout.</a:t>
            </a:r>
          </a:p>
          <a:p/>
          <a:p>
            <a:r>
              <a:t>SOURCE: Paper Appendix, p. 15 · authors’ artifact</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 ~45 s</a:t>
            </a:r>
          </a:p>
          <a:p/>
          <a:p>
            <a:r>
              <a:t>Prepared Q&amp;A.</a:t>
            </a:r>
          </a:p>
          <a:p/>
          <a:p>
            <a:r>
              <a:t>SOURCE: Answers from paper §§ IV–VII + presenter assessment</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 ~45 s</a:t>
            </a:r>
          </a:p>
          <a:p/>
          <a:p>
            <a:r>
              <a:t>Citation and links.</a:t>
            </a:r>
          </a:p>
          <a:p/>
          <a:p>
            <a:r>
              <a:t>SOURCE: Primary source: user-supplied hpca26dsassassin.pdf</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image" Target="../media/image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 Id="rId3" Type="http://schemas.openxmlformats.org/officeDocument/2006/relationships/image" Target="../media/image9.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 Id="rId3" Type="http://schemas.openxmlformats.org/officeDocument/2006/relationships/image" Target="../media/image10.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x_0001"/>
          <p:cNvSpPr txBox="1"/>
          <p:nvPr/>
        </p:nvSpPr>
        <p:spPr>
          <a:xfrm>
            <a:off x="10820399" y="6419088"/>
            <a:ext cx="548640" cy="228600"/>
          </a:xfrm>
          <a:prstGeom prst="rect">
            <a:avLst/>
          </a:prstGeom>
          <a:noFill/>
        </p:spPr>
        <p:txBody>
          <a:bodyPr wrap="square" lIns="0" rIns="0" tIns="0" bIns="0">
            <a:spAutoFit/>
          </a:bodyPr>
          <a:lstStyle/>
          <a:p>
            <a:pPr algn="r">
              <a:spcAft>
                <a:spcPts val="400"/>
              </a:spcAft>
              <a:defRPr sz="1000" b="0" i="0">
                <a:solidFill>
                  <a:srgbClr val="A1A1A6"/>
                </a:solidFill>
                <a:latin typeface="Segoe UI"/>
              </a:defRPr>
            </a:pPr>
            <a:r>
              <a:t>1</a:t>
            </a:r>
          </a:p>
        </p:txBody>
      </p:sp>
      <p:sp>
        <p:nvSpPr>
          <p:cNvPr id="3" name="tx_0002"/>
          <p:cNvSpPr txBox="1"/>
          <p:nvPr/>
        </p:nvSpPr>
        <p:spPr>
          <a:xfrm>
            <a:off x="822960" y="1371600"/>
            <a:ext cx="10546079" cy="365760"/>
          </a:xfrm>
          <a:prstGeom prst="rect">
            <a:avLst/>
          </a:prstGeom>
          <a:noFill/>
        </p:spPr>
        <p:txBody>
          <a:bodyPr wrap="square" lIns="0" rIns="0" tIns="0" bIns="0">
            <a:spAutoFit/>
          </a:bodyPr>
          <a:lstStyle/>
          <a:p>
            <a:pPr>
              <a:spcAft>
                <a:spcPts val="400"/>
              </a:spcAft>
              <a:defRPr sz="1400" b="0" i="0">
                <a:solidFill>
                  <a:srgbClr val="A1A1A6"/>
                </a:solidFill>
                <a:latin typeface="Segoe UI Semibold"/>
              </a:defRPr>
            </a:pPr>
            <a:r>
              <a:t>HPCA 2026</a:t>
            </a:r>
          </a:p>
        </p:txBody>
      </p:sp>
      <p:sp>
        <p:nvSpPr>
          <p:cNvPr id="4" name="tx_0003"/>
          <p:cNvSpPr txBox="1"/>
          <p:nvPr/>
        </p:nvSpPr>
        <p:spPr>
          <a:xfrm>
            <a:off x="822960" y="1828800"/>
            <a:ext cx="10546079" cy="1188720"/>
          </a:xfrm>
          <a:prstGeom prst="rect">
            <a:avLst/>
          </a:prstGeom>
          <a:noFill/>
        </p:spPr>
        <p:txBody>
          <a:bodyPr wrap="square" lIns="0" rIns="0" tIns="0" bIns="0">
            <a:spAutoFit/>
          </a:bodyPr>
          <a:lstStyle/>
          <a:p>
            <a:pPr>
              <a:spcAft>
                <a:spcPts val="400"/>
              </a:spcAft>
              <a:defRPr sz="7200" b="0" i="0">
                <a:solidFill>
                  <a:srgbClr val="FFFFFF"/>
                </a:solidFill>
                <a:latin typeface="Segoe UI Semibold"/>
              </a:defRPr>
            </a:pPr>
            <a:r>
              <a:t>DSASSASSIN</a:t>
            </a:r>
          </a:p>
        </p:txBody>
      </p:sp>
      <p:sp>
        <p:nvSpPr>
          <p:cNvPr id="5" name="tx_0004"/>
          <p:cNvSpPr txBox="1"/>
          <p:nvPr/>
        </p:nvSpPr>
        <p:spPr>
          <a:xfrm>
            <a:off x="822960" y="3200400"/>
            <a:ext cx="10546079" cy="1280160"/>
          </a:xfrm>
          <a:prstGeom prst="rect">
            <a:avLst/>
          </a:prstGeom>
          <a:noFill/>
        </p:spPr>
        <p:txBody>
          <a:bodyPr wrap="square" lIns="0" rIns="0" tIns="0" bIns="0">
            <a:spAutoFit/>
          </a:bodyPr>
          <a:lstStyle/>
          <a:p>
            <a:pPr>
              <a:lnSpc>
                <a:spcPct val="110000"/>
              </a:lnSpc>
              <a:spcAft>
                <a:spcPts val="400"/>
              </a:spcAft>
              <a:defRPr sz="3000" b="0" i="0">
                <a:solidFill>
                  <a:srgbClr val="A1A1A6"/>
                </a:solidFill>
                <a:latin typeface="Segoe UI"/>
              </a:defRPr>
            </a:pPr>
            <a:r>
              <a:t>Cross-VM side-channel attacks by exploiting</a:t>
            </a:r>
          </a:p>
          <a:p>
            <a:pPr>
              <a:lnSpc>
                <a:spcPct val="110000"/>
              </a:lnSpc>
              <a:spcAft>
                <a:spcPts val="400"/>
              </a:spcAft>
              <a:defRPr sz="3000" b="0" i="0">
                <a:solidFill>
                  <a:srgbClr val="A1A1A6"/>
                </a:solidFill>
                <a:latin typeface="Segoe UI"/>
              </a:defRPr>
            </a:pPr>
            <a:r>
              <a:t>Intel’s Data Streaming Accelerator</a:t>
            </a:r>
          </a:p>
        </p:txBody>
      </p:sp>
      <p:sp>
        <p:nvSpPr>
          <p:cNvPr id="6" name="tx_0005"/>
          <p:cNvSpPr txBox="1"/>
          <p:nvPr/>
        </p:nvSpPr>
        <p:spPr>
          <a:xfrm>
            <a:off x="822960" y="4937760"/>
            <a:ext cx="10546079" cy="365760"/>
          </a:xfrm>
          <a:prstGeom prst="rect">
            <a:avLst/>
          </a:prstGeom>
          <a:noFill/>
        </p:spPr>
        <p:txBody>
          <a:bodyPr wrap="square" lIns="0" rIns="0" tIns="0" bIns="0">
            <a:spAutoFit/>
          </a:bodyPr>
          <a:lstStyle/>
          <a:p>
            <a:pPr>
              <a:spcAft>
                <a:spcPts val="400"/>
              </a:spcAft>
              <a:defRPr sz="1800" b="0" i="0">
                <a:solidFill>
                  <a:srgbClr val="FFFFFF"/>
                </a:solidFill>
                <a:latin typeface="Segoe UI"/>
              </a:defRPr>
            </a:pPr>
            <a:r>
              <a:t>Ben Chen · Kunlin Li · Shuwen Deng · Dongsheng Wang · Yun Chen</a:t>
            </a:r>
          </a:p>
        </p:txBody>
      </p:sp>
      <p:sp>
        <p:nvSpPr>
          <p:cNvPr id="7" name="tx_0006"/>
          <p:cNvSpPr txBox="1"/>
          <p:nvPr/>
        </p:nvSpPr>
        <p:spPr>
          <a:xfrm>
            <a:off x="822960" y="5349240"/>
            <a:ext cx="10546079" cy="365760"/>
          </a:xfrm>
          <a:prstGeom prst="rect">
            <a:avLst/>
          </a:prstGeom>
          <a:noFill/>
        </p:spPr>
        <p:txBody>
          <a:bodyPr wrap="square" lIns="0" rIns="0" tIns="0" bIns="0">
            <a:spAutoFit/>
          </a:bodyPr>
          <a:lstStyle/>
          <a:p>
            <a:pPr>
              <a:spcAft>
                <a:spcPts val="400"/>
              </a:spcAft>
              <a:defRPr sz="1500" b="0" i="0">
                <a:solidFill>
                  <a:srgbClr val="A1A1A6"/>
                </a:solidFill>
                <a:latin typeface="Segoe UI"/>
              </a:defRPr>
            </a:pPr>
            <a:r>
              <a:t>HKUST (Guangzhou) · Tsinghua University</a:t>
            </a:r>
          </a:p>
        </p:txBody>
      </p:sp>
      <p:sp>
        <p:nvSpPr>
          <p:cNvPr id="8" name="tx_0007"/>
          <p:cNvSpPr txBox="1"/>
          <p:nvPr/>
        </p:nvSpPr>
        <p:spPr>
          <a:xfrm>
            <a:off x="822960" y="5943600"/>
            <a:ext cx="10546079" cy="365760"/>
          </a:xfrm>
          <a:prstGeom prst="rect">
            <a:avLst/>
          </a:prstGeom>
          <a:noFill/>
        </p:spPr>
        <p:txBody>
          <a:bodyPr wrap="square" lIns="0" rIns="0" tIns="0" bIns="0">
            <a:spAutoFit/>
          </a:bodyPr>
          <a:lstStyle/>
          <a:p>
            <a:pPr>
              <a:spcAft>
                <a:spcPts val="400"/>
              </a:spcAft>
              <a:defRPr sz="1500" b="0" i="0">
                <a:solidFill>
                  <a:srgbClr val="A1A1A6"/>
                </a:solidFill>
                <a:latin typeface="Segoe UI"/>
              </a:defRPr>
            </a:pPr>
            <a:r>
              <a:t>Presented by [your name] · ECE-MAR · 27 October 2026</a:t>
            </a:r>
          </a:p>
        </p:txBody>
      </p:sp>
    </p:spTree>
  </p:cSld>
  <p:clrMapOvr>
    <a:masterClrMapping/>
  </p:clrMapOvr>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x_0008"/>
          <p:cNvSpPr txBox="1"/>
          <p:nvPr/>
        </p:nvSpPr>
        <p:spPr>
          <a:xfrm>
            <a:off x="822960" y="502920"/>
            <a:ext cx="10546079" cy="274320"/>
          </a:xfrm>
          <a:prstGeom prst="rect">
            <a:avLst/>
          </a:prstGeom>
          <a:noFill/>
        </p:spPr>
        <p:txBody>
          <a:bodyPr wrap="square" lIns="0" rIns="0" tIns="0" bIns="0">
            <a:spAutoFit/>
          </a:bodyPr>
          <a:lstStyle/>
          <a:p>
            <a:pPr>
              <a:spcAft>
                <a:spcPts val="400"/>
              </a:spcAft>
              <a:defRPr sz="1200" b="0" i="0">
                <a:solidFill>
                  <a:srgbClr val="0071E3"/>
                </a:solidFill>
                <a:latin typeface="Segoe UI Semibold"/>
              </a:defRPr>
            </a:pPr>
            <a:r>
              <a:t>The wall has a crack</a:t>
            </a:r>
          </a:p>
        </p:txBody>
      </p:sp>
      <p:sp>
        <p:nvSpPr>
          <p:cNvPr id="3" name="tx_0009"/>
          <p:cNvSpPr txBox="1"/>
          <p:nvPr/>
        </p:nvSpPr>
        <p:spPr>
          <a:xfrm>
            <a:off x="822960" y="822960"/>
            <a:ext cx="10546079" cy="914400"/>
          </a:xfrm>
          <a:prstGeom prst="rect">
            <a:avLst/>
          </a:prstGeom>
          <a:noFill/>
        </p:spPr>
        <p:txBody>
          <a:bodyPr wrap="square" lIns="0" rIns="0" tIns="0" bIns="0">
            <a:spAutoFit/>
          </a:bodyPr>
          <a:lstStyle/>
          <a:p>
            <a:pPr>
              <a:lnSpc>
                <a:spcPct val="100000"/>
              </a:lnSpc>
              <a:spcAft>
                <a:spcPts val="400"/>
              </a:spcAft>
              <a:defRPr sz="3000" b="0" i="0">
                <a:solidFill>
                  <a:srgbClr val="1D1D1F"/>
                </a:solidFill>
                <a:latin typeface="Segoe UI Semibold"/>
              </a:defRPr>
            </a:pPr>
            <a:r>
              <a:t>Address isolation still leaves the shared activity visible</a:t>
            </a:r>
          </a:p>
        </p:txBody>
      </p:sp>
      <p:sp>
        <p:nvSpPr>
          <p:cNvPr id="4" name="tx_0010"/>
          <p:cNvSpPr txBox="1"/>
          <p:nvPr/>
        </p:nvSpPr>
        <p:spPr>
          <a:xfrm>
            <a:off x="822960" y="6419088"/>
            <a:ext cx="9631679" cy="228600"/>
          </a:xfrm>
          <a:prstGeom prst="rect">
            <a:avLst/>
          </a:prstGeom>
          <a:noFill/>
        </p:spPr>
        <p:txBody>
          <a:bodyPr wrap="square" lIns="0" rIns="0" tIns="0" bIns="0">
            <a:spAutoFit/>
          </a:bodyPr>
          <a:lstStyle/>
          <a:p>
            <a:pPr>
              <a:spcAft>
                <a:spcPts val="400"/>
              </a:spcAft>
              <a:defRPr sz="1000" b="0" i="0">
                <a:solidFill>
                  <a:srgbClr val="86868B"/>
                </a:solidFill>
                <a:latin typeface="Segoe UI"/>
              </a:defRPr>
            </a:pPr>
            <a:r>
              <a:t>Paper §§ I, IV–V · pp. 1–8</a:t>
            </a:r>
          </a:p>
        </p:txBody>
      </p:sp>
      <p:sp>
        <p:nvSpPr>
          <p:cNvPr id="5" name="tx_0011"/>
          <p:cNvSpPr txBox="1"/>
          <p:nvPr/>
        </p:nvSpPr>
        <p:spPr>
          <a:xfrm>
            <a:off x="10820399" y="6419088"/>
            <a:ext cx="548640" cy="228600"/>
          </a:xfrm>
          <a:prstGeom prst="rect">
            <a:avLst/>
          </a:prstGeom>
          <a:noFill/>
        </p:spPr>
        <p:txBody>
          <a:bodyPr wrap="square" lIns="0" rIns="0" tIns="0" bIns="0">
            <a:spAutoFit/>
          </a:bodyPr>
          <a:lstStyle/>
          <a:p>
            <a:pPr algn="r">
              <a:spcAft>
                <a:spcPts val="400"/>
              </a:spcAft>
              <a:defRPr sz="1000" b="0" i="0">
                <a:solidFill>
                  <a:srgbClr val="86868B"/>
                </a:solidFill>
                <a:latin typeface="Segoe UI"/>
              </a:defRPr>
            </a:pPr>
            <a:r>
              <a:t>2</a:t>
            </a:r>
          </a:p>
        </p:txBody>
      </p:sp>
      <p:sp>
        <p:nvSpPr>
          <p:cNvPr id="6" name="rect_0012"/>
          <p:cNvSpPr/>
          <p:nvPr/>
        </p:nvSpPr>
        <p:spPr>
          <a:xfrm>
            <a:off x="822960" y="1874519"/>
            <a:ext cx="4160520" cy="1554480"/>
          </a:xfrm>
          <a:prstGeom prst="roundRect">
            <a:avLst>
              <a:gd name="adj" fmla="val 12941"/>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x_0013"/>
          <p:cNvSpPr txBox="1"/>
          <p:nvPr/>
        </p:nvSpPr>
        <p:spPr>
          <a:xfrm>
            <a:off x="1143000" y="2167127"/>
            <a:ext cx="3520439" cy="548640"/>
          </a:xfrm>
          <a:prstGeom prst="rect">
            <a:avLst/>
          </a:prstGeom>
          <a:noFill/>
        </p:spPr>
        <p:txBody>
          <a:bodyPr wrap="square" lIns="0" rIns="0" tIns="0" bIns="0">
            <a:spAutoFit/>
          </a:bodyPr>
          <a:lstStyle/>
          <a:p>
            <a:pPr>
              <a:spcAft>
                <a:spcPts val="400"/>
              </a:spcAft>
              <a:defRPr sz="2200" b="0" i="0">
                <a:solidFill>
                  <a:srgbClr val="0071E3"/>
                </a:solidFill>
                <a:latin typeface="Segoe UI Semibold"/>
              </a:defRPr>
            </a:pPr>
            <a:r>
              <a:t>VM A — victim</a:t>
            </a:r>
          </a:p>
        </p:txBody>
      </p:sp>
      <p:sp>
        <p:nvSpPr>
          <p:cNvPr id="8" name="tx_0014"/>
          <p:cNvSpPr txBox="1"/>
          <p:nvPr/>
        </p:nvSpPr>
        <p:spPr>
          <a:xfrm>
            <a:off x="1143000" y="2788920"/>
            <a:ext cx="3520439" cy="457200"/>
          </a:xfrm>
          <a:prstGeom prst="rect">
            <a:avLst/>
          </a:prstGeom>
          <a:noFill/>
        </p:spPr>
        <p:txBody>
          <a:bodyPr wrap="square" lIns="0" rIns="0" tIns="0" bIns="0">
            <a:spAutoFit/>
          </a:bodyPr>
          <a:lstStyle/>
          <a:p>
            <a:pPr>
              <a:lnSpc>
                <a:spcPct val="110000"/>
              </a:lnSpc>
              <a:spcAft>
                <a:spcPts val="600"/>
              </a:spcAft>
              <a:defRPr sz="1800" b="0" i="0">
                <a:solidFill>
                  <a:srgbClr val="6E6E73"/>
                </a:solidFill>
                <a:latin typeface="Segoe UI"/>
              </a:defRPr>
            </a:pPr>
            <a:r>
              <a:t>Private address space</a:t>
            </a:r>
          </a:p>
          <a:p>
            <a:pPr>
              <a:lnSpc>
                <a:spcPct val="110000"/>
              </a:lnSpc>
              <a:spcAft>
                <a:spcPts val="600"/>
              </a:spcAft>
              <a:defRPr sz="1800" b="0" i="0">
                <a:solidFill>
                  <a:srgbClr val="6E6E73"/>
                </a:solidFill>
                <a:latin typeface="Segoe UI"/>
              </a:defRPr>
            </a:pPr>
            <a:r>
              <a:t>PASID A</a:t>
            </a:r>
          </a:p>
        </p:txBody>
      </p:sp>
      <p:sp>
        <p:nvSpPr>
          <p:cNvPr id="9" name="rect_0015"/>
          <p:cNvSpPr/>
          <p:nvPr/>
        </p:nvSpPr>
        <p:spPr>
          <a:xfrm>
            <a:off x="7208519" y="1874519"/>
            <a:ext cx="4160520" cy="1554480"/>
          </a:xfrm>
          <a:prstGeom prst="roundRect">
            <a:avLst>
              <a:gd name="adj" fmla="val 12941"/>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x_0016"/>
          <p:cNvSpPr txBox="1"/>
          <p:nvPr/>
        </p:nvSpPr>
        <p:spPr>
          <a:xfrm>
            <a:off x="7528559" y="2167127"/>
            <a:ext cx="3520439" cy="548640"/>
          </a:xfrm>
          <a:prstGeom prst="rect">
            <a:avLst/>
          </a:prstGeom>
          <a:noFill/>
        </p:spPr>
        <p:txBody>
          <a:bodyPr wrap="square" lIns="0" rIns="0" tIns="0" bIns="0">
            <a:spAutoFit/>
          </a:bodyPr>
          <a:lstStyle/>
          <a:p>
            <a:pPr>
              <a:spcAft>
                <a:spcPts val="400"/>
              </a:spcAft>
              <a:defRPr sz="2200" b="0" i="0">
                <a:solidFill>
                  <a:srgbClr val="D70015"/>
                </a:solidFill>
                <a:latin typeface="Segoe UI Semibold"/>
              </a:defRPr>
            </a:pPr>
            <a:r>
              <a:t>VM B — observer</a:t>
            </a:r>
          </a:p>
        </p:txBody>
      </p:sp>
      <p:sp>
        <p:nvSpPr>
          <p:cNvPr id="11" name="tx_0017"/>
          <p:cNvSpPr txBox="1"/>
          <p:nvPr/>
        </p:nvSpPr>
        <p:spPr>
          <a:xfrm>
            <a:off x="7528559" y="2788920"/>
            <a:ext cx="3520439" cy="457200"/>
          </a:xfrm>
          <a:prstGeom prst="rect">
            <a:avLst/>
          </a:prstGeom>
          <a:noFill/>
        </p:spPr>
        <p:txBody>
          <a:bodyPr wrap="square" lIns="0" rIns="0" tIns="0" bIns="0">
            <a:spAutoFit/>
          </a:bodyPr>
          <a:lstStyle/>
          <a:p>
            <a:pPr>
              <a:lnSpc>
                <a:spcPct val="110000"/>
              </a:lnSpc>
              <a:spcAft>
                <a:spcPts val="600"/>
              </a:spcAft>
              <a:defRPr sz="1800" b="0" i="0">
                <a:solidFill>
                  <a:srgbClr val="6E6E73"/>
                </a:solidFill>
                <a:latin typeface="Segoe UI"/>
              </a:defRPr>
            </a:pPr>
            <a:r>
              <a:t>Private address space</a:t>
            </a:r>
          </a:p>
          <a:p>
            <a:pPr>
              <a:lnSpc>
                <a:spcPct val="110000"/>
              </a:lnSpc>
              <a:spcAft>
                <a:spcPts val="600"/>
              </a:spcAft>
              <a:defRPr sz="1800" b="0" i="0">
                <a:solidFill>
                  <a:srgbClr val="6E6E73"/>
                </a:solidFill>
                <a:latin typeface="Segoe UI"/>
              </a:defRPr>
            </a:pPr>
            <a:r>
              <a:t>PASID B</a:t>
            </a:r>
          </a:p>
        </p:txBody>
      </p:sp>
      <p:sp>
        <p:nvSpPr>
          <p:cNvPr id="12" name="tx_0018"/>
          <p:cNvSpPr txBox="1"/>
          <p:nvPr/>
        </p:nvSpPr>
        <p:spPr>
          <a:xfrm>
            <a:off x="5166360" y="2240280"/>
            <a:ext cx="1859279" cy="822960"/>
          </a:xfrm>
          <a:prstGeom prst="rect">
            <a:avLst/>
          </a:prstGeom>
          <a:noFill/>
        </p:spPr>
        <p:txBody>
          <a:bodyPr wrap="square" lIns="0" rIns="0" tIns="0" bIns="0">
            <a:spAutoFit/>
          </a:bodyPr>
          <a:lstStyle/>
          <a:p>
            <a:pPr algn="ctr">
              <a:spcAft>
                <a:spcPts val="400"/>
              </a:spcAft>
              <a:defRPr sz="1500" b="0" i="0">
                <a:solidFill>
                  <a:srgbClr val="6E6E73"/>
                </a:solidFill>
                <a:latin typeface="Segoe UI"/>
              </a:defRPr>
            </a:pPr>
            <a:r>
              <a:t>VT-d / PASID</a:t>
            </a:r>
          </a:p>
          <a:p>
            <a:pPr algn="ctr">
              <a:spcAft>
                <a:spcPts val="400"/>
              </a:spcAft>
              <a:defRPr sz="1500" b="0" i="0">
                <a:solidFill>
                  <a:srgbClr val="6E6E73"/>
                </a:solidFill>
                <a:latin typeface="Segoe UI"/>
              </a:defRPr>
            </a:pPr>
            <a:r>
              <a:t>isolates translation</a:t>
            </a:r>
          </a:p>
        </p:txBody>
      </p:sp>
      <p:cxnSp>
        <p:nvCxnSpPr>
          <p:cNvPr id="13" name="ar_0019"/>
          <p:cNvCxnSpPr/>
          <p:nvPr/>
        </p:nvCxnSpPr>
        <p:spPr>
          <a:xfrm>
            <a:off x="2834640" y="3566160"/>
            <a:ext cx="0" cy="457200"/>
          </a:xfrm>
          <a:prstGeom prst="line">
            <a:avLst/>
          </a:prstGeom>
          <a:ln w="15875">
            <a:solidFill>
              <a:srgbClr val="86868B"/>
            </a:solidFill>
            <a:tailEnd type="triangle" w="sm" len="med"/>
          </a:ln>
        </p:spPr>
        <p:style>
          <a:lnRef idx="2">
            <a:schemeClr val="accent1"/>
          </a:lnRef>
          <a:fillRef idx="0">
            <a:schemeClr val="accent1"/>
          </a:fillRef>
          <a:effectRef idx="1">
            <a:schemeClr val="accent1"/>
          </a:effectRef>
          <a:fontRef idx="minor">
            <a:schemeClr val="tx1"/>
          </a:fontRef>
        </p:style>
      </p:cxnSp>
      <p:cxnSp>
        <p:nvCxnSpPr>
          <p:cNvPr id="14" name="ar_0020"/>
          <p:cNvCxnSpPr/>
          <p:nvPr/>
        </p:nvCxnSpPr>
        <p:spPr>
          <a:xfrm>
            <a:off x="9265919" y="3566160"/>
            <a:ext cx="0" cy="457200"/>
          </a:xfrm>
          <a:prstGeom prst="line">
            <a:avLst/>
          </a:prstGeom>
          <a:ln w="15875">
            <a:solidFill>
              <a:srgbClr val="86868B"/>
            </a:solidFill>
            <a:tailEnd type="triangle" w="sm" len="med"/>
          </a:ln>
        </p:spPr>
        <p:style>
          <a:lnRef idx="2">
            <a:schemeClr val="accent1"/>
          </a:lnRef>
          <a:fillRef idx="0">
            <a:schemeClr val="accent1"/>
          </a:fillRef>
          <a:effectRef idx="1">
            <a:schemeClr val="accent1"/>
          </a:effectRef>
          <a:fontRef idx="minor">
            <a:schemeClr val="tx1"/>
          </a:fontRef>
        </p:style>
      </p:cxnSp>
      <p:sp>
        <p:nvSpPr>
          <p:cNvPr id="15" name="rect_0021"/>
          <p:cNvSpPr/>
          <p:nvPr/>
        </p:nvSpPr>
        <p:spPr>
          <a:xfrm>
            <a:off x="822960" y="4069080"/>
            <a:ext cx="10546079" cy="1005840"/>
          </a:xfrm>
          <a:prstGeom prst="roundRect">
            <a:avLst>
              <a:gd name="adj" fmla="val 18181"/>
            </a:avLst>
          </a:prstGeom>
          <a:solidFill>
            <a:srgbClr val="1D1D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x_0022"/>
          <p:cNvSpPr txBox="1"/>
          <p:nvPr/>
        </p:nvSpPr>
        <p:spPr>
          <a:xfrm>
            <a:off x="822960" y="4069080"/>
            <a:ext cx="10546079" cy="1005840"/>
          </a:xfrm>
          <a:prstGeom prst="rect">
            <a:avLst/>
          </a:prstGeom>
          <a:noFill/>
        </p:spPr>
        <p:txBody>
          <a:bodyPr wrap="square" lIns="0" rIns="0" tIns="0" bIns="0" anchor="ctr">
            <a:spAutoFit/>
          </a:bodyPr>
          <a:lstStyle/>
          <a:p>
            <a:pPr algn="ctr">
              <a:spcAft>
                <a:spcPts val="400"/>
              </a:spcAft>
              <a:defRPr sz="2600" b="0" i="0">
                <a:solidFill>
                  <a:srgbClr val="FFFFFF"/>
                </a:solidFill>
                <a:latin typeface="Segoe UI Semibold"/>
              </a:defRPr>
            </a:pPr>
            <a:r>
              <a:t>Shared engine state   ·   shared queue occupancy</a:t>
            </a:r>
          </a:p>
        </p:txBody>
      </p:sp>
      <p:sp>
        <p:nvSpPr>
          <p:cNvPr id="17" name="rect_0023"/>
          <p:cNvSpPr/>
          <p:nvPr/>
        </p:nvSpPr>
        <p:spPr>
          <a:xfrm>
            <a:off x="822960" y="5715000"/>
            <a:ext cx="502920" cy="41148"/>
          </a:xfrm>
          <a:prstGeom prst="rect">
            <a:avLst/>
          </a:prstGeom>
          <a:solidFill>
            <a:srgbClr val="007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x_0024"/>
          <p:cNvSpPr txBox="1"/>
          <p:nvPr/>
        </p:nvSpPr>
        <p:spPr>
          <a:xfrm>
            <a:off x="822960" y="5870448"/>
            <a:ext cx="10546079" cy="548640"/>
          </a:xfrm>
          <a:prstGeom prst="rect">
            <a:avLst/>
          </a:prstGeom>
          <a:noFill/>
        </p:spPr>
        <p:txBody>
          <a:bodyPr wrap="square" lIns="0" rIns="0" tIns="0" bIns="0">
            <a:spAutoFit/>
          </a:bodyPr>
          <a:lstStyle/>
          <a:p>
            <a:pPr>
              <a:spcAft>
                <a:spcPts val="400"/>
              </a:spcAft>
              <a:defRPr sz="2100" b="0" i="0">
                <a:solidFill>
                  <a:srgbClr val="1D1D1F"/>
                </a:solidFill>
                <a:latin typeface="Segoe UI Semibold"/>
              </a:defRPr>
            </a:pPr>
            <a:r>
              <a:t>The leakage is about resource use — not access to victim memory.</a:t>
            </a:r>
          </a:p>
        </p:txBody>
      </p:sp>
    </p:spTree>
  </p:cSld>
  <p:clrMapOvr>
    <a:masterClrMapping/>
  </p:clrMapOvr>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x_0025"/>
          <p:cNvSpPr txBox="1"/>
          <p:nvPr/>
        </p:nvSpPr>
        <p:spPr>
          <a:xfrm>
            <a:off x="822960" y="502920"/>
            <a:ext cx="10546079" cy="274320"/>
          </a:xfrm>
          <a:prstGeom prst="rect">
            <a:avLst/>
          </a:prstGeom>
          <a:noFill/>
        </p:spPr>
        <p:txBody>
          <a:bodyPr wrap="square" lIns="0" rIns="0" tIns="0" bIns="0">
            <a:spAutoFit/>
          </a:bodyPr>
          <a:lstStyle/>
          <a:p>
            <a:pPr>
              <a:spcAft>
                <a:spcPts val="400"/>
              </a:spcAft>
              <a:defRPr sz="1200" b="0" i="0">
                <a:solidFill>
                  <a:srgbClr val="0071E3"/>
                </a:solidFill>
                <a:latin typeface="Segoe UI Semibold"/>
              </a:defRPr>
            </a:pPr>
            <a:r>
              <a:t>The wall has a crack</a:t>
            </a:r>
          </a:p>
        </p:txBody>
      </p:sp>
      <p:sp>
        <p:nvSpPr>
          <p:cNvPr id="3" name="tx_0026"/>
          <p:cNvSpPr txBox="1"/>
          <p:nvPr/>
        </p:nvSpPr>
        <p:spPr>
          <a:xfrm>
            <a:off x="822960" y="822960"/>
            <a:ext cx="10546079" cy="914400"/>
          </a:xfrm>
          <a:prstGeom prst="rect">
            <a:avLst/>
          </a:prstGeom>
          <a:noFill/>
        </p:spPr>
        <p:txBody>
          <a:bodyPr wrap="square" lIns="0" rIns="0" tIns="0" bIns="0">
            <a:spAutoFit/>
          </a:bodyPr>
          <a:lstStyle/>
          <a:p>
            <a:pPr>
              <a:lnSpc>
                <a:spcPct val="100000"/>
              </a:lnSpc>
              <a:spcAft>
                <a:spcPts val="400"/>
              </a:spcAft>
              <a:defRPr sz="3000" b="0" i="0">
                <a:solidFill>
                  <a:srgbClr val="1D1D1F"/>
                </a:solidFill>
                <a:latin typeface="Segoe UI Semibold"/>
              </a:defRPr>
            </a:pPr>
            <a:r>
              <a:t>Four demonstrations, one humble signal</a:t>
            </a:r>
          </a:p>
        </p:txBody>
      </p:sp>
      <p:sp>
        <p:nvSpPr>
          <p:cNvPr id="4" name="tx_0027"/>
          <p:cNvSpPr txBox="1"/>
          <p:nvPr/>
        </p:nvSpPr>
        <p:spPr>
          <a:xfrm>
            <a:off x="822960" y="6419088"/>
            <a:ext cx="9631679" cy="228600"/>
          </a:xfrm>
          <a:prstGeom prst="rect">
            <a:avLst/>
          </a:prstGeom>
          <a:noFill/>
        </p:spPr>
        <p:txBody>
          <a:bodyPr wrap="square" lIns="0" rIns="0" tIns="0" bIns="0">
            <a:spAutoFit/>
          </a:bodyPr>
          <a:lstStyle/>
          <a:p>
            <a:pPr>
              <a:spcAft>
                <a:spcPts val="400"/>
              </a:spcAft>
              <a:defRPr sz="1000" b="0" i="0">
                <a:solidFill>
                  <a:srgbClr val="86868B"/>
                </a:solidFill>
                <a:latin typeface="Segoe UI"/>
              </a:defRPr>
            </a:pPr>
            <a:r>
              <a:t>Paper § VI, Tables III–IV · pp. 9–12 · reported results</a:t>
            </a:r>
          </a:p>
        </p:txBody>
      </p:sp>
      <p:sp>
        <p:nvSpPr>
          <p:cNvPr id="5" name="tx_0028"/>
          <p:cNvSpPr txBox="1"/>
          <p:nvPr/>
        </p:nvSpPr>
        <p:spPr>
          <a:xfrm>
            <a:off x="10820399" y="6419088"/>
            <a:ext cx="548640" cy="228600"/>
          </a:xfrm>
          <a:prstGeom prst="rect">
            <a:avLst/>
          </a:prstGeom>
          <a:noFill/>
        </p:spPr>
        <p:txBody>
          <a:bodyPr wrap="square" lIns="0" rIns="0" tIns="0" bIns="0">
            <a:spAutoFit/>
          </a:bodyPr>
          <a:lstStyle/>
          <a:p>
            <a:pPr algn="r">
              <a:spcAft>
                <a:spcPts val="400"/>
              </a:spcAft>
              <a:defRPr sz="1000" b="0" i="0">
                <a:solidFill>
                  <a:srgbClr val="86868B"/>
                </a:solidFill>
                <a:latin typeface="Segoe UI"/>
              </a:defRPr>
            </a:pPr>
            <a:r>
              <a:t>3</a:t>
            </a:r>
          </a:p>
        </p:txBody>
      </p:sp>
      <p:sp>
        <p:nvSpPr>
          <p:cNvPr id="6" name="tx_0029"/>
          <p:cNvSpPr txBox="1"/>
          <p:nvPr/>
        </p:nvSpPr>
        <p:spPr>
          <a:xfrm>
            <a:off x="822960" y="1920240"/>
            <a:ext cx="4998719" cy="914400"/>
          </a:xfrm>
          <a:prstGeom prst="rect">
            <a:avLst/>
          </a:prstGeom>
          <a:noFill/>
        </p:spPr>
        <p:txBody>
          <a:bodyPr wrap="square" lIns="0" rIns="0" tIns="0" bIns="0">
            <a:spAutoFit/>
          </a:bodyPr>
          <a:lstStyle/>
          <a:p>
            <a:pPr>
              <a:spcAft>
                <a:spcPts val="400"/>
              </a:spcAft>
              <a:defRPr sz="6000" b="0" i="0">
                <a:solidFill>
                  <a:srgbClr val="0071E3"/>
                </a:solidFill>
                <a:latin typeface="Segoe UI Semibold"/>
              </a:defRPr>
            </a:pPr>
            <a:r>
              <a:t>17.19 kbps</a:t>
            </a:r>
          </a:p>
        </p:txBody>
      </p:sp>
      <p:sp>
        <p:nvSpPr>
          <p:cNvPr id="7" name="tx_0030"/>
          <p:cNvSpPr txBox="1"/>
          <p:nvPr/>
        </p:nvSpPr>
        <p:spPr>
          <a:xfrm>
            <a:off x="822960" y="2926080"/>
            <a:ext cx="4998719" cy="411480"/>
          </a:xfrm>
          <a:prstGeom prst="rect">
            <a:avLst/>
          </a:prstGeom>
          <a:noFill/>
        </p:spPr>
        <p:txBody>
          <a:bodyPr wrap="square" lIns="0" rIns="0" tIns="0" bIns="0">
            <a:spAutoFit/>
          </a:bodyPr>
          <a:lstStyle/>
          <a:p>
            <a:pPr>
              <a:spcAft>
                <a:spcPts val="400"/>
              </a:spcAft>
              <a:defRPr sz="2100" b="0" i="0">
                <a:solidFill>
                  <a:srgbClr val="1D1D1F"/>
                </a:solidFill>
                <a:latin typeface="Segoe UI Semibold"/>
              </a:defRPr>
            </a:pPr>
            <a:r>
              <a:t>Covert channel</a:t>
            </a:r>
          </a:p>
        </p:txBody>
      </p:sp>
      <p:sp>
        <p:nvSpPr>
          <p:cNvPr id="8" name="tx_0031"/>
          <p:cNvSpPr txBox="1"/>
          <p:nvPr/>
        </p:nvSpPr>
        <p:spPr>
          <a:xfrm>
            <a:off x="822960" y="3337560"/>
            <a:ext cx="4998719" cy="365760"/>
          </a:xfrm>
          <a:prstGeom prst="rect">
            <a:avLst/>
          </a:prstGeom>
          <a:noFill/>
        </p:spPr>
        <p:txBody>
          <a:bodyPr wrap="square" lIns="0" rIns="0" tIns="0" bIns="0">
            <a:spAutoFit/>
          </a:bodyPr>
          <a:lstStyle/>
          <a:p>
            <a:pPr>
              <a:spcAft>
                <a:spcPts val="400"/>
              </a:spcAft>
              <a:defRPr sz="1600" b="0" i="0">
                <a:solidFill>
                  <a:srgbClr val="6E6E73"/>
                </a:solidFill>
                <a:latin typeface="Segoe UI"/>
              </a:defRPr>
            </a:pPr>
            <a:r>
              <a:t>DevTLB · 4.63% bit error</a:t>
            </a:r>
          </a:p>
        </p:txBody>
      </p:sp>
      <p:sp>
        <p:nvSpPr>
          <p:cNvPr id="9" name="tx_0032"/>
          <p:cNvSpPr txBox="1"/>
          <p:nvPr/>
        </p:nvSpPr>
        <p:spPr>
          <a:xfrm>
            <a:off x="6370319" y="1920240"/>
            <a:ext cx="4998719" cy="914400"/>
          </a:xfrm>
          <a:prstGeom prst="rect">
            <a:avLst/>
          </a:prstGeom>
          <a:noFill/>
        </p:spPr>
        <p:txBody>
          <a:bodyPr wrap="square" lIns="0" rIns="0" tIns="0" bIns="0">
            <a:spAutoFit/>
          </a:bodyPr>
          <a:lstStyle/>
          <a:p>
            <a:pPr>
              <a:spcAft>
                <a:spcPts val="400"/>
              </a:spcAft>
              <a:defRPr sz="6000" b="0" i="0">
                <a:solidFill>
                  <a:srgbClr val="1D1D1F"/>
                </a:solidFill>
                <a:latin typeface="Segoe UI Semibold"/>
              </a:defRPr>
            </a:pPr>
            <a:r>
              <a:t>85.73%</a:t>
            </a:r>
          </a:p>
        </p:txBody>
      </p:sp>
      <p:sp>
        <p:nvSpPr>
          <p:cNvPr id="10" name="tx_0033"/>
          <p:cNvSpPr txBox="1"/>
          <p:nvPr/>
        </p:nvSpPr>
        <p:spPr>
          <a:xfrm>
            <a:off x="6370319" y="2926080"/>
            <a:ext cx="4998719" cy="411480"/>
          </a:xfrm>
          <a:prstGeom prst="rect">
            <a:avLst/>
          </a:prstGeom>
          <a:noFill/>
        </p:spPr>
        <p:txBody>
          <a:bodyPr wrap="square" lIns="0" rIns="0" tIns="0" bIns="0">
            <a:spAutoFit/>
          </a:bodyPr>
          <a:lstStyle/>
          <a:p>
            <a:pPr>
              <a:spcAft>
                <a:spcPts val="400"/>
              </a:spcAft>
              <a:defRPr sz="2100" b="0" i="0">
                <a:solidFill>
                  <a:srgbClr val="1D1D1F"/>
                </a:solidFill>
                <a:latin typeface="Segoe UI Semibold"/>
              </a:defRPr>
            </a:pPr>
            <a:r>
              <a:t>Website fingerprinting</a:t>
            </a:r>
          </a:p>
        </p:txBody>
      </p:sp>
      <p:sp>
        <p:nvSpPr>
          <p:cNvPr id="11" name="tx_0034"/>
          <p:cNvSpPr txBox="1"/>
          <p:nvPr/>
        </p:nvSpPr>
        <p:spPr>
          <a:xfrm>
            <a:off x="6370319" y="3337560"/>
            <a:ext cx="4998719" cy="365760"/>
          </a:xfrm>
          <a:prstGeom prst="rect">
            <a:avLst/>
          </a:prstGeom>
          <a:noFill/>
        </p:spPr>
        <p:txBody>
          <a:bodyPr wrap="square" lIns="0" rIns="0" tIns="0" bIns="0">
            <a:spAutoFit/>
          </a:bodyPr>
          <a:lstStyle/>
          <a:p>
            <a:pPr>
              <a:spcAft>
                <a:spcPts val="400"/>
              </a:spcAft>
              <a:defRPr sz="1600" b="0" i="0">
                <a:solidFill>
                  <a:srgbClr val="6E6E73"/>
                </a:solidFill>
                <a:latin typeface="Segoe UI"/>
              </a:defRPr>
            </a:pPr>
            <a:r>
              <a:t>100 sites · 1% baseline</a:t>
            </a:r>
          </a:p>
        </p:txBody>
      </p:sp>
      <p:sp>
        <p:nvSpPr>
          <p:cNvPr id="12" name="tx_0035"/>
          <p:cNvSpPr txBox="1"/>
          <p:nvPr/>
        </p:nvSpPr>
        <p:spPr>
          <a:xfrm>
            <a:off x="822960" y="3886200"/>
            <a:ext cx="4998719" cy="914400"/>
          </a:xfrm>
          <a:prstGeom prst="rect">
            <a:avLst/>
          </a:prstGeom>
          <a:noFill/>
        </p:spPr>
        <p:txBody>
          <a:bodyPr wrap="square" lIns="0" rIns="0" tIns="0" bIns="0">
            <a:spAutoFit/>
          </a:bodyPr>
          <a:lstStyle/>
          <a:p>
            <a:pPr>
              <a:spcAft>
                <a:spcPts val="400"/>
              </a:spcAft>
              <a:defRPr sz="6000" b="0" i="0">
                <a:solidFill>
                  <a:srgbClr val="1D1D1F"/>
                </a:solidFill>
                <a:latin typeface="Segoe UI Semibold"/>
              </a:defRPr>
            </a:pPr>
            <a:r>
              <a:t>98.4%</a:t>
            </a:r>
          </a:p>
        </p:txBody>
      </p:sp>
      <p:sp>
        <p:nvSpPr>
          <p:cNvPr id="13" name="tx_0036"/>
          <p:cNvSpPr txBox="1"/>
          <p:nvPr/>
        </p:nvSpPr>
        <p:spPr>
          <a:xfrm>
            <a:off x="822960" y="4892040"/>
            <a:ext cx="4998719" cy="411480"/>
          </a:xfrm>
          <a:prstGeom prst="rect">
            <a:avLst/>
          </a:prstGeom>
          <a:noFill/>
        </p:spPr>
        <p:txBody>
          <a:bodyPr wrap="square" lIns="0" rIns="0" tIns="0" bIns="0">
            <a:spAutoFit/>
          </a:bodyPr>
          <a:lstStyle/>
          <a:p>
            <a:pPr>
              <a:spcAft>
                <a:spcPts val="400"/>
              </a:spcAft>
              <a:defRPr sz="2100" b="0" i="0">
                <a:solidFill>
                  <a:srgbClr val="1D1D1F"/>
                </a:solidFill>
                <a:latin typeface="Segoe UI Semibold"/>
              </a:defRPr>
            </a:pPr>
            <a:r>
              <a:t>Keystroke timing F1</a:t>
            </a:r>
          </a:p>
        </p:txBody>
      </p:sp>
      <p:sp>
        <p:nvSpPr>
          <p:cNvPr id="14" name="tx_0037"/>
          <p:cNvSpPr txBox="1"/>
          <p:nvPr/>
        </p:nvSpPr>
        <p:spPr>
          <a:xfrm>
            <a:off x="822960" y="5303520"/>
            <a:ext cx="4998719" cy="365760"/>
          </a:xfrm>
          <a:prstGeom prst="rect">
            <a:avLst/>
          </a:prstGeom>
          <a:noFill/>
        </p:spPr>
        <p:txBody>
          <a:bodyPr wrap="square" lIns="0" rIns="0" tIns="0" bIns="0">
            <a:spAutoFit/>
          </a:bodyPr>
          <a:lstStyle/>
          <a:p>
            <a:pPr>
              <a:spcAft>
                <a:spcPts val="400"/>
              </a:spcAft>
              <a:defRPr sz="1600" b="0" i="0">
                <a:solidFill>
                  <a:srgbClr val="6E6E73"/>
                </a:solidFill>
                <a:latin typeface="Segoe UI"/>
              </a:defRPr>
            </a:pPr>
            <a:r>
              <a:t>SWQ · 1.21 ms deviation</a:t>
            </a:r>
          </a:p>
        </p:txBody>
      </p:sp>
      <p:sp>
        <p:nvSpPr>
          <p:cNvPr id="15" name="tx_0038"/>
          <p:cNvSpPr txBox="1"/>
          <p:nvPr/>
        </p:nvSpPr>
        <p:spPr>
          <a:xfrm>
            <a:off x="6370319" y="3886200"/>
            <a:ext cx="4998719" cy="914400"/>
          </a:xfrm>
          <a:prstGeom prst="rect">
            <a:avLst/>
          </a:prstGeom>
          <a:noFill/>
        </p:spPr>
        <p:txBody>
          <a:bodyPr wrap="square" lIns="0" rIns="0" tIns="0" bIns="0">
            <a:spAutoFit/>
          </a:bodyPr>
          <a:lstStyle/>
          <a:p>
            <a:pPr>
              <a:spcAft>
                <a:spcPts val="400"/>
              </a:spcAft>
              <a:defRPr sz="6000" b="0" i="0">
                <a:solidFill>
                  <a:srgbClr val="1D1D1F"/>
                </a:solidFill>
                <a:latin typeface="Segoe UI Semibold"/>
              </a:defRPr>
            </a:pPr>
            <a:r>
              <a:t>98.6%</a:t>
            </a:r>
          </a:p>
        </p:txBody>
      </p:sp>
      <p:sp>
        <p:nvSpPr>
          <p:cNvPr id="16" name="tx_0039"/>
          <p:cNvSpPr txBox="1"/>
          <p:nvPr/>
        </p:nvSpPr>
        <p:spPr>
          <a:xfrm>
            <a:off x="6370319" y="4892040"/>
            <a:ext cx="4998719" cy="411480"/>
          </a:xfrm>
          <a:prstGeom prst="rect">
            <a:avLst/>
          </a:prstGeom>
          <a:noFill/>
        </p:spPr>
        <p:txBody>
          <a:bodyPr wrap="square" lIns="0" rIns="0" tIns="0" bIns="0">
            <a:spAutoFit/>
          </a:bodyPr>
          <a:lstStyle/>
          <a:p>
            <a:pPr>
              <a:spcAft>
                <a:spcPts val="400"/>
              </a:spcAft>
              <a:defRPr sz="2100" b="0" i="0">
                <a:solidFill>
                  <a:srgbClr val="1D1D1F"/>
                </a:solidFill>
                <a:latin typeface="Segoe UI Semibold"/>
              </a:defRPr>
            </a:pPr>
            <a:r>
              <a:t>LLM fingerprinting</a:t>
            </a:r>
          </a:p>
        </p:txBody>
      </p:sp>
      <p:sp>
        <p:nvSpPr>
          <p:cNvPr id="17" name="tx_0040"/>
          <p:cNvSpPr txBox="1"/>
          <p:nvPr/>
        </p:nvSpPr>
        <p:spPr>
          <a:xfrm>
            <a:off x="6370319" y="5303520"/>
            <a:ext cx="4998719" cy="365760"/>
          </a:xfrm>
          <a:prstGeom prst="rect">
            <a:avLst/>
          </a:prstGeom>
          <a:noFill/>
        </p:spPr>
        <p:txBody>
          <a:bodyPr wrap="square" lIns="0" rIns="0" tIns="0" bIns="0">
            <a:spAutoFit/>
          </a:bodyPr>
          <a:lstStyle/>
          <a:p>
            <a:pPr>
              <a:spcAft>
                <a:spcPts val="400"/>
              </a:spcAft>
              <a:defRPr sz="1600" b="0" i="0">
                <a:solidFill>
                  <a:srgbClr val="6E6E73"/>
                </a:solidFill>
                <a:latin typeface="Segoe UI"/>
              </a:defRPr>
            </a:pPr>
            <a:r>
              <a:t>Validation · 8 models</a:t>
            </a:r>
          </a:p>
        </p:txBody>
      </p:sp>
      <p:sp>
        <p:nvSpPr>
          <p:cNvPr id="18" name="rect_0041"/>
          <p:cNvSpPr/>
          <p:nvPr/>
        </p:nvSpPr>
        <p:spPr>
          <a:xfrm>
            <a:off x="822960" y="5806440"/>
            <a:ext cx="502920" cy="41148"/>
          </a:xfrm>
          <a:prstGeom prst="rect">
            <a:avLst/>
          </a:prstGeom>
          <a:solidFill>
            <a:srgbClr val="007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x_0042"/>
          <p:cNvSpPr txBox="1"/>
          <p:nvPr/>
        </p:nvSpPr>
        <p:spPr>
          <a:xfrm>
            <a:off x="822960" y="5961888"/>
            <a:ext cx="10546079" cy="548640"/>
          </a:xfrm>
          <a:prstGeom prst="rect">
            <a:avLst/>
          </a:prstGeom>
          <a:noFill/>
        </p:spPr>
        <p:txBody>
          <a:bodyPr wrap="square" lIns="0" rIns="0" tIns="0" bIns="0">
            <a:spAutoFit/>
          </a:bodyPr>
          <a:lstStyle/>
          <a:p>
            <a:pPr>
              <a:spcAft>
                <a:spcPts val="400"/>
              </a:spcAft>
              <a:defRPr sz="2100" b="0" i="0">
                <a:solidFill>
                  <a:srgbClr val="1D1D1F"/>
                </a:solidFill>
                <a:latin typeface="Segoe UI Semibold"/>
              </a:defRPr>
            </a:pPr>
            <a:r>
              <a:t>None of these reads a byte of victim memory.</a:t>
            </a:r>
          </a:p>
        </p:txBody>
      </p:sp>
    </p:spTree>
  </p:cSld>
  <p:clrMapOvr>
    <a:masterClrMapping/>
  </p:clrMapOvr>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x_0043"/>
          <p:cNvSpPr txBox="1"/>
          <p:nvPr/>
        </p:nvSpPr>
        <p:spPr>
          <a:xfrm>
            <a:off x="822960" y="502920"/>
            <a:ext cx="10546079" cy="274320"/>
          </a:xfrm>
          <a:prstGeom prst="rect">
            <a:avLst/>
          </a:prstGeom>
          <a:noFill/>
        </p:spPr>
        <p:txBody>
          <a:bodyPr wrap="square" lIns="0" rIns="0" tIns="0" bIns="0">
            <a:spAutoFit/>
          </a:bodyPr>
          <a:lstStyle/>
          <a:p>
            <a:pPr>
              <a:spcAft>
                <a:spcPts val="400"/>
              </a:spcAft>
              <a:defRPr sz="1200" b="0" i="0">
                <a:solidFill>
                  <a:srgbClr val="0071E3"/>
                </a:solidFill>
                <a:latin typeface="Segoe UI Semibold"/>
              </a:defRPr>
            </a:pPr>
            <a:r>
              <a:t>The wall has a crack</a:t>
            </a:r>
          </a:p>
        </p:txBody>
      </p:sp>
      <p:sp>
        <p:nvSpPr>
          <p:cNvPr id="3" name="tx_0044"/>
          <p:cNvSpPr txBox="1"/>
          <p:nvPr/>
        </p:nvSpPr>
        <p:spPr>
          <a:xfrm>
            <a:off x="822960" y="822960"/>
            <a:ext cx="10546079" cy="914400"/>
          </a:xfrm>
          <a:prstGeom prst="rect">
            <a:avLst/>
          </a:prstGeom>
          <a:noFill/>
        </p:spPr>
        <p:txBody>
          <a:bodyPr wrap="square" lIns="0" rIns="0" tIns="0" bIns="0">
            <a:spAutoFit/>
          </a:bodyPr>
          <a:lstStyle/>
          <a:p>
            <a:pPr>
              <a:lnSpc>
                <a:spcPct val="100000"/>
              </a:lnSpc>
              <a:spcAft>
                <a:spcPts val="400"/>
              </a:spcAft>
              <a:defRPr sz="3000" b="0" i="0">
                <a:solidFill>
                  <a:srgbClr val="1D1D1F"/>
                </a:solidFill>
                <a:latin typeface="Segoe UI Semibold"/>
              </a:defRPr>
            </a:pPr>
            <a:r>
              <a:t>The route — from shared state to application leakage</a:t>
            </a:r>
          </a:p>
        </p:txBody>
      </p:sp>
      <p:sp>
        <p:nvSpPr>
          <p:cNvPr id="4" name="tx_0045"/>
          <p:cNvSpPr txBox="1"/>
          <p:nvPr/>
        </p:nvSpPr>
        <p:spPr>
          <a:xfrm>
            <a:off x="822960" y="6419088"/>
            <a:ext cx="9631679" cy="228600"/>
          </a:xfrm>
          <a:prstGeom prst="rect">
            <a:avLst/>
          </a:prstGeom>
          <a:noFill/>
        </p:spPr>
        <p:txBody>
          <a:bodyPr wrap="square" lIns="0" rIns="0" tIns="0" bIns="0">
            <a:spAutoFit/>
          </a:bodyPr>
          <a:lstStyle/>
          <a:p>
            <a:pPr>
              <a:spcAft>
                <a:spcPts val="400"/>
              </a:spcAft>
              <a:defRPr sz="1000" b="0" i="0">
                <a:solidFill>
                  <a:srgbClr val="86868B"/>
                </a:solidFill>
                <a:latin typeface="Segoe UI"/>
              </a:defRPr>
            </a:pPr>
            <a:r>
              <a:t>Six acts + backup</a:t>
            </a:r>
          </a:p>
        </p:txBody>
      </p:sp>
      <p:sp>
        <p:nvSpPr>
          <p:cNvPr id="5" name="tx_0046"/>
          <p:cNvSpPr txBox="1"/>
          <p:nvPr/>
        </p:nvSpPr>
        <p:spPr>
          <a:xfrm>
            <a:off x="10820399" y="6419088"/>
            <a:ext cx="548640" cy="228600"/>
          </a:xfrm>
          <a:prstGeom prst="rect">
            <a:avLst/>
          </a:prstGeom>
          <a:noFill/>
        </p:spPr>
        <p:txBody>
          <a:bodyPr wrap="square" lIns="0" rIns="0" tIns="0" bIns="0">
            <a:spAutoFit/>
          </a:bodyPr>
          <a:lstStyle/>
          <a:p>
            <a:pPr algn="r">
              <a:spcAft>
                <a:spcPts val="400"/>
              </a:spcAft>
              <a:defRPr sz="1000" b="0" i="0">
                <a:solidFill>
                  <a:srgbClr val="86868B"/>
                </a:solidFill>
                <a:latin typeface="Segoe UI"/>
              </a:defRPr>
            </a:pPr>
            <a:r>
              <a:t>4</a:t>
            </a:r>
          </a:p>
        </p:txBody>
      </p:sp>
      <p:sp>
        <p:nvSpPr>
          <p:cNvPr id="6" name="tx_0047"/>
          <p:cNvSpPr txBox="1"/>
          <p:nvPr/>
        </p:nvSpPr>
        <p:spPr>
          <a:xfrm>
            <a:off x="868680" y="1783080"/>
            <a:ext cx="646785" cy="274320"/>
          </a:xfrm>
          <a:prstGeom prst="rect">
            <a:avLst/>
          </a:prstGeom>
          <a:noFill/>
        </p:spPr>
        <p:txBody>
          <a:bodyPr wrap="square" lIns="0" rIns="0" tIns="0" bIns="0">
            <a:spAutoFit/>
          </a:bodyPr>
          <a:lstStyle/>
          <a:p>
            <a:pPr>
              <a:spcAft>
                <a:spcPts val="400"/>
              </a:spcAft>
              <a:defRPr sz="1200" b="0" i="0">
                <a:solidFill>
                  <a:srgbClr val="86868B"/>
                </a:solidFill>
                <a:latin typeface="Segoe UI Semibold"/>
              </a:defRPr>
            </a:pPr>
          </a:p>
        </p:txBody>
      </p:sp>
      <p:sp>
        <p:nvSpPr>
          <p:cNvPr id="7" name="tx_0048"/>
          <p:cNvSpPr txBox="1"/>
          <p:nvPr/>
        </p:nvSpPr>
        <p:spPr>
          <a:xfrm>
            <a:off x="1606905" y="1783080"/>
            <a:ext cx="3072383" cy="274320"/>
          </a:xfrm>
          <a:prstGeom prst="rect">
            <a:avLst/>
          </a:prstGeom>
          <a:noFill/>
        </p:spPr>
        <p:txBody>
          <a:bodyPr wrap="square" lIns="0" rIns="0" tIns="0" bIns="0">
            <a:spAutoFit/>
          </a:bodyPr>
          <a:lstStyle/>
          <a:p>
            <a:pPr>
              <a:spcAft>
                <a:spcPts val="400"/>
              </a:spcAft>
              <a:defRPr sz="1200" b="0" i="0">
                <a:solidFill>
                  <a:srgbClr val="86868B"/>
                </a:solidFill>
                <a:latin typeface="Segoe UI Semibold"/>
              </a:defRPr>
            </a:pPr>
            <a:r>
              <a:t>THEME</a:t>
            </a:r>
          </a:p>
        </p:txBody>
      </p:sp>
      <p:sp>
        <p:nvSpPr>
          <p:cNvPr id="8" name="tx_0049"/>
          <p:cNvSpPr txBox="1"/>
          <p:nvPr/>
        </p:nvSpPr>
        <p:spPr>
          <a:xfrm>
            <a:off x="4770729" y="1783080"/>
            <a:ext cx="4970678" cy="274320"/>
          </a:xfrm>
          <a:prstGeom prst="rect">
            <a:avLst/>
          </a:prstGeom>
          <a:noFill/>
        </p:spPr>
        <p:txBody>
          <a:bodyPr wrap="square" lIns="0" rIns="0" tIns="0" bIns="0">
            <a:spAutoFit/>
          </a:bodyPr>
          <a:lstStyle/>
          <a:p>
            <a:pPr>
              <a:spcAft>
                <a:spcPts val="400"/>
              </a:spcAft>
              <a:defRPr sz="1200" b="0" i="0">
                <a:solidFill>
                  <a:srgbClr val="86868B"/>
                </a:solidFill>
                <a:latin typeface="Segoe UI Semibold"/>
              </a:defRPr>
            </a:pPr>
            <a:r>
              <a:t>COVERS</a:t>
            </a:r>
          </a:p>
        </p:txBody>
      </p:sp>
      <p:sp>
        <p:nvSpPr>
          <p:cNvPr id="9" name="tx_0050"/>
          <p:cNvSpPr txBox="1"/>
          <p:nvPr/>
        </p:nvSpPr>
        <p:spPr>
          <a:xfrm>
            <a:off x="9832847" y="1783080"/>
            <a:ext cx="1490471" cy="274320"/>
          </a:xfrm>
          <a:prstGeom prst="rect">
            <a:avLst/>
          </a:prstGeom>
          <a:noFill/>
        </p:spPr>
        <p:txBody>
          <a:bodyPr wrap="square" lIns="0" rIns="0" tIns="0" bIns="0">
            <a:spAutoFit/>
          </a:bodyPr>
          <a:lstStyle/>
          <a:p>
            <a:pPr>
              <a:spcAft>
                <a:spcPts val="400"/>
              </a:spcAft>
              <a:defRPr sz="1200" b="0" i="0">
                <a:solidFill>
                  <a:srgbClr val="86868B"/>
                </a:solidFill>
                <a:latin typeface="Segoe UI Semibold"/>
              </a:defRPr>
            </a:pPr>
            <a:r>
              <a:t>TIME</a:t>
            </a:r>
          </a:p>
        </p:txBody>
      </p:sp>
      <p:cxnSp>
        <p:nvCxnSpPr>
          <p:cNvPr id="10" name="hl_0051"/>
          <p:cNvCxnSpPr/>
          <p:nvPr/>
        </p:nvCxnSpPr>
        <p:spPr>
          <a:xfrm>
            <a:off x="822960" y="2148840"/>
            <a:ext cx="10546079" cy="0"/>
          </a:xfrm>
          <a:prstGeom prst="line">
            <a:avLst/>
          </a:prstGeom>
          <a:ln w="12700">
            <a:solidFill>
              <a:srgbClr val="1D1D1F"/>
            </a:solidFill>
          </a:ln>
        </p:spPr>
        <p:style>
          <a:lnRef idx="2">
            <a:schemeClr val="accent1"/>
          </a:lnRef>
          <a:fillRef idx="0">
            <a:schemeClr val="accent1"/>
          </a:fillRef>
          <a:effectRef idx="1">
            <a:schemeClr val="accent1"/>
          </a:effectRef>
          <a:fontRef idx="minor">
            <a:schemeClr val="tx1"/>
          </a:fontRef>
        </p:style>
      </p:cxnSp>
      <p:sp>
        <p:nvSpPr>
          <p:cNvPr id="11" name="tx_0052"/>
          <p:cNvSpPr txBox="1"/>
          <p:nvPr/>
        </p:nvSpPr>
        <p:spPr>
          <a:xfrm>
            <a:off x="868680" y="2249424"/>
            <a:ext cx="646785" cy="365760"/>
          </a:xfrm>
          <a:prstGeom prst="rect">
            <a:avLst/>
          </a:prstGeom>
          <a:noFill/>
        </p:spPr>
        <p:txBody>
          <a:bodyPr wrap="square" lIns="0" rIns="0" tIns="0" bIns="0" anchor="ctr">
            <a:spAutoFit/>
          </a:bodyPr>
          <a:lstStyle/>
          <a:p>
            <a:pPr>
              <a:spcAft>
                <a:spcPts val="400"/>
              </a:spcAft>
              <a:defRPr sz="1800" b="0" i="0">
                <a:solidFill>
                  <a:srgbClr val="1D1D1F"/>
                </a:solidFill>
                <a:latin typeface="Segoe UI Semibold"/>
              </a:defRPr>
            </a:pPr>
            <a:r>
              <a:t>I</a:t>
            </a:r>
          </a:p>
        </p:txBody>
      </p:sp>
      <p:sp>
        <p:nvSpPr>
          <p:cNvPr id="12" name="tx_0053"/>
          <p:cNvSpPr txBox="1"/>
          <p:nvPr/>
        </p:nvSpPr>
        <p:spPr>
          <a:xfrm>
            <a:off x="1606905" y="2249424"/>
            <a:ext cx="3072383" cy="365760"/>
          </a:xfrm>
          <a:prstGeom prst="rect">
            <a:avLst/>
          </a:prstGeom>
          <a:noFill/>
        </p:spPr>
        <p:txBody>
          <a:bodyPr wrap="square" lIns="0" rIns="0" tIns="0" bIns="0" anchor="ctr">
            <a:spAutoFit/>
          </a:bodyPr>
          <a:lstStyle/>
          <a:p>
            <a:pPr>
              <a:spcAft>
                <a:spcPts val="400"/>
              </a:spcAft>
              <a:defRPr sz="1800" b="0" i="0">
                <a:solidFill>
                  <a:srgbClr val="1D1D1F"/>
                </a:solidFill>
                <a:latin typeface="Segoe UI"/>
              </a:defRPr>
            </a:pPr>
            <a:r>
              <a:t>The wall has a crack</a:t>
            </a:r>
          </a:p>
        </p:txBody>
      </p:sp>
      <p:sp>
        <p:nvSpPr>
          <p:cNvPr id="13" name="tx_0054"/>
          <p:cNvSpPr txBox="1"/>
          <p:nvPr/>
        </p:nvSpPr>
        <p:spPr>
          <a:xfrm>
            <a:off x="4770729" y="2249424"/>
            <a:ext cx="4970678" cy="365760"/>
          </a:xfrm>
          <a:prstGeom prst="rect">
            <a:avLst/>
          </a:prstGeom>
          <a:noFill/>
        </p:spPr>
        <p:txBody>
          <a:bodyPr wrap="square" lIns="0" rIns="0" tIns="0" bIns="0" anchor="ctr">
            <a:spAutoFit/>
          </a:bodyPr>
          <a:lstStyle/>
          <a:p>
            <a:pPr>
              <a:spcAft>
                <a:spcPts val="400"/>
              </a:spcAft>
              <a:defRPr sz="1800" b="0" i="0">
                <a:solidFill>
                  <a:srgbClr val="6E6E73"/>
                </a:solidFill>
                <a:latin typeface="Segoe UI"/>
              </a:defRPr>
            </a:pPr>
            <a:r>
              <a:t>thesis + payoff</a:t>
            </a:r>
          </a:p>
        </p:txBody>
      </p:sp>
      <p:sp>
        <p:nvSpPr>
          <p:cNvPr id="14" name="tx_0055"/>
          <p:cNvSpPr txBox="1"/>
          <p:nvPr/>
        </p:nvSpPr>
        <p:spPr>
          <a:xfrm>
            <a:off x="9832847" y="2249424"/>
            <a:ext cx="1490471" cy="365760"/>
          </a:xfrm>
          <a:prstGeom prst="rect">
            <a:avLst/>
          </a:prstGeom>
          <a:noFill/>
        </p:spPr>
        <p:txBody>
          <a:bodyPr wrap="square" lIns="0" rIns="0" tIns="0" bIns="0" anchor="ctr">
            <a:spAutoFit/>
          </a:bodyPr>
          <a:lstStyle/>
          <a:p>
            <a:pPr>
              <a:spcAft>
                <a:spcPts val="400"/>
              </a:spcAft>
              <a:defRPr sz="1800" b="0" i="0">
                <a:solidFill>
                  <a:srgbClr val="6E6E73"/>
                </a:solidFill>
                <a:latin typeface="Segoe UI"/>
              </a:defRPr>
            </a:pPr>
            <a:r>
              <a:t>4 min</a:t>
            </a:r>
          </a:p>
        </p:txBody>
      </p:sp>
      <p:cxnSp>
        <p:nvCxnSpPr>
          <p:cNvPr id="15" name="hl_0056"/>
          <p:cNvCxnSpPr/>
          <p:nvPr/>
        </p:nvCxnSpPr>
        <p:spPr>
          <a:xfrm>
            <a:off x="822960" y="2715768"/>
            <a:ext cx="10546079"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16" name="tx_0057"/>
          <p:cNvSpPr txBox="1"/>
          <p:nvPr/>
        </p:nvSpPr>
        <p:spPr>
          <a:xfrm>
            <a:off x="868680" y="2816352"/>
            <a:ext cx="646785" cy="365760"/>
          </a:xfrm>
          <a:prstGeom prst="rect">
            <a:avLst/>
          </a:prstGeom>
          <a:noFill/>
        </p:spPr>
        <p:txBody>
          <a:bodyPr wrap="square" lIns="0" rIns="0" tIns="0" bIns="0" anchor="ctr">
            <a:spAutoFit/>
          </a:bodyPr>
          <a:lstStyle/>
          <a:p>
            <a:pPr>
              <a:spcAft>
                <a:spcPts val="400"/>
              </a:spcAft>
              <a:defRPr sz="1800" b="0" i="0">
                <a:solidFill>
                  <a:srgbClr val="1D1D1F"/>
                </a:solidFill>
                <a:latin typeface="Segoe UI Semibold"/>
              </a:defRPr>
            </a:pPr>
            <a:r>
              <a:t>II</a:t>
            </a:r>
          </a:p>
        </p:txBody>
      </p:sp>
      <p:sp>
        <p:nvSpPr>
          <p:cNvPr id="17" name="tx_0058"/>
          <p:cNvSpPr txBox="1"/>
          <p:nvPr/>
        </p:nvSpPr>
        <p:spPr>
          <a:xfrm>
            <a:off x="1606905" y="2816352"/>
            <a:ext cx="3072383" cy="365760"/>
          </a:xfrm>
          <a:prstGeom prst="rect">
            <a:avLst/>
          </a:prstGeom>
          <a:noFill/>
        </p:spPr>
        <p:txBody>
          <a:bodyPr wrap="square" lIns="0" rIns="0" tIns="0" bIns="0" anchor="ctr">
            <a:spAutoFit/>
          </a:bodyPr>
          <a:lstStyle/>
          <a:p>
            <a:pPr>
              <a:spcAft>
                <a:spcPts val="400"/>
              </a:spcAft>
              <a:defRPr sz="1800" b="0" i="0">
                <a:solidFill>
                  <a:srgbClr val="1D1D1F"/>
                </a:solidFill>
                <a:latin typeface="Segoe UI"/>
              </a:defRPr>
            </a:pPr>
            <a:r>
              <a:t>Meet the machine</a:t>
            </a:r>
          </a:p>
        </p:txBody>
      </p:sp>
      <p:sp>
        <p:nvSpPr>
          <p:cNvPr id="18" name="tx_0059"/>
          <p:cNvSpPr txBox="1"/>
          <p:nvPr/>
        </p:nvSpPr>
        <p:spPr>
          <a:xfrm>
            <a:off x="4770729" y="2816352"/>
            <a:ext cx="4970678" cy="365760"/>
          </a:xfrm>
          <a:prstGeom prst="rect">
            <a:avLst/>
          </a:prstGeom>
          <a:noFill/>
        </p:spPr>
        <p:txBody>
          <a:bodyPr wrap="square" lIns="0" rIns="0" tIns="0" bIns="0" anchor="ctr">
            <a:spAutoFit/>
          </a:bodyPr>
          <a:lstStyle/>
          <a:p>
            <a:pPr>
              <a:spcAft>
                <a:spcPts val="400"/>
              </a:spcAft>
              <a:defRPr sz="1800" b="0" i="0">
                <a:solidFill>
                  <a:srgbClr val="6E6E73"/>
                </a:solidFill>
                <a:latin typeface="Segoe UI"/>
              </a:defRPr>
            </a:pPr>
            <a:r>
              <a:t>architecture + threat model</a:t>
            </a:r>
          </a:p>
        </p:txBody>
      </p:sp>
      <p:sp>
        <p:nvSpPr>
          <p:cNvPr id="19" name="tx_0060"/>
          <p:cNvSpPr txBox="1"/>
          <p:nvPr/>
        </p:nvSpPr>
        <p:spPr>
          <a:xfrm>
            <a:off x="9832847" y="2816352"/>
            <a:ext cx="1490471" cy="365760"/>
          </a:xfrm>
          <a:prstGeom prst="rect">
            <a:avLst/>
          </a:prstGeom>
          <a:noFill/>
        </p:spPr>
        <p:txBody>
          <a:bodyPr wrap="square" lIns="0" rIns="0" tIns="0" bIns="0" anchor="ctr">
            <a:spAutoFit/>
          </a:bodyPr>
          <a:lstStyle/>
          <a:p>
            <a:pPr>
              <a:spcAft>
                <a:spcPts val="400"/>
              </a:spcAft>
              <a:defRPr sz="1800" b="0" i="0">
                <a:solidFill>
                  <a:srgbClr val="6E6E73"/>
                </a:solidFill>
                <a:latin typeface="Segoe UI"/>
              </a:defRPr>
            </a:pPr>
            <a:r>
              <a:t>8 min</a:t>
            </a:r>
          </a:p>
        </p:txBody>
      </p:sp>
      <p:cxnSp>
        <p:nvCxnSpPr>
          <p:cNvPr id="20" name="hl_0061"/>
          <p:cNvCxnSpPr/>
          <p:nvPr/>
        </p:nvCxnSpPr>
        <p:spPr>
          <a:xfrm>
            <a:off x="822960" y="3282696"/>
            <a:ext cx="10546079"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21" name="tx_0062"/>
          <p:cNvSpPr txBox="1"/>
          <p:nvPr/>
        </p:nvSpPr>
        <p:spPr>
          <a:xfrm>
            <a:off x="868680" y="3383279"/>
            <a:ext cx="646785" cy="365760"/>
          </a:xfrm>
          <a:prstGeom prst="rect">
            <a:avLst/>
          </a:prstGeom>
          <a:noFill/>
        </p:spPr>
        <p:txBody>
          <a:bodyPr wrap="square" lIns="0" rIns="0" tIns="0" bIns="0" anchor="ctr">
            <a:spAutoFit/>
          </a:bodyPr>
          <a:lstStyle/>
          <a:p>
            <a:pPr>
              <a:spcAft>
                <a:spcPts val="400"/>
              </a:spcAft>
              <a:defRPr sz="1800" b="0" i="0">
                <a:solidFill>
                  <a:srgbClr val="1D1D1F"/>
                </a:solidFill>
                <a:latin typeface="Segoe UI Semibold"/>
              </a:defRPr>
            </a:pPr>
            <a:r>
              <a:t>III</a:t>
            </a:r>
          </a:p>
        </p:txBody>
      </p:sp>
      <p:sp>
        <p:nvSpPr>
          <p:cNvPr id="22" name="tx_0063"/>
          <p:cNvSpPr txBox="1"/>
          <p:nvPr/>
        </p:nvSpPr>
        <p:spPr>
          <a:xfrm>
            <a:off x="1606905" y="3383279"/>
            <a:ext cx="3072383" cy="365760"/>
          </a:xfrm>
          <a:prstGeom prst="rect">
            <a:avLst/>
          </a:prstGeom>
          <a:noFill/>
        </p:spPr>
        <p:txBody>
          <a:bodyPr wrap="square" lIns="0" rIns="0" tIns="0" bIns="0" anchor="ctr">
            <a:spAutoFit/>
          </a:bodyPr>
          <a:lstStyle/>
          <a:p>
            <a:pPr>
              <a:spcAft>
                <a:spcPts val="400"/>
              </a:spcAft>
              <a:defRPr sz="1800" b="0" i="0">
                <a:solidFill>
                  <a:srgbClr val="1D1D1F"/>
                </a:solidFill>
                <a:latin typeface="Segoe UI"/>
              </a:defRPr>
            </a:pPr>
            <a:r>
              <a:t>The detective story</a:t>
            </a:r>
          </a:p>
        </p:txBody>
      </p:sp>
      <p:sp>
        <p:nvSpPr>
          <p:cNvPr id="23" name="tx_0064"/>
          <p:cNvSpPr txBox="1"/>
          <p:nvPr/>
        </p:nvSpPr>
        <p:spPr>
          <a:xfrm>
            <a:off x="4770729" y="3383279"/>
            <a:ext cx="4970678" cy="365760"/>
          </a:xfrm>
          <a:prstGeom prst="rect">
            <a:avLst/>
          </a:prstGeom>
          <a:noFill/>
        </p:spPr>
        <p:txBody>
          <a:bodyPr wrap="square" lIns="0" rIns="0" tIns="0" bIns="0" anchor="ctr">
            <a:spAutoFit/>
          </a:bodyPr>
          <a:lstStyle/>
          <a:p>
            <a:pPr>
              <a:spcAft>
                <a:spcPts val="400"/>
              </a:spcAft>
              <a:defRPr sz="1800" b="0" i="0">
                <a:solidFill>
                  <a:srgbClr val="6E6E73"/>
                </a:solidFill>
                <a:latin typeface="Segoe UI"/>
              </a:defRPr>
            </a:pPr>
            <a:r>
              <a:t>reverse engineering + two primitives</a:t>
            </a:r>
          </a:p>
        </p:txBody>
      </p:sp>
      <p:sp>
        <p:nvSpPr>
          <p:cNvPr id="24" name="tx_0065"/>
          <p:cNvSpPr txBox="1"/>
          <p:nvPr/>
        </p:nvSpPr>
        <p:spPr>
          <a:xfrm>
            <a:off x="9832847" y="3383279"/>
            <a:ext cx="1490471" cy="365760"/>
          </a:xfrm>
          <a:prstGeom prst="rect">
            <a:avLst/>
          </a:prstGeom>
          <a:noFill/>
        </p:spPr>
        <p:txBody>
          <a:bodyPr wrap="square" lIns="0" rIns="0" tIns="0" bIns="0" anchor="ctr">
            <a:spAutoFit/>
          </a:bodyPr>
          <a:lstStyle/>
          <a:p>
            <a:pPr>
              <a:spcAft>
                <a:spcPts val="400"/>
              </a:spcAft>
              <a:defRPr sz="1800" b="0" i="0">
                <a:solidFill>
                  <a:srgbClr val="6E6E73"/>
                </a:solidFill>
                <a:latin typeface="Segoe UI"/>
              </a:defRPr>
            </a:pPr>
            <a:r>
              <a:t>16 min</a:t>
            </a:r>
          </a:p>
        </p:txBody>
      </p:sp>
      <p:cxnSp>
        <p:nvCxnSpPr>
          <p:cNvPr id="25" name="hl_0066"/>
          <p:cNvCxnSpPr/>
          <p:nvPr/>
        </p:nvCxnSpPr>
        <p:spPr>
          <a:xfrm>
            <a:off x="822960" y="3849624"/>
            <a:ext cx="10546079"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26" name="tx_0067"/>
          <p:cNvSpPr txBox="1"/>
          <p:nvPr/>
        </p:nvSpPr>
        <p:spPr>
          <a:xfrm>
            <a:off x="868680" y="3950208"/>
            <a:ext cx="646785" cy="365760"/>
          </a:xfrm>
          <a:prstGeom prst="rect">
            <a:avLst/>
          </a:prstGeom>
          <a:noFill/>
        </p:spPr>
        <p:txBody>
          <a:bodyPr wrap="square" lIns="0" rIns="0" tIns="0" bIns="0" anchor="ctr">
            <a:spAutoFit/>
          </a:bodyPr>
          <a:lstStyle/>
          <a:p>
            <a:pPr>
              <a:spcAft>
                <a:spcPts val="400"/>
              </a:spcAft>
              <a:defRPr sz="1800" b="0" i="0">
                <a:solidFill>
                  <a:srgbClr val="1D1D1F"/>
                </a:solidFill>
                <a:latin typeface="Segoe UI Semibold"/>
              </a:defRPr>
            </a:pPr>
            <a:r>
              <a:t>IV</a:t>
            </a:r>
          </a:p>
        </p:txBody>
      </p:sp>
      <p:sp>
        <p:nvSpPr>
          <p:cNvPr id="27" name="tx_0068"/>
          <p:cNvSpPr txBox="1"/>
          <p:nvPr/>
        </p:nvSpPr>
        <p:spPr>
          <a:xfrm>
            <a:off x="1606905" y="3950208"/>
            <a:ext cx="3072383" cy="365760"/>
          </a:xfrm>
          <a:prstGeom prst="rect">
            <a:avLst/>
          </a:prstGeom>
          <a:noFill/>
        </p:spPr>
        <p:txBody>
          <a:bodyPr wrap="square" lIns="0" rIns="0" tIns="0" bIns="0" anchor="ctr">
            <a:spAutoFit/>
          </a:bodyPr>
          <a:lstStyle/>
          <a:p>
            <a:pPr>
              <a:spcAft>
                <a:spcPts val="400"/>
              </a:spcAft>
              <a:defRPr sz="1800" b="0" i="0">
                <a:solidFill>
                  <a:srgbClr val="1D1D1F"/>
                </a:solidFill>
                <a:latin typeface="Segoe UI"/>
              </a:defRPr>
            </a:pPr>
            <a:r>
              <a:t>What it steals</a:t>
            </a:r>
          </a:p>
        </p:txBody>
      </p:sp>
      <p:sp>
        <p:nvSpPr>
          <p:cNvPr id="28" name="tx_0069"/>
          <p:cNvSpPr txBox="1"/>
          <p:nvPr/>
        </p:nvSpPr>
        <p:spPr>
          <a:xfrm>
            <a:off x="4770729" y="3950208"/>
            <a:ext cx="4970678" cy="365760"/>
          </a:xfrm>
          <a:prstGeom prst="rect">
            <a:avLst/>
          </a:prstGeom>
          <a:noFill/>
        </p:spPr>
        <p:txBody>
          <a:bodyPr wrap="square" lIns="0" rIns="0" tIns="0" bIns="0" anchor="ctr">
            <a:spAutoFit/>
          </a:bodyPr>
          <a:lstStyle/>
          <a:p>
            <a:pPr>
              <a:spcAft>
                <a:spcPts val="400"/>
              </a:spcAft>
              <a:defRPr sz="1800" b="0" i="0">
                <a:solidFill>
                  <a:srgbClr val="6E6E73"/>
                </a:solidFill>
                <a:latin typeface="Segoe UI"/>
              </a:defRPr>
            </a:pPr>
            <a:r>
              <a:t>covert channel + three attacks</a:t>
            </a:r>
          </a:p>
        </p:txBody>
      </p:sp>
      <p:sp>
        <p:nvSpPr>
          <p:cNvPr id="29" name="tx_0070"/>
          <p:cNvSpPr txBox="1"/>
          <p:nvPr/>
        </p:nvSpPr>
        <p:spPr>
          <a:xfrm>
            <a:off x="9832847" y="3950208"/>
            <a:ext cx="1490471" cy="365760"/>
          </a:xfrm>
          <a:prstGeom prst="rect">
            <a:avLst/>
          </a:prstGeom>
          <a:noFill/>
        </p:spPr>
        <p:txBody>
          <a:bodyPr wrap="square" lIns="0" rIns="0" tIns="0" bIns="0" anchor="ctr">
            <a:spAutoFit/>
          </a:bodyPr>
          <a:lstStyle/>
          <a:p>
            <a:pPr>
              <a:spcAft>
                <a:spcPts val="400"/>
              </a:spcAft>
              <a:defRPr sz="1800" b="0" i="0">
                <a:solidFill>
                  <a:srgbClr val="6E6E73"/>
                </a:solidFill>
                <a:latin typeface="Segoe UI"/>
              </a:defRPr>
            </a:pPr>
            <a:r>
              <a:t>12 min</a:t>
            </a:r>
          </a:p>
        </p:txBody>
      </p:sp>
      <p:cxnSp>
        <p:nvCxnSpPr>
          <p:cNvPr id="30" name="hl_0071"/>
          <p:cNvCxnSpPr/>
          <p:nvPr/>
        </p:nvCxnSpPr>
        <p:spPr>
          <a:xfrm>
            <a:off x="822960" y="4416552"/>
            <a:ext cx="10546079"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31" name="tx_0072"/>
          <p:cNvSpPr txBox="1"/>
          <p:nvPr/>
        </p:nvSpPr>
        <p:spPr>
          <a:xfrm>
            <a:off x="868680" y="4517136"/>
            <a:ext cx="646785" cy="365760"/>
          </a:xfrm>
          <a:prstGeom prst="rect">
            <a:avLst/>
          </a:prstGeom>
          <a:noFill/>
        </p:spPr>
        <p:txBody>
          <a:bodyPr wrap="square" lIns="0" rIns="0" tIns="0" bIns="0" anchor="ctr">
            <a:spAutoFit/>
          </a:bodyPr>
          <a:lstStyle/>
          <a:p>
            <a:pPr>
              <a:spcAft>
                <a:spcPts val="400"/>
              </a:spcAft>
              <a:defRPr sz="1800" b="0" i="0">
                <a:solidFill>
                  <a:srgbClr val="1D1D1F"/>
                </a:solidFill>
                <a:latin typeface="Segoe UI Semibold"/>
              </a:defRPr>
            </a:pPr>
            <a:r>
              <a:t>V</a:t>
            </a:r>
          </a:p>
        </p:txBody>
      </p:sp>
      <p:sp>
        <p:nvSpPr>
          <p:cNvPr id="32" name="tx_0073"/>
          <p:cNvSpPr txBox="1"/>
          <p:nvPr/>
        </p:nvSpPr>
        <p:spPr>
          <a:xfrm>
            <a:off x="1606905" y="4517136"/>
            <a:ext cx="3072383" cy="365760"/>
          </a:xfrm>
          <a:prstGeom prst="rect">
            <a:avLst/>
          </a:prstGeom>
          <a:noFill/>
        </p:spPr>
        <p:txBody>
          <a:bodyPr wrap="square" lIns="0" rIns="0" tIns="0" bIns="0" anchor="ctr">
            <a:spAutoFit/>
          </a:bodyPr>
          <a:lstStyle/>
          <a:p>
            <a:pPr>
              <a:spcAft>
                <a:spcPts val="400"/>
              </a:spcAft>
              <a:defRPr sz="1800" b="0" i="0">
                <a:solidFill>
                  <a:srgbClr val="1D1D1F"/>
                </a:solidFill>
                <a:latin typeface="Segoe UI"/>
              </a:defRPr>
            </a:pPr>
            <a:r>
              <a:t>Does it hold up?</a:t>
            </a:r>
          </a:p>
        </p:txBody>
      </p:sp>
      <p:sp>
        <p:nvSpPr>
          <p:cNvPr id="33" name="tx_0074"/>
          <p:cNvSpPr txBox="1"/>
          <p:nvPr/>
        </p:nvSpPr>
        <p:spPr>
          <a:xfrm>
            <a:off x="4770729" y="4517136"/>
            <a:ext cx="4970678" cy="365760"/>
          </a:xfrm>
          <a:prstGeom prst="rect">
            <a:avLst/>
          </a:prstGeom>
          <a:noFill/>
        </p:spPr>
        <p:txBody>
          <a:bodyPr wrap="square" lIns="0" rIns="0" tIns="0" bIns="0" anchor="ctr">
            <a:spAutoFit/>
          </a:bodyPr>
          <a:lstStyle/>
          <a:p>
            <a:pPr>
              <a:spcAft>
                <a:spcPts val="400"/>
              </a:spcAft>
              <a:defRPr sz="1800" b="0" i="0">
                <a:solidFill>
                  <a:srgbClr val="6E6E73"/>
                </a:solidFill>
                <a:latin typeface="Segoe UI"/>
              </a:defRPr>
            </a:pPr>
            <a:r>
              <a:t>robustness, comparison, defenses</a:t>
            </a:r>
          </a:p>
        </p:txBody>
      </p:sp>
      <p:sp>
        <p:nvSpPr>
          <p:cNvPr id="34" name="tx_0075"/>
          <p:cNvSpPr txBox="1"/>
          <p:nvPr/>
        </p:nvSpPr>
        <p:spPr>
          <a:xfrm>
            <a:off x="9832847" y="4517136"/>
            <a:ext cx="1490471" cy="365760"/>
          </a:xfrm>
          <a:prstGeom prst="rect">
            <a:avLst/>
          </a:prstGeom>
          <a:noFill/>
        </p:spPr>
        <p:txBody>
          <a:bodyPr wrap="square" lIns="0" rIns="0" tIns="0" bIns="0" anchor="ctr">
            <a:spAutoFit/>
          </a:bodyPr>
          <a:lstStyle/>
          <a:p>
            <a:pPr>
              <a:spcAft>
                <a:spcPts val="400"/>
              </a:spcAft>
              <a:defRPr sz="1800" b="0" i="0">
                <a:solidFill>
                  <a:srgbClr val="6E6E73"/>
                </a:solidFill>
                <a:latin typeface="Segoe UI"/>
              </a:defRPr>
            </a:pPr>
            <a:r>
              <a:t>6 min</a:t>
            </a:r>
          </a:p>
        </p:txBody>
      </p:sp>
      <p:cxnSp>
        <p:nvCxnSpPr>
          <p:cNvPr id="35" name="hl_0076"/>
          <p:cNvCxnSpPr/>
          <p:nvPr/>
        </p:nvCxnSpPr>
        <p:spPr>
          <a:xfrm>
            <a:off x="822960" y="4983480"/>
            <a:ext cx="10546079"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36" name="tx_0077"/>
          <p:cNvSpPr txBox="1"/>
          <p:nvPr/>
        </p:nvSpPr>
        <p:spPr>
          <a:xfrm>
            <a:off x="868680" y="5084064"/>
            <a:ext cx="646785" cy="365760"/>
          </a:xfrm>
          <a:prstGeom prst="rect">
            <a:avLst/>
          </a:prstGeom>
          <a:noFill/>
        </p:spPr>
        <p:txBody>
          <a:bodyPr wrap="square" lIns="0" rIns="0" tIns="0" bIns="0" anchor="ctr">
            <a:spAutoFit/>
          </a:bodyPr>
          <a:lstStyle/>
          <a:p>
            <a:pPr>
              <a:spcAft>
                <a:spcPts val="400"/>
              </a:spcAft>
              <a:defRPr sz="1800" b="0" i="0">
                <a:solidFill>
                  <a:srgbClr val="1D1D1F"/>
                </a:solidFill>
                <a:latin typeface="Segoe UI Semibold"/>
              </a:defRPr>
            </a:pPr>
            <a:r>
              <a:t>VI</a:t>
            </a:r>
          </a:p>
        </p:txBody>
      </p:sp>
      <p:sp>
        <p:nvSpPr>
          <p:cNvPr id="37" name="tx_0078"/>
          <p:cNvSpPr txBox="1"/>
          <p:nvPr/>
        </p:nvSpPr>
        <p:spPr>
          <a:xfrm>
            <a:off x="1606905" y="5084064"/>
            <a:ext cx="3072383" cy="365760"/>
          </a:xfrm>
          <a:prstGeom prst="rect">
            <a:avLst/>
          </a:prstGeom>
          <a:noFill/>
        </p:spPr>
        <p:txBody>
          <a:bodyPr wrap="square" lIns="0" rIns="0" tIns="0" bIns="0" anchor="ctr">
            <a:spAutoFit/>
          </a:bodyPr>
          <a:lstStyle/>
          <a:p>
            <a:pPr>
              <a:spcAft>
                <a:spcPts val="400"/>
              </a:spcAft>
              <a:defRPr sz="1800" b="0" i="0">
                <a:solidFill>
                  <a:srgbClr val="1D1D1F"/>
                </a:solidFill>
                <a:latin typeface="Segoe UI"/>
              </a:defRPr>
            </a:pPr>
            <a:r>
              <a:t>My verdict</a:t>
            </a:r>
          </a:p>
        </p:txBody>
      </p:sp>
      <p:sp>
        <p:nvSpPr>
          <p:cNvPr id="38" name="tx_0079"/>
          <p:cNvSpPr txBox="1"/>
          <p:nvPr/>
        </p:nvSpPr>
        <p:spPr>
          <a:xfrm>
            <a:off x="4770729" y="5084064"/>
            <a:ext cx="4970678" cy="365760"/>
          </a:xfrm>
          <a:prstGeom prst="rect">
            <a:avLst/>
          </a:prstGeom>
          <a:noFill/>
        </p:spPr>
        <p:txBody>
          <a:bodyPr wrap="square" lIns="0" rIns="0" tIns="0" bIns="0" anchor="ctr">
            <a:spAutoFit/>
          </a:bodyPr>
          <a:lstStyle/>
          <a:p>
            <a:pPr>
              <a:spcAft>
                <a:spcPts val="400"/>
              </a:spcAft>
              <a:defRPr sz="1800" b="0" i="0">
                <a:solidFill>
                  <a:srgbClr val="6E6E73"/>
                </a:solidFill>
                <a:latin typeface="Segoe UI"/>
              </a:defRPr>
            </a:pPr>
            <a:r>
              <a:t>strengths, limits, open questions</a:t>
            </a:r>
          </a:p>
        </p:txBody>
      </p:sp>
      <p:sp>
        <p:nvSpPr>
          <p:cNvPr id="39" name="tx_0080"/>
          <p:cNvSpPr txBox="1"/>
          <p:nvPr/>
        </p:nvSpPr>
        <p:spPr>
          <a:xfrm>
            <a:off x="9832847" y="5084064"/>
            <a:ext cx="1490471" cy="365760"/>
          </a:xfrm>
          <a:prstGeom prst="rect">
            <a:avLst/>
          </a:prstGeom>
          <a:noFill/>
        </p:spPr>
        <p:txBody>
          <a:bodyPr wrap="square" lIns="0" rIns="0" tIns="0" bIns="0" anchor="ctr">
            <a:spAutoFit/>
          </a:bodyPr>
          <a:lstStyle/>
          <a:p>
            <a:pPr>
              <a:spcAft>
                <a:spcPts val="400"/>
              </a:spcAft>
              <a:defRPr sz="1800" b="0" i="0">
                <a:solidFill>
                  <a:srgbClr val="6E6E73"/>
                </a:solidFill>
                <a:latin typeface="Segoe UI"/>
              </a:defRPr>
            </a:pPr>
            <a:r>
              <a:t>5 min</a:t>
            </a:r>
          </a:p>
        </p:txBody>
      </p:sp>
      <p:cxnSp>
        <p:nvCxnSpPr>
          <p:cNvPr id="40" name="hl_0081"/>
          <p:cNvCxnSpPr/>
          <p:nvPr/>
        </p:nvCxnSpPr>
        <p:spPr>
          <a:xfrm>
            <a:off x="822960" y="5550408"/>
            <a:ext cx="10546079"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41" name="rect_0082"/>
          <p:cNvSpPr/>
          <p:nvPr/>
        </p:nvSpPr>
        <p:spPr>
          <a:xfrm>
            <a:off x="822960" y="5806440"/>
            <a:ext cx="502920" cy="41148"/>
          </a:xfrm>
          <a:prstGeom prst="rect">
            <a:avLst/>
          </a:prstGeom>
          <a:solidFill>
            <a:srgbClr val="007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x_0083"/>
          <p:cNvSpPr txBox="1"/>
          <p:nvPr/>
        </p:nvSpPr>
        <p:spPr>
          <a:xfrm>
            <a:off x="822960" y="5961888"/>
            <a:ext cx="10546079" cy="548640"/>
          </a:xfrm>
          <a:prstGeom prst="rect">
            <a:avLst/>
          </a:prstGeom>
          <a:noFill/>
        </p:spPr>
        <p:txBody>
          <a:bodyPr wrap="square" lIns="0" rIns="0" tIns="0" bIns="0">
            <a:spAutoFit/>
          </a:bodyPr>
          <a:lstStyle/>
          <a:p>
            <a:pPr>
              <a:spcAft>
                <a:spcPts val="400"/>
              </a:spcAft>
              <a:defRPr sz="2100" b="0" i="0">
                <a:solidFill>
                  <a:srgbClr val="1D1D1F"/>
                </a:solidFill>
                <a:latin typeface="Segoe UI Semibold"/>
              </a:defRPr>
            </a:pPr>
            <a:r>
              <a:t>A running theme: VT-d guards addresses, not the accelerator’s shared heartbeat.</a:t>
            </a:r>
          </a:p>
        </p:txBody>
      </p:sp>
    </p:spTree>
  </p:cSld>
  <p:clrMapOvr>
    <a:masterClrMapping/>
  </p:clrMapOvr>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x_0084"/>
          <p:cNvSpPr txBox="1"/>
          <p:nvPr/>
        </p:nvSpPr>
        <p:spPr>
          <a:xfrm>
            <a:off x="822960" y="1097280"/>
            <a:ext cx="5486400" cy="320040"/>
          </a:xfrm>
          <a:prstGeom prst="rect">
            <a:avLst/>
          </a:prstGeom>
          <a:noFill/>
        </p:spPr>
        <p:txBody>
          <a:bodyPr wrap="square" lIns="0" rIns="0" tIns="0" bIns="0">
            <a:spAutoFit/>
          </a:bodyPr>
          <a:lstStyle/>
          <a:p>
            <a:pPr>
              <a:spcAft>
                <a:spcPts val="400"/>
              </a:spcAft>
              <a:defRPr sz="1400" b="0" i="0">
                <a:solidFill>
                  <a:srgbClr val="A1A1A6"/>
                </a:solidFill>
                <a:latin typeface="Segoe UI Semibold"/>
              </a:defRPr>
            </a:pPr>
            <a:r>
              <a:t>Act 2 of 6</a:t>
            </a:r>
          </a:p>
        </p:txBody>
      </p:sp>
      <p:sp>
        <p:nvSpPr>
          <p:cNvPr id="3" name="tx_0085"/>
          <p:cNvSpPr txBox="1"/>
          <p:nvPr/>
        </p:nvSpPr>
        <p:spPr>
          <a:xfrm>
            <a:off x="777240" y="1371600"/>
            <a:ext cx="5486400" cy="2377440"/>
          </a:xfrm>
          <a:prstGeom prst="rect">
            <a:avLst/>
          </a:prstGeom>
          <a:noFill/>
        </p:spPr>
        <p:txBody>
          <a:bodyPr wrap="square" lIns="0" rIns="0" tIns="0" bIns="0">
            <a:spAutoFit/>
          </a:bodyPr>
          <a:lstStyle/>
          <a:p>
            <a:pPr>
              <a:spcAft>
                <a:spcPts val="400"/>
              </a:spcAft>
              <a:defRPr sz="16000" b="0" i="0">
                <a:solidFill>
                  <a:srgbClr val="2C2C2E"/>
                </a:solidFill>
                <a:latin typeface="Segoe UI Semibold"/>
              </a:defRPr>
            </a:pPr>
            <a:r>
              <a:t>02</a:t>
            </a:r>
          </a:p>
        </p:txBody>
      </p:sp>
      <p:sp>
        <p:nvSpPr>
          <p:cNvPr id="4" name="tx_0086"/>
          <p:cNvSpPr txBox="1"/>
          <p:nvPr/>
        </p:nvSpPr>
        <p:spPr>
          <a:xfrm>
            <a:off x="822960" y="3703320"/>
            <a:ext cx="10546079" cy="914400"/>
          </a:xfrm>
          <a:prstGeom prst="rect">
            <a:avLst/>
          </a:prstGeom>
          <a:noFill/>
        </p:spPr>
        <p:txBody>
          <a:bodyPr wrap="square" lIns="0" rIns="0" tIns="0" bIns="0">
            <a:spAutoFit/>
          </a:bodyPr>
          <a:lstStyle/>
          <a:p>
            <a:pPr>
              <a:spcAft>
                <a:spcPts val="400"/>
              </a:spcAft>
              <a:defRPr sz="4800" b="0" i="0">
                <a:solidFill>
                  <a:srgbClr val="FFFFFF"/>
                </a:solidFill>
                <a:latin typeface="Segoe UI Semibold"/>
              </a:defRPr>
            </a:pPr>
            <a:r>
              <a:t>Meet the machine</a:t>
            </a:r>
          </a:p>
        </p:txBody>
      </p:sp>
      <p:sp>
        <p:nvSpPr>
          <p:cNvPr id="5" name="tx_0087"/>
          <p:cNvSpPr txBox="1"/>
          <p:nvPr/>
        </p:nvSpPr>
        <p:spPr>
          <a:xfrm>
            <a:off x="822960" y="4846320"/>
            <a:ext cx="10546079" cy="438912"/>
          </a:xfrm>
          <a:prstGeom prst="rect">
            <a:avLst/>
          </a:prstGeom>
          <a:noFill/>
        </p:spPr>
        <p:txBody>
          <a:bodyPr wrap="square" lIns="0" rIns="0" tIns="0" bIns="0">
            <a:spAutoFit/>
          </a:bodyPr>
          <a:lstStyle/>
          <a:p>
            <a:pPr>
              <a:spcAft>
                <a:spcPts val="400"/>
              </a:spcAft>
              <a:defRPr sz="1900" b="0" i="0">
                <a:solidFill>
                  <a:srgbClr val="A1A1A6"/>
                </a:solidFill>
                <a:latin typeface="Segoe UI"/>
              </a:defRPr>
            </a:pPr>
            <a:r>
              <a:t>What DSA is and how a job flows through it</a:t>
            </a:r>
          </a:p>
        </p:txBody>
      </p:sp>
      <p:sp>
        <p:nvSpPr>
          <p:cNvPr id="6" name="tx_0088"/>
          <p:cNvSpPr txBox="1"/>
          <p:nvPr/>
        </p:nvSpPr>
        <p:spPr>
          <a:xfrm>
            <a:off x="822960" y="5285231"/>
            <a:ext cx="10546079" cy="438912"/>
          </a:xfrm>
          <a:prstGeom prst="rect">
            <a:avLst/>
          </a:prstGeom>
          <a:noFill/>
        </p:spPr>
        <p:txBody>
          <a:bodyPr wrap="square" lIns="0" rIns="0" tIns="0" bIns="0">
            <a:spAutoFit/>
          </a:bodyPr>
          <a:lstStyle/>
          <a:p>
            <a:pPr>
              <a:spcAft>
                <a:spcPts val="400"/>
              </a:spcAft>
              <a:defRPr sz="1900" b="0" i="0">
                <a:solidFill>
                  <a:srgbClr val="A1A1A6"/>
                </a:solidFill>
                <a:latin typeface="Segoe UI"/>
              </a:defRPr>
            </a:pPr>
            <a:r>
              <a:t>The device-side translation cache (DevTLB)</a:t>
            </a:r>
          </a:p>
        </p:txBody>
      </p:sp>
      <p:sp>
        <p:nvSpPr>
          <p:cNvPr id="7" name="tx_0089"/>
          <p:cNvSpPr txBox="1"/>
          <p:nvPr/>
        </p:nvSpPr>
        <p:spPr>
          <a:xfrm>
            <a:off x="822960" y="5724144"/>
            <a:ext cx="10546079" cy="438912"/>
          </a:xfrm>
          <a:prstGeom prst="rect">
            <a:avLst/>
          </a:prstGeom>
          <a:noFill/>
        </p:spPr>
        <p:txBody>
          <a:bodyPr wrap="square" lIns="0" rIns="0" tIns="0" bIns="0">
            <a:spAutoFit/>
          </a:bodyPr>
          <a:lstStyle/>
          <a:p>
            <a:pPr>
              <a:spcAft>
                <a:spcPts val="400"/>
              </a:spcAft>
              <a:defRPr sz="1900" b="0" i="0">
                <a:solidFill>
                  <a:srgbClr val="A1A1A6"/>
                </a:solidFill>
                <a:latin typeface="Segoe UI"/>
              </a:defRPr>
            </a:pPr>
            <a:r>
              <a:t>The honest threat model — and two kinds of sharing</a:t>
            </a:r>
          </a:p>
        </p:txBody>
      </p:sp>
      <p:sp>
        <p:nvSpPr>
          <p:cNvPr id="8" name="tx_0090"/>
          <p:cNvSpPr txBox="1"/>
          <p:nvPr/>
        </p:nvSpPr>
        <p:spPr>
          <a:xfrm>
            <a:off x="10820399" y="6419088"/>
            <a:ext cx="548640" cy="228600"/>
          </a:xfrm>
          <a:prstGeom prst="rect">
            <a:avLst/>
          </a:prstGeom>
          <a:noFill/>
        </p:spPr>
        <p:txBody>
          <a:bodyPr wrap="square" lIns="0" rIns="0" tIns="0" bIns="0">
            <a:spAutoFit/>
          </a:bodyPr>
          <a:lstStyle/>
          <a:p>
            <a:pPr algn="r">
              <a:spcAft>
                <a:spcPts val="400"/>
              </a:spcAft>
              <a:defRPr sz="1000" b="0" i="0">
                <a:solidFill>
                  <a:srgbClr val="A1A1A6"/>
                </a:solidFill>
                <a:latin typeface="Segoe UI"/>
              </a:defRPr>
            </a:pPr>
            <a:r>
              <a:t>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x_0091"/>
          <p:cNvSpPr txBox="1"/>
          <p:nvPr/>
        </p:nvSpPr>
        <p:spPr>
          <a:xfrm>
            <a:off x="822960" y="502920"/>
            <a:ext cx="10546079" cy="274320"/>
          </a:xfrm>
          <a:prstGeom prst="rect">
            <a:avLst/>
          </a:prstGeom>
          <a:noFill/>
        </p:spPr>
        <p:txBody>
          <a:bodyPr wrap="square" lIns="0" rIns="0" tIns="0" bIns="0">
            <a:spAutoFit/>
          </a:bodyPr>
          <a:lstStyle/>
          <a:p>
            <a:pPr>
              <a:spcAft>
                <a:spcPts val="400"/>
              </a:spcAft>
              <a:defRPr sz="1200" b="0" i="0">
                <a:solidFill>
                  <a:srgbClr val="0071E3"/>
                </a:solidFill>
                <a:latin typeface="Segoe UI Semibold"/>
              </a:defRPr>
            </a:pPr>
            <a:r>
              <a:t>Meet the machine</a:t>
            </a:r>
          </a:p>
        </p:txBody>
      </p:sp>
      <p:sp>
        <p:nvSpPr>
          <p:cNvPr id="3" name="tx_0092"/>
          <p:cNvSpPr txBox="1"/>
          <p:nvPr/>
        </p:nvSpPr>
        <p:spPr>
          <a:xfrm>
            <a:off x="822960" y="822960"/>
            <a:ext cx="10546079" cy="914400"/>
          </a:xfrm>
          <a:prstGeom prst="rect">
            <a:avLst/>
          </a:prstGeom>
          <a:noFill/>
        </p:spPr>
        <p:txBody>
          <a:bodyPr wrap="square" lIns="0" rIns="0" tIns="0" bIns="0">
            <a:spAutoFit/>
          </a:bodyPr>
          <a:lstStyle/>
          <a:p>
            <a:pPr>
              <a:lnSpc>
                <a:spcPct val="100000"/>
              </a:lnSpc>
              <a:spcAft>
                <a:spcPts val="400"/>
              </a:spcAft>
              <a:defRPr sz="3000" b="0" i="0">
                <a:solidFill>
                  <a:srgbClr val="1D1D1F"/>
                </a:solidFill>
                <a:latin typeface="Segoe UI Semibold"/>
              </a:defRPr>
            </a:pPr>
            <a:r>
              <a:t>Memory offload creates a new place to observe</a:t>
            </a:r>
          </a:p>
        </p:txBody>
      </p:sp>
      <p:sp>
        <p:nvSpPr>
          <p:cNvPr id="4" name="tx_0093"/>
          <p:cNvSpPr txBox="1"/>
          <p:nvPr/>
        </p:nvSpPr>
        <p:spPr>
          <a:xfrm>
            <a:off x="822960" y="6419088"/>
            <a:ext cx="9631679" cy="228600"/>
          </a:xfrm>
          <a:prstGeom prst="rect">
            <a:avLst/>
          </a:prstGeom>
          <a:noFill/>
        </p:spPr>
        <p:txBody>
          <a:bodyPr wrap="square" lIns="0" rIns="0" tIns="0" bIns="0">
            <a:spAutoFit/>
          </a:bodyPr>
          <a:lstStyle/>
          <a:p>
            <a:pPr>
              <a:spcAft>
                <a:spcPts val="400"/>
              </a:spcAft>
              <a:defRPr sz="1000" b="0" i="0">
                <a:solidFill>
                  <a:srgbClr val="86868B"/>
                </a:solidFill>
                <a:latin typeface="Segoe UI"/>
              </a:defRPr>
            </a:pPr>
            <a:r>
              <a:t>Paper §§ I–II-A · pp. 1–2</a:t>
            </a:r>
          </a:p>
        </p:txBody>
      </p:sp>
      <p:sp>
        <p:nvSpPr>
          <p:cNvPr id="5" name="tx_0094"/>
          <p:cNvSpPr txBox="1"/>
          <p:nvPr/>
        </p:nvSpPr>
        <p:spPr>
          <a:xfrm>
            <a:off x="10820399" y="6419088"/>
            <a:ext cx="548640" cy="228600"/>
          </a:xfrm>
          <a:prstGeom prst="rect">
            <a:avLst/>
          </a:prstGeom>
          <a:noFill/>
        </p:spPr>
        <p:txBody>
          <a:bodyPr wrap="square" lIns="0" rIns="0" tIns="0" bIns="0">
            <a:spAutoFit/>
          </a:bodyPr>
          <a:lstStyle/>
          <a:p>
            <a:pPr algn="r">
              <a:spcAft>
                <a:spcPts val="400"/>
              </a:spcAft>
              <a:defRPr sz="1000" b="0" i="0">
                <a:solidFill>
                  <a:srgbClr val="86868B"/>
                </a:solidFill>
                <a:latin typeface="Segoe UI"/>
              </a:defRPr>
            </a:pPr>
            <a:r>
              <a:t>6</a:t>
            </a:r>
          </a:p>
        </p:txBody>
      </p:sp>
      <p:sp>
        <p:nvSpPr>
          <p:cNvPr id="6" name="rect_0095"/>
          <p:cNvSpPr/>
          <p:nvPr/>
        </p:nvSpPr>
        <p:spPr>
          <a:xfrm>
            <a:off x="822960" y="2240280"/>
            <a:ext cx="3180079" cy="2011680"/>
          </a:xfrm>
          <a:prstGeom prst="roundRect">
            <a:avLst>
              <a:gd name="adj" fmla="val 10000"/>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x_0096"/>
          <p:cNvSpPr txBox="1"/>
          <p:nvPr/>
        </p:nvSpPr>
        <p:spPr>
          <a:xfrm>
            <a:off x="1097280" y="2514600"/>
            <a:ext cx="2631439" cy="548640"/>
          </a:xfrm>
          <a:prstGeom prst="rect">
            <a:avLst/>
          </a:prstGeom>
          <a:noFill/>
        </p:spPr>
        <p:txBody>
          <a:bodyPr wrap="square" lIns="0" rIns="0" tIns="0" bIns="0">
            <a:spAutoFit/>
          </a:bodyPr>
          <a:lstStyle/>
          <a:p>
            <a:pPr>
              <a:spcAft>
                <a:spcPts val="400"/>
              </a:spcAft>
              <a:defRPr sz="2100" b="0" i="0">
                <a:solidFill>
                  <a:srgbClr val="1D1D1F"/>
                </a:solidFill>
                <a:latin typeface="Segoe UI Semibold"/>
              </a:defRPr>
            </a:pPr>
            <a:r>
              <a:t>Common operations</a:t>
            </a:r>
          </a:p>
        </p:txBody>
      </p:sp>
      <p:sp>
        <p:nvSpPr>
          <p:cNvPr id="8" name="tx_0097"/>
          <p:cNvSpPr txBox="1"/>
          <p:nvPr/>
        </p:nvSpPr>
        <p:spPr>
          <a:xfrm>
            <a:off x="1097280" y="3108960"/>
            <a:ext cx="2631439" cy="1005840"/>
          </a:xfrm>
          <a:prstGeom prst="rect">
            <a:avLst/>
          </a:prstGeom>
          <a:noFill/>
        </p:spPr>
        <p:txBody>
          <a:bodyPr wrap="square" lIns="0" rIns="0" tIns="0" bIns="0">
            <a:spAutoFit/>
          </a:bodyPr>
          <a:lstStyle/>
          <a:p>
            <a:pPr>
              <a:lnSpc>
                <a:spcPct val="110000"/>
              </a:lnSpc>
              <a:spcAft>
                <a:spcPts val="400"/>
              </a:spcAft>
              <a:defRPr sz="1700" b="0" i="0">
                <a:solidFill>
                  <a:srgbClr val="6E6E73"/>
                </a:solidFill>
                <a:latin typeface="Segoe UI"/>
              </a:defRPr>
            </a:pPr>
            <a:r>
              <a:t>memcpy · memset</a:t>
            </a:r>
          </a:p>
          <a:p>
            <a:pPr>
              <a:lnSpc>
                <a:spcPct val="110000"/>
              </a:lnSpc>
              <a:spcAft>
                <a:spcPts val="400"/>
              </a:spcAft>
              <a:defRPr sz="1700" b="0" i="0">
                <a:solidFill>
                  <a:srgbClr val="6E6E73"/>
                </a:solidFill>
                <a:latin typeface="Segoe UI"/>
              </a:defRPr>
            </a:pPr>
            <a:r>
              <a:t>compare · checksums</a:t>
            </a:r>
          </a:p>
        </p:txBody>
      </p:sp>
      <p:cxnSp>
        <p:nvCxnSpPr>
          <p:cNvPr id="9" name="ar_0098"/>
          <p:cNvCxnSpPr/>
          <p:nvPr/>
        </p:nvCxnSpPr>
        <p:spPr>
          <a:xfrm>
            <a:off x="4094479" y="3246120"/>
            <a:ext cx="320040" cy="0"/>
          </a:xfrm>
          <a:prstGeom prst="line">
            <a:avLst/>
          </a:prstGeom>
          <a:ln w="15875">
            <a:solidFill>
              <a:srgbClr val="86868B"/>
            </a:solidFill>
            <a:tailEnd type="triangle" w="sm" len="med"/>
          </a:ln>
        </p:spPr>
        <p:style>
          <a:lnRef idx="2">
            <a:schemeClr val="accent1"/>
          </a:lnRef>
          <a:fillRef idx="0">
            <a:schemeClr val="accent1"/>
          </a:fillRef>
          <a:effectRef idx="1">
            <a:schemeClr val="accent1"/>
          </a:effectRef>
          <a:fontRef idx="minor">
            <a:schemeClr val="tx1"/>
          </a:fontRef>
        </p:style>
      </p:cxnSp>
      <p:sp>
        <p:nvSpPr>
          <p:cNvPr id="10" name="rect_0099"/>
          <p:cNvSpPr/>
          <p:nvPr/>
        </p:nvSpPr>
        <p:spPr>
          <a:xfrm>
            <a:off x="4505959" y="2240280"/>
            <a:ext cx="3180079" cy="2011680"/>
          </a:xfrm>
          <a:prstGeom prst="roundRect">
            <a:avLst>
              <a:gd name="adj" fmla="val 10000"/>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x_0100"/>
          <p:cNvSpPr txBox="1"/>
          <p:nvPr/>
        </p:nvSpPr>
        <p:spPr>
          <a:xfrm>
            <a:off x="4780279" y="2514600"/>
            <a:ext cx="2631439" cy="548640"/>
          </a:xfrm>
          <a:prstGeom prst="rect">
            <a:avLst/>
          </a:prstGeom>
          <a:noFill/>
        </p:spPr>
        <p:txBody>
          <a:bodyPr wrap="square" lIns="0" rIns="0" tIns="0" bIns="0">
            <a:spAutoFit/>
          </a:bodyPr>
          <a:lstStyle/>
          <a:p>
            <a:pPr>
              <a:spcAft>
                <a:spcPts val="400"/>
              </a:spcAft>
              <a:defRPr sz="2100" b="0" i="0">
                <a:solidFill>
                  <a:srgbClr val="1D1D1F"/>
                </a:solidFill>
                <a:latin typeface="Segoe UI Semibold"/>
              </a:defRPr>
            </a:pPr>
            <a:r>
              <a:t>DSA offload</a:t>
            </a:r>
          </a:p>
        </p:txBody>
      </p:sp>
      <p:sp>
        <p:nvSpPr>
          <p:cNvPr id="12" name="tx_0101"/>
          <p:cNvSpPr txBox="1"/>
          <p:nvPr/>
        </p:nvSpPr>
        <p:spPr>
          <a:xfrm>
            <a:off x="4780279" y="3108960"/>
            <a:ext cx="2631439" cy="1005840"/>
          </a:xfrm>
          <a:prstGeom prst="rect">
            <a:avLst/>
          </a:prstGeom>
          <a:noFill/>
        </p:spPr>
        <p:txBody>
          <a:bodyPr wrap="square" lIns="0" rIns="0" tIns="0" bIns="0">
            <a:spAutoFit/>
          </a:bodyPr>
          <a:lstStyle/>
          <a:p>
            <a:pPr>
              <a:lnSpc>
                <a:spcPct val="110000"/>
              </a:lnSpc>
              <a:spcAft>
                <a:spcPts val="400"/>
              </a:spcAft>
              <a:defRPr sz="1700" b="0" i="0">
                <a:solidFill>
                  <a:srgbClr val="6E6E73"/>
                </a:solidFill>
                <a:latin typeface="Segoe UI"/>
              </a:defRPr>
            </a:pPr>
            <a:r>
              <a:t>descriptor submission</a:t>
            </a:r>
          </a:p>
          <a:p>
            <a:pPr>
              <a:lnSpc>
                <a:spcPct val="110000"/>
              </a:lnSpc>
              <a:spcAft>
                <a:spcPts val="400"/>
              </a:spcAft>
              <a:defRPr sz="1700" b="0" i="0">
                <a:solidFill>
                  <a:srgbClr val="6E6E73"/>
                </a:solidFill>
                <a:latin typeface="Segoe UI"/>
              </a:defRPr>
            </a:pPr>
            <a:r>
              <a:t>asynchronous execution</a:t>
            </a:r>
          </a:p>
        </p:txBody>
      </p:sp>
      <p:cxnSp>
        <p:nvCxnSpPr>
          <p:cNvPr id="13" name="ar_0102"/>
          <p:cNvCxnSpPr/>
          <p:nvPr/>
        </p:nvCxnSpPr>
        <p:spPr>
          <a:xfrm>
            <a:off x="7777479" y="3246120"/>
            <a:ext cx="320040" cy="0"/>
          </a:xfrm>
          <a:prstGeom prst="line">
            <a:avLst/>
          </a:prstGeom>
          <a:ln w="15875">
            <a:solidFill>
              <a:srgbClr val="86868B"/>
            </a:solidFill>
            <a:tailEnd type="triangle" w="sm" len="med"/>
          </a:ln>
        </p:spPr>
        <p:style>
          <a:lnRef idx="2">
            <a:schemeClr val="accent1"/>
          </a:lnRef>
          <a:fillRef idx="0">
            <a:schemeClr val="accent1"/>
          </a:fillRef>
          <a:effectRef idx="1">
            <a:schemeClr val="accent1"/>
          </a:effectRef>
          <a:fontRef idx="minor">
            <a:schemeClr val="tx1"/>
          </a:fontRef>
        </p:style>
      </p:cxnSp>
      <p:sp>
        <p:nvSpPr>
          <p:cNvPr id="14" name="rect_0103"/>
          <p:cNvSpPr/>
          <p:nvPr/>
        </p:nvSpPr>
        <p:spPr>
          <a:xfrm>
            <a:off x="8188959" y="2240280"/>
            <a:ext cx="3180079" cy="2011680"/>
          </a:xfrm>
          <a:prstGeom prst="roundRect">
            <a:avLst>
              <a:gd name="adj" fmla="val 10000"/>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x_0104"/>
          <p:cNvSpPr txBox="1"/>
          <p:nvPr/>
        </p:nvSpPr>
        <p:spPr>
          <a:xfrm>
            <a:off x="8463279" y="2514600"/>
            <a:ext cx="2631439" cy="548640"/>
          </a:xfrm>
          <a:prstGeom prst="rect">
            <a:avLst/>
          </a:prstGeom>
          <a:noFill/>
        </p:spPr>
        <p:txBody>
          <a:bodyPr wrap="square" lIns="0" rIns="0" tIns="0" bIns="0">
            <a:spAutoFit/>
          </a:bodyPr>
          <a:lstStyle/>
          <a:p>
            <a:pPr>
              <a:spcAft>
                <a:spcPts val="400"/>
              </a:spcAft>
              <a:defRPr sz="2100" b="0" i="0">
                <a:solidFill>
                  <a:srgbClr val="0071E3"/>
                </a:solidFill>
                <a:latin typeface="Segoe UI Semibold"/>
              </a:defRPr>
            </a:pPr>
            <a:r>
              <a:t>Observable state</a:t>
            </a:r>
          </a:p>
        </p:txBody>
      </p:sp>
      <p:sp>
        <p:nvSpPr>
          <p:cNvPr id="16" name="tx_0105"/>
          <p:cNvSpPr txBox="1"/>
          <p:nvPr/>
        </p:nvSpPr>
        <p:spPr>
          <a:xfrm>
            <a:off x="8463279" y="3108960"/>
            <a:ext cx="2631439" cy="1005840"/>
          </a:xfrm>
          <a:prstGeom prst="rect">
            <a:avLst/>
          </a:prstGeom>
          <a:noFill/>
        </p:spPr>
        <p:txBody>
          <a:bodyPr wrap="square" lIns="0" rIns="0" tIns="0" bIns="0">
            <a:spAutoFit/>
          </a:bodyPr>
          <a:lstStyle/>
          <a:p>
            <a:pPr>
              <a:lnSpc>
                <a:spcPct val="110000"/>
              </a:lnSpc>
              <a:spcAft>
                <a:spcPts val="400"/>
              </a:spcAft>
              <a:defRPr sz="1700" b="0" i="0">
                <a:solidFill>
                  <a:srgbClr val="6E6E73"/>
                </a:solidFill>
                <a:latin typeface="Segoe UI"/>
              </a:defRPr>
            </a:pPr>
            <a:r>
              <a:t>translation cache</a:t>
            </a:r>
          </a:p>
          <a:p>
            <a:pPr>
              <a:lnSpc>
                <a:spcPct val="110000"/>
              </a:lnSpc>
              <a:spcAft>
                <a:spcPts val="400"/>
              </a:spcAft>
              <a:defRPr sz="1700" b="0" i="0">
                <a:solidFill>
                  <a:srgbClr val="6E6E73"/>
                </a:solidFill>
                <a:latin typeface="Segoe UI"/>
              </a:defRPr>
            </a:pPr>
            <a:r>
              <a:t>queue occupancy</a:t>
            </a:r>
          </a:p>
        </p:txBody>
      </p:sp>
      <p:sp>
        <p:nvSpPr>
          <p:cNvPr id="17" name="rect_0106"/>
          <p:cNvSpPr/>
          <p:nvPr/>
        </p:nvSpPr>
        <p:spPr>
          <a:xfrm>
            <a:off x="822960" y="5623560"/>
            <a:ext cx="502920" cy="41148"/>
          </a:xfrm>
          <a:prstGeom prst="rect">
            <a:avLst/>
          </a:prstGeom>
          <a:solidFill>
            <a:srgbClr val="007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x_0107"/>
          <p:cNvSpPr txBox="1"/>
          <p:nvPr/>
        </p:nvSpPr>
        <p:spPr>
          <a:xfrm>
            <a:off x="822960" y="5779008"/>
            <a:ext cx="10546079" cy="548640"/>
          </a:xfrm>
          <a:prstGeom prst="rect">
            <a:avLst/>
          </a:prstGeom>
          <a:noFill/>
        </p:spPr>
        <p:txBody>
          <a:bodyPr wrap="square" lIns="0" rIns="0" tIns="0" bIns="0">
            <a:spAutoFit/>
          </a:bodyPr>
          <a:lstStyle/>
          <a:p>
            <a:pPr>
              <a:spcAft>
                <a:spcPts val="400"/>
              </a:spcAft>
              <a:defRPr sz="2100" b="0" i="0">
                <a:solidFill>
                  <a:srgbClr val="1D1D1F"/>
                </a:solidFill>
                <a:latin typeface="Segoe UI Semibold"/>
              </a:defRPr>
            </a:pPr>
            <a:r>
              <a:t>Moving work off the CPU moves the side-channel surface with it.</a:t>
            </a:r>
          </a:p>
        </p:txBody>
      </p:sp>
    </p:spTree>
  </p:cSld>
  <p:clrMapOvr>
    <a:masterClrMapping/>
  </p:clrMapOvr>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x_0108"/>
          <p:cNvSpPr txBox="1"/>
          <p:nvPr/>
        </p:nvSpPr>
        <p:spPr>
          <a:xfrm>
            <a:off x="822960" y="502920"/>
            <a:ext cx="10546079" cy="274320"/>
          </a:xfrm>
          <a:prstGeom prst="rect">
            <a:avLst/>
          </a:prstGeom>
          <a:noFill/>
        </p:spPr>
        <p:txBody>
          <a:bodyPr wrap="square" lIns="0" rIns="0" tIns="0" bIns="0">
            <a:spAutoFit/>
          </a:bodyPr>
          <a:lstStyle/>
          <a:p>
            <a:pPr>
              <a:spcAft>
                <a:spcPts val="400"/>
              </a:spcAft>
              <a:defRPr sz="1200" b="0" i="0">
                <a:solidFill>
                  <a:srgbClr val="0071E3"/>
                </a:solidFill>
                <a:latin typeface="Segoe UI Semibold"/>
              </a:defRPr>
            </a:pPr>
            <a:r>
              <a:t>Meet the machine</a:t>
            </a:r>
          </a:p>
        </p:txBody>
      </p:sp>
      <p:sp>
        <p:nvSpPr>
          <p:cNvPr id="3" name="tx_0109"/>
          <p:cNvSpPr txBox="1"/>
          <p:nvPr/>
        </p:nvSpPr>
        <p:spPr>
          <a:xfrm>
            <a:off x="822960" y="822960"/>
            <a:ext cx="10546079" cy="914400"/>
          </a:xfrm>
          <a:prstGeom prst="rect">
            <a:avLst/>
          </a:prstGeom>
          <a:noFill/>
        </p:spPr>
        <p:txBody>
          <a:bodyPr wrap="square" lIns="0" rIns="0" tIns="0" bIns="0">
            <a:spAutoFit/>
          </a:bodyPr>
          <a:lstStyle/>
          <a:p>
            <a:pPr>
              <a:lnSpc>
                <a:spcPct val="100000"/>
              </a:lnSpc>
              <a:spcAft>
                <a:spcPts val="400"/>
              </a:spcAft>
              <a:defRPr sz="3000" b="0" i="0">
                <a:solidFill>
                  <a:srgbClr val="1D1D1F"/>
                </a:solidFill>
                <a:latin typeface="Segoe UI Semibold"/>
              </a:defRPr>
            </a:pPr>
            <a:r>
              <a:t>A DSA operation is a descriptor-driven pipeline</a:t>
            </a:r>
          </a:p>
        </p:txBody>
      </p:sp>
      <p:sp>
        <p:nvSpPr>
          <p:cNvPr id="4" name="tx_0110"/>
          <p:cNvSpPr txBox="1"/>
          <p:nvPr/>
        </p:nvSpPr>
        <p:spPr>
          <a:xfrm>
            <a:off x="822960" y="6419088"/>
            <a:ext cx="9631679" cy="228600"/>
          </a:xfrm>
          <a:prstGeom prst="rect">
            <a:avLst/>
          </a:prstGeom>
          <a:noFill/>
        </p:spPr>
        <p:txBody>
          <a:bodyPr wrap="square" lIns="0" rIns="0" tIns="0" bIns="0">
            <a:spAutoFit/>
          </a:bodyPr>
          <a:lstStyle/>
          <a:p>
            <a:pPr>
              <a:spcAft>
                <a:spcPts val="400"/>
              </a:spcAft>
              <a:defRPr sz="1000" b="0" i="0">
                <a:solidFill>
                  <a:srgbClr val="86868B"/>
                </a:solidFill>
                <a:latin typeface="Segoe UI"/>
              </a:defRPr>
            </a:pPr>
            <a:r>
              <a:t>Paper § II-A, Fig. 1 · pp. 2–3</a:t>
            </a:r>
          </a:p>
        </p:txBody>
      </p:sp>
      <p:sp>
        <p:nvSpPr>
          <p:cNvPr id="5" name="tx_0111"/>
          <p:cNvSpPr txBox="1"/>
          <p:nvPr/>
        </p:nvSpPr>
        <p:spPr>
          <a:xfrm>
            <a:off x="10820399" y="6419088"/>
            <a:ext cx="548640" cy="228600"/>
          </a:xfrm>
          <a:prstGeom prst="rect">
            <a:avLst/>
          </a:prstGeom>
          <a:noFill/>
        </p:spPr>
        <p:txBody>
          <a:bodyPr wrap="square" lIns="0" rIns="0" tIns="0" bIns="0">
            <a:spAutoFit/>
          </a:bodyPr>
          <a:lstStyle/>
          <a:p>
            <a:pPr algn="r">
              <a:spcAft>
                <a:spcPts val="400"/>
              </a:spcAft>
              <a:defRPr sz="1000" b="0" i="0">
                <a:solidFill>
                  <a:srgbClr val="86868B"/>
                </a:solidFill>
                <a:latin typeface="Segoe UI"/>
              </a:defRPr>
            </a:pPr>
            <a:r>
              <a:t>7</a:t>
            </a:r>
          </a:p>
        </p:txBody>
      </p:sp>
      <p:sp>
        <p:nvSpPr>
          <p:cNvPr id="6" name="rect_0112"/>
          <p:cNvSpPr/>
          <p:nvPr/>
        </p:nvSpPr>
        <p:spPr>
          <a:xfrm>
            <a:off x="822960" y="2057400"/>
            <a:ext cx="2259329" cy="1554480"/>
          </a:xfrm>
          <a:prstGeom prst="roundRect">
            <a:avLst>
              <a:gd name="adj" fmla="val 12941"/>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x_0113"/>
          <p:cNvSpPr txBox="1"/>
          <p:nvPr/>
        </p:nvSpPr>
        <p:spPr>
          <a:xfrm>
            <a:off x="1097280" y="2331720"/>
            <a:ext cx="1710689" cy="548640"/>
          </a:xfrm>
          <a:prstGeom prst="rect">
            <a:avLst/>
          </a:prstGeom>
          <a:noFill/>
        </p:spPr>
        <p:txBody>
          <a:bodyPr wrap="square" lIns="0" rIns="0" tIns="0" bIns="0">
            <a:spAutoFit/>
          </a:bodyPr>
          <a:lstStyle/>
          <a:p>
            <a:pPr>
              <a:spcAft>
                <a:spcPts val="400"/>
              </a:spcAft>
              <a:defRPr sz="2000" b="0" i="0">
                <a:solidFill>
                  <a:srgbClr val="1D1D1F"/>
                </a:solidFill>
                <a:latin typeface="Segoe UI Semibold"/>
              </a:defRPr>
            </a:pPr>
            <a:r>
              <a:t>Application</a:t>
            </a:r>
          </a:p>
        </p:txBody>
      </p:sp>
      <p:sp>
        <p:nvSpPr>
          <p:cNvPr id="8" name="tx_0114"/>
          <p:cNvSpPr txBox="1"/>
          <p:nvPr/>
        </p:nvSpPr>
        <p:spPr>
          <a:xfrm>
            <a:off x="1097280" y="2926080"/>
            <a:ext cx="1710689" cy="548639"/>
          </a:xfrm>
          <a:prstGeom prst="rect">
            <a:avLst/>
          </a:prstGeom>
          <a:noFill/>
        </p:spPr>
        <p:txBody>
          <a:bodyPr wrap="square" lIns="0" rIns="0" tIns="0" bIns="0">
            <a:spAutoFit/>
          </a:bodyPr>
          <a:lstStyle/>
          <a:p>
            <a:pPr>
              <a:lnSpc>
                <a:spcPct val="110000"/>
              </a:lnSpc>
              <a:spcAft>
                <a:spcPts val="400"/>
              </a:spcAft>
              <a:defRPr sz="1700" b="0" i="0">
                <a:solidFill>
                  <a:srgbClr val="6E6E73"/>
                </a:solidFill>
                <a:latin typeface="Segoe UI"/>
              </a:defRPr>
            </a:pPr>
            <a:r>
              <a:t>prepare descriptor</a:t>
            </a:r>
          </a:p>
        </p:txBody>
      </p:sp>
      <p:cxnSp>
        <p:nvCxnSpPr>
          <p:cNvPr id="9" name="ar_0115"/>
          <p:cNvCxnSpPr/>
          <p:nvPr/>
        </p:nvCxnSpPr>
        <p:spPr>
          <a:xfrm>
            <a:off x="3173729" y="2834640"/>
            <a:ext cx="320040" cy="0"/>
          </a:xfrm>
          <a:prstGeom prst="line">
            <a:avLst/>
          </a:prstGeom>
          <a:ln w="15875">
            <a:solidFill>
              <a:srgbClr val="86868B"/>
            </a:solidFill>
            <a:tailEnd type="triangle" w="sm" len="med"/>
          </a:ln>
        </p:spPr>
        <p:style>
          <a:lnRef idx="2">
            <a:schemeClr val="accent1"/>
          </a:lnRef>
          <a:fillRef idx="0">
            <a:schemeClr val="accent1"/>
          </a:fillRef>
          <a:effectRef idx="1">
            <a:schemeClr val="accent1"/>
          </a:effectRef>
          <a:fontRef idx="minor">
            <a:schemeClr val="tx1"/>
          </a:fontRef>
        </p:style>
      </p:cxnSp>
      <p:sp>
        <p:nvSpPr>
          <p:cNvPr id="10" name="rect_0116"/>
          <p:cNvSpPr/>
          <p:nvPr/>
        </p:nvSpPr>
        <p:spPr>
          <a:xfrm>
            <a:off x="3585209" y="2057400"/>
            <a:ext cx="2259329" cy="1554480"/>
          </a:xfrm>
          <a:prstGeom prst="roundRect">
            <a:avLst>
              <a:gd name="adj" fmla="val 12941"/>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x_0117"/>
          <p:cNvSpPr txBox="1"/>
          <p:nvPr/>
        </p:nvSpPr>
        <p:spPr>
          <a:xfrm>
            <a:off x="3859529" y="2331720"/>
            <a:ext cx="1710689" cy="548640"/>
          </a:xfrm>
          <a:prstGeom prst="rect">
            <a:avLst/>
          </a:prstGeom>
          <a:noFill/>
        </p:spPr>
        <p:txBody>
          <a:bodyPr wrap="square" lIns="0" rIns="0" tIns="0" bIns="0">
            <a:spAutoFit/>
          </a:bodyPr>
          <a:lstStyle/>
          <a:p>
            <a:pPr>
              <a:spcAft>
                <a:spcPts val="400"/>
              </a:spcAft>
              <a:defRPr sz="2000" b="0" i="0">
                <a:solidFill>
                  <a:srgbClr val="1D1D1F"/>
                </a:solidFill>
                <a:latin typeface="Segoe UI Semibold"/>
              </a:defRPr>
            </a:pPr>
            <a:r>
              <a:t>Portal + WQ</a:t>
            </a:r>
          </a:p>
        </p:txBody>
      </p:sp>
      <p:sp>
        <p:nvSpPr>
          <p:cNvPr id="12" name="tx_0118"/>
          <p:cNvSpPr txBox="1"/>
          <p:nvPr/>
        </p:nvSpPr>
        <p:spPr>
          <a:xfrm>
            <a:off x="3859529" y="2926080"/>
            <a:ext cx="1710689" cy="548639"/>
          </a:xfrm>
          <a:prstGeom prst="rect">
            <a:avLst/>
          </a:prstGeom>
          <a:noFill/>
        </p:spPr>
        <p:txBody>
          <a:bodyPr wrap="square" lIns="0" rIns="0" tIns="0" bIns="0">
            <a:spAutoFit/>
          </a:bodyPr>
          <a:lstStyle/>
          <a:p>
            <a:pPr>
              <a:lnSpc>
                <a:spcPct val="110000"/>
              </a:lnSpc>
              <a:spcAft>
                <a:spcPts val="400"/>
              </a:spcAft>
              <a:defRPr sz="1700" b="0" i="0">
                <a:solidFill>
                  <a:srgbClr val="6E6E73"/>
                </a:solidFill>
                <a:latin typeface="Segoe UI"/>
              </a:defRPr>
            </a:pPr>
            <a:r>
              <a:t>submit / buffer</a:t>
            </a:r>
          </a:p>
        </p:txBody>
      </p:sp>
      <p:cxnSp>
        <p:nvCxnSpPr>
          <p:cNvPr id="13" name="ar_0119"/>
          <p:cNvCxnSpPr/>
          <p:nvPr/>
        </p:nvCxnSpPr>
        <p:spPr>
          <a:xfrm>
            <a:off x="5935979" y="2834640"/>
            <a:ext cx="320040" cy="0"/>
          </a:xfrm>
          <a:prstGeom prst="line">
            <a:avLst/>
          </a:prstGeom>
          <a:ln w="15875">
            <a:solidFill>
              <a:srgbClr val="86868B"/>
            </a:solidFill>
            <a:tailEnd type="triangle" w="sm" len="med"/>
          </a:ln>
        </p:spPr>
        <p:style>
          <a:lnRef idx="2">
            <a:schemeClr val="accent1"/>
          </a:lnRef>
          <a:fillRef idx="0">
            <a:schemeClr val="accent1"/>
          </a:fillRef>
          <a:effectRef idx="1">
            <a:schemeClr val="accent1"/>
          </a:effectRef>
          <a:fontRef idx="minor">
            <a:schemeClr val="tx1"/>
          </a:fontRef>
        </p:style>
      </p:cxnSp>
      <p:sp>
        <p:nvSpPr>
          <p:cNvPr id="14" name="rect_0120"/>
          <p:cNvSpPr/>
          <p:nvPr/>
        </p:nvSpPr>
        <p:spPr>
          <a:xfrm>
            <a:off x="6347459" y="2057400"/>
            <a:ext cx="2259329" cy="1554480"/>
          </a:xfrm>
          <a:prstGeom prst="roundRect">
            <a:avLst>
              <a:gd name="adj" fmla="val 12941"/>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x_0121"/>
          <p:cNvSpPr txBox="1"/>
          <p:nvPr/>
        </p:nvSpPr>
        <p:spPr>
          <a:xfrm>
            <a:off x="6621779" y="2331720"/>
            <a:ext cx="1710689" cy="548640"/>
          </a:xfrm>
          <a:prstGeom prst="rect">
            <a:avLst/>
          </a:prstGeom>
          <a:noFill/>
        </p:spPr>
        <p:txBody>
          <a:bodyPr wrap="square" lIns="0" rIns="0" tIns="0" bIns="0">
            <a:spAutoFit/>
          </a:bodyPr>
          <a:lstStyle/>
          <a:p>
            <a:pPr>
              <a:spcAft>
                <a:spcPts val="400"/>
              </a:spcAft>
              <a:defRPr sz="2000" b="0" i="0">
                <a:solidFill>
                  <a:srgbClr val="1D1D1F"/>
                </a:solidFill>
                <a:latin typeface="Segoe UI Semibold"/>
              </a:defRPr>
            </a:pPr>
            <a:r>
              <a:t>DSA engine</a:t>
            </a:r>
          </a:p>
        </p:txBody>
      </p:sp>
      <p:sp>
        <p:nvSpPr>
          <p:cNvPr id="16" name="tx_0122"/>
          <p:cNvSpPr txBox="1"/>
          <p:nvPr/>
        </p:nvSpPr>
        <p:spPr>
          <a:xfrm>
            <a:off x="6621779" y="2926080"/>
            <a:ext cx="1710689" cy="548639"/>
          </a:xfrm>
          <a:prstGeom prst="rect">
            <a:avLst/>
          </a:prstGeom>
          <a:noFill/>
        </p:spPr>
        <p:txBody>
          <a:bodyPr wrap="square" lIns="0" rIns="0" tIns="0" bIns="0">
            <a:spAutoFit/>
          </a:bodyPr>
          <a:lstStyle/>
          <a:p>
            <a:pPr>
              <a:lnSpc>
                <a:spcPct val="110000"/>
              </a:lnSpc>
              <a:spcAft>
                <a:spcPts val="400"/>
              </a:spcAft>
              <a:defRPr sz="1700" b="0" i="0">
                <a:solidFill>
                  <a:srgbClr val="6E6E73"/>
                </a:solidFill>
                <a:latin typeface="Segoe UI"/>
              </a:defRPr>
            </a:pPr>
            <a:r>
              <a:t>decode → write</a:t>
            </a:r>
          </a:p>
        </p:txBody>
      </p:sp>
      <p:cxnSp>
        <p:nvCxnSpPr>
          <p:cNvPr id="17" name="ar_0123"/>
          <p:cNvCxnSpPr/>
          <p:nvPr/>
        </p:nvCxnSpPr>
        <p:spPr>
          <a:xfrm>
            <a:off x="8698229" y="2834640"/>
            <a:ext cx="320040" cy="0"/>
          </a:xfrm>
          <a:prstGeom prst="line">
            <a:avLst/>
          </a:prstGeom>
          <a:ln w="15875">
            <a:solidFill>
              <a:srgbClr val="86868B"/>
            </a:solidFill>
            <a:tailEnd type="triangle" w="sm" len="med"/>
          </a:ln>
        </p:spPr>
        <p:style>
          <a:lnRef idx="2">
            <a:schemeClr val="accent1"/>
          </a:lnRef>
          <a:fillRef idx="0">
            <a:schemeClr val="accent1"/>
          </a:fillRef>
          <a:effectRef idx="1">
            <a:schemeClr val="accent1"/>
          </a:effectRef>
          <a:fontRef idx="minor">
            <a:schemeClr val="tx1"/>
          </a:fontRef>
        </p:style>
      </p:cxnSp>
      <p:sp>
        <p:nvSpPr>
          <p:cNvPr id="18" name="rect_0124"/>
          <p:cNvSpPr/>
          <p:nvPr/>
        </p:nvSpPr>
        <p:spPr>
          <a:xfrm>
            <a:off x="9109709" y="2057400"/>
            <a:ext cx="2259329" cy="1554480"/>
          </a:xfrm>
          <a:prstGeom prst="roundRect">
            <a:avLst>
              <a:gd name="adj" fmla="val 12941"/>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x_0125"/>
          <p:cNvSpPr txBox="1"/>
          <p:nvPr/>
        </p:nvSpPr>
        <p:spPr>
          <a:xfrm>
            <a:off x="9384029" y="2331720"/>
            <a:ext cx="1710689" cy="548640"/>
          </a:xfrm>
          <a:prstGeom prst="rect">
            <a:avLst/>
          </a:prstGeom>
          <a:noFill/>
        </p:spPr>
        <p:txBody>
          <a:bodyPr wrap="square" lIns="0" rIns="0" tIns="0" bIns="0">
            <a:spAutoFit/>
          </a:bodyPr>
          <a:lstStyle/>
          <a:p>
            <a:pPr>
              <a:spcAft>
                <a:spcPts val="400"/>
              </a:spcAft>
              <a:defRPr sz="2000" b="0" i="0">
                <a:solidFill>
                  <a:srgbClr val="1D1D1F"/>
                </a:solidFill>
                <a:latin typeface="Segoe UI Semibold"/>
              </a:defRPr>
            </a:pPr>
            <a:r>
              <a:t>Completion</a:t>
            </a:r>
          </a:p>
        </p:txBody>
      </p:sp>
      <p:sp>
        <p:nvSpPr>
          <p:cNvPr id="20" name="tx_0126"/>
          <p:cNvSpPr txBox="1"/>
          <p:nvPr/>
        </p:nvSpPr>
        <p:spPr>
          <a:xfrm>
            <a:off x="9384029" y="2926080"/>
            <a:ext cx="1710689" cy="548639"/>
          </a:xfrm>
          <a:prstGeom prst="rect">
            <a:avLst/>
          </a:prstGeom>
          <a:noFill/>
        </p:spPr>
        <p:txBody>
          <a:bodyPr wrap="square" lIns="0" rIns="0" tIns="0" bIns="0">
            <a:spAutoFit/>
          </a:bodyPr>
          <a:lstStyle/>
          <a:p>
            <a:pPr>
              <a:lnSpc>
                <a:spcPct val="110000"/>
              </a:lnSpc>
              <a:spcAft>
                <a:spcPts val="400"/>
              </a:spcAft>
              <a:defRPr sz="1700" b="0" i="0">
                <a:solidFill>
                  <a:srgbClr val="6E6E73"/>
                </a:solidFill>
                <a:latin typeface="Segoe UI"/>
              </a:defRPr>
            </a:pPr>
            <a:r>
              <a:t>notify CPU</a:t>
            </a:r>
          </a:p>
        </p:txBody>
      </p:sp>
      <p:sp>
        <p:nvSpPr>
          <p:cNvPr id="21" name="tx_0127"/>
          <p:cNvSpPr txBox="1"/>
          <p:nvPr/>
        </p:nvSpPr>
        <p:spPr>
          <a:xfrm>
            <a:off x="822960" y="3886200"/>
            <a:ext cx="10546079" cy="822960"/>
          </a:xfrm>
          <a:prstGeom prst="rect">
            <a:avLst/>
          </a:prstGeom>
          <a:noFill/>
        </p:spPr>
        <p:txBody>
          <a:bodyPr wrap="square" lIns="0" rIns="0" tIns="0" bIns="0">
            <a:spAutoFit/>
          </a:bodyPr>
          <a:lstStyle/>
          <a:p>
            <a:pPr algn="ctr">
              <a:lnSpc>
                <a:spcPct val="120000"/>
              </a:lnSpc>
              <a:spcAft>
                <a:spcPts val="400"/>
              </a:spcAft>
              <a:defRPr sz="1800" b="0" i="0">
                <a:solidFill>
                  <a:srgbClr val="1D1D1F"/>
                </a:solidFill>
                <a:latin typeface="Segoe UI Semibold"/>
              </a:defRPr>
            </a:pPr>
            <a:r>
              <a:t>The attacker owns two handles —</a:t>
            </a:r>
          </a:p>
          <a:p>
            <a:pPr algn="ctr">
              <a:lnSpc>
                <a:spcPct val="120000"/>
              </a:lnSpc>
              <a:spcAft>
                <a:spcPts val="400"/>
              </a:spcAft>
              <a:defRPr sz="1800" b="0" i="0">
                <a:solidFill>
                  <a:srgbClr val="1D1D1F"/>
                </a:solidFill>
                <a:latin typeface="Segoe UI Semibold"/>
              </a:defRPr>
            </a:pPr>
            <a:r>
              <a:t>“was my submission accepted?”   ·   “how long did my completion take?”</a:t>
            </a:r>
          </a:p>
        </p:txBody>
      </p:sp>
      <p:sp>
        <p:nvSpPr>
          <p:cNvPr id="22" name="rect_0128"/>
          <p:cNvSpPr/>
          <p:nvPr/>
        </p:nvSpPr>
        <p:spPr>
          <a:xfrm>
            <a:off x="822960" y="5212080"/>
            <a:ext cx="502920" cy="41148"/>
          </a:xfrm>
          <a:prstGeom prst="rect">
            <a:avLst/>
          </a:prstGeom>
          <a:solidFill>
            <a:srgbClr val="007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x_0129"/>
          <p:cNvSpPr txBox="1"/>
          <p:nvPr/>
        </p:nvSpPr>
        <p:spPr>
          <a:xfrm>
            <a:off x="822960" y="5367528"/>
            <a:ext cx="10546079" cy="548640"/>
          </a:xfrm>
          <a:prstGeom prst="rect">
            <a:avLst/>
          </a:prstGeom>
          <a:noFill/>
        </p:spPr>
        <p:txBody>
          <a:bodyPr wrap="square" lIns="0" rIns="0" tIns="0" bIns="0">
            <a:spAutoFit/>
          </a:bodyPr>
          <a:lstStyle/>
          <a:p>
            <a:pPr>
              <a:spcAft>
                <a:spcPts val="400"/>
              </a:spcAft>
              <a:defRPr sz="2100" b="0" i="0">
                <a:solidFill>
                  <a:srgbClr val="1D1D1F"/>
                </a:solidFill>
                <a:latin typeface="Segoe UI Semibold"/>
              </a:defRPr>
            </a:pPr>
            <a:r>
              <a:t>Observe request acceptance, or observe how long completion takes.</a:t>
            </a:r>
          </a:p>
        </p:txBody>
      </p:sp>
    </p:spTree>
  </p:cSld>
  <p:clrMapOvr>
    <a:masterClrMapping/>
  </p:clrMapOvr>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x_0130"/>
          <p:cNvSpPr txBox="1"/>
          <p:nvPr/>
        </p:nvSpPr>
        <p:spPr>
          <a:xfrm>
            <a:off x="822960" y="502920"/>
            <a:ext cx="10546079" cy="274320"/>
          </a:xfrm>
          <a:prstGeom prst="rect">
            <a:avLst/>
          </a:prstGeom>
          <a:noFill/>
        </p:spPr>
        <p:txBody>
          <a:bodyPr wrap="square" lIns="0" rIns="0" tIns="0" bIns="0">
            <a:spAutoFit/>
          </a:bodyPr>
          <a:lstStyle/>
          <a:p>
            <a:pPr>
              <a:spcAft>
                <a:spcPts val="400"/>
              </a:spcAft>
              <a:defRPr sz="1200" b="0" i="0">
                <a:solidFill>
                  <a:srgbClr val="0071E3"/>
                </a:solidFill>
                <a:latin typeface="Segoe UI Semibold"/>
              </a:defRPr>
            </a:pPr>
            <a:r>
              <a:t>Meet the machine</a:t>
            </a:r>
          </a:p>
        </p:txBody>
      </p:sp>
      <p:sp>
        <p:nvSpPr>
          <p:cNvPr id="3" name="tx_0131"/>
          <p:cNvSpPr txBox="1"/>
          <p:nvPr/>
        </p:nvSpPr>
        <p:spPr>
          <a:xfrm>
            <a:off x="822960" y="822960"/>
            <a:ext cx="10546079" cy="914400"/>
          </a:xfrm>
          <a:prstGeom prst="rect">
            <a:avLst/>
          </a:prstGeom>
          <a:noFill/>
        </p:spPr>
        <p:txBody>
          <a:bodyPr wrap="square" lIns="0" rIns="0" tIns="0" bIns="0">
            <a:spAutoFit/>
          </a:bodyPr>
          <a:lstStyle/>
          <a:p>
            <a:pPr>
              <a:lnSpc>
                <a:spcPct val="100000"/>
              </a:lnSpc>
              <a:spcAft>
                <a:spcPts val="400"/>
              </a:spcAft>
              <a:defRPr sz="3000" b="0" i="0">
                <a:solidFill>
                  <a:srgbClr val="1D1D1F"/>
                </a:solidFill>
                <a:latin typeface="Segoe UI Semibold"/>
              </a:defRPr>
            </a:pPr>
            <a:r>
              <a:t>The device keeps its own translation cache</a:t>
            </a:r>
          </a:p>
        </p:txBody>
      </p:sp>
      <p:sp>
        <p:nvSpPr>
          <p:cNvPr id="4" name="tx_0132"/>
          <p:cNvSpPr txBox="1"/>
          <p:nvPr/>
        </p:nvSpPr>
        <p:spPr>
          <a:xfrm>
            <a:off x="822960" y="6419088"/>
            <a:ext cx="9631679" cy="228600"/>
          </a:xfrm>
          <a:prstGeom prst="rect">
            <a:avLst/>
          </a:prstGeom>
          <a:noFill/>
        </p:spPr>
        <p:txBody>
          <a:bodyPr wrap="square" lIns="0" rIns="0" tIns="0" bIns="0">
            <a:spAutoFit/>
          </a:bodyPr>
          <a:lstStyle/>
          <a:p>
            <a:pPr>
              <a:spcAft>
                <a:spcPts val="400"/>
              </a:spcAft>
              <a:defRPr sz="1000" b="0" i="0">
                <a:solidFill>
                  <a:srgbClr val="86868B"/>
                </a:solidFill>
                <a:latin typeface="Segoe UI"/>
              </a:defRPr>
            </a:pPr>
            <a:r>
              <a:t>Paper § II-B, Fig. 1 · pp. 2–3</a:t>
            </a:r>
          </a:p>
        </p:txBody>
      </p:sp>
      <p:sp>
        <p:nvSpPr>
          <p:cNvPr id="5" name="tx_0133"/>
          <p:cNvSpPr txBox="1"/>
          <p:nvPr/>
        </p:nvSpPr>
        <p:spPr>
          <a:xfrm>
            <a:off x="10820399" y="6419088"/>
            <a:ext cx="548640" cy="228600"/>
          </a:xfrm>
          <a:prstGeom prst="rect">
            <a:avLst/>
          </a:prstGeom>
          <a:noFill/>
        </p:spPr>
        <p:txBody>
          <a:bodyPr wrap="square" lIns="0" rIns="0" tIns="0" bIns="0">
            <a:spAutoFit/>
          </a:bodyPr>
          <a:lstStyle/>
          <a:p>
            <a:pPr algn="r">
              <a:spcAft>
                <a:spcPts val="400"/>
              </a:spcAft>
              <a:defRPr sz="1000" b="0" i="0">
                <a:solidFill>
                  <a:srgbClr val="86868B"/>
                </a:solidFill>
                <a:latin typeface="Segoe UI"/>
              </a:defRPr>
            </a:pPr>
            <a:r>
              <a:t>8</a:t>
            </a:r>
          </a:p>
        </p:txBody>
      </p:sp>
      <p:sp>
        <p:nvSpPr>
          <p:cNvPr id="6" name="rect_0134"/>
          <p:cNvSpPr/>
          <p:nvPr/>
        </p:nvSpPr>
        <p:spPr>
          <a:xfrm>
            <a:off x="822960" y="2057400"/>
            <a:ext cx="3180079" cy="1554480"/>
          </a:xfrm>
          <a:prstGeom prst="roundRect">
            <a:avLst>
              <a:gd name="adj" fmla="val 12941"/>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x_0135"/>
          <p:cNvSpPr txBox="1"/>
          <p:nvPr/>
        </p:nvSpPr>
        <p:spPr>
          <a:xfrm>
            <a:off x="1097280" y="2331720"/>
            <a:ext cx="2631439" cy="548640"/>
          </a:xfrm>
          <a:prstGeom prst="rect">
            <a:avLst/>
          </a:prstGeom>
          <a:noFill/>
        </p:spPr>
        <p:txBody>
          <a:bodyPr wrap="square" lIns="0" rIns="0" tIns="0" bIns="0">
            <a:spAutoFit/>
          </a:bodyPr>
          <a:lstStyle/>
          <a:p>
            <a:pPr>
              <a:spcAft>
                <a:spcPts val="400"/>
              </a:spcAft>
              <a:defRPr sz="2100" b="0" i="0">
                <a:solidFill>
                  <a:srgbClr val="1D1D1F"/>
                </a:solidFill>
                <a:latin typeface="Segoe UI Semibold"/>
              </a:defRPr>
            </a:pPr>
            <a:r>
              <a:t>Device request</a:t>
            </a:r>
          </a:p>
        </p:txBody>
      </p:sp>
      <p:sp>
        <p:nvSpPr>
          <p:cNvPr id="8" name="tx_0136"/>
          <p:cNvSpPr txBox="1"/>
          <p:nvPr/>
        </p:nvSpPr>
        <p:spPr>
          <a:xfrm>
            <a:off x="1097280" y="2926080"/>
            <a:ext cx="2631439" cy="548639"/>
          </a:xfrm>
          <a:prstGeom prst="rect">
            <a:avLst/>
          </a:prstGeom>
          <a:noFill/>
        </p:spPr>
        <p:txBody>
          <a:bodyPr wrap="square" lIns="0" rIns="0" tIns="0" bIns="0">
            <a:spAutoFit/>
          </a:bodyPr>
          <a:lstStyle/>
          <a:p>
            <a:pPr>
              <a:lnSpc>
                <a:spcPct val="110000"/>
              </a:lnSpc>
              <a:spcAft>
                <a:spcPts val="400"/>
              </a:spcAft>
              <a:defRPr sz="1700" b="0" i="0">
                <a:solidFill>
                  <a:srgbClr val="6E6E73"/>
                </a:solidFill>
                <a:latin typeface="Segoe UI"/>
              </a:defRPr>
            </a:pPr>
            <a:r>
              <a:t>virtual address + PASID</a:t>
            </a:r>
          </a:p>
        </p:txBody>
      </p:sp>
      <p:cxnSp>
        <p:nvCxnSpPr>
          <p:cNvPr id="9" name="ar_0137"/>
          <p:cNvCxnSpPr/>
          <p:nvPr/>
        </p:nvCxnSpPr>
        <p:spPr>
          <a:xfrm>
            <a:off x="4094479" y="2834640"/>
            <a:ext cx="320040" cy="0"/>
          </a:xfrm>
          <a:prstGeom prst="line">
            <a:avLst/>
          </a:prstGeom>
          <a:ln w="15875">
            <a:solidFill>
              <a:srgbClr val="86868B"/>
            </a:solidFill>
            <a:tailEnd type="triangle" w="sm" len="med"/>
          </a:ln>
        </p:spPr>
        <p:style>
          <a:lnRef idx="2">
            <a:schemeClr val="accent1"/>
          </a:lnRef>
          <a:fillRef idx="0">
            <a:schemeClr val="accent1"/>
          </a:fillRef>
          <a:effectRef idx="1">
            <a:schemeClr val="accent1"/>
          </a:effectRef>
          <a:fontRef idx="minor">
            <a:schemeClr val="tx1"/>
          </a:fontRef>
        </p:style>
      </p:cxnSp>
      <p:sp>
        <p:nvSpPr>
          <p:cNvPr id="10" name="rect_0138"/>
          <p:cNvSpPr/>
          <p:nvPr/>
        </p:nvSpPr>
        <p:spPr>
          <a:xfrm>
            <a:off x="4505959" y="2057400"/>
            <a:ext cx="3180079" cy="1554480"/>
          </a:xfrm>
          <a:prstGeom prst="roundRect">
            <a:avLst>
              <a:gd name="adj" fmla="val 12941"/>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x_0139"/>
          <p:cNvSpPr txBox="1"/>
          <p:nvPr/>
        </p:nvSpPr>
        <p:spPr>
          <a:xfrm>
            <a:off x="4780279" y="2331720"/>
            <a:ext cx="2631439" cy="548640"/>
          </a:xfrm>
          <a:prstGeom prst="rect">
            <a:avLst/>
          </a:prstGeom>
          <a:noFill/>
        </p:spPr>
        <p:txBody>
          <a:bodyPr wrap="square" lIns="0" rIns="0" tIns="0" bIns="0">
            <a:spAutoFit/>
          </a:bodyPr>
          <a:lstStyle/>
          <a:p>
            <a:pPr>
              <a:spcAft>
                <a:spcPts val="400"/>
              </a:spcAft>
              <a:defRPr sz="2100" b="0" i="0">
                <a:solidFill>
                  <a:srgbClr val="1D1D1F"/>
                </a:solidFill>
                <a:latin typeface="Segoe UI Semibold"/>
              </a:defRPr>
            </a:pPr>
            <a:r>
              <a:t>DevTLB / ATC</a:t>
            </a:r>
          </a:p>
        </p:txBody>
      </p:sp>
      <p:sp>
        <p:nvSpPr>
          <p:cNvPr id="12" name="tx_0140"/>
          <p:cNvSpPr txBox="1"/>
          <p:nvPr/>
        </p:nvSpPr>
        <p:spPr>
          <a:xfrm>
            <a:off x="4780279" y="2926080"/>
            <a:ext cx="2631439" cy="548639"/>
          </a:xfrm>
          <a:prstGeom prst="rect">
            <a:avLst/>
          </a:prstGeom>
          <a:noFill/>
        </p:spPr>
        <p:txBody>
          <a:bodyPr wrap="square" lIns="0" rIns="0" tIns="0" bIns="0">
            <a:spAutoFit/>
          </a:bodyPr>
          <a:lstStyle/>
          <a:p>
            <a:pPr>
              <a:lnSpc>
                <a:spcPct val="110000"/>
              </a:lnSpc>
              <a:spcAft>
                <a:spcPts val="400"/>
              </a:spcAft>
              <a:defRPr sz="1700" b="0" i="0">
                <a:solidFill>
                  <a:srgbClr val="6E6E73"/>
                </a:solidFill>
                <a:latin typeface="Segoe UI"/>
              </a:defRPr>
            </a:pPr>
            <a:r>
              <a:t>hit → reuse translation</a:t>
            </a:r>
          </a:p>
        </p:txBody>
      </p:sp>
      <p:cxnSp>
        <p:nvCxnSpPr>
          <p:cNvPr id="13" name="ar_0141"/>
          <p:cNvCxnSpPr/>
          <p:nvPr/>
        </p:nvCxnSpPr>
        <p:spPr>
          <a:xfrm>
            <a:off x="7777479" y="2834640"/>
            <a:ext cx="320040" cy="0"/>
          </a:xfrm>
          <a:prstGeom prst="line">
            <a:avLst/>
          </a:prstGeom>
          <a:ln w="15875">
            <a:solidFill>
              <a:srgbClr val="86868B"/>
            </a:solidFill>
            <a:tailEnd type="triangle" w="sm" len="med"/>
          </a:ln>
        </p:spPr>
        <p:style>
          <a:lnRef idx="2">
            <a:schemeClr val="accent1"/>
          </a:lnRef>
          <a:fillRef idx="0">
            <a:schemeClr val="accent1"/>
          </a:fillRef>
          <a:effectRef idx="1">
            <a:schemeClr val="accent1"/>
          </a:effectRef>
          <a:fontRef idx="minor">
            <a:schemeClr val="tx1"/>
          </a:fontRef>
        </p:style>
      </p:cxnSp>
      <p:sp>
        <p:nvSpPr>
          <p:cNvPr id="14" name="rect_0142"/>
          <p:cNvSpPr/>
          <p:nvPr/>
        </p:nvSpPr>
        <p:spPr>
          <a:xfrm>
            <a:off x="8188959" y="2057400"/>
            <a:ext cx="3180079" cy="1554480"/>
          </a:xfrm>
          <a:prstGeom prst="roundRect">
            <a:avLst>
              <a:gd name="adj" fmla="val 12941"/>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x_0143"/>
          <p:cNvSpPr txBox="1"/>
          <p:nvPr/>
        </p:nvSpPr>
        <p:spPr>
          <a:xfrm>
            <a:off x="8463279" y="2331720"/>
            <a:ext cx="2631439" cy="548640"/>
          </a:xfrm>
          <a:prstGeom prst="rect">
            <a:avLst/>
          </a:prstGeom>
          <a:noFill/>
        </p:spPr>
        <p:txBody>
          <a:bodyPr wrap="square" lIns="0" rIns="0" tIns="0" bIns="0">
            <a:spAutoFit/>
          </a:bodyPr>
          <a:lstStyle/>
          <a:p>
            <a:pPr>
              <a:spcAft>
                <a:spcPts val="400"/>
              </a:spcAft>
              <a:defRPr sz="2100" b="0" i="0">
                <a:solidFill>
                  <a:srgbClr val="1D1D1F"/>
                </a:solidFill>
                <a:latin typeface="Segoe UI Semibold"/>
              </a:defRPr>
            </a:pPr>
            <a:r>
              <a:t>Host memory</a:t>
            </a:r>
          </a:p>
        </p:txBody>
      </p:sp>
      <p:sp>
        <p:nvSpPr>
          <p:cNvPr id="16" name="tx_0144"/>
          <p:cNvSpPr txBox="1"/>
          <p:nvPr/>
        </p:nvSpPr>
        <p:spPr>
          <a:xfrm>
            <a:off x="8463279" y="2926080"/>
            <a:ext cx="2631439" cy="548639"/>
          </a:xfrm>
          <a:prstGeom prst="rect">
            <a:avLst/>
          </a:prstGeom>
          <a:noFill/>
        </p:spPr>
        <p:txBody>
          <a:bodyPr wrap="square" lIns="0" rIns="0" tIns="0" bIns="0">
            <a:spAutoFit/>
          </a:bodyPr>
          <a:lstStyle/>
          <a:p>
            <a:pPr>
              <a:lnSpc>
                <a:spcPct val="110000"/>
              </a:lnSpc>
              <a:spcAft>
                <a:spcPts val="400"/>
              </a:spcAft>
              <a:defRPr sz="1700" b="0" i="0">
                <a:solidFill>
                  <a:srgbClr val="6E6E73"/>
                </a:solidFill>
                <a:latin typeface="Segoe UI"/>
              </a:defRPr>
            </a:pPr>
            <a:r>
              <a:t>physical transaction</a:t>
            </a:r>
          </a:p>
        </p:txBody>
      </p:sp>
      <p:sp>
        <p:nvSpPr>
          <p:cNvPr id="17" name="tx_0145"/>
          <p:cNvSpPr txBox="1"/>
          <p:nvPr/>
        </p:nvSpPr>
        <p:spPr>
          <a:xfrm>
            <a:off x="822960" y="3977639"/>
            <a:ext cx="10546079" cy="457200"/>
          </a:xfrm>
          <a:prstGeom prst="rect">
            <a:avLst/>
          </a:prstGeom>
          <a:noFill/>
        </p:spPr>
        <p:txBody>
          <a:bodyPr wrap="square" lIns="0" rIns="0" tIns="0" bIns="0">
            <a:spAutoFit/>
          </a:bodyPr>
          <a:lstStyle/>
          <a:p>
            <a:pPr algn="ctr">
              <a:spcAft>
                <a:spcPts val="400"/>
              </a:spcAft>
              <a:defRPr sz="1800" b="0" i="0">
                <a:solidFill>
                  <a:srgbClr val="D70015"/>
                </a:solidFill>
                <a:latin typeface="Segoe UI Semibold"/>
              </a:defRPr>
            </a:pPr>
            <a:r>
              <a:t>Miss  →  Translation Agent  →  page-table walk</a:t>
            </a:r>
          </a:p>
        </p:txBody>
      </p:sp>
      <p:sp>
        <p:nvSpPr>
          <p:cNvPr id="18" name="rect_0146"/>
          <p:cNvSpPr/>
          <p:nvPr/>
        </p:nvSpPr>
        <p:spPr>
          <a:xfrm>
            <a:off x="822960" y="5120640"/>
            <a:ext cx="502920" cy="41148"/>
          </a:xfrm>
          <a:prstGeom prst="rect">
            <a:avLst/>
          </a:prstGeom>
          <a:solidFill>
            <a:srgbClr val="007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x_0147"/>
          <p:cNvSpPr txBox="1"/>
          <p:nvPr/>
        </p:nvSpPr>
        <p:spPr>
          <a:xfrm>
            <a:off x="822960" y="5276088"/>
            <a:ext cx="10546079" cy="548640"/>
          </a:xfrm>
          <a:prstGeom prst="rect">
            <a:avLst/>
          </a:prstGeom>
          <a:noFill/>
        </p:spPr>
        <p:txBody>
          <a:bodyPr wrap="square" lIns="0" rIns="0" tIns="0" bIns="0">
            <a:spAutoFit/>
          </a:bodyPr>
          <a:lstStyle/>
          <a:p>
            <a:pPr>
              <a:spcAft>
                <a:spcPts val="400"/>
              </a:spcAft>
              <a:defRPr sz="2100" b="0" i="0">
                <a:solidFill>
                  <a:srgbClr val="1D1D1F"/>
                </a:solidFill>
                <a:latin typeface="Segoe UI Semibold"/>
              </a:defRPr>
            </a:pPr>
            <a:r>
              <a:t>A cached translation stays locked — but its replacement leaks activity.</a:t>
            </a:r>
          </a:p>
        </p:txBody>
      </p:sp>
    </p:spTree>
  </p:cSld>
  <p:clrMapOvr>
    <a:masterClrMapping/>
  </p:clrMapOvr>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x_0148"/>
          <p:cNvSpPr txBox="1"/>
          <p:nvPr/>
        </p:nvSpPr>
        <p:spPr>
          <a:xfrm>
            <a:off x="822960" y="502920"/>
            <a:ext cx="10546079" cy="274320"/>
          </a:xfrm>
          <a:prstGeom prst="rect">
            <a:avLst/>
          </a:prstGeom>
          <a:noFill/>
        </p:spPr>
        <p:txBody>
          <a:bodyPr wrap="square" lIns="0" rIns="0" tIns="0" bIns="0">
            <a:spAutoFit/>
          </a:bodyPr>
          <a:lstStyle/>
          <a:p>
            <a:pPr>
              <a:spcAft>
                <a:spcPts val="400"/>
              </a:spcAft>
              <a:defRPr sz="1200" b="0" i="0">
                <a:solidFill>
                  <a:srgbClr val="0071E3"/>
                </a:solidFill>
                <a:latin typeface="Segoe UI Semibold"/>
              </a:defRPr>
            </a:pPr>
            <a:r>
              <a:t>Meet the machine</a:t>
            </a:r>
          </a:p>
        </p:txBody>
      </p:sp>
      <p:sp>
        <p:nvSpPr>
          <p:cNvPr id="3" name="tx_0149"/>
          <p:cNvSpPr txBox="1"/>
          <p:nvPr/>
        </p:nvSpPr>
        <p:spPr>
          <a:xfrm>
            <a:off x="822960" y="822960"/>
            <a:ext cx="10546079" cy="914400"/>
          </a:xfrm>
          <a:prstGeom prst="rect">
            <a:avLst/>
          </a:prstGeom>
          <a:noFill/>
        </p:spPr>
        <p:txBody>
          <a:bodyPr wrap="square" lIns="0" rIns="0" tIns="0" bIns="0">
            <a:spAutoFit/>
          </a:bodyPr>
          <a:lstStyle/>
          <a:p>
            <a:pPr>
              <a:lnSpc>
                <a:spcPct val="100000"/>
              </a:lnSpc>
              <a:spcAft>
                <a:spcPts val="400"/>
              </a:spcAft>
              <a:defRPr sz="3000" b="0" i="0">
                <a:solidFill>
                  <a:srgbClr val="1D1D1F"/>
                </a:solidFill>
                <a:latin typeface="Segoe UI Semibold"/>
              </a:defRPr>
            </a:pPr>
            <a:r>
              <a:t>The attacker needs DSA access and co-location</a:t>
            </a:r>
          </a:p>
        </p:txBody>
      </p:sp>
      <p:sp>
        <p:nvSpPr>
          <p:cNvPr id="4" name="tx_0150"/>
          <p:cNvSpPr txBox="1"/>
          <p:nvPr/>
        </p:nvSpPr>
        <p:spPr>
          <a:xfrm>
            <a:off x="822960" y="6419088"/>
            <a:ext cx="9631679" cy="228600"/>
          </a:xfrm>
          <a:prstGeom prst="rect">
            <a:avLst/>
          </a:prstGeom>
          <a:noFill/>
        </p:spPr>
        <p:txBody>
          <a:bodyPr wrap="square" lIns="0" rIns="0" tIns="0" bIns="0">
            <a:spAutoFit/>
          </a:bodyPr>
          <a:lstStyle/>
          <a:p>
            <a:pPr>
              <a:spcAft>
                <a:spcPts val="400"/>
              </a:spcAft>
              <a:defRPr sz="1000" b="0" i="0">
                <a:solidFill>
                  <a:srgbClr val="86868B"/>
                </a:solidFill>
                <a:latin typeface="Segoe UI"/>
              </a:defRPr>
            </a:pPr>
            <a:r>
              <a:t>Paper § V-A · pp. 7–8</a:t>
            </a:r>
          </a:p>
        </p:txBody>
      </p:sp>
      <p:sp>
        <p:nvSpPr>
          <p:cNvPr id="5" name="tx_0151"/>
          <p:cNvSpPr txBox="1"/>
          <p:nvPr/>
        </p:nvSpPr>
        <p:spPr>
          <a:xfrm>
            <a:off x="10820399" y="6419088"/>
            <a:ext cx="548640" cy="228600"/>
          </a:xfrm>
          <a:prstGeom prst="rect">
            <a:avLst/>
          </a:prstGeom>
          <a:noFill/>
        </p:spPr>
        <p:txBody>
          <a:bodyPr wrap="square" lIns="0" rIns="0" tIns="0" bIns="0">
            <a:spAutoFit/>
          </a:bodyPr>
          <a:lstStyle/>
          <a:p>
            <a:pPr algn="r">
              <a:spcAft>
                <a:spcPts val="400"/>
              </a:spcAft>
              <a:defRPr sz="1000" b="0" i="0">
                <a:solidFill>
                  <a:srgbClr val="86868B"/>
                </a:solidFill>
                <a:latin typeface="Segoe UI"/>
              </a:defRPr>
            </a:pPr>
            <a:r>
              <a:t>9</a:t>
            </a:r>
          </a:p>
        </p:txBody>
      </p:sp>
      <p:sp>
        <p:nvSpPr>
          <p:cNvPr id="6" name="tx_0152"/>
          <p:cNvSpPr txBox="1"/>
          <p:nvPr/>
        </p:nvSpPr>
        <p:spPr>
          <a:xfrm>
            <a:off x="822960" y="1783080"/>
            <a:ext cx="4998719" cy="365760"/>
          </a:xfrm>
          <a:prstGeom prst="rect">
            <a:avLst/>
          </a:prstGeom>
          <a:noFill/>
        </p:spPr>
        <p:txBody>
          <a:bodyPr wrap="square" lIns="0" rIns="0" tIns="0" bIns="0">
            <a:spAutoFit/>
          </a:bodyPr>
          <a:lstStyle/>
          <a:p>
            <a:pPr>
              <a:spcAft>
                <a:spcPts val="400"/>
              </a:spcAft>
              <a:defRPr sz="1600" b="0" i="0">
                <a:solidFill>
                  <a:srgbClr val="0071E3"/>
                </a:solidFill>
                <a:latin typeface="Segoe UI Semibold"/>
              </a:defRPr>
            </a:pPr>
            <a:r>
              <a:t>Assumed</a:t>
            </a:r>
          </a:p>
        </p:txBody>
      </p:sp>
      <p:cxnSp>
        <p:nvCxnSpPr>
          <p:cNvPr id="7" name="hl_0153"/>
          <p:cNvCxnSpPr/>
          <p:nvPr/>
        </p:nvCxnSpPr>
        <p:spPr>
          <a:xfrm>
            <a:off x="822960" y="2167128"/>
            <a:ext cx="4998719"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8" name="tx_0154"/>
          <p:cNvSpPr txBox="1"/>
          <p:nvPr/>
        </p:nvSpPr>
        <p:spPr>
          <a:xfrm>
            <a:off x="822960" y="2377440"/>
            <a:ext cx="4998719" cy="548640"/>
          </a:xfrm>
          <a:prstGeom prst="rect">
            <a:avLst/>
          </a:prstGeom>
          <a:noFill/>
        </p:spPr>
        <p:txBody>
          <a:bodyPr wrap="square" lIns="0" rIns="0" tIns="0" bIns="0">
            <a:spAutoFit/>
          </a:bodyPr>
          <a:lstStyle/>
          <a:p>
            <a:pPr>
              <a:lnSpc>
                <a:spcPct val="100000"/>
              </a:lnSpc>
              <a:spcAft>
                <a:spcPts val="400"/>
              </a:spcAft>
              <a:defRPr sz="1700" b="0" i="0">
                <a:solidFill>
                  <a:srgbClr val="1D1D1F"/>
                </a:solidFill>
                <a:latin typeface="Segoe UI"/>
              </a:defRPr>
            </a:pPr>
            <a:r>
              <a:t>DSA-enabled Xeon + IDXD + VT-d scalable mode</a:t>
            </a:r>
          </a:p>
        </p:txBody>
      </p:sp>
      <p:sp>
        <p:nvSpPr>
          <p:cNvPr id="9" name="tx_0155"/>
          <p:cNvSpPr txBox="1"/>
          <p:nvPr/>
        </p:nvSpPr>
        <p:spPr>
          <a:xfrm>
            <a:off x="822960" y="3035808"/>
            <a:ext cx="4998719" cy="548640"/>
          </a:xfrm>
          <a:prstGeom prst="rect">
            <a:avLst/>
          </a:prstGeom>
          <a:noFill/>
        </p:spPr>
        <p:txBody>
          <a:bodyPr wrap="square" lIns="0" rIns="0" tIns="0" bIns="0">
            <a:spAutoFit/>
          </a:bodyPr>
          <a:lstStyle/>
          <a:p>
            <a:pPr>
              <a:lnSpc>
                <a:spcPct val="100000"/>
              </a:lnSpc>
              <a:spcAft>
                <a:spcPts val="400"/>
              </a:spcAft>
              <a:defRPr sz="1700" b="0" i="0">
                <a:solidFill>
                  <a:srgbClr val="1D1D1F"/>
                </a:solidFill>
                <a:latin typeface="Segoe UI"/>
              </a:defRPr>
            </a:pPr>
            <a:r>
              <a:t>Victim actually uses DSA</a:t>
            </a:r>
          </a:p>
        </p:txBody>
      </p:sp>
      <p:sp>
        <p:nvSpPr>
          <p:cNvPr id="10" name="tx_0156"/>
          <p:cNvSpPr txBox="1"/>
          <p:nvPr/>
        </p:nvSpPr>
        <p:spPr>
          <a:xfrm>
            <a:off x="822960" y="3694176"/>
            <a:ext cx="4998719" cy="548640"/>
          </a:xfrm>
          <a:prstGeom prst="rect">
            <a:avLst/>
          </a:prstGeom>
          <a:noFill/>
        </p:spPr>
        <p:txBody>
          <a:bodyPr wrap="square" lIns="0" rIns="0" tIns="0" bIns="0">
            <a:spAutoFit/>
          </a:bodyPr>
          <a:lstStyle/>
          <a:p>
            <a:pPr>
              <a:lnSpc>
                <a:spcPct val="100000"/>
              </a:lnSpc>
              <a:spcAft>
                <a:spcPts val="400"/>
              </a:spcAft>
              <a:defRPr sz="1700" b="0" i="0">
                <a:solidFill>
                  <a:srgbClr val="1D1D1F"/>
                </a:solidFill>
                <a:latin typeface="Segoe UI"/>
              </a:defRPr>
            </a:pPr>
            <a:r>
              <a:t>Attacker may submit descriptors (CAP_SYS_RAWIO)</a:t>
            </a:r>
          </a:p>
        </p:txBody>
      </p:sp>
      <p:sp>
        <p:nvSpPr>
          <p:cNvPr id="11" name="tx_0157"/>
          <p:cNvSpPr txBox="1"/>
          <p:nvPr/>
        </p:nvSpPr>
        <p:spPr>
          <a:xfrm>
            <a:off x="822960" y="4352544"/>
            <a:ext cx="4998719" cy="548640"/>
          </a:xfrm>
          <a:prstGeom prst="rect">
            <a:avLst/>
          </a:prstGeom>
          <a:noFill/>
        </p:spPr>
        <p:txBody>
          <a:bodyPr wrap="square" lIns="0" rIns="0" tIns="0" bIns="0">
            <a:spAutoFit/>
          </a:bodyPr>
          <a:lstStyle/>
          <a:p>
            <a:pPr>
              <a:lnSpc>
                <a:spcPct val="100000"/>
              </a:lnSpc>
              <a:spcAft>
                <a:spcPts val="400"/>
              </a:spcAft>
              <a:defRPr sz="1700" b="0" i="0">
                <a:solidFill>
                  <a:srgbClr val="1D1D1F"/>
                </a:solidFill>
                <a:latin typeface="Segoe UI"/>
              </a:defRPr>
            </a:pPr>
            <a:r>
              <a:t>Shares the engine (DevTLB) or the SWQ</a:t>
            </a:r>
          </a:p>
        </p:txBody>
      </p:sp>
      <p:sp>
        <p:nvSpPr>
          <p:cNvPr id="12" name="tx_0158"/>
          <p:cNvSpPr txBox="1"/>
          <p:nvPr/>
        </p:nvSpPr>
        <p:spPr>
          <a:xfrm>
            <a:off x="822960" y="5010912"/>
            <a:ext cx="4998719" cy="548640"/>
          </a:xfrm>
          <a:prstGeom prst="rect">
            <a:avLst/>
          </a:prstGeom>
          <a:noFill/>
        </p:spPr>
        <p:txBody>
          <a:bodyPr wrap="square" lIns="0" rIns="0" tIns="0" bIns="0">
            <a:spAutoFit/>
          </a:bodyPr>
          <a:lstStyle/>
          <a:p>
            <a:pPr>
              <a:lnSpc>
                <a:spcPct val="100000"/>
              </a:lnSpc>
              <a:spcAft>
                <a:spcPts val="400"/>
              </a:spcAft>
              <a:defRPr sz="1700" b="0" i="0">
                <a:solidFill>
                  <a:srgbClr val="1D1D1F"/>
                </a:solidFill>
                <a:latin typeface="Segoe UI"/>
              </a:defRPr>
            </a:pPr>
            <a:r>
              <a:t>May set its own engine / queue affinity</a:t>
            </a:r>
          </a:p>
        </p:txBody>
      </p:sp>
      <p:sp>
        <p:nvSpPr>
          <p:cNvPr id="13" name="tx_0159"/>
          <p:cNvSpPr txBox="1"/>
          <p:nvPr/>
        </p:nvSpPr>
        <p:spPr>
          <a:xfrm>
            <a:off x="6370319" y="1783080"/>
            <a:ext cx="4998719" cy="365760"/>
          </a:xfrm>
          <a:prstGeom prst="rect">
            <a:avLst/>
          </a:prstGeom>
          <a:noFill/>
        </p:spPr>
        <p:txBody>
          <a:bodyPr wrap="square" lIns="0" rIns="0" tIns="0" bIns="0">
            <a:spAutoFit/>
          </a:bodyPr>
          <a:lstStyle/>
          <a:p>
            <a:pPr>
              <a:spcAft>
                <a:spcPts val="400"/>
              </a:spcAft>
              <a:defRPr sz="1600" b="0" i="0">
                <a:solidFill>
                  <a:srgbClr val="D70015"/>
                </a:solidFill>
                <a:latin typeface="Segoe UI Semibold"/>
              </a:defRPr>
            </a:pPr>
            <a:r>
              <a:t>Not needed</a:t>
            </a:r>
          </a:p>
        </p:txBody>
      </p:sp>
      <p:cxnSp>
        <p:nvCxnSpPr>
          <p:cNvPr id="14" name="hl_0160"/>
          <p:cNvCxnSpPr/>
          <p:nvPr/>
        </p:nvCxnSpPr>
        <p:spPr>
          <a:xfrm>
            <a:off x="6370319" y="2167128"/>
            <a:ext cx="4998720"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15" name="tx_0161"/>
          <p:cNvSpPr txBox="1"/>
          <p:nvPr/>
        </p:nvSpPr>
        <p:spPr>
          <a:xfrm>
            <a:off x="6370319" y="2377440"/>
            <a:ext cx="4998719" cy="548640"/>
          </a:xfrm>
          <a:prstGeom prst="rect">
            <a:avLst/>
          </a:prstGeom>
          <a:noFill/>
        </p:spPr>
        <p:txBody>
          <a:bodyPr wrap="square" lIns="0" rIns="0" tIns="0" bIns="0">
            <a:spAutoFit/>
          </a:bodyPr>
          <a:lstStyle/>
          <a:p>
            <a:pPr>
              <a:lnSpc>
                <a:spcPct val="100000"/>
              </a:lnSpc>
              <a:spcAft>
                <a:spcPts val="400"/>
              </a:spcAft>
              <a:defRPr sz="1700" b="0" i="0">
                <a:solidFill>
                  <a:srgbClr val="6E6E73"/>
                </a:solidFill>
                <a:latin typeface="Segoe UI"/>
              </a:defRPr>
            </a:pPr>
            <a:r>
              <a:t>A shared CPU core</a:t>
            </a:r>
          </a:p>
        </p:txBody>
      </p:sp>
      <p:sp>
        <p:nvSpPr>
          <p:cNvPr id="16" name="tx_0162"/>
          <p:cNvSpPr txBox="1"/>
          <p:nvPr/>
        </p:nvSpPr>
        <p:spPr>
          <a:xfrm>
            <a:off x="6370319" y="3035808"/>
            <a:ext cx="4998719" cy="548640"/>
          </a:xfrm>
          <a:prstGeom prst="rect">
            <a:avLst/>
          </a:prstGeom>
          <a:noFill/>
        </p:spPr>
        <p:txBody>
          <a:bodyPr wrap="square" lIns="0" rIns="0" tIns="0" bIns="0">
            <a:spAutoFit/>
          </a:bodyPr>
          <a:lstStyle/>
          <a:p>
            <a:pPr>
              <a:lnSpc>
                <a:spcPct val="100000"/>
              </a:lnSpc>
              <a:spcAft>
                <a:spcPts val="400"/>
              </a:spcAft>
              <a:defRPr sz="1700" b="0" i="0">
                <a:solidFill>
                  <a:srgbClr val="6E6E73"/>
                </a:solidFill>
                <a:latin typeface="Segoe UI"/>
              </a:defRPr>
            </a:pPr>
            <a:r>
              <a:t>Shared victim memory</a:t>
            </a:r>
          </a:p>
        </p:txBody>
      </p:sp>
      <p:sp>
        <p:nvSpPr>
          <p:cNvPr id="17" name="tx_0163"/>
          <p:cNvSpPr txBox="1"/>
          <p:nvPr/>
        </p:nvSpPr>
        <p:spPr>
          <a:xfrm>
            <a:off x="6370319" y="3694176"/>
            <a:ext cx="4998719" cy="548640"/>
          </a:xfrm>
          <a:prstGeom prst="rect">
            <a:avLst/>
          </a:prstGeom>
          <a:noFill/>
        </p:spPr>
        <p:txBody>
          <a:bodyPr wrap="square" lIns="0" rIns="0" tIns="0" bIns="0">
            <a:spAutoFit/>
          </a:bodyPr>
          <a:lstStyle/>
          <a:p>
            <a:pPr>
              <a:lnSpc>
                <a:spcPct val="100000"/>
              </a:lnSpc>
              <a:spcAft>
                <a:spcPts val="400"/>
              </a:spcAft>
              <a:defRPr sz="1700" b="0" i="0">
                <a:solidFill>
                  <a:srgbClr val="6E6E73"/>
                </a:solidFill>
                <a:latin typeface="Segoe UI"/>
              </a:defRPr>
            </a:pPr>
            <a:r>
              <a:t>Permission to read victim addresses</a:t>
            </a:r>
          </a:p>
        </p:txBody>
      </p:sp>
      <p:sp>
        <p:nvSpPr>
          <p:cNvPr id="18" name="tx_0164"/>
          <p:cNvSpPr txBox="1"/>
          <p:nvPr/>
        </p:nvSpPr>
        <p:spPr>
          <a:xfrm>
            <a:off x="6370319" y="4352544"/>
            <a:ext cx="4998719" cy="548640"/>
          </a:xfrm>
          <a:prstGeom prst="rect">
            <a:avLst/>
          </a:prstGeom>
          <a:noFill/>
        </p:spPr>
        <p:txBody>
          <a:bodyPr wrap="square" lIns="0" rIns="0" tIns="0" bIns="0">
            <a:spAutoFit/>
          </a:bodyPr>
          <a:lstStyle/>
          <a:p>
            <a:pPr>
              <a:lnSpc>
                <a:spcPct val="100000"/>
              </a:lnSpc>
              <a:spcAft>
                <a:spcPts val="400"/>
              </a:spcAft>
              <a:defRPr sz="1700" b="0" i="0">
                <a:solidFill>
                  <a:srgbClr val="6E6E73"/>
                </a:solidFill>
                <a:latin typeface="Segoe UI"/>
              </a:defRPr>
            </a:pPr>
            <a:r>
              <a:t>Root / authority to reconfigure host DSA</a:t>
            </a:r>
          </a:p>
        </p:txBody>
      </p:sp>
      <p:sp>
        <p:nvSpPr>
          <p:cNvPr id="19" name="rect_0165"/>
          <p:cNvSpPr/>
          <p:nvPr/>
        </p:nvSpPr>
        <p:spPr>
          <a:xfrm>
            <a:off x="822960" y="5623560"/>
            <a:ext cx="502920" cy="41148"/>
          </a:xfrm>
          <a:prstGeom prst="rect">
            <a:avLst/>
          </a:prstGeom>
          <a:solidFill>
            <a:srgbClr val="007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x_0166"/>
          <p:cNvSpPr txBox="1"/>
          <p:nvPr/>
        </p:nvSpPr>
        <p:spPr>
          <a:xfrm>
            <a:off x="822960" y="5779008"/>
            <a:ext cx="10546079" cy="548640"/>
          </a:xfrm>
          <a:prstGeom prst="rect">
            <a:avLst/>
          </a:prstGeom>
          <a:noFill/>
        </p:spPr>
        <p:txBody>
          <a:bodyPr wrap="square" lIns="0" rIns="0" tIns="0" bIns="0">
            <a:spAutoFit/>
          </a:bodyPr>
          <a:lstStyle/>
          <a:p>
            <a:pPr>
              <a:spcAft>
                <a:spcPts val="400"/>
              </a:spcAft>
              <a:defRPr sz="2100" b="0" i="0">
                <a:solidFill>
                  <a:srgbClr val="1D1D1F"/>
                </a:solidFill>
                <a:latin typeface="Segoe UI Semibold"/>
              </a:defRPr>
            </a:pPr>
            <a:r>
              <a:t>“Unprivileged” still depends on pre-provisioned device access and co-location.</a:t>
            </a:r>
          </a:p>
        </p:txBody>
      </p:sp>
    </p:spTree>
  </p:cSld>
  <p:clrMapOvr>
    <a:masterClrMapping/>
  </p:clrMapOvr>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x_0167"/>
          <p:cNvSpPr txBox="1"/>
          <p:nvPr/>
        </p:nvSpPr>
        <p:spPr>
          <a:xfrm>
            <a:off x="822960" y="502920"/>
            <a:ext cx="10546079" cy="274320"/>
          </a:xfrm>
          <a:prstGeom prst="rect">
            <a:avLst/>
          </a:prstGeom>
          <a:noFill/>
        </p:spPr>
        <p:txBody>
          <a:bodyPr wrap="square" lIns="0" rIns="0" tIns="0" bIns="0">
            <a:spAutoFit/>
          </a:bodyPr>
          <a:lstStyle/>
          <a:p>
            <a:pPr>
              <a:spcAft>
                <a:spcPts val="400"/>
              </a:spcAft>
              <a:defRPr sz="1200" b="0" i="0">
                <a:solidFill>
                  <a:srgbClr val="0071E3"/>
                </a:solidFill>
                <a:latin typeface="Segoe UI Semibold"/>
              </a:defRPr>
            </a:pPr>
            <a:r>
              <a:t>Meet the machine</a:t>
            </a:r>
          </a:p>
        </p:txBody>
      </p:sp>
      <p:sp>
        <p:nvSpPr>
          <p:cNvPr id="3" name="tx_0168"/>
          <p:cNvSpPr txBox="1"/>
          <p:nvPr/>
        </p:nvSpPr>
        <p:spPr>
          <a:xfrm>
            <a:off x="822960" y="822960"/>
            <a:ext cx="10546079" cy="914400"/>
          </a:xfrm>
          <a:prstGeom prst="rect">
            <a:avLst/>
          </a:prstGeom>
          <a:noFill/>
        </p:spPr>
        <p:txBody>
          <a:bodyPr wrap="square" lIns="0" rIns="0" tIns="0" bIns="0">
            <a:spAutoFit/>
          </a:bodyPr>
          <a:lstStyle/>
          <a:p>
            <a:pPr>
              <a:lnSpc>
                <a:spcPct val="100000"/>
              </a:lnSpc>
              <a:spcAft>
                <a:spcPts val="400"/>
              </a:spcAft>
              <a:defRPr sz="3000" b="0" i="0">
                <a:solidFill>
                  <a:srgbClr val="1D1D1F"/>
                </a:solidFill>
                <a:latin typeface="Segoe UI Semibold"/>
              </a:defRPr>
            </a:pPr>
            <a:r>
              <a:t>Two channels cross two different boundaries</a:t>
            </a:r>
          </a:p>
        </p:txBody>
      </p:sp>
      <p:sp>
        <p:nvSpPr>
          <p:cNvPr id="4" name="tx_0169"/>
          <p:cNvSpPr txBox="1"/>
          <p:nvPr/>
        </p:nvSpPr>
        <p:spPr>
          <a:xfrm>
            <a:off x="822960" y="6419088"/>
            <a:ext cx="9631679" cy="228600"/>
          </a:xfrm>
          <a:prstGeom prst="rect">
            <a:avLst/>
          </a:prstGeom>
          <a:noFill/>
        </p:spPr>
        <p:txBody>
          <a:bodyPr wrap="square" lIns="0" rIns="0" tIns="0" bIns="0">
            <a:spAutoFit/>
          </a:bodyPr>
          <a:lstStyle/>
          <a:p>
            <a:pPr>
              <a:spcAft>
                <a:spcPts val="400"/>
              </a:spcAft>
              <a:defRPr sz="1000" b="0" i="0">
                <a:solidFill>
                  <a:srgbClr val="86868B"/>
                </a:solidFill>
                <a:latin typeface="Segoe UI"/>
              </a:defRPr>
            </a:pPr>
            <a:r>
              <a:t>Paper §§ IV-A, V · pp. 3–8</a:t>
            </a:r>
          </a:p>
        </p:txBody>
      </p:sp>
      <p:sp>
        <p:nvSpPr>
          <p:cNvPr id="5" name="tx_0170"/>
          <p:cNvSpPr txBox="1"/>
          <p:nvPr/>
        </p:nvSpPr>
        <p:spPr>
          <a:xfrm>
            <a:off x="10820399" y="6419088"/>
            <a:ext cx="548640" cy="228600"/>
          </a:xfrm>
          <a:prstGeom prst="rect">
            <a:avLst/>
          </a:prstGeom>
          <a:noFill/>
        </p:spPr>
        <p:txBody>
          <a:bodyPr wrap="square" lIns="0" rIns="0" tIns="0" bIns="0">
            <a:spAutoFit/>
          </a:bodyPr>
          <a:lstStyle/>
          <a:p>
            <a:pPr algn="r">
              <a:spcAft>
                <a:spcPts val="400"/>
              </a:spcAft>
              <a:defRPr sz="1000" b="0" i="0">
                <a:solidFill>
                  <a:srgbClr val="86868B"/>
                </a:solidFill>
                <a:latin typeface="Segoe UI"/>
              </a:defRPr>
            </a:pPr>
            <a:r>
              <a:t>10</a:t>
            </a:r>
          </a:p>
        </p:txBody>
      </p:sp>
      <p:sp>
        <p:nvSpPr>
          <p:cNvPr id="6" name="rect_0171"/>
          <p:cNvSpPr/>
          <p:nvPr/>
        </p:nvSpPr>
        <p:spPr>
          <a:xfrm>
            <a:off x="822960" y="1783080"/>
            <a:ext cx="5212080" cy="3383280"/>
          </a:xfrm>
          <a:prstGeom prst="roundRect">
            <a:avLst>
              <a:gd name="adj" fmla="val 5945"/>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x_0172"/>
          <p:cNvSpPr txBox="1"/>
          <p:nvPr/>
        </p:nvSpPr>
        <p:spPr>
          <a:xfrm>
            <a:off x="1143000" y="2075688"/>
            <a:ext cx="4572000" cy="548640"/>
          </a:xfrm>
          <a:prstGeom prst="rect">
            <a:avLst/>
          </a:prstGeom>
          <a:noFill/>
        </p:spPr>
        <p:txBody>
          <a:bodyPr wrap="square" lIns="0" rIns="0" tIns="0" bIns="0">
            <a:spAutoFit/>
          </a:bodyPr>
          <a:lstStyle/>
          <a:p>
            <a:pPr>
              <a:spcAft>
                <a:spcPts val="400"/>
              </a:spcAft>
              <a:defRPr sz="2200" b="0" i="0">
                <a:solidFill>
                  <a:srgbClr val="0071E3"/>
                </a:solidFill>
                <a:latin typeface="Segoe UI Semibold"/>
              </a:defRPr>
            </a:pPr>
            <a:r>
              <a:t>DevTLB timing channel</a:t>
            </a:r>
          </a:p>
        </p:txBody>
      </p:sp>
      <p:sp>
        <p:nvSpPr>
          <p:cNvPr id="8" name="tx_0173"/>
          <p:cNvSpPr txBox="1"/>
          <p:nvPr/>
        </p:nvSpPr>
        <p:spPr>
          <a:xfrm>
            <a:off x="1143000" y="2697480"/>
            <a:ext cx="4572000" cy="2286000"/>
          </a:xfrm>
          <a:prstGeom prst="rect">
            <a:avLst/>
          </a:prstGeom>
          <a:noFill/>
        </p:spPr>
        <p:txBody>
          <a:bodyPr wrap="square" lIns="0" rIns="0" tIns="0" bIns="0">
            <a:spAutoFit/>
          </a:bodyPr>
          <a:lstStyle/>
          <a:p>
            <a:pPr>
              <a:lnSpc>
                <a:spcPct val="110000"/>
              </a:lnSpc>
              <a:spcAft>
                <a:spcPts val="600"/>
              </a:spcAft>
              <a:defRPr sz="1800" b="0" i="0">
                <a:solidFill>
                  <a:srgbClr val="6E6E73"/>
                </a:solidFill>
                <a:latin typeface="Segoe UI"/>
              </a:defRPr>
            </a:pPr>
            <a:r>
              <a:t>Victim and attacker may use</a:t>
            </a:r>
          </a:p>
          <a:p>
            <a:pPr>
              <a:lnSpc>
                <a:spcPct val="110000"/>
              </a:lnSpc>
              <a:spcAft>
                <a:spcPts val="600"/>
              </a:spcAft>
              <a:defRPr sz="1800" b="0" i="0">
                <a:solidFill>
                  <a:srgbClr val="6E6E73"/>
                </a:solidFill>
                <a:latin typeface="Segoe UI"/>
              </a:defRPr>
            </a:pPr>
            <a:r>
              <a:t>different work queues —</a:t>
            </a:r>
          </a:p>
          <a:p>
            <a:pPr>
              <a:lnSpc>
                <a:spcPct val="110000"/>
              </a:lnSpc>
              <a:spcAft>
                <a:spcPts val="600"/>
              </a:spcAft>
              <a:defRPr sz="1800" b="0" i="0">
                <a:solidFill>
                  <a:srgbClr val="6E6E73"/>
                </a:solidFill>
                <a:latin typeface="Segoe UI"/>
              </a:defRPr>
            </a:pPr>
            <a:r>
              <a:t>if they share one engine.</a:t>
            </a:r>
          </a:p>
          <a:p>
            <a:pPr>
              <a:lnSpc>
                <a:spcPct val="110000"/>
              </a:lnSpc>
              <a:spcAft>
                <a:spcPts val="600"/>
              </a:spcAft>
              <a:defRPr sz="1800" b="0" i="0">
                <a:solidFill>
                  <a:srgbClr val="6E6E73"/>
                </a:solidFill>
                <a:latin typeface="Segoe UI"/>
              </a:defRPr>
            </a:pPr>
          </a:p>
          <a:p>
            <a:pPr>
              <a:lnSpc>
                <a:spcPct val="110000"/>
              </a:lnSpc>
              <a:spcAft>
                <a:spcPts val="600"/>
              </a:spcAft>
              <a:defRPr sz="1800" b="0" i="0">
                <a:solidFill>
                  <a:srgbClr val="6E6E73"/>
                </a:solidFill>
                <a:latin typeface="Segoe UI"/>
              </a:defRPr>
            </a:pPr>
            <a:r>
              <a:t>Different queues can still interfere.</a:t>
            </a:r>
          </a:p>
        </p:txBody>
      </p:sp>
      <p:sp>
        <p:nvSpPr>
          <p:cNvPr id="9" name="rect_0174"/>
          <p:cNvSpPr/>
          <p:nvPr/>
        </p:nvSpPr>
        <p:spPr>
          <a:xfrm>
            <a:off x="6156959" y="1783080"/>
            <a:ext cx="5212080" cy="3383280"/>
          </a:xfrm>
          <a:prstGeom prst="roundRect">
            <a:avLst>
              <a:gd name="adj" fmla="val 5945"/>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x_0175"/>
          <p:cNvSpPr txBox="1"/>
          <p:nvPr/>
        </p:nvSpPr>
        <p:spPr>
          <a:xfrm>
            <a:off x="6476999" y="2075688"/>
            <a:ext cx="4572000" cy="548640"/>
          </a:xfrm>
          <a:prstGeom prst="rect">
            <a:avLst/>
          </a:prstGeom>
          <a:noFill/>
        </p:spPr>
        <p:txBody>
          <a:bodyPr wrap="square" lIns="0" rIns="0" tIns="0" bIns="0">
            <a:spAutoFit/>
          </a:bodyPr>
          <a:lstStyle/>
          <a:p>
            <a:pPr>
              <a:spcAft>
                <a:spcPts val="400"/>
              </a:spcAft>
              <a:defRPr sz="2200" b="0" i="0">
                <a:solidFill>
                  <a:srgbClr val="D70015"/>
                </a:solidFill>
                <a:latin typeface="Segoe UI Semibold"/>
              </a:defRPr>
            </a:pPr>
            <a:r>
              <a:t>SWQ contention channel</a:t>
            </a:r>
          </a:p>
        </p:txBody>
      </p:sp>
      <p:sp>
        <p:nvSpPr>
          <p:cNvPr id="11" name="tx_0176"/>
          <p:cNvSpPr txBox="1"/>
          <p:nvPr/>
        </p:nvSpPr>
        <p:spPr>
          <a:xfrm>
            <a:off x="6476999" y="2697480"/>
            <a:ext cx="4572000" cy="2286000"/>
          </a:xfrm>
          <a:prstGeom prst="rect">
            <a:avLst/>
          </a:prstGeom>
          <a:noFill/>
        </p:spPr>
        <p:txBody>
          <a:bodyPr wrap="square" lIns="0" rIns="0" tIns="0" bIns="0">
            <a:spAutoFit/>
          </a:bodyPr>
          <a:lstStyle/>
          <a:p>
            <a:pPr>
              <a:lnSpc>
                <a:spcPct val="110000"/>
              </a:lnSpc>
              <a:spcAft>
                <a:spcPts val="600"/>
              </a:spcAft>
              <a:defRPr sz="1800" b="0" i="0">
                <a:solidFill>
                  <a:srgbClr val="6E6E73"/>
                </a:solidFill>
                <a:latin typeface="Segoe UI"/>
              </a:defRPr>
            </a:pPr>
            <a:r>
              <a:t>Victim and attacker must</a:t>
            </a:r>
          </a:p>
          <a:p>
            <a:pPr>
              <a:lnSpc>
                <a:spcPct val="110000"/>
              </a:lnSpc>
              <a:spcAft>
                <a:spcPts val="600"/>
              </a:spcAft>
              <a:defRPr sz="1800" b="0" i="0">
                <a:solidFill>
                  <a:srgbClr val="6E6E73"/>
                </a:solidFill>
                <a:latin typeface="Segoe UI"/>
              </a:defRPr>
            </a:pPr>
            <a:r>
              <a:t>share the same work queue.</a:t>
            </a:r>
          </a:p>
          <a:p>
            <a:pPr>
              <a:lnSpc>
                <a:spcPct val="110000"/>
              </a:lnSpc>
              <a:spcAft>
                <a:spcPts val="600"/>
              </a:spcAft>
              <a:defRPr sz="1800" b="0" i="0">
                <a:solidFill>
                  <a:srgbClr val="6E6E73"/>
                </a:solidFill>
                <a:latin typeface="Segoe UI"/>
              </a:defRPr>
            </a:pPr>
          </a:p>
          <a:p>
            <a:pPr>
              <a:lnSpc>
                <a:spcPct val="110000"/>
              </a:lnSpc>
              <a:spcAft>
                <a:spcPts val="600"/>
              </a:spcAft>
              <a:defRPr sz="1800" b="0" i="0">
                <a:solidFill>
                  <a:srgbClr val="6E6E73"/>
                </a:solidFill>
                <a:latin typeface="Segoe UI"/>
              </a:defRPr>
            </a:pPr>
          </a:p>
          <a:p>
            <a:pPr>
              <a:lnSpc>
                <a:spcPct val="110000"/>
              </a:lnSpc>
              <a:spcAft>
                <a:spcPts val="600"/>
              </a:spcAft>
              <a:defRPr sz="1800" b="0" i="0">
                <a:solidFill>
                  <a:srgbClr val="6E6E73"/>
                </a:solidFill>
                <a:latin typeface="Segoe UI"/>
              </a:defRPr>
            </a:pPr>
            <a:r>
              <a:t>The same queue must be shared.</a:t>
            </a:r>
          </a:p>
        </p:txBody>
      </p:sp>
      <p:sp>
        <p:nvSpPr>
          <p:cNvPr id="12" name="rect_0177"/>
          <p:cNvSpPr/>
          <p:nvPr/>
        </p:nvSpPr>
        <p:spPr>
          <a:xfrm>
            <a:off x="822960" y="5577840"/>
            <a:ext cx="502920" cy="41148"/>
          </a:xfrm>
          <a:prstGeom prst="rect">
            <a:avLst/>
          </a:prstGeom>
          <a:solidFill>
            <a:srgbClr val="D700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x_0178"/>
          <p:cNvSpPr txBox="1"/>
          <p:nvPr/>
        </p:nvSpPr>
        <p:spPr>
          <a:xfrm>
            <a:off x="822960" y="5733288"/>
            <a:ext cx="10546079" cy="548640"/>
          </a:xfrm>
          <a:prstGeom prst="rect">
            <a:avLst/>
          </a:prstGeom>
          <a:noFill/>
        </p:spPr>
        <p:txBody>
          <a:bodyPr wrap="square" lIns="0" rIns="0" tIns="0" bIns="0">
            <a:spAutoFit/>
          </a:bodyPr>
          <a:lstStyle/>
          <a:p>
            <a:pPr>
              <a:spcAft>
                <a:spcPts val="400"/>
              </a:spcAft>
              <a:defRPr sz="2100" b="0" i="0">
                <a:solidFill>
                  <a:srgbClr val="D70015"/>
                </a:solidFill>
                <a:latin typeface="Segoe UI Semibold"/>
              </a:defRPr>
            </a:pPr>
            <a:r>
              <a:t>Separate work queues are not enough if the engine is shared.</a:t>
            </a:r>
          </a:p>
        </p:txBody>
      </p:sp>
    </p:spTree>
  </p:cSld>
  <p:clrMapOvr>
    <a:masterClrMapping/>
  </p:clrMapOvr>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x_0179"/>
          <p:cNvSpPr txBox="1"/>
          <p:nvPr/>
        </p:nvSpPr>
        <p:spPr>
          <a:xfrm>
            <a:off x="822960" y="502920"/>
            <a:ext cx="10546079" cy="274320"/>
          </a:xfrm>
          <a:prstGeom prst="rect">
            <a:avLst/>
          </a:prstGeom>
          <a:noFill/>
        </p:spPr>
        <p:txBody>
          <a:bodyPr wrap="square" lIns="0" rIns="0" tIns="0" bIns="0">
            <a:spAutoFit/>
          </a:bodyPr>
          <a:lstStyle/>
          <a:p>
            <a:pPr>
              <a:spcAft>
                <a:spcPts val="400"/>
              </a:spcAft>
              <a:defRPr sz="1200" b="0" i="0">
                <a:solidFill>
                  <a:srgbClr val="0071E3"/>
                </a:solidFill>
                <a:latin typeface="Segoe UI Semibold"/>
              </a:defRPr>
            </a:pPr>
            <a:r>
              <a:t>Meet the machine</a:t>
            </a:r>
          </a:p>
        </p:txBody>
      </p:sp>
      <p:sp>
        <p:nvSpPr>
          <p:cNvPr id="3" name="tx_0180"/>
          <p:cNvSpPr txBox="1"/>
          <p:nvPr/>
        </p:nvSpPr>
        <p:spPr>
          <a:xfrm>
            <a:off x="822960" y="822960"/>
            <a:ext cx="10546079" cy="914400"/>
          </a:xfrm>
          <a:prstGeom prst="rect">
            <a:avLst/>
          </a:prstGeom>
          <a:noFill/>
        </p:spPr>
        <p:txBody>
          <a:bodyPr wrap="square" lIns="0" rIns="0" tIns="0" bIns="0">
            <a:spAutoFit/>
          </a:bodyPr>
          <a:lstStyle/>
          <a:p>
            <a:pPr>
              <a:lnSpc>
                <a:spcPct val="100000"/>
              </a:lnSpc>
              <a:spcAft>
                <a:spcPts val="400"/>
              </a:spcAft>
              <a:defRPr sz="3000" b="0" i="0">
                <a:solidFill>
                  <a:srgbClr val="1D1D1F"/>
                </a:solidFill>
                <a:latin typeface="Segoe UI Semibold"/>
              </a:defRPr>
            </a:pPr>
            <a:r>
              <a:t>Reverse engineering answers three questions</a:t>
            </a:r>
          </a:p>
        </p:txBody>
      </p:sp>
      <p:sp>
        <p:nvSpPr>
          <p:cNvPr id="4" name="tx_0181"/>
          <p:cNvSpPr txBox="1"/>
          <p:nvPr/>
        </p:nvSpPr>
        <p:spPr>
          <a:xfrm>
            <a:off x="822960" y="6419088"/>
            <a:ext cx="9631679" cy="228600"/>
          </a:xfrm>
          <a:prstGeom prst="rect">
            <a:avLst/>
          </a:prstGeom>
          <a:noFill/>
        </p:spPr>
        <p:txBody>
          <a:bodyPr wrap="square" lIns="0" rIns="0" tIns="0" bIns="0">
            <a:spAutoFit/>
          </a:bodyPr>
          <a:lstStyle/>
          <a:p>
            <a:pPr>
              <a:spcAft>
                <a:spcPts val="400"/>
              </a:spcAft>
              <a:defRPr sz="1000" b="0" i="0">
                <a:solidFill>
                  <a:srgbClr val="86868B"/>
                </a:solidFill>
                <a:latin typeface="Segoe UI"/>
              </a:defRPr>
            </a:pPr>
            <a:r>
              <a:t>Paper §§ III–IV · pp. 3–7</a:t>
            </a:r>
          </a:p>
        </p:txBody>
      </p:sp>
      <p:sp>
        <p:nvSpPr>
          <p:cNvPr id="5" name="tx_0182"/>
          <p:cNvSpPr txBox="1"/>
          <p:nvPr/>
        </p:nvSpPr>
        <p:spPr>
          <a:xfrm>
            <a:off x="10820399" y="6419088"/>
            <a:ext cx="548640" cy="228600"/>
          </a:xfrm>
          <a:prstGeom prst="rect">
            <a:avLst/>
          </a:prstGeom>
          <a:noFill/>
        </p:spPr>
        <p:txBody>
          <a:bodyPr wrap="square" lIns="0" rIns="0" tIns="0" bIns="0">
            <a:spAutoFit/>
          </a:bodyPr>
          <a:lstStyle/>
          <a:p>
            <a:pPr algn="r">
              <a:spcAft>
                <a:spcPts val="400"/>
              </a:spcAft>
              <a:defRPr sz="1000" b="0" i="0">
                <a:solidFill>
                  <a:srgbClr val="86868B"/>
                </a:solidFill>
                <a:latin typeface="Segoe UI"/>
              </a:defRPr>
            </a:pPr>
            <a:r>
              <a:t>11</a:t>
            </a:r>
          </a:p>
        </p:txBody>
      </p:sp>
      <p:cxnSp>
        <p:nvCxnSpPr>
          <p:cNvPr id="6" name="hl_0183"/>
          <p:cNvCxnSpPr/>
          <p:nvPr/>
        </p:nvCxnSpPr>
        <p:spPr>
          <a:xfrm>
            <a:off x="822960" y="1965960"/>
            <a:ext cx="3210559"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7" name="tx_0184"/>
          <p:cNvSpPr txBox="1"/>
          <p:nvPr/>
        </p:nvSpPr>
        <p:spPr>
          <a:xfrm>
            <a:off x="822960" y="2240279"/>
            <a:ext cx="3210559" cy="274320"/>
          </a:xfrm>
          <a:prstGeom prst="rect">
            <a:avLst/>
          </a:prstGeom>
          <a:noFill/>
        </p:spPr>
        <p:txBody>
          <a:bodyPr wrap="square" lIns="0" rIns="0" tIns="0" bIns="0">
            <a:spAutoFit/>
          </a:bodyPr>
          <a:lstStyle/>
          <a:p>
            <a:pPr>
              <a:spcAft>
                <a:spcPts val="400"/>
              </a:spcAft>
              <a:defRPr sz="1300" b="0" i="0">
                <a:solidFill>
                  <a:srgbClr val="0071E3"/>
                </a:solidFill>
                <a:latin typeface="Segoe UI Semibold"/>
              </a:defRPr>
            </a:pPr>
            <a:r>
              <a:t>01</a:t>
            </a:r>
          </a:p>
        </p:txBody>
      </p:sp>
      <p:sp>
        <p:nvSpPr>
          <p:cNvPr id="8" name="tx_0185"/>
          <p:cNvSpPr txBox="1"/>
          <p:nvPr/>
        </p:nvSpPr>
        <p:spPr>
          <a:xfrm>
            <a:off x="822960" y="2606039"/>
            <a:ext cx="3210559" cy="640080"/>
          </a:xfrm>
          <a:prstGeom prst="rect">
            <a:avLst/>
          </a:prstGeom>
          <a:noFill/>
        </p:spPr>
        <p:txBody>
          <a:bodyPr wrap="square" lIns="0" rIns="0" tIns="0" bIns="0">
            <a:spAutoFit/>
          </a:bodyPr>
          <a:lstStyle/>
          <a:p>
            <a:pPr>
              <a:spcAft>
                <a:spcPts val="400"/>
              </a:spcAft>
              <a:defRPr sz="2400" b="0" i="0">
                <a:solidFill>
                  <a:srgbClr val="1D1D1F"/>
                </a:solidFill>
                <a:latin typeface="Segoe UI Semibold"/>
              </a:defRPr>
            </a:pPr>
            <a:r>
              <a:t>What is shared?</a:t>
            </a:r>
          </a:p>
        </p:txBody>
      </p:sp>
      <p:sp>
        <p:nvSpPr>
          <p:cNvPr id="9" name="tx_0186"/>
          <p:cNvSpPr txBox="1"/>
          <p:nvPr/>
        </p:nvSpPr>
        <p:spPr>
          <a:xfrm>
            <a:off x="822960" y="3337559"/>
            <a:ext cx="3210559" cy="2103120"/>
          </a:xfrm>
          <a:prstGeom prst="rect">
            <a:avLst/>
          </a:prstGeom>
          <a:noFill/>
        </p:spPr>
        <p:txBody>
          <a:bodyPr wrap="square" lIns="0" rIns="0" tIns="0" bIns="0">
            <a:spAutoFit/>
          </a:bodyPr>
          <a:lstStyle/>
          <a:p>
            <a:pPr>
              <a:lnSpc>
                <a:spcPct val="112000"/>
              </a:lnSpc>
              <a:spcAft>
                <a:spcPts val="600"/>
              </a:spcAft>
              <a:defRPr sz="1800" b="0" i="0">
                <a:solidFill>
                  <a:srgbClr val="6E6E73"/>
                </a:solidFill>
                <a:latin typeface="Segoe UI"/>
              </a:defRPr>
            </a:pPr>
            <a:r>
              <a:t>Capacity, indexing,</a:t>
            </a:r>
          </a:p>
          <a:p>
            <a:pPr>
              <a:lnSpc>
                <a:spcPct val="112000"/>
              </a:lnSpc>
              <a:spcAft>
                <a:spcPts val="600"/>
              </a:spcAft>
              <a:defRPr sz="1800" b="0" i="0">
                <a:solidFill>
                  <a:srgbClr val="6E6E73"/>
                </a:solidFill>
                <a:latin typeface="Segoe UI"/>
              </a:defRPr>
            </a:pPr>
            <a:r>
              <a:t>replacement policy,</a:t>
            </a:r>
          </a:p>
          <a:p>
            <a:pPr>
              <a:lnSpc>
                <a:spcPct val="112000"/>
              </a:lnSpc>
              <a:spcAft>
                <a:spcPts val="600"/>
              </a:spcAft>
              <a:defRPr sz="1800" b="0" i="0">
                <a:solidFill>
                  <a:srgbClr val="6E6E73"/>
                </a:solidFill>
                <a:latin typeface="Segoe UI"/>
              </a:defRPr>
            </a:pPr>
            <a:r>
              <a:t>PASID behaviour</a:t>
            </a:r>
          </a:p>
        </p:txBody>
      </p:sp>
      <p:cxnSp>
        <p:nvCxnSpPr>
          <p:cNvPr id="10" name="hl_0187"/>
          <p:cNvCxnSpPr/>
          <p:nvPr/>
        </p:nvCxnSpPr>
        <p:spPr>
          <a:xfrm>
            <a:off x="4490719" y="1965960"/>
            <a:ext cx="3210560"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11" name="tx_0188"/>
          <p:cNvSpPr txBox="1"/>
          <p:nvPr/>
        </p:nvSpPr>
        <p:spPr>
          <a:xfrm>
            <a:off x="4490719" y="2240279"/>
            <a:ext cx="3210559" cy="274320"/>
          </a:xfrm>
          <a:prstGeom prst="rect">
            <a:avLst/>
          </a:prstGeom>
          <a:noFill/>
        </p:spPr>
        <p:txBody>
          <a:bodyPr wrap="square" lIns="0" rIns="0" tIns="0" bIns="0">
            <a:spAutoFit/>
          </a:bodyPr>
          <a:lstStyle/>
          <a:p>
            <a:pPr>
              <a:spcAft>
                <a:spcPts val="400"/>
              </a:spcAft>
              <a:defRPr sz="1300" b="0" i="0">
                <a:solidFill>
                  <a:srgbClr val="0071E3"/>
                </a:solidFill>
                <a:latin typeface="Segoe UI Semibold"/>
              </a:defRPr>
            </a:pPr>
            <a:r>
              <a:t>02</a:t>
            </a:r>
          </a:p>
        </p:txBody>
      </p:sp>
      <p:sp>
        <p:nvSpPr>
          <p:cNvPr id="12" name="tx_0189"/>
          <p:cNvSpPr txBox="1"/>
          <p:nvPr/>
        </p:nvSpPr>
        <p:spPr>
          <a:xfrm>
            <a:off x="4490719" y="2606039"/>
            <a:ext cx="3210559" cy="640080"/>
          </a:xfrm>
          <a:prstGeom prst="rect">
            <a:avLst/>
          </a:prstGeom>
          <a:noFill/>
        </p:spPr>
        <p:txBody>
          <a:bodyPr wrap="square" lIns="0" rIns="0" tIns="0" bIns="0">
            <a:spAutoFit/>
          </a:bodyPr>
          <a:lstStyle/>
          <a:p>
            <a:pPr>
              <a:spcAft>
                <a:spcPts val="400"/>
              </a:spcAft>
              <a:defRPr sz="2400" b="0" i="0">
                <a:solidFill>
                  <a:srgbClr val="1D1D1F"/>
                </a:solidFill>
                <a:latin typeface="Segoe UI Semibold"/>
              </a:defRPr>
            </a:pPr>
            <a:r>
              <a:t>What is visible?</a:t>
            </a:r>
          </a:p>
        </p:txBody>
      </p:sp>
      <p:sp>
        <p:nvSpPr>
          <p:cNvPr id="13" name="tx_0190"/>
          <p:cNvSpPr txBox="1"/>
          <p:nvPr/>
        </p:nvSpPr>
        <p:spPr>
          <a:xfrm>
            <a:off x="4490719" y="3337559"/>
            <a:ext cx="3210559" cy="2103120"/>
          </a:xfrm>
          <a:prstGeom prst="rect">
            <a:avLst/>
          </a:prstGeom>
          <a:noFill/>
        </p:spPr>
        <p:txBody>
          <a:bodyPr wrap="square" lIns="0" rIns="0" tIns="0" bIns="0">
            <a:spAutoFit/>
          </a:bodyPr>
          <a:lstStyle/>
          <a:p>
            <a:pPr>
              <a:lnSpc>
                <a:spcPct val="112000"/>
              </a:lnSpc>
              <a:spcAft>
                <a:spcPts val="600"/>
              </a:spcAft>
              <a:defRPr sz="1800" b="0" i="0">
                <a:solidFill>
                  <a:srgbClr val="6E6E73"/>
                </a:solidFill>
                <a:latin typeface="Segoe UI"/>
              </a:defRPr>
            </a:pPr>
            <a:r>
              <a:t>Privileged counters</a:t>
            </a:r>
          </a:p>
          <a:p>
            <a:pPr>
              <a:lnSpc>
                <a:spcPct val="112000"/>
              </a:lnSpc>
              <a:spcAft>
                <a:spcPts val="600"/>
              </a:spcAft>
              <a:defRPr sz="1800" b="0" i="0">
                <a:solidFill>
                  <a:srgbClr val="6E6E73"/>
                </a:solidFill>
                <a:latin typeface="Segoe UI"/>
              </a:defRPr>
            </a:pPr>
            <a:r>
              <a:t>vs. user-observed</a:t>
            </a:r>
          </a:p>
          <a:p>
            <a:pPr>
              <a:lnSpc>
                <a:spcPct val="112000"/>
              </a:lnSpc>
              <a:spcAft>
                <a:spcPts val="600"/>
              </a:spcAft>
              <a:defRPr sz="1800" b="0" i="0">
                <a:solidFill>
                  <a:srgbClr val="6E6E73"/>
                </a:solidFill>
                <a:latin typeface="Segoe UI"/>
              </a:defRPr>
            </a:pPr>
            <a:r>
              <a:t>latency and flags</a:t>
            </a:r>
          </a:p>
        </p:txBody>
      </p:sp>
      <p:cxnSp>
        <p:nvCxnSpPr>
          <p:cNvPr id="14" name="hl_0191"/>
          <p:cNvCxnSpPr/>
          <p:nvPr/>
        </p:nvCxnSpPr>
        <p:spPr>
          <a:xfrm>
            <a:off x="8158479" y="1965960"/>
            <a:ext cx="3210560"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15" name="tx_0192"/>
          <p:cNvSpPr txBox="1"/>
          <p:nvPr/>
        </p:nvSpPr>
        <p:spPr>
          <a:xfrm>
            <a:off x="8158479" y="2240279"/>
            <a:ext cx="3210559" cy="274320"/>
          </a:xfrm>
          <a:prstGeom prst="rect">
            <a:avLst/>
          </a:prstGeom>
          <a:noFill/>
        </p:spPr>
        <p:txBody>
          <a:bodyPr wrap="square" lIns="0" rIns="0" tIns="0" bIns="0">
            <a:spAutoFit/>
          </a:bodyPr>
          <a:lstStyle/>
          <a:p>
            <a:pPr>
              <a:spcAft>
                <a:spcPts val="400"/>
              </a:spcAft>
              <a:defRPr sz="1300" b="0" i="0">
                <a:solidFill>
                  <a:srgbClr val="0071E3"/>
                </a:solidFill>
                <a:latin typeface="Segoe UI Semibold"/>
              </a:defRPr>
            </a:pPr>
            <a:r>
              <a:t>03</a:t>
            </a:r>
          </a:p>
        </p:txBody>
      </p:sp>
      <p:sp>
        <p:nvSpPr>
          <p:cNvPr id="16" name="tx_0193"/>
          <p:cNvSpPr txBox="1"/>
          <p:nvPr/>
        </p:nvSpPr>
        <p:spPr>
          <a:xfrm>
            <a:off x="8158479" y="2606039"/>
            <a:ext cx="3210559" cy="640080"/>
          </a:xfrm>
          <a:prstGeom prst="rect">
            <a:avLst/>
          </a:prstGeom>
          <a:noFill/>
        </p:spPr>
        <p:txBody>
          <a:bodyPr wrap="square" lIns="0" rIns="0" tIns="0" bIns="0">
            <a:spAutoFit/>
          </a:bodyPr>
          <a:lstStyle/>
          <a:p>
            <a:pPr>
              <a:spcAft>
                <a:spcPts val="400"/>
              </a:spcAft>
              <a:defRPr sz="2400" b="0" i="0">
                <a:solidFill>
                  <a:srgbClr val="1D1D1F"/>
                </a:solidFill>
                <a:latin typeface="Segoe UI Semibold"/>
              </a:defRPr>
            </a:pPr>
            <a:r>
              <a:t>What can it reveal?</a:t>
            </a:r>
          </a:p>
        </p:txBody>
      </p:sp>
      <p:sp>
        <p:nvSpPr>
          <p:cNvPr id="17" name="tx_0194"/>
          <p:cNvSpPr txBox="1"/>
          <p:nvPr/>
        </p:nvSpPr>
        <p:spPr>
          <a:xfrm>
            <a:off x="8158479" y="3337559"/>
            <a:ext cx="3210559" cy="2103120"/>
          </a:xfrm>
          <a:prstGeom prst="rect">
            <a:avLst/>
          </a:prstGeom>
          <a:noFill/>
        </p:spPr>
        <p:txBody>
          <a:bodyPr wrap="square" lIns="0" rIns="0" tIns="0" bIns="0">
            <a:spAutoFit/>
          </a:bodyPr>
          <a:lstStyle/>
          <a:p>
            <a:pPr>
              <a:lnSpc>
                <a:spcPct val="112000"/>
              </a:lnSpc>
              <a:spcAft>
                <a:spcPts val="600"/>
              </a:spcAft>
              <a:defRPr sz="1800" b="0" i="0">
                <a:solidFill>
                  <a:srgbClr val="6E6E73"/>
                </a:solidFill>
                <a:latin typeface="Segoe UI"/>
              </a:defRPr>
            </a:pPr>
            <a:r>
              <a:t>Eviction → activity</a:t>
            </a:r>
          </a:p>
          <a:p>
            <a:pPr>
              <a:lnSpc>
                <a:spcPct val="112000"/>
              </a:lnSpc>
              <a:spcAft>
                <a:spcPts val="600"/>
              </a:spcAft>
              <a:defRPr sz="1800" b="0" i="0">
                <a:solidFill>
                  <a:srgbClr val="6E6E73"/>
                </a:solidFill>
                <a:latin typeface="Segoe UI"/>
              </a:defRPr>
            </a:pPr>
            <a:r>
              <a:t>Admission → occupancy</a:t>
            </a:r>
          </a:p>
        </p:txBody>
      </p:sp>
      <p:sp>
        <p:nvSpPr>
          <p:cNvPr id="18" name="rect_0195"/>
          <p:cNvSpPr/>
          <p:nvPr/>
        </p:nvSpPr>
        <p:spPr>
          <a:xfrm>
            <a:off x="822960" y="5623560"/>
            <a:ext cx="502920" cy="41148"/>
          </a:xfrm>
          <a:prstGeom prst="rect">
            <a:avLst/>
          </a:prstGeom>
          <a:solidFill>
            <a:srgbClr val="007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x_0196"/>
          <p:cNvSpPr txBox="1"/>
          <p:nvPr/>
        </p:nvSpPr>
        <p:spPr>
          <a:xfrm>
            <a:off x="822960" y="5779008"/>
            <a:ext cx="10546079" cy="548640"/>
          </a:xfrm>
          <a:prstGeom prst="rect">
            <a:avLst/>
          </a:prstGeom>
          <a:noFill/>
        </p:spPr>
        <p:txBody>
          <a:bodyPr wrap="square" lIns="0" rIns="0" tIns="0" bIns="0">
            <a:spAutoFit/>
          </a:bodyPr>
          <a:lstStyle/>
          <a:p>
            <a:pPr>
              <a:spcAft>
                <a:spcPts val="400"/>
              </a:spcAft>
              <a:defRPr sz="2100" b="0" i="0">
                <a:solidFill>
                  <a:srgbClr val="1D1D1F"/>
                </a:solidFill>
                <a:latin typeface="Segoe UI Semibold"/>
              </a:defRPr>
            </a:pPr>
            <a:r>
              <a:t>Each microbenchmark links an implementation behaviour to an observable signal.</a:t>
            </a:r>
          </a:p>
        </p:txBody>
      </p:sp>
    </p:spTree>
  </p:cSld>
  <p:clrMapOvr>
    <a:masterClrMapping/>
  </p:clrMapOvr>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x_0197"/>
          <p:cNvSpPr txBox="1"/>
          <p:nvPr/>
        </p:nvSpPr>
        <p:spPr>
          <a:xfrm>
            <a:off x="822960" y="502920"/>
            <a:ext cx="10546079" cy="274320"/>
          </a:xfrm>
          <a:prstGeom prst="rect">
            <a:avLst/>
          </a:prstGeom>
          <a:noFill/>
        </p:spPr>
        <p:txBody>
          <a:bodyPr wrap="square" lIns="0" rIns="0" tIns="0" bIns="0">
            <a:spAutoFit/>
          </a:bodyPr>
          <a:lstStyle/>
          <a:p>
            <a:pPr>
              <a:spcAft>
                <a:spcPts val="400"/>
              </a:spcAft>
              <a:defRPr sz="1200" b="0" i="0">
                <a:solidFill>
                  <a:srgbClr val="0071E3"/>
                </a:solidFill>
                <a:latin typeface="Segoe UI Semibold"/>
              </a:defRPr>
            </a:pPr>
            <a:r>
              <a:t>Meet the machine</a:t>
            </a:r>
          </a:p>
        </p:txBody>
      </p:sp>
      <p:sp>
        <p:nvSpPr>
          <p:cNvPr id="3" name="tx_0198"/>
          <p:cNvSpPr txBox="1"/>
          <p:nvPr/>
        </p:nvSpPr>
        <p:spPr>
          <a:xfrm>
            <a:off x="822960" y="822960"/>
            <a:ext cx="10546079" cy="914400"/>
          </a:xfrm>
          <a:prstGeom prst="rect">
            <a:avLst/>
          </a:prstGeom>
          <a:noFill/>
        </p:spPr>
        <p:txBody>
          <a:bodyPr wrap="square" lIns="0" rIns="0" tIns="0" bIns="0">
            <a:spAutoFit/>
          </a:bodyPr>
          <a:lstStyle/>
          <a:p>
            <a:pPr>
              <a:lnSpc>
                <a:spcPct val="100000"/>
              </a:lnSpc>
              <a:spcAft>
                <a:spcPts val="400"/>
              </a:spcAft>
              <a:defRPr sz="3000" b="0" i="0">
                <a:solidFill>
                  <a:srgbClr val="1D1D1F"/>
                </a:solidFill>
                <a:latin typeface="Segoe UI Semibold"/>
              </a:defRPr>
            </a:pPr>
            <a:r>
              <a:t>Characterization counters ≠ attack signals</a:t>
            </a:r>
          </a:p>
        </p:txBody>
      </p:sp>
      <p:sp>
        <p:nvSpPr>
          <p:cNvPr id="4" name="tx_0199"/>
          <p:cNvSpPr txBox="1"/>
          <p:nvPr/>
        </p:nvSpPr>
        <p:spPr>
          <a:xfrm>
            <a:off x="822960" y="6419088"/>
            <a:ext cx="9631679" cy="228600"/>
          </a:xfrm>
          <a:prstGeom prst="rect">
            <a:avLst/>
          </a:prstGeom>
          <a:noFill/>
        </p:spPr>
        <p:txBody>
          <a:bodyPr wrap="square" lIns="0" rIns="0" tIns="0" bIns="0">
            <a:spAutoFit/>
          </a:bodyPr>
          <a:lstStyle/>
          <a:p>
            <a:pPr>
              <a:spcAft>
                <a:spcPts val="400"/>
              </a:spcAft>
              <a:defRPr sz="1000" b="0" i="0">
                <a:solidFill>
                  <a:srgbClr val="86868B"/>
                </a:solidFill>
                <a:latin typeface="Segoe UI"/>
              </a:defRPr>
            </a:pPr>
            <a:r>
              <a:t>Paper § IV-B, Table I · pp. 4–6</a:t>
            </a:r>
          </a:p>
        </p:txBody>
      </p:sp>
      <p:sp>
        <p:nvSpPr>
          <p:cNvPr id="5" name="tx_0200"/>
          <p:cNvSpPr txBox="1"/>
          <p:nvPr/>
        </p:nvSpPr>
        <p:spPr>
          <a:xfrm>
            <a:off x="10820399" y="6419088"/>
            <a:ext cx="548640" cy="228600"/>
          </a:xfrm>
          <a:prstGeom prst="rect">
            <a:avLst/>
          </a:prstGeom>
          <a:noFill/>
        </p:spPr>
        <p:txBody>
          <a:bodyPr wrap="square" lIns="0" rIns="0" tIns="0" bIns="0">
            <a:spAutoFit/>
          </a:bodyPr>
          <a:lstStyle/>
          <a:p>
            <a:pPr algn="r">
              <a:spcAft>
                <a:spcPts val="400"/>
              </a:spcAft>
              <a:defRPr sz="1000" b="0" i="0">
                <a:solidFill>
                  <a:srgbClr val="86868B"/>
                </a:solidFill>
                <a:latin typeface="Segoe UI"/>
              </a:defRPr>
            </a:pPr>
            <a:r>
              <a:t>12</a:t>
            </a:r>
          </a:p>
        </p:txBody>
      </p:sp>
      <p:sp>
        <p:nvSpPr>
          <p:cNvPr id="6" name="tx_0201"/>
          <p:cNvSpPr txBox="1"/>
          <p:nvPr/>
        </p:nvSpPr>
        <p:spPr>
          <a:xfrm>
            <a:off x="822960" y="1783080"/>
            <a:ext cx="4998719" cy="365760"/>
          </a:xfrm>
          <a:prstGeom prst="rect">
            <a:avLst/>
          </a:prstGeom>
          <a:noFill/>
        </p:spPr>
        <p:txBody>
          <a:bodyPr wrap="square" lIns="0" rIns="0" tIns="0" bIns="0">
            <a:spAutoFit/>
          </a:bodyPr>
          <a:lstStyle/>
          <a:p>
            <a:pPr>
              <a:spcAft>
                <a:spcPts val="400"/>
              </a:spcAft>
              <a:defRPr sz="1600" b="0" i="0">
                <a:solidFill>
                  <a:srgbClr val="6E6E73"/>
                </a:solidFill>
                <a:latin typeface="Segoe UI Semibold"/>
              </a:defRPr>
            </a:pPr>
            <a:r>
              <a:t>Reverse engineering · privileged PMU</a:t>
            </a:r>
          </a:p>
        </p:txBody>
      </p:sp>
      <p:cxnSp>
        <p:nvCxnSpPr>
          <p:cNvPr id="7" name="hl_0202"/>
          <p:cNvCxnSpPr/>
          <p:nvPr/>
        </p:nvCxnSpPr>
        <p:spPr>
          <a:xfrm>
            <a:off x="822960" y="2167128"/>
            <a:ext cx="4998719"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8" name="tx_0203"/>
          <p:cNvSpPr txBox="1"/>
          <p:nvPr/>
        </p:nvSpPr>
        <p:spPr>
          <a:xfrm>
            <a:off x="822960" y="2377440"/>
            <a:ext cx="4998719" cy="457200"/>
          </a:xfrm>
          <a:prstGeom prst="rect">
            <a:avLst/>
          </a:prstGeom>
          <a:noFill/>
        </p:spPr>
        <p:txBody>
          <a:bodyPr wrap="square" lIns="0" rIns="0" tIns="0" bIns="0">
            <a:spAutoFit/>
          </a:bodyPr>
          <a:lstStyle/>
          <a:p>
            <a:pPr>
              <a:spcAft>
                <a:spcPts val="400"/>
              </a:spcAft>
              <a:defRPr sz="1800" b="0" i="0">
                <a:solidFill>
                  <a:srgbClr val="1D1D1F"/>
                </a:solidFill>
                <a:latin typeface="Segoe UI"/>
              </a:defRPr>
            </a:pPr>
            <a:r>
              <a:t>EV_ATC_ALLOC</a:t>
            </a:r>
          </a:p>
        </p:txBody>
      </p:sp>
      <p:sp>
        <p:nvSpPr>
          <p:cNvPr id="9" name="tx_0204"/>
          <p:cNvSpPr txBox="1"/>
          <p:nvPr/>
        </p:nvSpPr>
        <p:spPr>
          <a:xfrm>
            <a:off x="822960" y="2880360"/>
            <a:ext cx="4998719" cy="457200"/>
          </a:xfrm>
          <a:prstGeom prst="rect">
            <a:avLst/>
          </a:prstGeom>
          <a:noFill/>
        </p:spPr>
        <p:txBody>
          <a:bodyPr wrap="square" lIns="0" rIns="0" tIns="0" bIns="0">
            <a:spAutoFit/>
          </a:bodyPr>
          <a:lstStyle/>
          <a:p>
            <a:pPr>
              <a:spcAft>
                <a:spcPts val="400"/>
              </a:spcAft>
              <a:defRPr sz="1800" b="0" i="0">
                <a:solidFill>
                  <a:srgbClr val="1D1D1F"/>
                </a:solidFill>
                <a:latin typeface="Segoe UI"/>
              </a:defRPr>
            </a:pPr>
            <a:r>
              <a:t>EV_ATC_NO_ALLOC</a:t>
            </a:r>
          </a:p>
        </p:txBody>
      </p:sp>
      <p:sp>
        <p:nvSpPr>
          <p:cNvPr id="10" name="tx_0205"/>
          <p:cNvSpPr txBox="1"/>
          <p:nvPr/>
        </p:nvSpPr>
        <p:spPr>
          <a:xfrm>
            <a:off x="822960" y="3383280"/>
            <a:ext cx="4998719" cy="457200"/>
          </a:xfrm>
          <a:prstGeom prst="rect">
            <a:avLst/>
          </a:prstGeom>
          <a:noFill/>
        </p:spPr>
        <p:txBody>
          <a:bodyPr wrap="square" lIns="0" rIns="0" tIns="0" bIns="0">
            <a:spAutoFit/>
          </a:bodyPr>
          <a:lstStyle/>
          <a:p>
            <a:pPr>
              <a:spcAft>
                <a:spcPts val="400"/>
              </a:spcAft>
              <a:defRPr sz="1800" b="0" i="0">
                <a:solidFill>
                  <a:srgbClr val="1D1D1F"/>
                </a:solidFill>
                <a:latin typeface="Segoe UI"/>
              </a:defRPr>
            </a:pPr>
            <a:r>
              <a:t>EV_ATC_HIT_PREV</a:t>
            </a:r>
          </a:p>
        </p:txBody>
      </p:sp>
      <p:sp>
        <p:nvSpPr>
          <p:cNvPr id="11" name="tx_0206"/>
          <p:cNvSpPr txBox="1"/>
          <p:nvPr/>
        </p:nvSpPr>
        <p:spPr>
          <a:xfrm>
            <a:off x="6370319" y="1783080"/>
            <a:ext cx="4998719" cy="365760"/>
          </a:xfrm>
          <a:prstGeom prst="rect">
            <a:avLst/>
          </a:prstGeom>
          <a:noFill/>
        </p:spPr>
        <p:txBody>
          <a:bodyPr wrap="square" lIns="0" rIns="0" tIns="0" bIns="0">
            <a:spAutoFit/>
          </a:bodyPr>
          <a:lstStyle/>
          <a:p>
            <a:pPr>
              <a:spcAft>
                <a:spcPts val="400"/>
              </a:spcAft>
              <a:defRPr sz="1600" b="0" i="0">
                <a:solidFill>
                  <a:srgbClr val="0071E3"/>
                </a:solidFill>
                <a:latin typeface="Segoe UI Semibold"/>
              </a:defRPr>
            </a:pPr>
            <a:r>
              <a:t>Attack signal · unprivileged</a:t>
            </a:r>
          </a:p>
        </p:txBody>
      </p:sp>
      <p:cxnSp>
        <p:nvCxnSpPr>
          <p:cNvPr id="12" name="hl_0207"/>
          <p:cNvCxnSpPr/>
          <p:nvPr/>
        </p:nvCxnSpPr>
        <p:spPr>
          <a:xfrm>
            <a:off x="6370319" y="2167128"/>
            <a:ext cx="4998720"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13" name="tx_0208"/>
          <p:cNvSpPr txBox="1"/>
          <p:nvPr/>
        </p:nvSpPr>
        <p:spPr>
          <a:xfrm>
            <a:off x="6370319" y="2377440"/>
            <a:ext cx="4998719" cy="457200"/>
          </a:xfrm>
          <a:prstGeom prst="rect">
            <a:avLst/>
          </a:prstGeom>
          <a:noFill/>
        </p:spPr>
        <p:txBody>
          <a:bodyPr wrap="square" lIns="0" rIns="0" tIns="0" bIns="0">
            <a:spAutoFit/>
          </a:bodyPr>
          <a:lstStyle/>
          <a:p>
            <a:pPr>
              <a:spcAft>
                <a:spcPts val="400"/>
              </a:spcAft>
              <a:defRPr sz="1800" b="0" i="0">
                <a:solidFill>
                  <a:srgbClr val="1D1D1F"/>
                </a:solidFill>
                <a:latin typeface="Segoe UI"/>
              </a:defRPr>
            </a:pPr>
            <a:r>
              <a:t>DevTLB · own completion time (rdtsc)</a:t>
            </a:r>
          </a:p>
        </p:txBody>
      </p:sp>
      <p:sp>
        <p:nvSpPr>
          <p:cNvPr id="14" name="tx_0209"/>
          <p:cNvSpPr txBox="1"/>
          <p:nvPr/>
        </p:nvSpPr>
        <p:spPr>
          <a:xfrm>
            <a:off x="6370319" y="2880360"/>
            <a:ext cx="4998719" cy="457200"/>
          </a:xfrm>
          <a:prstGeom prst="rect">
            <a:avLst/>
          </a:prstGeom>
          <a:noFill/>
        </p:spPr>
        <p:txBody>
          <a:bodyPr wrap="square" lIns="0" rIns="0" tIns="0" bIns="0">
            <a:spAutoFit/>
          </a:bodyPr>
          <a:lstStyle/>
          <a:p>
            <a:pPr>
              <a:spcAft>
                <a:spcPts val="400"/>
              </a:spcAft>
              <a:defRPr sz="1800" b="0" i="0">
                <a:solidFill>
                  <a:srgbClr val="1D1D1F"/>
                </a:solidFill>
                <a:latin typeface="Segoe UI"/>
              </a:defRPr>
            </a:pPr>
            <a:r>
              <a:t>SWQ · ENQCMD result via EFLAGS.ZF</a:t>
            </a:r>
          </a:p>
        </p:txBody>
      </p:sp>
      <p:sp>
        <p:nvSpPr>
          <p:cNvPr id="15" name="tx_0210"/>
          <p:cNvSpPr txBox="1"/>
          <p:nvPr/>
        </p:nvSpPr>
        <p:spPr>
          <a:xfrm>
            <a:off x="822960" y="4160520"/>
            <a:ext cx="10546079" cy="365760"/>
          </a:xfrm>
          <a:prstGeom prst="rect">
            <a:avLst/>
          </a:prstGeom>
          <a:noFill/>
        </p:spPr>
        <p:txBody>
          <a:bodyPr wrap="square" lIns="0" rIns="0" tIns="0" bIns="0">
            <a:spAutoFit/>
          </a:bodyPr>
          <a:lstStyle/>
          <a:p>
            <a:pPr>
              <a:spcAft>
                <a:spcPts val="400"/>
              </a:spcAft>
              <a:defRPr sz="1400" b="0" i="0">
                <a:solidFill>
                  <a:srgbClr val="6E6E73"/>
                </a:solidFill>
                <a:latin typeface="Segoe UI"/>
              </a:defRPr>
            </a:pPr>
            <a:r>
              <a:t>Platforms: Xeon Platinum 8468V (local) · 8475B (Alibaba cloud) · Linux 6.11 · IDXD · VT-d scalable mode · SR-IOV (DevTLB setup) / Scalable IOV (shared SWQ)</a:t>
            </a:r>
          </a:p>
        </p:txBody>
      </p:sp>
      <p:sp>
        <p:nvSpPr>
          <p:cNvPr id="16" name="rect_0211"/>
          <p:cNvSpPr/>
          <p:nvPr/>
        </p:nvSpPr>
        <p:spPr>
          <a:xfrm>
            <a:off x="822960" y="5120640"/>
            <a:ext cx="502920" cy="41148"/>
          </a:xfrm>
          <a:prstGeom prst="rect">
            <a:avLst/>
          </a:prstGeom>
          <a:solidFill>
            <a:srgbClr val="007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x_0212"/>
          <p:cNvSpPr txBox="1"/>
          <p:nvPr/>
        </p:nvSpPr>
        <p:spPr>
          <a:xfrm>
            <a:off x="822960" y="5276088"/>
            <a:ext cx="10546079" cy="548640"/>
          </a:xfrm>
          <a:prstGeom prst="rect">
            <a:avLst/>
          </a:prstGeom>
          <a:noFill/>
        </p:spPr>
        <p:txBody>
          <a:bodyPr wrap="square" lIns="0" rIns="0" tIns="0" bIns="0">
            <a:spAutoFit/>
          </a:bodyPr>
          <a:lstStyle/>
          <a:p>
            <a:pPr>
              <a:spcAft>
                <a:spcPts val="400"/>
              </a:spcAft>
              <a:defRPr sz="2100" b="0" i="0">
                <a:solidFill>
                  <a:srgbClr val="1D1D1F"/>
                </a:solidFill>
                <a:latin typeface="Segoe UI Semibold"/>
              </a:defRPr>
            </a:pPr>
            <a:r>
              <a:t>PMU access supports the explanation; it is not needed for the attack loop.</a:t>
            </a:r>
          </a:p>
        </p:txBody>
      </p:sp>
    </p:spTree>
  </p:cSld>
  <p:clrMapOvr>
    <a:masterClrMapping/>
  </p:clrMapOvr>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x_0213"/>
          <p:cNvSpPr txBox="1"/>
          <p:nvPr/>
        </p:nvSpPr>
        <p:spPr>
          <a:xfrm>
            <a:off x="822960" y="1097280"/>
            <a:ext cx="5486400" cy="320040"/>
          </a:xfrm>
          <a:prstGeom prst="rect">
            <a:avLst/>
          </a:prstGeom>
          <a:noFill/>
        </p:spPr>
        <p:txBody>
          <a:bodyPr wrap="square" lIns="0" rIns="0" tIns="0" bIns="0">
            <a:spAutoFit/>
          </a:bodyPr>
          <a:lstStyle/>
          <a:p>
            <a:pPr>
              <a:spcAft>
                <a:spcPts val="400"/>
              </a:spcAft>
              <a:defRPr sz="1400" b="0" i="0">
                <a:solidFill>
                  <a:srgbClr val="A1A1A6"/>
                </a:solidFill>
                <a:latin typeface="Segoe UI Semibold"/>
              </a:defRPr>
            </a:pPr>
            <a:r>
              <a:t>Act 3 of 6</a:t>
            </a:r>
          </a:p>
        </p:txBody>
      </p:sp>
      <p:sp>
        <p:nvSpPr>
          <p:cNvPr id="3" name="tx_0214"/>
          <p:cNvSpPr txBox="1"/>
          <p:nvPr/>
        </p:nvSpPr>
        <p:spPr>
          <a:xfrm>
            <a:off x="777240" y="1371600"/>
            <a:ext cx="5486400" cy="2377440"/>
          </a:xfrm>
          <a:prstGeom prst="rect">
            <a:avLst/>
          </a:prstGeom>
          <a:noFill/>
        </p:spPr>
        <p:txBody>
          <a:bodyPr wrap="square" lIns="0" rIns="0" tIns="0" bIns="0">
            <a:spAutoFit/>
          </a:bodyPr>
          <a:lstStyle/>
          <a:p>
            <a:pPr>
              <a:spcAft>
                <a:spcPts val="400"/>
              </a:spcAft>
              <a:defRPr sz="16000" b="0" i="0">
                <a:solidFill>
                  <a:srgbClr val="2C2C2E"/>
                </a:solidFill>
                <a:latin typeface="Segoe UI Semibold"/>
              </a:defRPr>
            </a:pPr>
            <a:r>
              <a:t>03</a:t>
            </a:r>
          </a:p>
        </p:txBody>
      </p:sp>
      <p:sp>
        <p:nvSpPr>
          <p:cNvPr id="4" name="tx_0215"/>
          <p:cNvSpPr txBox="1"/>
          <p:nvPr/>
        </p:nvSpPr>
        <p:spPr>
          <a:xfrm>
            <a:off x="822960" y="3703320"/>
            <a:ext cx="10546079" cy="914400"/>
          </a:xfrm>
          <a:prstGeom prst="rect">
            <a:avLst/>
          </a:prstGeom>
          <a:noFill/>
        </p:spPr>
        <p:txBody>
          <a:bodyPr wrap="square" lIns="0" rIns="0" tIns="0" bIns="0">
            <a:spAutoFit/>
          </a:bodyPr>
          <a:lstStyle/>
          <a:p>
            <a:pPr>
              <a:spcAft>
                <a:spcPts val="400"/>
              </a:spcAft>
              <a:defRPr sz="4800" b="0" i="0">
                <a:solidFill>
                  <a:srgbClr val="FFFFFF"/>
                </a:solidFill>
                <a:latin typeface="Segoe UI Semibold"/>
              </a:defRPr>
            </a:pPr>
            <a:r>
              <a:t>The detective story</a:t>
            </a:r>
          </a:p>
        </p:txBody>
      </p:sp>
      <p:sp>
        <p:nvSpPr>
          <p:cNvPr id="5" name="tx_0216"/>
          <p:cNvSpPr txBox="1"/>
          <p:nvPr/>
        </p:nvSpPr>
        <p:spPr>
          <a:xfrm>
            <a:off x="822960" y="4846320"/>
            <a:ext cx="10546079" cy="438912"/>
          </a:xfrm>
          <a:prstGeom prst="rect">
            <a:avLst/>
          </a:prstGeom>
          <a:noFill/>
        </p:spPr>
        <p:txBody>
          <a:bodyPr wrap="square" lIns="0" rIns="0" tIns="0" bIns="0">
            <a:spAutoFit/>
          </a:bodyPr>
          <a:lstStyle/>
          <a:p>
            <a:pPr>
              <a:spcAft>
                <a:spcPts val="400"/>
              </a:spcAft>
              <a:defRPr sz="1900" b="0" i="0">
                <a:solidFill>
                  <a:srgbClr val="A1A1A6"/>
                </a:solidFill>
                <a:latin typeface="Segoe UI"/>
              </a:defRPr>
            </a:pPr>
            <a:r>
              <a:t>Each microbenchmark rules out an alternative</a:t>
            </a:r>
          </a:p>
        </p:txBody>
      </p:sp>
      <p:sp>
        <p:nvSpPr>
          <p:cNvPr id="6" name="tx_0217"/>
          <p:cNvSpPr txBox="1"/>
          <p:nvPr/>
        </p:nvSpPr>
        <p:spPr>
          <a:xfrm>
            <a:off x="822960" y="5285231"/>
            <a:ext cx="10546079" cy="438912"/>
          </a:xfrm>
          <a:prstGeom prst="rect">
            <a:avLst/>
          </a:prstGeom>
          <a:noFill/>
        </p:spPr>
        <p:txBody>
          <a:bodyPr wrap="square" lIns="0" rIns="0" tIns="0" bIns="0">
            <a:spAutoFit/>
          </a:bodyPr>
          <a:lstStyle/>
          <a:p>
            <a:pPr>
              <a:spcAft>
                <a:spcPts val="400"/>
              </a:spcAft>
              <a:defRPr sz="1900" b="0" i="0">
                <a:solidFill>
                  <a:srgbClr val="A1A1A6"/>
                </a:solidFill>
                <a:latin typeface="Segoe UI"/>
              </a:defRPr>
            </a:pPr>
            <a:r>
              <a:t>Five one-entry slots — indexed by engine and field, not PASID</a:t>
            </a:r>
          </a:p>
        </p:txBody>
      </p:sp>
      <p:sp>
        <p:nvSpPr>
          <p:cNvPr id="7" name="tx_0218"/>
          <p:cNvSpPr txBox="1"/>
          <p:nvPr/>
        </p:nvSpPr>
        <p:spPr>
          <a:xfrm>
            <a:off x="822960" y="5724144"/>
            <a:ext cx="10546079" cy="438912"/>
          </a:xfrm>
          <a:prstGeom prst="rect">
            <a:avLst/>
          </a:prstGeom>
          <a:noFill/>
        </p:spPr>
        <p:txBody>
          <a:bodyPr wrap="square" lIns="0" rIns="0" tIns="0" bIns="0">
            <a:spAutoFit/>
          </a:bodyPr>
          <a:lstStyle/>
          <a:p>
            <a:pPr>
              <a:spcAft>
                <a:spcPts val="400"/>
              </a:spcAft>
              <a:defRPr sz="1900" b="0" i="0">
                <a:solidFill>
                  <a:srgbClr val="A1A1A6"/>
                </a:solidFill>
                <a:latin typeface="Segoe UI"/>
              </a:defRPr>
            </a:pPr>
            <a:r>
              <a:t>Prime → Idle → Probe   and   Congest → Idle → Probe</a:t>
            </a:r>
          </a:p>
        </p:txBody>
      </p:sp>
      <p:sp>
        <p:nvSpPr>
          <p:cNvPr id="8" name="tx_0219"/>
          <p:cNvSpPr txBox="1"/>
          <p:nvPr/>
        </p:nvSpPr>
        <p:spPr>
          <a:xfrm>
            <a:off x="10820399" y="6419088"/>
            <a:ext cx="548640" cy="228600"/>
          </a:xfrm>
          <a:prstGeom prst="rect">
            <a:avLst/>
          </a:prstGeom>
          <a:noFill/>
        </p:spPr>
        <p:txBody>
          <a:bodyPr wrap="square" lIns="0" rIns="0" tIns="0" bIns="0">
            <a:spAutoFit/>
          </a:bodyPr>
          <a:lstStyle/>
          <a:p>
            <a:pPr algn="r">
              <a:spcAft>
                <a:spcPts val="400"/>
              </a:spcAft>
              <a:defRPr sz="1000" b="0" i="0">
                <a:solidFill>
                  <a:srgbClr val="A1A1A6"/>
                </a:solidFill>
                <a:latin typeface="Segoe UI"/>
              </a:defRPr>
            </a:pPr>
            <a:r>
              <a:t>13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x_0220"/>
          <p:cNvSpPr txBox="1"/>
          <p:nvPr/>
        </p:nvSpPr>
        <p:spPr>
          <a:xfrm>
            <a:off x="822960" y="502920"/>
            <a:ext cx="10546079" cy="274320"/>
          </a:xfrm>
          <a:prstGeom prst="rect">
            <a:avLst/>
          </a:prstGeom>
          <a:noFill/>
        </p:spPr>
        <p:txBody>
          <a:bodyPr wrap="square" lIns="0" rIns="0" tIns="0" bIns="0">
            <a:spAutoFit/>
          </a:bodyPr>
          <a:lstStyle/>
          <a:p>
            <a:pPr>
              <a:spcAft>
                <a:spcPts val="400"/>
              </a:spcAft>
              <a:defRPr sz="1200" b="0" i="0">
                <a:solidFill>
                  <a:srgbClr val="0071E3"/>
                </a:solidFill>
                <a:latin typeface="Segoe UI Semibold"/>
              </a:defRPr>
            </a:pPr>
            <a:r>
              <a:t>The detective story</a:t>
            </a:r>
          </a:p>
        </p:txBody>
      </p:sp>
      <p:sp>
        <p:nvSpPr>
          <p:cNvPr id="3" name="tx_0221"/>
          <p:cNvSpPr txBox="1"/>
          <p:nvPr/>
        </p:nvSpPr>
        <p:spPr>
          <a:xfrm>
            <a:off x="822960" y="822960"/>
            <a:ext cx="10546079" cy="914400"/>
          </a:xfrm>
          <a:prstGeom prst="rect">
            <a:avLst/>
          </a:prstGeom>
          <a:noFill/>
        </p:spPr>
        <p:txBody>
          <a:bodyPr wrap="square" lIns="0" rIns="0" tIns="0" bIns="0">
            <a:spAutoFit/>
          </a:bodyPr>
          <a:lstStyle/>
          <a:p>
            <a:pPr>
              <a:lnSpc>
                <a:spcPct val="100000"/>
              </a:lnSpc>
              <a:spcAft>
                <a:spcPts val="400"/>
              </a:spcAft>
              <a:defRPr sz="3000" b="0" i="0">
                <a:solidFill>
                  <a:srgbClr val="1D1D1F"/>
                </a:solidFill>
                <a:latin typeface="Segoe UI Semibold"/>
              </a:defRPr>
            </a:pPr>
            <a:r>
              <a:t>Clue #1 — the opcode chooses which slot you touch</a:t>
            </a:r>
          </a:p>
        </p:txBody>
      </p:sp>
      <p:sp>
        <p:nvSpPr>
          <p:cNvPr id="4" name="tx_0222"/>
          <p:cNvSpPr txBox="1"/>
          <p:nvPr/>
        </p:nvSpPr>
        <p:spPr>
          <a:xfrm>
            <a:off x="822960" y="6419088"/>
            <a:ext cx="9631679" cy="228600"/>
          </a:xfrm>
          <a:prstGeom prst="rect">
            <a:avLst/>
          </a:prstGeom>
          <a:noFill/>
        </p:spPr>
        <p:txBody>
          <a:bodyPr wrap="square" lIns="0" rIns="0" tIns="0" bIns="0">
            <a:spAutoFit/>
          </a:bodyPr>
          <a:lstStyle/>
          <a:p>
            <a:pPr>
              <a:spcAft>
                <a:spcPts val="400"/>
              </a:spcAft>
              <a:defRPr sz="1000" b="0" i="0">
                <a:solidFill>
                  <a:srgbClr val="86868B"/>
                </a:solidFill>
                <a:latin typeface="Segoe UI"/>
              </a:defRPr>
            </a:pPr>
            <a:r>
              <a:t>Paper § IV-B, Fig. 3 · pp. 4–5</a:t>
            </a:r>
          </a:p>
        </p:txBody>
      </p:sp>
      <p:sp>
        <p:nvSpPr>
          <p:cNvPr id="5" name="tx_0223"/>
          <p:cNvSpPr txBox="1"/>
          <p:nvPr/>
        </p:nvSpPr>
        <p:spPr>
          <a:xfrm>
            <a:off x="10820399" y="6419088"/>
            <a:ext cx="548640" cy="228600"/>
          </a:xfrm>
          <a:prstGeom prst="rect">
            <a:avLst/>
          </a:prstGeom>
          <a:noFill/>
        </p:spPr>
        <p:txBody>
          <a:bodyPr wrap="square" lIns="0" rIns="0" tIns="0" bIns="0">
            <a:spAutoFit/>
          </a:bodyPr>
          <a:lstStyle/>
          <a:p>
            <a:pPr algn="r">
              <a:spcAft>
                <a:spcPts val="400"/>
              </a:spcAft>
              <a:defRPr sz="1000" b="0" i="0">
                <a:solidFill>
                  <a:srgbClr val="86868B"/>
                </a:solidFill>
                <a:latin typeface="Segoe UI"/>
              </a:defRPr>
            </a:pPr>
            <a:r>
              <a:t>14</a:t>
            </a:r>
          </a:p>
        </p:txBody>
      </p:sp>
      <p:sp>
        <p:nvSpPr>
          <p:cNvPr id="6" name="tx_0224"/>
          <p:cNvSpPr txBox="1"/>
          <p:nvPr/>
        </p:nvSpPr>
        <p:spPr>
          <a:xfrm>
            <a:off x="868680" y="1783080"/>
            <a:ext cx="2228697" cy="274320"/>
          </a:xfrm>
          <a:prstGeom prst="rect">
            <a:avLst/>
          </a:prstGeom>
          <a:noFill/>
        </p:spPr>
        <p:txBody>
          <a:bodyPr wrap="square" lIns="0" rIns="0" tIns="0" bIns="0">
            <a:spAutoFit/>
          </a:bodyPr>
          <a:lstStyle/>
          <a:p>
            <a:pPr>
              <a:spcAft>
                <a:spcPts val="400"/>
              </a:spcAft>
              <a:defRPr sz="1200" b="0" i="0">
                <a:solidFill>
                  <a:srgbClr val="86868B"/>
                </a:solidFill>
                <a:latin typeface="Segoe UI Semibold"/>
              </a:defRPr>
            </a:pPr>
            <a:r>
              <a:t>OPERATION</a:t>
            </a:r>
          </a:p>
        </p:txBody>
      </p:sp>
      <p:sp>
        <p:nvSpPr>
          <p:cNvPr id="7" name="tx_0225"/>
          <p:cNvSpPr txBox="1"/>
          <p:nvPr/>
        </p:nvSpPr>
        <p:spPr>
          <a:xfrm>
            <a:off x="3188817" y="1783080"/>
            <a:ext cx="2650540" cy="274320"/>
          </a:xfrm>
          <a:prstGeom prst="rect">
            <a:avLst/>
          </a:prstGeom>
          <a:noFill/>
        </p:spPr>
        <p:txBody>
          <a:bodyPr wrap="square" lIns="0" rIns="0" tIns="0" bIns="0">
            <a:spAutoFit/>
          </a:bodyPr>
          <a:lstStyle/>
          <a:p>
            <a:pPr>
              <a:spcAft>
                <a:spcPts val="400"/>
              </a:spcAft>
              <a:defRPr sz="1200" b="0" i="0">
                <a:solidFill>
                  <a:srgbClr val="86868B"/>
                </a:solidFill>
                <a:latin typeface="Segoe UI Semibold"/>
              </a:defRPr>
            </a:pPr>
            <a:r>
              <a:t>ADDRESS FIELDS</a:t>
            </a:r>
          </a:p>
        </p:txBody>
      </p:sp>
      <p:sp>
        <p:nvSpPr>
          <p:cNvPr id="8" name="tx_0226"/>
          <p:cNvSpPr txBox="1"/>
          <p:nvPr/>
        </p:nvSpPr>
        <p:spPr>
          <a:xfrm>
            <a:off x="5930798" y="1783080"/>
            <a:ext cx="1595932" cy="274320"/>
          </a:xfrm>
          <a:prstGeom prst="rect">
            <a:avLst/>
          </a:prstGeom>
          <a:noFill/>
        </p:spPr>
        <p:txBody>
          <a:bodyPr wrap="square" lIns="0" rIns="0" tIns="0" bIns="0">
            <a:spAutoFit/>
          </a:bodyPr>
          <a:lstStyle/>
          <a:p>
            <a:pPr>
              <a:spcAft>
                <a:spcPts val="400"/>
              </a:spcAft>
              <a:defRPr sz="1200" b="0" i="0">
                <a:solidFill>
                  <a:srgbClr val="86868B"/>
                </a:solidFill>
                <a:latin typeface="Segoe UI Semibold"/>
              </a:defRPr>
            </a:pPr>
            <a:r>
              <a:t>COMPLETION</a:t>
            </a:r>
          </a:p>
        </p:txBody>
      </p:sp>
      <p:sp>
        <p:nvSpPr>
          <p:cNvPr id="9" name="tx_0227"/>
          <p:cNvSpPr txBox="1"/>
          <p:nvPr/>
        </p:nvSpPr>
        <p:spPr>
          <a:xfrm>
            <a:off x="7618171" y="1783080"/>
            <a:ext cx="3705148" cy="274320"/>
          </a:xfrm>
          <a:prstGeom prst="rect">
            <a:avLst/>
          </a:prstGeom>
          <a:noFill/>
        </p:spPr>
        <p:txBody>
          <a:bodyPr wrap="square" lIns="0" rIns="0" tIns="0" bIns="0">
            <a:spAutoFit/>
          </a:bodyPr>
          <a:lstStyle/>
          <a:p>
            <a:pPr>
              <a:spcAft>
                <a:spcPts val="400"/>
              </a:spcAft>
              <a:defRPr sz="1200" b="0" i="0">
                <a:solidFill>
                  <a:srgbClr val="86868B"/>
                </a:solidFill>
                <a:latin typeface="Segoe UI Semibold"/>
              </a:defRPr>
            </a:pPr>
            <a:r>
              <a:t>WHY USEFUL</a:t>
            </a:r>
          </a:p>
        </p:txBody>
      </p:sp>
      <p:cxnSp>
        <p:nvCxnSpPr>
          <p:cNvPr id="10" name="hl_0228"/>
          <p:cNvCxnSpPr/>
          <p:nvPr/>
        </p:nvCxnSpPr>
        <p:spPr>
          <a:xfrm>
            <a:off x="822960" y="2148840"/>
            <a:ext cx="10546079" cy="0"/>
          </a:xfrm>
          <a:prstGeom prst="line">
            <a:avLst/>
          </a:prstGeom>
          <a:ln w="12700">
            <a:solidFill>
              <a:srgbClr val="1D1D1F"/>
            </a:solidFill>
          </a:ln>
        </p:spPr>
        <p:style>
          <a:lnRef idx="2">
            <a:schemeClr val="accent1"/>
          </a:lnRef>
          <a:fillRef idx="0">
            <a:schemeClr val="accent1"/>
          </a:fillRef>
          <a:effectRef idx="1">
            <a:schemeClr val="accent1"/>
          </a:effectRef>
          <a:fontRef idx="minor">
            <a:schemeClr val="tx1"/>
          </a:fontRef>
        </p:style>
      </p:cxnSp>
      <p:sp>
        <p:nvSpPr>
          <p:cNvPr id="11" name="tx_0229"/>
          <p:cNvSpPr txBox="1"/>
          <p:nvPr/>
        </p:nvSpPr>
        <p:spPr>
          <a:xfrm>
            <a:off x="868680" y="2276856"/>
            <a:ext cx="2228697" cy="365760"/>
          </a:xfrm>
          <a:prstGeom prst="rect">
            <a:avLst/>
          </a:prstGeom>
          <a:noFill/>
        </p:spPr>
        <p:txBody>
          <a:bodyPr wrap="square" lIns="0" rIns="0" tIns="0" bIns="0" anchor="ctr">
            <a:spAutoFit/>
          </a:bodyPr>
          <a:lstStyle/>
          <a:p>
            <a:pPr>
              <a:spcAft>
                <a:spcPts val="400"/>
              </a:spcAft>
              <a:defRPr sz="1800" b="0" i="0">
                <a:solidFill>
                  <a:srgbClr val="1D1D1F"/>
                </a:solidFill>
                <a:latin typeface="Segoe UI Semibold"/>
              </a:defRPr>
            </a:pPr>
            <a:r>
              <a:t>noop</a:t>
            </a:r>
          </a:p>
        </p:txBody>
      </p:sp>
      <p:sp>
        <p:nvSpPr>
          <p:cNvPr id="12" name="tx_0230"/>
          <p:cNvSpPr txBox="1"/>
          <p:nvPr/>
        </p:nvSpPr>
        <p:spPr>
          <a:xfrm>
            <a:off x="3188817" y="2276856"/>
            <a:ext cx="2650540" cy="365760"/>
          </a:xfrm>
          <a:prstGeom prst="rect">
            <a:avLst/>
          </a:prstGeom>
          <a:noFill/>
        </p:spPr>
        <p:txBody>
          <a:bodyPr wrap="square" lIns="0" rIns="0" tIns="0" bIns="0" anchor="ctr">
            <a:spAutoFit/>
          </a:bodyPr>
          <a:lstStyle/>
          <a:p>
            <a:pPr>
              <a:spcAft>
                <a:spcPts val="400"/>
              </a:spcAft>
              <a:defRPr sz="1800" b="0" i="0">
                <a:solidFill>
                  <a:srgbClr val="6E6E73"/>
                </a:solidFill>
                <a:latin typeface="Segoe UI"/>
              </a:defRPr>
            </a:pPr>
            <a:r>
              <a:t>none</a:t>
            </a:r>
          </a:p>
        </p:txBody>
      </p:sp>
      <p:sp>
        <p:nvSpPr>
          <p:cNvPr id="13" name="tx_0231"/>
          <p:cNvSpPr txBox="1"/>
          <p:nvPr/>
        </p:nvSpPr>
        <p:spPr>
          <a:xfrm>
            <a:off x="5930798" y="2276856"/>
            <a:ext cx="1595932" cy="365760"/>
          </a:xfrm>
          <a:prstGeom prst="rect">
            <a:avLst/>
          </a:prstGeom>
          <a:noFill/>
        </p:spPr>
        <p:txBody>
          <a:bodyPr wrap="square" lIns="0" rIns="0" tIns="0" bIns="0" anchor="ctr">
            <a:spAutoFit/>
          </a:bodyPr>
          <a:lstStyle/>
          <a:p>
            <a:pPr>
              <a:spcAft>
                <a:spcPts val="400"/>
              </a:spcAft>
              <a:defRPr sz="1800" b="0" i="0">
                <a:solidFill>
                  <a:srgbClr val="6E6E73"/>
                </a:solidFill>
                <a:latin typeface="Segoe UI"/>
              </a:defRPr>
            </a:pPr>
            <a:r>
              <a:t>comp</a:t>
            </a:r>
          </a:p>
        </p:txBody>
      </p:sp>
      <p:sp>
        <p:nvSpPr>
          <p:cNvPr id="14" name="tx_0232"/>
          <p:cNvSpPr txBox="1"/>
          <p:nvPr/>
        </p:nvSpPr>
        <p:spPr>
          <a:xfrm>
            <a:off x="7618171" y="2276856"/>
            <a:ext cx="3705148" cy="365760"/>
          </a:xfrm>
          <a:prstGeom prst="rect">
            <a:avLst/>
          </a:prstGeom>
          <a:noFill/>
        </p:spPr>
        <p:txBody>
          <a:bodyPr wrap="square" lIns="0" rIns="0" tIns="0" bIns="0" anchor="ctr">
            <a:spAutoFit/>
          </a:bodyPr>
          <a:lstStyle/>
          <a:p>
            <a:pPr>
              <a:spcAft>
                <a:spcPts val="400"/>
              </a:spcAft>
              <a:defRPr sz="1800" b="0" i="0">
                <a:solidFill>
                  <a:srgbClr val="6E6E73"/>
                </a:solidFill>
                <a:latin typeface="Segoe UI"/>
              </a:defRPr>
            </a:pPr>
            <a:r>
              <a:t>Minimal timing probe — the scalpel</a:t>
            </a:r>
          </a:p>
        </p:txBody>
      </p:sp>
      <p:cxnSp>
        <p:nvCxnSpPr>
          <p:cNvPr id="15" name="hl_0233"/>
          <p:cNvCxnSpPr/>
          <p:nvPr/>
        </p:nvCxnSpPr>
        <p:spPr>
          <a:xfrm>
            <a:off x="822960" y="2770632"/>
            <a:ext cx="10546079"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16" name="tx_0234"/>
          <p:cNvSpPr txBox="1"/>
          <p:nvPr/>
        </p:nvSpPr>
        <p:spPr>
          <a:xfrm>
            <a:off x="868680" y="2898648"/>
            <a:ext cx="2228697" cy="365760"/>
          </a:xfrm>
          <a:prstGeom prst="rect">
            <a:avLst/>
          </a:prstGeom>
          <a:noFill/>
        </p:spPr>
        <p:txBody>
          <a:bodyPr wrap="square" lIns="0" rIns="0" tIns="0" bIns="0" anchor="ctr">
            <a:spAutoFit/>
          </a:bodyPr>
          <a:lstStyle/>
          <a:p>
            <a:pPr>
              <a:spcAft>
                <a:spcPts val="400"/>
              </a:spcAft>
              <a:defRPr sz="1800" b="0" i="0">
                <a:solidFill>
                  <a:srgbClr val="1D1D1F"/>
                </a:solidFill>
                <a:latin typeface="Segoe UI Semibold"/>
              </a:defRPr>
            </a:pPr>
            <a:r>
              <a:t>memcmp / compare</a:t>
            </a:r>
          </a:p>
        </p:txBody>
      </p:sp>
      <p:sp>
        <p:nvSpPr>
          <p:cNvPr id="17" name="tx_0235"/>
          <p:cNvSpPr txBox="1"/>
          <p:nvPr/>
        </p:nvSpPr>
        <p:spPr>
          <a:xfrm>
            <a:off x="3188817" y="2898648"/>
            <a:ext cx="2650540" cy="365760"/>
          </a:xfrm>
          <a:prstGeom prst="rect">
            <a:avLst/>
          </a:prstGeom>
          <a:noFill/>
        </p:spPr>
        <p:txBody>
          <a:bodyPr wrap="square" lIns="0" rIns="0" tIns="0" bIns="0" anchor="ctr">
            <a:spAutoFit/>
          </a:bodyPr>
          <a:lstStyle/>
          <a:p>
            <a:pPr>
              <a:spcAft>
                <a:spcPts val="400"/>
              </a:spcAft>
              <a:defRPr sz="1800" b="0" i="0">
                <a:solidFill>
                  <a:srgbClr val="6E6E73"/>
                </a:solidFill>
                <a:latin typeface="Segoe UI"/>
              </a:defRPr>
            </a:pPr>
            <a:r>
              <a:t>src + src2</a:t>
            </a:r>
          </a:p>
        </p:txBody>
      </p:sp>
      <p:sp>
        <p:nvSpPr>
          <p:cNvPr id="18" name="tx_0236"/>
          <p:cNvSpPr txBox="1"/>
          <p:nvPr/>
        </p:nvSpPr>
        <p:spPr>
          <a:xfrm>
            <a:off x="5930798" y="2898648"/>
            <a:ext cx="1595932" cy="365760"/>
          </a:xfrm>
          <a:prstGeom prst="rect">
            <a:avLst/>
          </a:prstGeom>
          <a:noFill/>
        </p:spPr>
        <p:txBody>
          <a:bodyPr wrap="square" lIns="0" rIns="0" tIns="0" bIns="0" anchor="ctr">
            <a:spAutoFit/>
          </a:bodyPr>
          <a:lstStyle/>
          <a:p>
            <a:pPr>
              <a:spcAft>
                <a:spcPts val="400"/>
              </a:spcAft>
              <a:defRPr sz="1800" b="0" i="0">
                <a:solidFill>
                  <a:srgbClr val="6E6E73"/>
                </a:solidFill>
                <a:latin typeface="Segoe UI"/>
              </a:defRPr>
            </a:pPr>
            <a:r>
              <a:t>comp</a:t>
            </a:r>
          </a:p>
        </p:txBody>
      </p:sp>
      <p:sp>
        <p:nvSpPr>
          <p:cNvPr id="19" name="tx_0237"/>
          <p:cNvSpPr txBox="1"/>
          <p:nvPr/>
        </p:nvSpPr>
        <p:spPr>
          <a:xfrm>
            <a:off x="7618171" y="2898648"/>
            <a:ext cx="3705148" cy="365760"/>
          </a:xfrm>
          <a:prstGeom prst="rect">
            <a:avLst/>
          </a:prstGeom>
          <a:noFill/>
        </p:spPr>
        <p:txBody>
          <a:bodyPr wrap="square" lIns="0" rIns="0" tIns="0" bIns="0" anchor="ctr">
            <a:spAutoFit/>
          </a:bodyPr>
          <a:lstStyle/>
          <a:p>
            <a:pPr>
              <a:spcAft>
                <a:spcPts val="400"/>
              </a:spcAft>
              <a:defRPr sz="1800" b="0" i="0">
                <a:solidFill>
                  <a:srgbClr val="6E6E73"/>
                </a:solidFill>
                <a:latin typeface="Segoe UI"/>
              </a:defRPr>
            </a:pPr>
            <a:r>
              <a:t>Two independent reads</a:t>
            </a:r>
          </a:p>
        </p:txBody>
      </p:sp>
      <p:cxnSp>
        <p:nvCxnSpPr>
          <p:cNvPr id="20" name="hl_0238"/>
          <p:cNvCxnSpPr/>
          <p:nvPr/>
        </p:nvCxnSpPr>
        <p:spPr>
          <a:xfrm>
            <a:off x="822960" y="3392424"/>
            <a:ext cx="10546079"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21" name="tx_0239"/>
          <p:cNvSpPr txBox="1"/>
          <p:nvPr/>
        </p:nvSpPr>
        <p:spPr>
          <a:xfrm>
            <a:off x="868680" y="3520440"/>
            <a:ext cx="2228697" cy="365760"/>
          </a:xfrm>
          <a:prstGeom prst="rect">
            <a:avLst/>
          </a:prstGeom>
          <a:noFill/>
        </p:spPr>
        <p:txBody>
          <a:bodyPr wrap="square" lIns="0" rIns="0" tIns="0" bIns="0" anchor="ctr">
            <a:spAutoFit/>
          </a:bodyPr>
          <a:lstStyle/>
          <a:p>
            <a:pPr>
              <a:spcAft>
                <a:spcPts val="400"/>
              </a:spcAft>
              <a:defRPr sz="1800" b="0" i="0">
                <a:solidFill>
                  <a:srgbClr val="1D1D1F"/>
                </a:solidFill>
                <a:latin typeface="Segoe UI Semibold"/>
              </a:defRPr>
            </a:pPr>
            <a:r>
              <a:t>memcpy</a:t>
            </a:r>
          </a:p>
        </p:txBody>
      </p:sp>
      <p:sp>
        <p:nvSpPr>
          <p:cNvPr id="22" name="tx_0240"/>
          <p:cNvSpPr txBox="1"/>
          <p:nvPr/>
        </p:nvSpPr>
        <p:spPr>
          <a:xfrm>
            <a:off x="3188817" y="3520440"/>
            <a:ext cx="2650540" cy="365760"/>
          </a:xfrm>
          <a:prstGeom prst="rect">
            <a:avLst/>
          </a:prstGeom>
          <a:noFill/>
        </p:spPr>
        <p:txBody>
          <a:bodyPr wrap="square" lIns="0" rIns="0" tIns="0" bIns="0" anchor="ctr">
            <a:spAutoFit/>
          </a:bodyPr>
          <a:lstStyle/>
          <a:p>
            <a:pPr>
              <a:spcAft>
                <a:spcPts val="400"/>
              </a:spcAft>
              <a:defRPr sz="1800" b="0" i="0">
                <a:solidFill>
                  <a:srgbClr val="6E6E73"/>
                </a:solidFill>
                <a:latin typeface="Segoe UI"/>
              </a:defRPr>
            </a:pPr>
            <a:r>
              <a:t>src + dst</a:t>
            </a:r>
          </a:p>
        </p:txBody>
      </p:sp>
      <p:sp>
        <p:nvSpPr>
          <p:cNvPr id="23" name="tx_0241"/>
          <p:cNvSpPr txBox="1"/>
          <p:nvPr/>
        </p:nvSpPr>
        <p:spPr>
          <a:xfrm>
            <a:off x="5930798" y="3520440"/>
            <a:ext cx="1595932" cy="365760"/>
          </a:xfrm>
          <a:prstGeom prst="rect">
            <a:avLst/>
          </a:prstGeom>
          <a:noFill/>
        </p:spPr>
        <p:txBody>
          <a:bodyPr wrap="square" lIns="0" rIns="0" tIns="0" bIns="0" anchor="ctr">
            <a:spAutoFit/>
          </a:bodyPr>
          <a:lstStyle/>
          <a:p>
            <a:pPr>
              <a:spcAft>
                <a:spcPts val="400"/>
              </a:spcAft>
              <a:defRPr sz="1800" b="0" i="0">
                <a:solidFill>
                  <a:srgbClr val="6E6E73"/>
                </a:solidFill>
                <a:latin typeface="Segoe UI"/>
              </a:defRPr>
            </a:pPr>
            <a:r>
              <a:t>comp</a:t>
            </a:r>
          </a:p>
        </p:txBody>
      </p:sp>
      <p:sp>
        <p:nvSpPr>
          <p:cNvPr id="24" name="tx_0242"/>
          <p:cNvSpPr txBox="1"/>
          <p:nvPr/>
        </p:nvSpPr>
        <p:spPr>
          <a:xfrm>
            <a:off x="7618171" y="3520440"/>
            <a:ext cx="3705148" cy="365760"/>
          </a:xfrm>
          <a:prstGeom prst="rect">
            <a:avLst/>
          </a:prstGeom>
          <a:noFill/>
        </p:spPr>
        <p:txBody>
          <a:bodyPr wrap="square" lIns="0" rIns="0" tIns="0" bIns="0" anchor="ctr">
            <a:spAutoFit/>
          </a:bodyPr>
          <a:lstStyle/>
          <a:p>
            <a:pPr>
              <a:spcAft>
                <a:spcPts val="400"/>
              </a:spcAft>
              <a:defRPr sz="1800" b="0" i="0">
                <a:solidFill>
                  <a:srgbClr val="6E6E73"/>
                </a:solidFill>
                <a:latin typeface="Segoe UI"/>
              </a:defRPr>
            </a:pPr>
            <a:r>
              <a:t>Read / write separation</a:t>
            </a:r>
          </a:p>
        </p:txBody>
      </p:sp>
      <p:cxnSp>
        <p:nvCxnSpPr>
          <p:cNvPr id="25" name="hl_0243"/>
          <p:cNvCxnSpPr/>
          <p:nvPr/>
        </p:nvCxnSpPr>
        <p:spPr>
          <a:xfrm>
            <a:off x="822960" y="4014215"/>
            <a:ext cx="10546079"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26" name="tx_0244"/>
          <p:cNvSpPr txBox="1"/>
          <p:nvPr/>
        </p:nvSpPr>
        <p:spPr>
          <a:xfrm>
            <a:off x="868680" y="4142232"/>
            <a:ext cx="2228697" cy="365760"/>
          </a:xfrm>
          <a:prstGeom prst="rect">
            <a:avLst/>
          </a:prstGeom>
          <a:noFill/>
        </p:spPr>
        <p:txBody>
          <a:bodyPr wrap="square" lIns="0" rIns="0" tIns="0" bIns="0" anchor="ctr">
            <a:spAutoFit/>
          </a:bodyPr>
          <a:lstStyle/>
          <a:p>
            <a:pPr>
              <a:spcAft>
                <a:spcPts val="400"/>
              </a:spcAft>
              <a:defRPr sz="1800" b="0" i="0">
                <a:solidFill>
                  <a:srgbClr val="1D1D1F"/>
                </a:solidFill>
                <a:latin typeface="Segoe UI Semibold"/>
              </a:defRPr>
            </a:pPr>
            <a:r>
              <a:t>dualcast</a:t>
            </a:r>
          </a:p>
        </p:txBody>
      </p:sp>
      <p:sp>
        <p:nvSpPr>
          <p:cNvPr id="27" name="tx_0245"/>
          <p:cNvSpPr txBox="1"/>
          <p:nvPr/>
        </p:nvSpPr>
        <p:spPr>
          <a:xfrm>
            <a:off x="3188817" y="4142232"/>
            <a:ext cx="2650540" cy="365760"/>
          </a:xfrm>
          <a:prstGeom prst="rect">
            <a:avLst/>
          </a:prstGeom>
          <a:noFill/>
        </p:spPr>
        <p:txBody>
          <a:bodyPr wrap="square" lIns="0" rIns="0" tIns="0" bIns="0" anchor="ctr">
            <a:spAutoFit/>
          </a:bodyPr>
          <a:lstStyle/>
          <a:p>
            <a:pPr>
              <a:spcAft>
                <a:spcPts val="400"/>
              </a:spcAft>
              <a:defRPr sz="1800" b="0" i="0">
                <a:solidFill>
                  <a:srgbClr val="6E6E73"/>
                </a:solidFill>
                <a:latin typeface="Segoe UI"/>
              </a:defRPr>
            </a:pPr>
            <a:r>
              <a:t>src + dst + dst2</a:t>
            </a:r>
          </a:p>
        </p:txBody>
      </p:sp>
      <p:sp>
        <p:nvSpPr>
          <p:cNvPr id="28" name="tx_0246"/>
          <p:cNvSpPr txBox="1"/>
          <p:nvPr/>
        </p:nvSpPr>
        <p:spPr>
          <a:xfrm>
            <a:off x="5930798" y="4142232"/>
            <a:ext cx="1595932" cy="365760"/>
          </a:xfrm>
          <a:prstGeom prst="rect">
            <a:avLst/>
          </a:prstGeom>
          <a:noFill/>
        </p:spPr>
        <p:txBody>
          <a:bodyPr wrap="square" lIns="0" rIns="0" tIns="0" bIns="0" anchor="ctr">
            <a:spAutoFit/>
          </a:bodyPr>
          <a:lstStyle/>
          <a:p>
            <a:pPr>
              <a:spcAft>
                <a:spcPts val="400"/>
              </a:spcAft>
              <a:defRPr sz="1800" b="0" i="0">
                <a:solidFill>
                  <a:srgbClr val="6E6E73"/>
                </a:solidFill>
                <a:latin typeface="Segoe UI"/>
              </a:defRPr>
            </a:pPr>
            <a:r>
              <a:t>comp</a:t>
            </a:r>
          </a:p>
        </p:txBody>
      </p:sp>
      <p:sp>
        <p:nvSpPr>
          <p:cNvPr id="29" name="tx_0247"/>
          <p:cNvSpPr txBox="1"/>
          <p:nvPr/>
        </p:nvSpPr>
        <p:spPr>
          <a:xfrm>
            <a:off x="7618171" y="4142232"/>
            <a:ext cx="3705148" cy="365760"/>
          </a:xfrm>
          <a:prstGeom prst="rect">
            <a:avLst/>
          </a:prstGeom>
          <a:noFill/>
        </p:spPr>
        <p:txBody>
          <a:bodyPr wrap="square" lIns="0" rIns="0" tIns="0" bIns="0" anchor="ctr">
            <a:spAutoFit/>
          </a:bodyPr>
          <a:lstStyle/>
          <a:p>
            <a:pPr>
              <a:spcAft>
                <a:spcPts val="400"/>
              </a:spcAft>
              <a:defRPr sz="1800" b="0" i="0">
                <a:solidFill>
                  <a:srgbClr val="6E6E73"/>
                </a:solidFill>
                <a:latin typeface="Segoe UI"/>
              </a:defRPr>
            </a:pPr>
            <a:r>
              <a:t>Multiple destination slots</a:t>
            </a:r>
          </a:p>
        </p:txBody>
      </p:sp>
      <p:cxnSp>
        <p:nvCxnSpPr>
          <p:cNvPr id="30" name="hl_0248"/>
          <p:cNvCxnSpPr/>
          <p:nvPr/>
        </p:nvCxnSpPr>
        <p:spPr>
          <a:xfrm>
            <a:off x="822960" y="4636008"/>
            <a:ext cx="10546079"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31" name="tx_0249"/>
          <p:cNvSpPr txBox="1"/>
          <p:nvPr/>
        </p:nvSpPr>
        <p:spPr>
          <a:xfrm>
            <a:off x="822960" y="4846320"/>
            <a:ext cx="10546079" cy="365760"/>
          </a:xfrm>
          <a:prstGeom prst="rect">
            <a:avLst/>
          </a:prstGeom>
          <a:noFill/>
        </p:spPr>
        <p:txBody>
          <a:bodyPr wrap="square" lIns="0" rIns="0" tIns="0" bIns="0">
            <a:spAutoFit/>
          </a:bodyPr>
          <a:lstStyle/>
          <a:p>
            <a:pPr>
              <a:spcAft>
                <a:spcPts val="400"/>
              </a:spcAft>
              <a:defRPr sz="1600" b="0" i="1">
                <a:solidFill>
                  <a:srgbClr val="6E6E73"/>
                </a:solidFill>
                <a:latin typeface="Segoe UI"/>
              </a:defRPr>
            </a:pPr>
            <a:r>
              <a:t>Byte 24 is src2 for compare but dst for copy — same bits, different meaning.</a:t>
            </a:r>
          </a:p>
        </p:txBody>
      </p:sp>
      <p:sp>
        <p:nvSpPr>
          <p:cNvPr id="32" name="rect_0250"/>
          <p:cNvSpPr/>
          <p:nvPr/>
        </p:nvSpPr>
        <p:spPr>
          <a:xfrm>
            <a:off x="822960" y="5623560"/>
            <a:ext cx="502920" cy="41148"/>
          </a:xfrm>
          <a:prstGeom prst="rect">
            <a:avLst/>
          </a:prstGeom>
          <a:solidFill>
            <a:srgbClr val="007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x_0251"/>
          <p:cNvSpPr txBox="1"/>
          <p:nvPr/>
        </p:nvSpPr>
        <p:spPr>
          <a:xfrm>
            <a:off x="822960" y="5779008"/>
            <a:ext cx="10546079" cy="548640"/>
          </a:xfrm>
          <a:prstGeom prst="rect">
            <a:avLst/>
          </a:prstGeom>
          <a:noFill/>
        </p:spPr>
        <p:txBody>
          <a:bodyPr wrap="square" lIns="0" rIns="0" tIns="0" bIns="0">
            <a:spAutoFit/>
          </a:bodyPr>
          <a:lstStyle/>
          <a:p>
            <a:pPr>
              <a:spcAft>
                <a:spcPts val="400"/>
              </a:spcAft>
              <a:defRPr sz="2100" b="0" i="0">
                <a:solidFill>
                  <a:srgbClr val="1D1D1F"/>
                </a:solidFill>
                <a:latin typeface="Segoe UI Semibold"/>
              </a:defRPr>
            </a:pPr>
            <a:r>
              <a:t>The opcode changes field meaning; field meaning changes which slot is used.</a:t>
            </a:r>
          </a:p>
        </p:txBody>
      </p:sp>
    </p:spTree>
  </p:cSld>
  <p:clrMapOvr>
    <a:masterClrMapping/>
  </p:clrMapOvr>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x_0252"/>
          <p:cNvSpPr txBox="1"/>
          <p:nvPr/>
        </p:nvSpPr>
        <p:spPr>
          <a:xfrm>
            <a:off x="822960" y="502920"/>
            <a:ext cx="10546079" cy="274320"/>
          </a:xfrm>
          <a:prstGeom prst="rect">
            <a:avLst/>
          </a:prstGeom>
          <a:noFill/>
        </p:spPr>
        <p:txBody>
          <a:bodyPr wrap="square" lIns="0" rIns="0" tIns="0" bIns="0">
            <a:spAutoFit/>
          </a:bodyPr>
          <a:lstStyle/>
          <a:p>
            <a:pPr>
              <a:spcAft>
                <a:spcPts val="400"/>
              </a:spcAft>
              <a:defRPr sz="1200" b="0" i="0">
                <a:solidFill>
                  <a:srgbClr val="0071E3"/>
                </a:solidFill>
                <a:latin typeface="Segoe UI Semibold"/>
              </a:defRPr>
            </a:pPr>
            <a:r>
              <a:t>The detective story</a:t>
            </a:r>
          </a:p>
        </p:txBody>
      </p:sp>
      <p:sp>
        <p:nvSpPr>
          <p:cNvPr id="3" name="tx_0253"/>
          <p:cNvSpPr txBox="1"/>
          <p:nvPr/>
        </p:nvSpPr>
        <p:spPr>
          <a:xfrm>
            <a:off x="822960" y="822960"/>
            <a:ext cx="10546079" cy="914400"/>
          </a:xfrm>
          <a:prstGeom prst="rect">
            <a:avLst/>
          </a:prstGeom>
          <a:noFill/>
        </p:spPr>
        <p:txBody>
          <a:bodyPr wrap="square" lIns="0" rIns="0" tIns="0" bIns="0">
            <a:spAutoFit/>
          </a:bodyPr>
          <a:lstStyle/>
          <a:p>
            <a:pPr>
              <a:lnSpc>
                <a:spcPct val="100000"/>
              </a:lnSpc>
              <a:spcAft>
                <a:spcPts val="400"/>
              </a:spcAft>
              <a:defRPr sz="3000" b="0" i="0">
                <a:solidFill>
                  <a:srgbClr val="1D1D1F"/>
                </a:solidFill>
                <a:latin typeface="Segoe UI Semibold"/>
              </a:defRPr>
            </a:pPr>
            <a:r>
              <a:t>The reveal — five drawers, one translation each</a:t>
            </a:r>
          </a:p>
        </p:txBody>
      </p:sp>
      <p:sp>
        <p:nvSpPr>
          <p:cNvPr id="4" name="tx_0254"/>
          <p:cNvSpPr txBox="1"/>
          <p:nvPr/>
        </p:nvSpPr>
        <p:spPr>
          <a:xfrm>
            <a:off x="822960" y="6419088"/>
            <a:ext cx="9631679" cy="228600"/>
          </a:xfrm>
          <a:prstGeom prst="rect">
            <a:avLst/>
          </a:prstGeom>
          <a:noFill/>
        </p:spPr>
        <p:txBody>
          <a:bodyPr wrap="square" lIns="0" rIns="0" tIns="0" bIns="0">
            <a:spAutoFit/>
          </a:bodyPr>
          <a:lstStyle/>
          <a:p>
            <a:pPr>
              <a:spcAft>
                <a:spcPts val="400"/>
              </a:spcAft>
              <a:defRPr sz="1000" b="0" i="0">
                <a:solidFill>
                  <a:srgbClr val="86868B"/>
                </a:solidFill>
                <a:latin typeface="Segoe UI"/>
              </a:defRPr>
            </a:pPr>
            <a:r>
              <a:t>Paper §§ IV-A–B, Fig. 2 · pp. 3–6 · empirical model</a:t>
            </a:r>
          </a:p>
        </p:txBody>
      </p:sp>
      <p:sp>
        <p:nvSpPr>
          <p:cNvPr id="5" name="tx_0255"/>
          <p:cNvSpPr txBox="1"/>
          <p:nvPr/>
        </p:nvSpPr>
        <p:spPr>
          <a:xfrm>
            <a:off x="10820399" y="6419088"/>
            <a:ext cx="548640" cy="228600"/>
          </a:xfrm>
          <a:prstGeom prst="rect">
            <a:avLst/>
          </a:prstGeom>
          <a:noFill/>
        </p:spPr>
        <p:txBody>
          <a:bodyPr wrap="square" lIns="0" rIns="0" tIns="0" bIns="0">
            <a:spAutoFit/>
          </a:bodyPr>
          <a:lstStyle/>
          <a:p>
            <a:pPr algn="r">
              <a:spcAft>
                <a:spcPts val="400"/>
              </a:spcAft>
              <a:defRPr sz="1000" b="0" i="0">
                <a:solidFill>
                  <a:srgbClr val="86868B"/>
                </a:solidFill>
                <a:latin typeface="Segoe UI"/>
              </a:defRPr>
            </a:pPr>
            <a:r>
              <a:t>15</a:t>
            </a:r>
          </a:p>
        </p:txBody>
      </p:sp>
      <p:sp>
        <p:nvSpPr>
          <p:cNvPr id="6" name="tx_0256"/>
          <p:cNvSpPr txBox="1"/>
          <p:nvPr/>
        </p:nvSpPr>
        <p:spPr>
          <a:xfrm>
            <a:off x="822960" y="1874519"/>
            <a:ext cx="2743200" cy="365760"/>
          </a:xfrm>
          <a:prstGeom prst="rect">
            <a:avLst/>
          </a:prstGeom>
          <a:noFill/>
        </p:spPr>
        <p:txBody>
          <a:bodyPr wrap="square" lIns="0" rIns="0" tIns="0" bIns="0">
            <a:spAutoFit/>
          </a:bodyPr>
          <a:lstStyle/>
          <a:p>
            <a:pPr>
              <a:spcAft>
                <a:spcPts val="400"/>
              </a:spcAft>
              <a:defRPr sz="1700" b="0" i="0">
                <a:solidFill>
                  <a:srgbClr val="6E6E73"/>
                </a:solidFill>
                <a:latin typeface="Segoe UI Semibold"/>
              </a:defRPr>
            </a:pPr>
            <a:r>
              <a:t>Engine 0</a:t>
            </a:r>
          </a:p>
        </p:txBody>
      </p:sp>
      <p:sp>
        <p:nvSpPr>
          <p:cNvPr id="7" name="rect_0257"/>
          <p:cNvSpPr/>
          <p:nvPr/>
        </p:nvSpPr>
        <p:spPr>
          <a:xfrm>
            <a:off x="822960" y="2331720"/>
            <a:ext cx="1853183" cy="1371600"/>
          </a:xfrm>
          <a:prstGeom prst="roundRect">
            <a:avLst>
              <a:gd name="adj" fmla="val 12000"/>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x_0258"/>
          <p:cNvSpPr txBox="1"/>
          <p:nvPr/>
        </p:nvSpPr>
        <p:spPr>
          <a:xfrm>
            <a:off x="822960" y="2651760"/>
            <a:ext cx="1853183" cy="365760"/>
          </a:xfrm>
          <a:prstGeom prst="rect">
            <a:avLst/>
          </a:prstGeom>
          <a:noFill/>
        </p:spPr>
        <p:txBody>
          <a:bodyPr wrap="square" lIns="0" rIns="0" tIns="0" bIns="0">
            <a:spAutoFit/>
          </a:bodyPr>
          <a:lstStyle/>
          <a:p>
            <a:pPr algn="ctr">
              <a:spcAft>
                <a:spcPts val="400"/>
              </a:spcAft>
              <a:defRPr sz="2200" b="0" i="0">
                <a:solidFill>
                  <a:srgbClr val="1D1D1F"/>
                </a:solidFill>
                <a:latin typeface="Segoe UI Semibold"/>
              </a:defRPr>
            </a:pPr>
            <a:r>
              <a:t>src</a:t>
            </a:r>
          </a:p>
        </p:txBody>
      </p:sp>
      <p:sp>
        <p:nvSpPr>
          <p:cNvPr id="9" name="tx_0259"/>
          <p:cNvSpPr txBox="1"/>
          <p:nvPr/>
        </p:nvSpPr>
        <p:spPr>
          <a:xfrm>
            <a:off x="822960" y="3063239"/>
            <a:ext cx="1853183" cy="548640"/>
          </a:xfrm>
          <a:prstGeom prst="rect">
            <a:avLst/>
          </a:prstGeom>
          <a:noFill/>
        </p:spPr>
        <p:txBody>
          <a:bodyPr wrap="square" lIns="0" rIns="0" tIns="0" bIns="0">
            <a:spAutoFit/>
          </a:bodyPr>
          <a:lstStyle/>
          <a:p>
            <a:pPr algn="ctr">
              <a:lnSpc>
                <a:spcPct val="100000"/>
              </a:lnSpc>
              <a:spcAft>
                <a:spcPts val="400"/>
              </a:spcAft>
              <a:defRPr sz="1300" b="0" i="0">
                <a:solidFill>
                  <a:srgbClr val="6E6E73"/>
                </a:solidFill>
                <a:latin typeface="Segoe UI"/>
              </a:defRPr>
            </a:pPr>
            <a:r>
              <a:t>one page</a:t>
            </a:r>
          </a:p>
          <a:p>
            <a:pPr algn="ctr">
              <a:lnSpc>
                <a:spcPct val="100000"/>
              </a:lnSpc>
              <a:spcAft>
                <a:spcPts val="400"/>
              </a:spcAft>
              <a:defRPr sz="1300" b="0" i="0">
                <a:solidFill>
                  <a:srgbClr val="6E6E73"/>
                </a:solidFill>
                <a:latin typeface="Segoe UI"/>
              </a:defRPr>
            </a:pPr>
            <a:r>
              <a:t>translation</a:t>
            </a:r>
          </a:p>
        </p:txBody>
      </p:sp>
      <p:sp>
        <p:nvSpPr>
          <p:cNvPr id="10" name="rect_0260"/>
          <p:cNvSpPr/>
          <p:nvPr/>
        </p:nvSpPr>
        <p:spPr>
          <a:xfrm>
            <a:off x="2996183" y="2331720"/>
            <a:ext cx="1853183" cy="1371600"/>
          </a:xfrm>
          <a:prstGeom prst="roundRect">
            <a:avLst>
              <a:gd name="adj" fmla="val 12000"/>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x_0261"/>
          <p:cNvSpPr txBox="1"/>
          <p:nvPr/>
        </p:nvSpPr>
        <p:spPr>
          <a:xfrm>
            <a:off x="2996183" y="2651760"/>
            <a:ext cx="1853183" cy="365760"/>
          </a:xfrm>
          <a:prstGeom prst="rect">
            <a:avLst/>
          </a:prstGeom>
          <a:noFill/>
        </p:spPr>
        <p:txBody>
          <a:bodyPr wrap="square" lIns="0" rIns="0" tIns="0" bIns="0">
            <a:spAutoFit/>
          </a:bodyPr>
          <a:lstStyle/>
          <a:p>
            <a:pPr algn="ctr">
              <a:spcAft>
                <a:spcPts val="400"/>
              </a:spcAft>
              <a:defRPr sz="2200" b="0" i="0">
                <a:solidFill>
                  <a:srgbClr val="1D1D1F"/>
                </a:solidFill>
                <a:latin typeface="Segoe UI Semibold"/>
              </a:defRPr>
            </a:pPr>
            <a:r>
              <a:t>src2</a:t>
            </a:r>
          </a:p>
        </p:txBody>
      </p:sp>
      <p:sp>
        <p:nvSpPr>
          <p:cNvPr id="12" name="tx_0262"/>
          <p:cNvSpPr txBox="1"/>
          <p:nvPr/>
        </p:nvSpPr>
        <p:spPr>
          <a:xfrm>
            <a:off x="2996183" y="3063239"/>
            <a:ext cx="1853183" cy="548640"/>
          </a:xfrm>
          <a:prstGeom prst="rect">
            <a:avLst/>
          </a:prstGeom>
          <a:noFill/>
        </p:spPr>
        <p:txBody>
          <a:bodyPr wrap="square" lIns="0" rIns="0" tIns="0" bIns="0">
            <a:spAutoFit/>
          </a:bodyPr>
          <a:lstStyle/>
          <a:p>
            <a:pPr algn="ctr">
              <a:lnSpc>
                <a:spcPct val="100000"/>
              </a:lnSpc>
              <a:spcAft>
                <a:spcPts val="400"/>
              </a:spcAft>
              <a:defRPr sz="1300" b="0" i="0">
                <a:solidFill>
                  <a:srgbClr val="6E6E73"/>
                </a:solidFill>
                <a:latin typeface="Segoe UI"/>
              </a:defRPr>
            </a:pPr>
            <a:r>
              <a:t>one page</a:t>
            </a:r>
          </a:p>
          <a:p>
            <a:pPr algn="ctr">
              <a:lnSpc>
                <a:spcPct val="100000"/>
              </a:lnSpc>
              <a:spcAft>
                <a:spcPts val="400"/>
              </a:spcAft>
              <a:defRPr sz="1300" b="0" i="0">
                <a:solidFill>
                  <a:srgbClr val="6E6E73"/>
                </a:solidFill>
                <a:latin typeface="Segoe UI"/>
              </a:defRPr>
            </a:pPr>
            <a:r>
              <a:t>translation</a:t>
            </a:r>
          </a:p>
        </p:txBody>
      </p:sp>
      <p:sp>
        <p:nvSpPr>
          <p:cNvPr id="13" name="rect_0263"/>
          <p:cNvSpPr/>
          <p:nvPr/>
        </p:nvSpPr>
        <p:spPr>
          <a:xfrm>
            <a:off x="5169407" y="2331720"/>
            <a:ext cx="1853183" cy="1371600"/>
          </a:xfrm>
          <a:prstGeom prst="roundRect">
            <a:avLst>
              <a:gd name="adj" fmla="val 12000"/>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x_0264"/>
          <p:cNvSpPr txBox="1"/>
          <p:nvPr/>
        </p:nvSpPr>
        <p:spPr>
          <a:xfrm>
            <a:off x="5169407" y="2651760"/>
            <a:ext cx="1853183" cy="365760"/>
          </a:xfrm>
          <a:prstGeom prst="rect">
            <a:avLst/>
          </a:prstGeom>
          <a:noFill/>
        </p:spPr>
        <p:txBody>
          <a:bodyPr wrap="square" lIns="0" rIns="0" tIns="0" bIns="0">
            <a:spAutoFit/>
          </a:bodyPr>
          <a:lstStyle/>
          <a:p>
            <a:pPr algn="ctr">
              <a:spcAft>
                <a:spcPts val="400"/>
              </a:spcAft>
              <a:defRPr sz="2200" b="0" i="0">
                <a:solidFill>
                  <a:srgbClr val="1D1D1F"/>
                </a:solidFill>
                <a:latin typeface="Segoe UI Semibold"/>
              </a:defRPr>
            </a:pPr>
            <a:r>
              <a:t>dst</a:t>
            </a:r>
          </a:p>
        </p:txBody>
      </p:sp>
      <p:sp>
        <p:nvSpPr>
          <p:cNvPr id="15" name="tx_0265"/>
          <p:cNvSpPr txBox="1"/>
          <p:nvPr/>
        </p:nvSpPr>
        <p:spPr>
          <a:xfrm>
            <a:off x="5169407" y="3063239"/>
            <a:ext cx="1853183" cy="548640"/>
          </a:xfrm>
          <a:prstGeom prst="rect">
            <a:avLst/>
          </a:prstGeom>
          <a:noFill/>
        </p:spPr>
        <p:txBody>
          <a:bodyPr wrap="square" lIns="0" rIns="0" tIns="0" bIns="0">
            <a:spAutoFit/>
          </a:bodyPr>
          <a:lstStyle/>
          <a:p>
            <a:pPr algn="ctr">
              <a:lnSpc>
                <a:spcPct val="100000"/>
              </a:lnSpc>
              <a:spcAft>
                <a:spcPts val="400"/>
              </a:spcAft>
              <a:defRPr sz="1300" b="0" i="0">
                <a:solidFill>
                  <a:srgbClr val="6E6E73"/>
                </a:solidFill>
                <a:latin typeface="Segoe UI"/>
              </a:defRPr>
            </a:pPr>
            <a:r>
              <a:t>one page</a:t>
            </a:r>
          </a:p>
          <a:p>
            <a:pPr algn="ctr">
              <a:lnSpc>
                <a:spcPct val="100000"/>
              </a:lnSpc>
              <a:spcAft>
                <a:spcPts val="400"/>
              </a:spcAft>
              <a:defRPr sz="1300" b="0" i="0">
                <a:solidFill>
                  <a:srgbClr val="6E6E73"/>
                </a:solidFill>
                <a:latin typeface="Segoe UI"/>
              </a:defRPr>
            </a:pPr>
            <a:r>
              <a:t>translation</a:t>
            </a:r>
          </a:p>
        </p:txBody>
      </p:sp>
      <p:sp>
        <p:nvSpPr>
          <p:cNvPr id="16" name="rect_0266"/>
          <p:cNvSpPr/>
          <p:nvPr/>
        </p:nvSpPr>
        <p:spPr>
          <a:xfrm>
            <a:off x="7342631" y="2331720"/>
            <a:ext cx="1853183" cy="1371600"/>
          </a:xfrm>
          <a:prstGeom prst="roundRect">
            <a:avLst>
              <a:gd name="adj" fmla="val 12000"/>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x_0267"/>
          <p:cNvSpPr txBox="1"/>
          <p:nvPr/>
        </p:nvSpPr>
        <p:spPr>
          <a:xfrm>
            <a:off x="7342631" y="2651760"/>
            <a:ext cx="1853183" cy="365760"/>
          </a:xfrm>
          <a:prstGeom prst="rect">
            <a:avLst/>
          </a:prstGeom>
          <a:noFill/>
        </p:spPr>
        <p:txBody>
          <a:bodyPr wrap="square" lIns="0" rIns="0" tIns="0" bIns="0">
            <a:spAutoFit/>
          </a:bodyPr>
          <a:lstStyle/>
          <a:p>
            <a:pPr algn="ctr">
              <a:spcAft>
                <a:spcPts val="400"/>
              </a:spcAft>
              <a:defRPr sz="2200" b="0" i="0">
                <a:solidFill>
                  <a:srgbClr val="1D1D1F"/>
                </a:solidFill>
                <a:latin typeface="Segoe UI Semibold"/>
              </a:defRPr>
            </a:pPr>
            <a:r>
              <a:t>dst2</a:t>
            </a:r>
          </a:p>
        </p:txBody>
      </p:sp>
      <p:sp>
        <p:nvSpPr>
          <p:cNvPr id="18" name="tx_0268"/>
          <p:cNvSpPr txBox="1"/>
          <p:nvPr/>
        </p:nvSpPr>
        <p:spPr>
          <a:xfrm>
            <a:off x="7342631" y="3063239"/>
            <a:ext cx="1853183" cy="548640"/>
          </a:xfrm>
          <a:prstGeom prst="rect">
            <a:avLst/>
          </a:prstGeom>
          <a:noFill/>
        </p:spPr>
        <p:txBody>
          <a:bodyPr wrap="square" lIns="0" rIns="0" tIns="0" bIns="0">
            <a:spAutoFit/>
          </a:bodyPr>
          <a:lstStyle/>
          <a:p>
            <a:pPr algn="ctr">
              <a:lnSpc>
                <a:spcPct val="100000"/>
              </a:lnSpc>
              <a:spcAft>
                <a:spcPts val="400"/>
              </a:spcAft>
              <a:defRPr sz="1300" b="0" i="0">
                <a:solidFill>
                  <a:srgbClr val="6E6E73"/>
                </a:solidFill>
                <a:latin typeface="Segoe UI"/>
              </a:defRPr>
            </a:pPr>
            <a:r>
              <a:t>one page</a:t>
            </a:r>
          </a:p>
          <a:p>
            <a:pPr algn="ctr">
              <a:lnSpc>
                <a:spcPct val="100000"/>
              </a:lnSpc>
              <a:spcAft>
                <a:spcPts val="400"/>
              </a:spcAft>
              <a:defRPr sz="1300" b="0" i="0">
                <a:solidFill>
                  <a:srgbClr val="6E6E73"/>
                </a:solidFill>
                <a:latin typeface="Segoe UI"/>
              </a:defRPr>
            </a:pPr>
            <a:r>
              <a:t>translation</a:t>
            </a:r>
          </a:p>
        </p:txBody>
      </p:sp>
      <p:sp>
        <p:nvSpPr>
          <p:cNvPr id="19" name="rect_0269"/>
          <p:cNvSpPr/>
          <p:nvPr/>
        </p:nvSpPr>
        <p:spPr>
          <a:xfrm>
            <a:off x="9515855" y="2331720"/>
            <a:ext cx="1853183" cy="1371600"/>
          </a:xfrm>
          <a:prstGeom prst="roundRect">
            <a:avLst>
              <a:gd name="adj" fmla="val 12000"/>
            </a:avLst>
          </a:prstGeom>
          <a:solidFill>
            <a:srgbClr val="1D1D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x_0270"/>
          <p:cNvSpPr txBox="1"/>
          <p:nvPr/>
        </p:nvSpPr>
        <p:spPr>
          <a:xfrm>
            <a:off x="9515855" y="2651760"/>
            <a:ext cx="1853183" cy="365760"/>
          </a:xfrm>
          <a:prstGeom prst="rect">
            <a:avLst/>
          </a:prstGeom>
          <a:noFill/>
        </p:spPr>
        <p:txBody>
          <a:bodyPr wrap="square" lIns="0" rIns="0" tIns="0" bIns="0">
            <a:spAutoFit/>
          </a:bodyPr>
          <a:lstStyle/>
          <a:p>
            <a:pPr algn="ctr">
              <a:spcAft>
                <a:spcPts val="400"/>
              </a:spcAft>
              <a:defRPr sz="2200" b="0" i="0">
                <a:solidFill>
                  <a:srgbClr val="FFFFFF"/>
                </a:solidFill>
                <a:latin typeface="Segoe UI Semibold"/>
              </a:defRPr>
            </a:pPr>
            <a:r>
              <a:t>comp</a:t>
            </a:r>
          </a:p>
        </p:txBody>
      </p:sp>
      <p:sp>
        <p:nvSpPr>
          <p:cNvPr id="21" name="tx_0271"/>
          <p:cNvSpPr txBox="1"/>
          <p:nvPr/>
        </p:nvSpPr>
        <p:spPr>
          <a:xfrm>
            <a:off x="9515855" y="3063239"/>
            <a:ext cx="1853183" cy="548640"/>
          </a:xfrm>
          <a:prstGeom prst="rect">
            <a:avLst/>
          </a:prstGeom>
          <a:noFill/>
        </p:spPr>
        <p:txBody>
          <a:bodyPr wrap="square" lIns="0" rIns="0" tIns="0" bIns="0">
            <a:spAutoFit/>
          </a:bodyPr>
          <a:lstStyle/>
          <a:p>
            <a:pPr algn="ctr">
              <a:lnSpc>
                <a:spcPct val="100000"/>
              </a:lnSpc>
              <a:spcAft>
                <a:spcPts val="400"/>
              </a:spcAft>
              <a:defRPr sz="1300" b="0" i="0">
                <a:solidFill>
                  <a:srgbClr val="A1A1A6"/>
                </a:solidFill>
                <a:latin typeface="Segoe UI"/>
              </a:defRPr>
            </a:pPr>
            <a:r>
              <a:t>one page</a:t>
            </a:r>
          </a:p>
          <a:p>
            <a:pPr algn="ctr">
              <a:lnSpc>
                <a:spcPct val="100000"/>
              </a:lnSpc>
              <a:spcAft>
                <a:spcPts val="400"/>
              </a:spcAft>
              <a:defRPr sz="1300" b="0" i="0">
                <a:solidFill>
                  <a:srgbClr val="A1A1A6"/>
                </a:solidFill>
                <a:latin typeface="Segoe UI"/>
              </a:defRPr>
            </a:pPr>
            <a:r>
              <a:t>translation</a:t>
            </a:r>
          </a:p>
        </p:txBody>
      </p:sp>
      <p:sp>
        <p:nvSpPr>
          <p:cNvPr id="22" name="tx_0272"/>
          <p:cNvSpPr txBox="1"/>
          <p:nvPr/>
        </p:nvSpPr>
        <p:spPr>
          <a:xfrm>
            <a:off x="822960" y="4069080"/>
            <a:ext cx="10546079" cy="457200"/>
          </a:xfrm>
          <a:prstGeom prst="rect">
            <a:avLst/>
          </a:prstGeom>
          <a:noFill/>
        </p:spPr>
        <p:txBody>
          <a:bodyPr wrap="square" lIns="0" rIns="0" tIns="0" bIns="0">
            <a:spAutoFit/>
          </a:bodyPr>
          <a:lstStyle/>
          <a:p>
            <a:pPr algn="ctr">
              <a:spcAft>
                <a:spcPts val="400"/>
              </a:spcAft>
              <a:defRPr sz="1700" b="0" i="0">
                <a:solidFill>
                  <a:srgbClr val="6E6E73"/>
                </a:solidFill>
                <a:latin typeface="Segoe UI"/>
              </a:defRPr>
            </a:pPr>
            <a:r>
              <a:t>A single different page in a field’s role replaces the one translation in that slot — no eviction set required.</a:t>
            </a:r>
          </a:p>
        </p:txBody>
      </p:sp>
      <p:sp>
        <p:nvSpPr>
          <p:cNvPr id="23" name="rect_0273"/>
          <p:cNvSpPr/>
          <p:nvPr/>
        </p:nvSpPr>
        <p:spPr>
          <a:xfrm>
            <a:off x="822960" y="5532120"/>
            <a:ext cx="502920" cy="41148"/>
          </a:xfrm>
          <a:prstGeom prst="rect">
            <a:avLst/>
          </a:prstGeom>
          <a:solidFill>
            <a:srgbClr val="007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x_0274"/>
          <p:cNvSpPr txBox="1"/>
          <p:nvPr/>
        </p:nvSpPr>
        <p:spPr>
          <a:xfrm>
            <a:off x="822960" y="5687568"/>
            <a:ext cx="10546079" cy="548640"/>
          </a:xfrm>
          <a:prstGeom prst="rect">
            <a:avLst/>
          </a:prstGeom>
          <a:noFill/>
        </p:spPr>
        <p:txBody>
          <a:bodyPr wrap="square" lIns="0" rIns="0" tIns="0" bIns="0">
            <a:spAutoFit/>
          </a:bodyPr>
          <a:lstStyle/>
          <a:p>
            <a:pPr>
              <a:spcAft>
                <a:spcPts val="400"/>
              </a:spcAft>
              <a:defRPr sz="2100" b="0" i="0">
                <a:solidFill>
                  <a:srgbClr val="1D1D1F"/>
                </a:solidFill>
                <a:latin typeface="Segoe UI Semibold"/>
              </a:defRPr>
            </a:pPr>
            <a:r>
              <a:t>One-slot replacement makes a neighbour’s activity trivial to detect.</a:t>
            </a:r>
          </a:p>
        </p:txBody>
      </p:sp>
    </p:spTree>
  </p:cSld>
  <p:clrMapOvr>
    <a:masterClrMapping/>
  </p:clrMapOvr>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x_0275"/>
          <p:cNvSpPr txBox="1"/>
          <p:nvPr/>
        </p:nvSpPr>
        <p:spPr>
          <a:xfrm>
            <a:off x="822960" y="502920"/>
            <a:ext cx="10546079" cy="274320"/>
          </a:xfrm>
          <a:prstGeom prst="rect">
            <a:avLst/>
          </a:prstGeom>
          <a:noFill/>
        </p:spPr>
        <p:txBody>
          <a:bodyPr wrap="square" lIns="0" rIns="0" tIns="0" bIns="0">
            <a:spAutoFit/>
          </a:bodyPr>
          <a:lstStyle/>
          <a:p>
            <a:pPr>
              <a:spcAft>
                <a:spcPts val="400"/>
              </a:spcAft>
              <a:defRPr sz="1200" b="0" i="0">
                <a:solidFill>
                  <a:srgbClr val="0071E3"/>
                </a:solidFill>
                <a:latin typeface="Segoe UI Semibold"/>
              </a:defRPr>
            </a:pPr>
            <a:r>
              <a:t>The detective story</a:t>
            </a:r>
          </a:p>
        </p:txBody>
      </p:sp>
      <p:sp>
        <p:nvSpPr>
          <p:cNvPr id="3" name="tx_0276"/>
          <p:cNvSpPr txBox="1"/>
          <p:nvPr/>
        </p:nvSpPr>
        <p:spPr>
          <a:xfrm>
            <a:off x="822960" y="822960"/>
            <a:ext cx="10546079" cy="914400"/>
          </a:xfrm>
          <a:prstGeom prst="rect">
            <a:avLst/>
          </a:prstGeom>
          <a:noFill/>
        </p:spPr>
        <p:txBody>
          <a:bodyPr wrap="square" lIns="0" rIns="0" tIns="0" bIns="0">
            <a:spAutoFit/>
          </a:bodyPr>
          <a:lstStyle/>
          <a:p>
            <a:pPr>
              <a:lnSpc>
                <a:spcPct val="100000"/>
              </a:lnSpc>
              <a:spcAft>
                <a:spcPts val="400"/>
              </a:spcAft>
              <a:defRPr sz="3000" b="0" i="0">
                <a:solidFill>
                  <a:srgbClr val="1D1D1F"/>
                </a:solidFill>
                <a:latin typeface="Segoe UI Semibold"/>
              </a:defRPr>
            </a:pPr>
            <a:r>
              <a:t>Proof of “one slot” — base → offset → base</a:t>
            </a:r>
          </a:p>
        </p:txBody>
      </p:sp>
      <p:sp>
        <p:nvSpPr>
          <p:cNvPr id="4" name="tx_0277"/>
          <p:cNvSpPr txBox="1"/>
          <p:nvPr/>
        </p:nvSpPr>
        <p:spPr>
          <a:xfrm>
            <a:off x="822960" y="6419088"/>
            <a:ext cx="9631679" cy="228600"/>
          </a:xfrm>
          <a:prstGeom prst="rect">
            <a:avLst/>
          </a:prstGeom>
          <a:noFill/>
        </p:spPr>
        <p:txBody>
          <a:bodyPr wrap="square" lIns="0" rIns="0" tIns="0" bIns="0">
            <a:spAutoFit/>
          </a:bodyPr>
          <a:lstStyle/>
          <a:p>
            <a:pPr>
              <a:spcAft>
                <a:spcPts val="400"/>
              </a:spcAft>
              <a:defRPr sz="1000" b="0" i="0">
                <a:solidFill>
                  <a:srgbClr val="86868B"/>
                </a:solidFill>
                <a:latin typeface="Segoe UI"/>
              </a:defRPr>
            </a:pPr>
            <a:r>
              <a:t>Paper § IV-B, Listing 2 · pp. 4–5</a:t>
            </a:r>
          </a:p>
        </p:txBody>
      </p:sp>
      <p:sp>
        <p:nvSpPr>
          <p:cNvPr id="5" name="tx_0278"/>
          <p:cNvSpPr txBox="1"/>
          <p:nvPr/>
        </p:nvSpPr>
        <p:spPr>
          <a:xfrm>
            <a:off x="10820399" y="6419088"/>
            <a:ext cx="548640" cy="228600"/>
          </a:xfrm>
          <a:prstGeom prst="rect">
            <a:avLst/>
          </a:prstGeom>
          <a:noFill/>
        </p:spPr>
        <p:txBody>
          <a:bodyPr wrap="square" lIns="0" rIns="0" tIns="0" bIns="0">
            <a:spAutoFit/>
          </a:bodyPr>
          <a:lstStyle/>
          <a:p>
            <a:pPr algn="r">
              <a:spcAft>
                <a:spcPts val="400"/>
              </a:spcAft>
              <a:defRPr sz="1000" b="0" i="0">
                <a:solidFill>
                  <a:srgbClr val="86868B"/>
                </a:solidFill>
                <a:latin typeface="Segoe UI"/>
              </a:defRPr>
            </a:pPr>
            <a:r>
              <a:t>16</a:t>
            </a:r>
          </a:p>
        </p:txBody>
      </p:sp>
      <p:sp>
        <p:nvSpPr>
          <p:cNvPr id="6" name="tx_0279"/>
          <p:cNvSpPr txBox="1"/>
          <p:nvPr/>
        </p:nvSpPr>
        <p:spPr>
          <a:xfrm>
            <a:off x="822960" y="1783080"/>
            <a:ext cx="3149599" cy="822960"/>
          </a:xfrm>
          <a:prstGeom prst="rect">
            <a:avLst/>
          </a:prstGeom>
          <a:noFill/>
        </p:spPr>
        <p:txBody>
          <a:bodyPr wrap="square" lIns="0" rIns="0" tIns="0" bIns="0">
            <a:spAutoFit/>
          </a:bodyPr>
          <a:lstStyle/>
          <a:p>
            <a:pPr>
              <a:spcAft>
                <a:spcPts val="400"/>
              </a:spcAft>
              <a:defRPr sz="4800" b="0" i="0">
                <a:solidFill>
                  <a:srgbClr val="0071E3"/>
                </a:solidFill>
                <a:latin typeface="Segoe UI Semibold"/>
              </a:defRPr>
            </a:pPr>
            <a:r>
              <a:t>1</a:t>
            </a:r>
          </a:p>
        </p:txBody>
      </p:sp>
      <p:sp>
        <p:nvSpPr>
          <p:cNvPr id="7" name="tx_0280"/>
          <p:cNvSpPr txBox="1"/>
          <p:nvPr/>
        </p:nvSpPr>
        <p:spPr>
          <a:xfrm>
            <a:off x="822960" y="2697480"/>
            <a:ext cx="3149599" cy="548640"/>
          </a:xfrm>
          <a:prstGeom prst="rect">
            <a:avLst/>
          </a:prstGeom>
          <a:noFill/>
        </p:spPr>
        <p:txBody>
          <a:bodyPr wrap="square" lIns="0" rIns="0" tIns="0" bIns="0">
            <a:spAutoFit/>
          </a:bodyPr>
          <a:lstStyle/>
          <a:p>
            <a:pPr>
              <a:spcAft>
                <a:spcPts val="400"/>
              </a:spcAft>
              <a:defRPr sz="2600" b="0" i="0">
                <a:solidFill>
                  <a:srgbClr val="1D1D1F"/>
                </a:solidFill>
                <a:latin typeface="Segoe UI Semibold"/>
              </a:defRPr>
            </a:pPr>
            <a:r>
              <a:t>Probe base</a:t>
            </a:r>
          </a:p>
        </p:txBody>
      </p:sp>
      <p:sp>
        <p:nvSpPr>
          <p:cNvPr id="8" name="tx_0281"/>
          <p:cNvSpPr txBox="1"/>
          <p:nvPr/>
        </p:nvSpPr>
        <p:spPr>
          <a:xfrm>
            <a:off x="822960" y="3337560"/>
            <a:ext cx="3149599" cy="365760"/>
          </a:xfrm>
          <a:prstGeom prst="rect">
            <a:avLst/>
          </a:prstGeom>
          <a:noFill/>
        </p:spPr>
        <p:txBody>
          <a:bodyPr wrap="square" lIns="0" rIns="0" tIns="0" bIns="0">
            <a:spAutoFit/>
          </a:bodyPr>
          <a:lstStyle/>
          <a:p>
            <a:pPr>
              <a:lnSpc>
                <a:spcPct val="112000"/>
              </a:lnSpc>
              <a:spcAft>
                <a:spcPts val="400"/>
              </a:spcAft>
              <a:defRPr sz="1800" b="0" i="0">
                <a:solidFill>
                  <a:srgbClr val="6E6E73"/>
                </a:solidFill>
                <a:latin typeface="Segoe UI"/>
              </a:defRPr>
            </a:pPr>
            <a:r>
              <a:t>Load one page translation</a:t>
            </a:r>
          </a:p>
        </p:txBody>
      </p:sp>
      <p:sp>
        <p:nvSpPr>
          <p:cNvPr id="9" name="tx_0282"/>
          <p:cNvSpPr txBox="1"/>
          <p:nvPr/>
        </p:nvSpPr>
        <p:spPr>
          <a:xfrm>
            <a:off x="4082287" y="2697480"/>
            <a:ext cx="365760" cy="548640"/>
          </a:xfrm>
          <a:prstGeom prst="rect">
            <a:avLst/>
          </a:prstGeom>
          <a:noFill/>
        </p:spPr>
        <p:txBody>
          <a:bodyPr wrap="square" lIns="0" rIns="0" tIns="0" bIns="0">
            <a:spAutoFit/>
          </a:bodyPr>
          <a:lstStyle/>
          <a:p>
            <a:pPr>
              <a:spcAft>
                <a:spcPts val="400"/>
              </a:spcAft>
              <a:defRPr sz="2400" b="0" i="0">
                <a:solidFill>
                  <a:srgbClr val="D2D2D7"/>
                </a:solidFill>
                <a:latin typeface="Segoe UI"/>
              </a:defRPr>
            </a:pPr>
            <a:r>
              <a:t>→</a:t>
            </a:r>
          </a:p>
        </p:txBody>
      </p:sp>
      <p:sp>
        <p:nvSpPr>
          <p:cNvPr id="10" name="tx_0283"/>
          <p:cNvSpPr txBox="1"/>
          <p:nvPr/>
        </p:nvSpPr>
        <p:spPr>
          <a:xfrm>
            <a:off x="4521199" y="1783080"/>
            <a:ext cx="3149599" cy="822960"/>
          </a:xfrm>
          <a:prstGeom prst="rect">
            <a:avLst/>
          </a:prstGeom>
          <a:noFill/>
        </p:spPr>
        <p:txBody>
          <a:bodyPr wrap="square" lIns="0" rIns="0" tIns="0" bIns="0">
            <a:spAutoFit/>
          </a:bodyPr>
          <a:lstStyle/>
          <a:p>
            <a:pPr>
              <a:spcAft>
                <a:spcPts val="400"/>
              </a:spcAft>
              <a:defRPr sz="4800" b="0" i="0">
                <a:solidFill>
                  <a:srgbClr val="0071E3"/>
                </a:solidFill>
                <a:latin typeface="Segoe UI Semibold"/>
              </a:defRPr>
            </a:pPr>
            <a:r>
              <a:t>2</a:t>
            </a:r>
          </a:p>
        </p:txBody>
      </p:sp>
      <p:sp>
        <p:nvSpPr>
          <p:cNvPr id="11" name="tx_0284"/>
          <p:cNvSpPr txBox="1"/>
          <p:nvPr/>
        </p:nvSpPr>
        <p:spPr>
          <a:xfrm>
            <a:off x="4521199" y="2697480"/>
            <a:ext cx="3149599" cy="548640"/>
          </a:xfrm>
          <a:prstGeom prst="rect">
            <a:avLst/>
          </a:prstGeom>
          <a:noFill/>
        </p:spPr>
        <p:txBody>
          <a:bodyPr wrap="square" lIns="0" rIns="0" tIns="0" bIns="0">
            <a:spAutoFit/>
          </a:bodyPr>
          <a:lstStyle/>
          <a:p>
            <a:pPr>
              <a:spcAft>
                <a:spcPts val="400"/>
              </a:spcAft>
              <a:defRPr sz="2600" b="0" i="0">
                <a:solidFill>
                  <a:srgbClr val="1D1D1F"/>
                </a:solidFill>
                <a:latin typeface="Segoe UI Semibold"/>
              </a:defRPr>
            </a:pPr>
            <a:r>
              <a:t>Probe base + offset</a:t>
            </a:r>
          </a:p>
        </p:txBody>
      </p:sp>
      <p:sp>
        <p:nvSpPr>
          <p:cNvPr id="12" name="tx_0285"/>
          <p:cNvSpPr txBox="1"/>
          <p:nvPr/>
        </p:nvSpPr>
        <p:spPr>
          <a:xfrm>
            <a:off x="4521199" y="3337560"/>
            <a:ext cx="3149599" cy="365760"/>
          </a:xfrm>
          <a:prstGeom prst="rect">
            <a:avLst/>
          </a:prstGeom>
          <a:noFill/>
        </p:spPr>
        <p:txBody>
          <a:bodyPr wrap="square" lIns="0" rIns="0" tIns="0" bIns="0">
            <a:spAutoFit/>
          </a:bodyPr>
          <a:lstStyle/>
          <a:p>
            <a:pPr>
              <a:lnSpc>
                <a:spcPct val="112000"/>
              </a:lnSpc>
              <a:spcAft>
                <a:spcPts val="400"/>
              </a:spcAft>
              <a:defRPr sz="1800" b="0" i="0">
                <a:solidFill>
                  <a:srgbClr val="6E6E73"/>
                </a:solidFill>
                <a:latin typeface="Segoe UI"/>
              </a:defRPr>
            </a:pPr>
            <a:r>
              <a:t>Keep or replace it</a:t>
            </a:r>
          </a:p>
        </p:txBody>
      </p:sp>
      <p:sp>
        <p:nvSpPr>
          <p:cNvPr id="13" name="tx_0286"/>
          <p:cNvSpPr txBox="1"/>
          <p:nvPr/>
        </p:nvSpPr>
        <p:spPr>
          <a:xfrm>
            <a:off x="7780527" y="2697480"/>
            <a:ext cx="365760" cy="548640"/>
          </a:xfrm>
          <a:prstGeom prst="rect">
            <a:avLst/>
          </a:prstGeom>
          <a:noFill/>
        </p:spPr>
        <p:txBody>
          <a:bodyPr wrap="square" lIns="0" rIns="0" tIns="0" bIns="0">
            <a:spAutoFit/>
          </a:bodyPr>
          <a:lstStyle/>
          <a:p>
            <a:pPr>
              <a:spcAft>
                <a:spcPts val="400"/>
              </a:spcAft>
              <a:defRPr sz="2400" b="0" i="0">
                <a:solidFill>
                  <a:srgbClr val="D2D2D7"/>
                </a:solidFill>
                <a:latin typeface="Segoe UI"/>
              </a:defRPr>
            </a:pPr>
            <a:r>
              <a:t>→</a:t>
            </a:r>
          </a:p>
        </p:txBody>
      </p:sp>
      <p:sp>
        <p:nvSpPr>
          <p:cNvPr id="14" name="tx_0287"/>
          <p:cNvSpPr txBox="1"/>
          <p:nvPr/>
        </p:nvSpPr>
        <p:spPr>
          <a:xfrm>
            <a:off x="8219439" y="1783080"/>
            <a:ext cx="3149599" cy="822960"/>
          </a:xfrm>
          <a:prstGeom prst="rect">
            <a:avLst/>
          </a:prstGeom>
          <a:noFill/>
        </p:spPr>
        <p:txBody>
          <a:bodyPr wrap="square" lIns="0" rIns="0" tIns="0" bIns="0">
            <a:spAutoFit/>
          </a:bodyPr>
          <a:lstStyle/>
          <a:p>
            <a:pPr>
              <a:spcAft>
                <a:spcPts val="400"/>
              </a:spcAft>
              <a:defRPr sz="4800" b="0" i="0">
                <a:solidFill>
                  <a:srgbClr val="0071E3"/>
                </a:solidFill>
                <a:latin typeface="Segoe UI Semibold"/>
              </a:defRPr>
            </a:pPr>
            <a:r>
              <a:t>3</a:t>
            </a:r>
          </a:p>
        </p:txBody>
      </p:sp>
      <p:sp>
        <p:nvSpPr>
          <p:cNvPr id="15" name="tx_0288"/>
          <p:cNvSpPr txBox="1"/>
          <p:nvPr/>
        </p:nvSpPr>
        <p:spPr>
          <a:xfrm>
            <a:off x="8219439" y="2697480"/>
            <a:ext cx="3149599" cy="548640"/>
          </a:xfrm>
          <a:prstGeom prst="rect">
            <a:avLst/>
          </a:prstGeom>
          <a:noFill/>
        </p:spPr>
        <p:txBody>
          <a:bodyPr wrap="square" lIns="0" rIns="0" tIns="0" bIns="0">
            <a:spAutoFit/>
          </a:bodyPr>
          <a:lstStyle/>
          <a:p>
            <a:pPr>
              <a:spcAft>
                <a:spcPts val="400"/>
              </a:spcAft>
              <a:defRPr sz="2600" b="0" i="0">
                <a:solidFill>
                  <a:srgbClr val="1D1D1F"/>
                </a:solidFill>
                <a:latin typeface="Segoe UI Semibold"/>
              </a:defRPr>
            </a:pPr>
            <a:r>
              <a:t>Probe base again</a:t>
            </a:r>
          </a:p>
        </p:txBody>
      </p:sp>
      <p:sp>
        <p:nvSpPr>
          <p:cNvPr id="16" name="tx_0289"/>
          <p:cNvSpPr txBox="1"/>
          <p:nvPr/>
        </p:nvSpPr>
        <p:spPr>
          <a:xfrm>
            <a:off x="8219439" y="3337560"/>
            <a:ext cx="3149599" cy="365760"/>
          </a:xfrm>
          <a:prstGeom prst="rect">
            <a:avLst/>
          </a:prstGeom>
          <a:noFill/>
        </p:spPr>
        <p:txBody>
          <a:bodyPr wrap="square" lIns="0" rIns="0" tIns="0" bIns="0">
            <a:spAutoFit/>
          </a:bodyPr>
          <a:lstStyle/>
          <a:p>
            <a:pPr>
              <a:lnSpc>
                <a:spcPct val="112000"/>
              </a:lnSpc>
              <a:spcAft>
                <a:spcPts val="400"/>
              </a:spcAft>
              <a:defRPr sz="1800" b="0" i="0">
                <a:solidFill>
                  <a:srgbClr val="6E6E73"/>
                </a:solidFill>
                <a:latin typeface="Segoe UI"/>
              </a:defRPr>
            </a:pPr>
            <a:r>
              <a:t>Did it survive?</a:t>
            </a:r>
          </a:p>
        </p:txBody>
      </p:sp>
      <p:sp>
        <p:nvSpPr>
          <p:cNvPr id="17" name="tx_0290"/>
          <p:cNvSpPr txBox="1"/>
          <p:nvPr/>
        </p:nvSpPr>
        <p:spPr>
          <a:xfrm>
            <a:off x="868680" y="4114800"/>
            <a:ext cx="2017775" cy="274320"/>
          </a:xfrm>
          <a:prstGeom prst="rect">
            <a:avLst/>
          </a:prstGeom>
          <a:noFill/>
        </p:spPr>
        <p:txBody>
          <a:bodyPr wrap="square" lIns="0" rIns="0" tIns="0" bIns="0">
            <a:spAutoFit/>
          </a:bodyPr>
          <a:lstStyle/>
          <a:p>
            <a:pPr>
              <a:spcAft>
                <a:spcPts val="400"/>
              </a:spcAft>
              <a:defRPr sz="1200" b="0" i="0">
                <a:solidFill>
                  <a:srgbClr val="86868B"/>
                </a:solidFill>
                <a:latin typeface="Segoe UI Semibold"/>
              </a:defRPr>
            </a:pPr>
            <a:r>
              <a:t>OFFSET</a:t>
            </a:r>
          </a:p>
        </p:txBody>
      </p:sp>
      <p:sp>
        <p:nvSpPr>
          <p:cNvPr id="18" name="tx_0291"/>
          <p:cNvSpPr txBox="1"/>
          <p:nvPr/>
        </p:nvSpPr>
        <p:spPr>
          <a:xfrm>
            <a:off x="2977895" y="4114800"/>
            <a:ext cx="3283305" cy="274320"/>
          </a:xfrm>
          <a:prstGeom prst="rect">
            <a:avLst/>
          </a:prstGeom>
          <a:noFill/>
        </p:spPr>
        <p:txBody>
          <a:bodyPr wrap="square" lIns="0" rIns="0" tIns="0" bIns="0">
            <a:spAutoFit/>
          </a:bodyPr>
          <a:lstStyle/>
          <a:p>
            <a:pPr>
              <a:spcAft>
                <a:spcPts val="400"/>
              </a:spcAft>
              <a:defRPr sz="1200" b="0" i="0">
                <a:solidFill>
                  <a:srgbClr val="86868B"/>
                </a:solidFill>
                <a:latin typeface="Segoe UI Semibold"/>
              </a:defRPr>
            </a:pPr>
            <a:r>
              <a:t>FINAL BASE OBSERVATION</a:t>
            </a:r>
          </a:p>
        </p:txBody>
      </p:sp>
      <p:sp>
        <p:nvSpPr>
          <p:cNvPr id="19" name="tx_0292"/>
          <p:cNvSpPr txBox="1"/>
          <p:nvPr/>
        </p:nvSpPr>
        <p:spPr>
          <a:xfrm>
            <a:off x="6352641" y="4114800"/>
            <a:ext cx="4970678" cy="274320"/>
          </a:xfrm>
          <a:prstGeom prst="rect">
            <a:avLst/>
          </a:prstGeom>
          <a:noFill/>
        </p:spPr>
        <p:txBody>
          <a:bodyPr wrap="square" lIns="0" rIns="0" tIns="0" bIns="0">
            <a:spAutoFit/>
          </a:bodyPr>
          <a:lstStyle/>
          <a:p>
            <a:pPr>
              <a:spcAft>
                <a:spcPts val="400"/>
              </a:spcAft>
              <a:defRPr sz="1200" b="0" i="0">
                <a:solidFill>
                  <a:srgbClr val="86868B"/>
                </a:solidFill>
                <a:latin typeface="Segoe UI Semibold"/>
              </a:defRPr>
            </a:pPr>
            <a:r>
              <a:t>INTERPRETATION</a:t>
            </a:r>
          </a:p>
        </p:txBody>
      </p:sp>
      <p:cxnSp>
        <p:nvCxnSpPr>
          <p:cNvPr id="20" name="hl_0293"/>
          <p:cNvCxnSpPr/>
          <p:nvPr/>
        </p:nvCxnSpPr>
        <p:spPr>
          <a:xfrm>
            <a:off x="822960" y="4480560"/>
            <a:ext cx="10546079" cy="0"/>
          </a:xfrm>
          <a:prstGeom prst="line">
            <a:avLst/>
          </a:prstGeom>
          <a:ln w="12700">
            <a:solidFill>
              <a:srgbClr val="1D1D1F"/>
            </a:solidFill>
          </a:ln>
        </p:spPr>
        <p:style>
          <a:lnRef idx="2">
            <a:schemeClr val="accent1"/>
          </a:lnRef>
          <a:fillRef idx="0">
            <a:schemeClr val="accent1"/>
          </a:fillRef>
          <a:effectRef idx="1">
            <a:schemeClr val="accent1"/>
          </a:effectRef>
          <a:fontRef idx="minor">
            <a:schemeClr val="tx1"/>
          </a:fontRef>
        </p:style>
      </p:cxnSp>
      <p:sp>
        <p:nvSpPr>
          <p:cNvPr id="21" name="tx_0294"/>
          <p:cNvSpPr txBox="1"/>
          <p:nvPr/>
        </p:nvSpPr>
        <p:spPr>
          <a:xfrm>
            <a:off x="868680" y="4549140"/>
            <a:ext cx="2017775" cy="365760"/>
          </a:xfrm>
          <a:prstGeom prst="rect">
            <a:avLst/>
          </a:prstGeom>
          <a:noFill/>
        </p:spPr>
        <p:txBody>
          <a:bodyPr wrap="square" lIns="0" rIns="0" tIns="0" bIns="0" anchor="ctr">
            <a:spAutoFit/>
          </a:bodyPr>
          <a:lstStyle/>
          <a:p>
            <a:pPr>
              <a:spcAft>
                <a:spcPts val="400"/>
              </a:spcAft>
              <a:defRPr sz="1800" b="0" i="0">
                <a:solidFill>
                  <a:srgbClr val="1D1D1F"/>
                </a:solidFill>
                <a:latin typeface="Segoe UI Semibold"/>
              </a:defRPr>
            </a:pPr>
            <a:r>
              <a:t>&lt; 4 KiB</a:t>
            </a:r>
          </a:p>
        </p:txBody>
      </p:sp>
      <p:sp>
        <p:nvSpPr>
          <p:cNvPr id="22" name="tx_0295"/>
          <p:cNvSpPr txBox="1"/>
          <p:nvPr/>
        </p:nvSpPr>
        <p:spPr>
          <a:xfrm>
            <a:off x="2977895" y="4549140"/>
            <a:ext cx="3283305" cy="365760"/>
          </a:xfrm>
          <a:prstGeom prst="rect">
            <a:avLst/>
          </a:prstGeom>
          <a:noFill/>
        </p:spPr>
        <p:txBody>
          <a:bodyPr wrap="square" lIns="0" rIns="0" tIns="0" bIns="0" anchor="ctr">
            <a:spAutoFit/>
          </a:bodyPr>
          <a:lstStyle/>
          <a:p>
            <a:pPr>
              <a:spcAft>
                <a:spcPts val="400"/>
              </a:spcAft>
              <a:defRPr sz="1800" b="0" i="0">
                <a:solidFill>
                  <a:srgbClr val="1D1D1F"/>
                </a:solidFill>
                <a:latin typeface="Segoe UI"/>
              </a:defRPr>
            </a:pPr>
            <a:r>
              <a:t>Hit</a:t>
            </a:r>
          </a:p>
        </p:txBody>
      </p:sp>
      <p:sp>
        <p:nvSpPr>
          <p:cNvPr id="23" name="tx_0296"/>
          <p:cNvSpPr txBox="1"/>
          <p:nvPr/>
        </p:nvSpPr>
        <p:spPr>
          <a:xfrm>
            <a:off x="6352641" y="4549140"/>
            <a:ext cx="4970678" cy="365760"/>
          </a:xfrm>
          <a:prstGeom prst="rect">
            <a:avLst/>
          </a:prstGeom>
          <a:noFill/>
        </p:spPr>
        <p:txBody>
          <a:bodyPr wrap="square" lIns="0" rIns="0" tIns="0" bIns="0" anchor="ctr">
            <a:spAutoFit/>
          </a:bodyPr>
          <a:lstStyle/>
          <a:p>
            <a:pPr>
              <a:spcAft>
                <a:spcPts val="400"/>
              </a:spcAft>
              <a:defRPr sz="1800" b="0" i="0">
                <a:solidFill>
                  <a:srgbClr val="6E6E73"/>
                </a:solidFill>
                <a:latin typeface="Segoe UI"/>
              </a:defRPr>
            </a:pPr>
            <a:r>
              <a:t>Same page retained</a:t>
            </a:r>
          </a:p>
        </p:txBody>
      </p:sp>
      <p:cxnSp>
        <p:nvCxnSpPr>
          <p:cNvPr id="24" name="hl_0297"/>
          <p:cNvCxnSpPr/>
          <p:nvPr/>
        </p:nvCxnSpPr>
        <p:spPr>
          <a:xfrm>
            <a:off x="822960" y="4983480"/>
            <a:ext cx="10546079"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25" name="tx_0298"/>
          <p:cNvSpPr txBox="1"/>
          <p:nvPr/>
        </p:nvSpPr>
        <p:spPr>
          <a:xfrm>
            <a:off x="868680" y="5052060"/>
            <a:ext cx="2017775" cy="365760"/>
          </a:xfrm>
          <a:prstGeom prst="rect">
            <a:avLst/>
          </a:prstGeom>
          <a:noFill/>
        </p:spPr>
        <p:txBody>
          <a:bodyPr wrap="square" lIns="0" rIns="0" tIns="0" bIns="0" anchor="ctr">
            <a:spAutoFit/>
          </a:bodyPr>
          <a:lstStyle/>
          <a:p>
            <a:pPr>
              <a:spcAft>
                <a:spcPts val="400"/>
              </a:spcAft>
              <a:defRPr sz="1800" b="0" i="0">
                <a:solidFill>
                  <a:srgbClr val="D70015"/>
                </a:solidFill>
                <a:latin typeface="Segoe UI Semibold"/>
              </a:defRPr>
            </a:pPr>
            <a:r>
              <a:t>≥ 4 KiB</a:t>
            </a:r>
          </a:p>
        </p:txBody>
      </p:sp>
      <p:sp>
        <p:nvSpPr>
          <p:cNvPr id="26" name="tx_0299"/>
          <p:cNvSpPr txBox="1"/>
          <p:nvPr/>
        </p:nvSpPr>
        <p:spPr>
          <a:xfrm>
            <a:off x="2977895" y="5052060"/>
            <a:ext cx="3283305" cy="365760"/>
          </a:xfrm>
          <a:prstGeom prst="rect">
            <a:avLst/>
          </a:prstGeom>
          <a:noFill/>
        </p:spPr>
        <p:txBody>
          <a:bodyPr wrap="square" lIns="0" rIns="0" tIns="0" bIns="0" anchor="ctr">
            <a:spAutoFit/>
          </a:bodyPr>
          <a:lstStyle/>
          <a:p>
            <a:pPr>
              <a:spcAft>
                <a:spcPts val="400"/>
              </a:spcAft>
              <a:defRPr sz="1800" b="0" i="0">
                <a:solidFill>
                  <a:srgbClr val="D70015"/>
                </a:solidFill>
                <a:latin typeface="Segoe UI Semibold"/>
              </a:defRPr>
            </a:pPr>
            <a:r>
              <a:t>Miss</a:t>
            </a:r>
          </a:p>
        </p:txBody>
      </p:sp>
      <p:sp>
        <p:nvSpPr>
          <p:cNvPr id="27" name="tx_0300"/>
          <p:cNvSpPr txBox="1"/>
          <p:nvPr/>
        </p:nvSpPr>
        <p:spPr>
          <a:xfrm>
            <a:off x="6352641" y="5052060"/>
            <a:ext cx="4970678" cy="365760"/>
          </a:xfrm>
          <a:prstGeom prst="rect">
            <a:avLst/>
          </a:prstGeom>
          <a:noFill/>
        </p:spPr>
        <p:txBody>
          <a:bodyPr wrap="square" lIns="0" rIns="0" tIns="0" bIns="0" anchor="ctr">
            <a:spAutoFit/>
          </a:bodyPr>
          <a:lstStyle/>
          <a:p>
            <a:pPr>
              <a:spcAft>
                <a:spcPts val="400"/>
              </a:spcAft>
              <a:defRPr sz="1800" b="0" i="0">
                <a:solidFill>
                  <a:srgbClr val="D70015"/>
                </a:solidFill>
                <a:latin typeface="Segoe UI Semibold"/>
              </a:defRPr>
            </a:pPr>
            <a:r>
              <a:t>A different page replaced it</a:t>
            </a:r>
          </a:p>
        </p:txBody>
      </p:sp>
      <p:cxnSp>
        <p:nvCxnSpPr>
          <p:cNvPr id="28" name="hl_0301"/>
          <p:cNvCxnSpPr/>
          <p:nvPr/>
        </p:nvCxnSpPr>
        <p:spPr>
          <a:xfrm>
            <a:off x="822960" y="5486400"/>
            <a:ext cx="10546079"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29" name="rect_0302"/>
          <p:cNvSpPr/>
          <p:nvPr/>
        </p:nvSpPr>
        <p:spPr>
          <a:xfrm>
            <a:off x="822960" y="5623560"/>
            <a:ext cx="502920" cy="41148"/>
          </a:xfrm>
          <a:prstGeom prst="rect">
            <a:avLst/>
          </a:prstGeom>
          <a:solidFill>
            <a:srgbClr val="007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x_0303"/>
          <p:cNvSpPr txBox="1"/>
          <p:nvPr/>
        </p:nvSpPr>
        <p:spPr>
          <a:xfrm>
            <a:off x="822960" y="5779008"/>
            <a:ext cx="10546079" cy="548640"/>
          </a:xfrm>
          <a:prstGeom prst="rect">
            <a:avLst/>
          </a:prstGeom>
          <a:noFill/>
        </p:spPr>
        <p:txBody>
          <a:bodyPr wrap="square" lIns="0" rIns="0" tIns="0" bIns="0">
            <a:spAutoFit/>
          </a:bodyPr>
          <a:lstStyle/>
          <a:p>
            <a:pPr>
              <a:spcAft>
                <a:spcPts val="400"/>
              </a:spcAft>
              <a:defRPr sz="2100" b="0" i="0">
                <a:solidFill>
                  <a:srgbClr val="1D1D1F"/>
                </a:solidFill>
                <a:latin typeface="Segoe UI Semibold"/>
              </a:defRPr>
            </a:pPr>
            <a:r>
              <a:t>A single different page is enough to evict the tested field’s translation.</a:t>
            </a:r>
          </a:p>
        </p:txBody>
      </p:sp>
    </p:spTree>
  </p:cSld>
  <p:clrMapOvr>
    <a:masterClrMapping/>
  </p:clrMapOvr>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x_0304"/>
          <p:cNvSpPr txBox="1"/>
          <p:nvPr/>
        </p:nvSpPr>
        <p:spPr>
          <a:xfrm>
            <a:off x="822960" y="502920"/>
            <a:ext cx="10546079" cy="274320"/>
          </a:xfrm>
          <a:prstGeom prst="rect">
            <a:avLst/>
          </a:prstGeom>
          <a:noFill/>
        </p:spPr>
        <p:txBody>
          <a:bodyPr wrap="square" lIns="0" rIns="0" tIns="0" bIns="0">
            <a:spAutoFit/>
          </a:bodyPr>
          <a:lstStyle/>
          <a:p>
            <a:pPr>
              <a:spcAft>
                <a:spcPts val="400"/>
              </a:spcAft>
              <a:defRPr sz="1200" b="0" i="0">
                <a:solidFill>
                  <a:srgbClr val="0071E3"/>
                </a:solidFill>
                <a:latin typeface="Segoe UI Semibold"/>
              </a:defRPr>
            </a:pPr>
            <a:r>
              <a:t>The detective story</a:t>
            </a:r>
          </a:p>
        </p:txBody>
      </p:sp>
      <p:sp>
        <p:nvSpPr>
          <p:cNvPr id="3" name="tx_0305"/>
          <p:cNvSpPr txBox="1"/>
          <p:nvPr/>
        </p:nvSpPr>
        <p:spPr>
          <a:xfrm>
            <a:off x="822960" y="822960"/>
            <a:ext cx="10546079" cy="914400"/>
          </a:xfrm>
          <a:prstGeom prst="rect">
            <a:avLst/>
          </a:prstGeom>
          <a:noFill/>
        </p:spPr>
        <p:txBody>
          <a:bodyPr wrap="square" lIns="0" rIns="0" tIns="0" bIns="0">
            <a:spAutoFit/>
          </a:bodyPr>
          <a:lstStyle/>
          <a:p>
            <a:pPr>
              <a:lnSpc>
                <a:spcPct val="100000"/>
              </a:lnSpc>
              <a:spcAft>
                <a:spcPts val="400"/>
              </a:spcAft>
              <a:defRPr sz="3000" b="0" i="0">
                <a:solidFill>
                  <a:srgbClr val="1D1D1F"/>
                </a:solidFill>
                <a:latin typeface="Segoe UI Semibold"/>
              </a:defRPr>
            </a:pPr>
            <a:r>
              <a:t>The drawers are independent — even sharing bits</a:t>
            </a:r>
          </a:p>
        </p:txBody>
      </p:sp>
      <p:sp>
        <p:nvSpPr>
          <p:cNvPr id="4" name="tx_0306"/>
          <p:cNvSpPr txBox="1"/>
          <p:nvPr/>
        </p:nvSpPr>
        <p:spPr>
          <a:xfrm>
            <a:off x="822960" y="6419088"/>
            <a:ext cx="9631679" cy="228600"/>
          </a:xfrm>
          <a:prstGeom prst="rect">
            <a:avLst/>
          </a:prstGeom>
          <a:noFill/>
        </p:spPr>
        <p:txBody>
          <a:bodyPr wrap="square" lIns="0" rIns="0" tIns="0" bIns="0">
            <a:spAutoFit/>
          </a:bodyPr>
          <a:lstStyle/>
          <a:p>
            <a:pPr>
              <a:spcAft>
                <a:spcPts val="400"/>
              </a:spcAft>
              <a:defRPr sz="1000" b="0" i="0">
                <a:solidFill>
                  <a:srgbClr val="86868B"/>
                </a:solidFill>
                <a:latin typeface="Segoe UI"/>
              </a:defRPr>
            </a:pPr>
            <a:r>
              <a:t>Paper § IV-B, Listings 3–4 · p. 5</a:t>
            </a:r>
          </a:p>
        </p:txBody>
      </p:sp>
      <p:sp>
        <p:nvSpPr>
          <p:cNvPr id="5" name="tx_0307"/>
          <p:cNvSpPr txBox="1"/>
          <p:nvPr/>
        </p:nvSpPr>
        <p:spPr>
          <a:xfrm>
            <a:off x="10820399" y="6419088"/>
            <a:ext cx="548640" cy="228600"/>
          </a:xfrm>
          <a:prstGeom prst="rect">
            <a:avLst/>
          </a:prstGeom>
          <a:noFill/>
        </p:spPr>
        <p:txBody>
          <a:bodyPr wrap="square" lIns="0" rIns="0" tIns="0" bIns="0">
            <a:spAutoFit/>
          </a:bodyPr>
          <a:lstStyle/>
          <a:p>
            <a:pPr algn="r">
              <a:spcAft>
                <a:spcPts val="400"/>
              </a:spcAft>
              <a:defRPr sz="1000" b="0" i="0">
                <a:solidFill>
                  <a:srgbClr val="86868B"/>
                </a:solidFill>
                <a:latin typeface="Segoe UI"/>
              </a:defRPr>
            </a:pPr>
            <a:r>
              <a:t>17</a:t>
            </a:r>
          </a:p>
        </p:txBody>
      </p:sp>
      <p:sp>
        <p:nvSpPr>
          <p:cNvPr id="6" name="rect_0308"/>
          <p:cNvSpPr/>
          <p:nvPr/>
        </p:nvSpPr>
        <p:spPr>
          <a:xfrm>
            <a:off x="822960" y="1783080"/>
            <a:ext cx="5212080" cy="3108960"/>
          </a:xfrm>
          <a:prstGeom prst="roundRect">
            <a:avLst>
              <a:gd name="adj" fmla="val 6470"/>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x_0309"/>
          <p:cNvSpPr txBox="1"/>
          <p:nvPr/>
        </p:nvSpPr>
        <p:spPr>
          <a:xfrm>
            <a:off x="1143000" y="2075688"/>
            <a:ext cx="4572000" cy="548640"/>
          </a:xfrm>
          <a:prstGeom prst="rect">
            <a:avLst/>
          </a:prstGeom>
          <a:noFill/>
        </p:spPr>
        <p:txBody>
          <a:bodyPr wrap="square" lIns="0" rIns="0" tIns="0" bIns="0">
            <a:spAutoFit/>
          </a:bodyPr>
          <a:lstStyle/>
          <a:p>
            <a:pPr>
              <a:spcAft>
                <a:spcPts val="400"/>
              </a:spcAft>
              <a:defRPr sz="2200" b="0" i="0">
                <a:solidFill>
                  <a:srgbClr val="0071E3"/>
                </a:solidFill>
                <a:latin typeface="Segoe UI Semibold"/>
              </a:defRPr>
            </a:pPr>
            <a:r>
              <a:t>Independent fields</a:t>
            </a:r>
          </a:p>
        </p:txBody>
      </p:sp>
      <p:sp>
        <p:nvSpPr>
          <p:cNvPr id="8" name="tx_0310"/>
          <p:cNvSpPr txBox="1"/>
          <p:nvPr/>
        </p:nvSpPr>
        <p:spPr>
          <a:xfrm>
            <a:off x="1143000" y="2697480"/>
            <a:ext cx="4572000" cy="2011680"/>
          </a:xfrm>
          <a:prstGeom prst="rect">
            <a:avLst/>
          </a:prstGeom>
          <a:noFill/>
        </p:spPr>
        <p:txBody>
          <a:bodyPr wrap="square" lIns="0" rIns="0" tIns="0" bIns="0">
            <a:spAutoFit/>
          </a:bodyPr>
          <a:lstStyle/>
          <a:p>
            <a:pPr>
              <a:lnSpc>
                <a:spcPct val="110000"/>
              </a:lnSpc>
              <a:spcAft>
                <a:spcPts val="600"/>
              </a:spcAft>
              <a:defRPr sz="1800" b="0" i="0">
                <a:solidFill>
                  <a:srgbClr val="6E6E73"/>
                </a:solidFill>
                <a:latin typeface="Segoe UI"/>
              </a:defRPr>
            </a:pPr>
            <a:r>
              <a:t>copy(src A, dst D)</a:t>
            </a:r>
          </a:p>
          <a:p>
            <a:pPr>
              <a:lnSpc>
                <a:spcPct val="110000"/>
              </a:lnSpc>
              <a:spcAft>
                <a:spcPts val="600"/>
              </a:spcAft>
              <a:defRPr sz="1800" b="0" i="0">
                <a:solidFill>
                  <a:srgbClr val="6E6E73"/>
                </a:solidFill>
                <a:latin typeface="Segoe UI"/>
              </a:defRPr>
            </a:pPr>
            <a:r>
              <a:t>copy(src B, dst D)</a:t>
            </a:r>
          </a:p>
          <a:p>
            <a:pPr>
              <a:lnSpc>
                <a:spcPct val="110000"/>
              </a:lnSpc>
              <a:spcAft>
                <a:spcPts val="600"/>
              </a:spcAft>
              <a:defRPr sz="1800" b="0" i="0">
                <a:solidFill>
                  <a:srgbClr val="6E6E73"/>
                </a:solidFill>
                <a:latin typeface="Segoe UI"/>
              </a:defRPr>
            </a:pPr>
          </a:p>
          <a:p>
            <a:pPr>
              <a:lnSpc>
                <a:spcPct val="110000"/>
              </a:lnSpc>
              <a:spcAft>
                <a:spcPts val="600"/>
              </a:spcAft>
              <a:defRPr sz="1800" b="0" i="0">
                <a:solidFill>
                  <a:srgbClr val="6E6E73"/>
                </a:solidFill>
                <a:latin typeface="Segoe UI"/>
              </a:defRPr>
            </a:pPr>
            <a:r>
              <a:t>Source replaced; destination retained</a:t>
            </a:r>
          </a:p>
          <a:p>
            <a:pPr>
              <a:lnSpc>
                <a:spcPct val="110000"/>
              </a:lnSpc>
              <a:spcAft>
                <a:spcPts val="600"/>
              </a:spcAft>
              <a:defRPr sz="1800" b="0" i="0">
                <a:solidFill>
                  <a:srgbClr val="6E6E73"/>
                </a:solidFill>
                <a:latin typeface="Segoe UI"/>
              </a:defRPr>
            </a:pPr>
            <a:r>
              <a:t>→ separate slots.</a:t>
            </a:r>
          </a:p>
        </p:txBody>
      </p:sp>
      <p:sp>
        <p:nvSpPr>
          <p:cNvPr id="9" name="rect_0311"/>
          <p:cNvSpPr/>
          <p:nvPr/>
        </p:nvSpPr>
        <p:spPr>
          <a:xfrm>
            <a:off x="6156959" y="1783080"/>
            <a:ext cx="5212080" cy="3108960"/>
          </a:xfrm>
          <a:prstGeom prst="roundRect">
            <a:avLst>
              <a:gd name="adj" fmla="val 6470"/>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x_0312"/>
          <p:cNvSpPr txBox="1"/>
          <p:nvPr/>
        </p:nvSpPr>
        <p:spPr>
          <a:xfrm>
            <a:off x="6476999" y="2075688"/>
            <a:ext cx="4572000" cy="548640"/>
          </a:xfrm>
          <a:prstGeom prst="rect">
            <a:avLst/>
          </a:prstGeom>
          <a:noFill/>
        </p:spPr>
        <p:txBody>
          <a:bodyPr wrap="square" lIns="0" rIns="0" tIns="0" bIns="0">
            <a:spAutoFit/>
          </a:bodyPr>
          <a:lstStyle/>
          <a:p>
            <a:pPr>
              <a:spcAft>
                <a:spcPts val="400"/>
              </a:spcAft>
              <a:defRPr sz="2200" b="0" i="0">
                <a:solidFill>
                  <a:srgbClr val="1D1D1F"/>
                </a:solidFill>
                <a:latin typeface="Segoe UI Semibold"/>
              </a:defRPr>
            </a:pPr>
            <a:r>
              <a:t>Shared encoding, distinct slots</a:t>
            </a:r>
          </a:p>
        </p:txBody>
      </p:sp>
      <p:sp>
        <p:nvSpPr>
          <p:cNvPr id="11" name="tx_0313"/>
          <p:cNvSpPr txBox="1"/>
          <p:nvPr/>
        </p:nvSpPr>
        <p:spPr>
          <a:xfrm>
            <a:off x="6476999" y="2697480"/>
            <a:ext cx="4572000" cy="2011680"/>
          </a:xfrm>
          <a:prstGeom prst="rect">
            <a:avLst/>
          </a:prstGeom>
          <a:noFill/>
        </p:spPr>
        <p:txBody>
          <a:bodyPr wrap="square" lIns="0" rIns="0" tIns="0" bIns="0">
            <a:spAutoFit/>
          </a:bodyPr>
          <a:lstStyle/>
          <a:p>
            <a:pPr>
              <a:lnSpc>
                <a:spcPct val="110000"/>
              </a:lnSpc>
              <a:spcAft>
                <a:spcPts val="600"/>
              </a:spcAft>
              <a:defRPr sz="1800" b="0" i="0">
                <a:solidFill>
                  <a:srgbClr val="6E6E73"/>
                </a:solidFill>
                <a:latin typeface="Segoe UI"/>
              </a:defRPr>
            </a:pPr>
            <a:r>
              <a:t>compare(src A, src2 X)</a:t>
            </a:r>
          </a:p>
          <a:p>
            <a:pPr>
              <a:lnSpc>
                <a:spcPct val="110000"/>
              </a:lnSpc>
              <a:spcAft>
                <a:spcPts val="600"/>
              </a:spcAft>
              <a:defRPr sz="1800" b="0" i="0">
                <a:solidFill>
                  <a:srgbClr val="6E6E73"/>
                </a:solidFill>
                <a:latin typeface="Segoe UI"/>
              </a:defRPr>
            </a:pPr>
            <a:r>
              <a:t>copy(src A, dst X)</a:t>
            </a:r>
          </a:p>
          <a:p>
            <a:pPr>
              <a:lnSpc>
                <a:spcPct val="110000"/>
              </a:lnSpc>
              <a:spcAft>
                <a:spcPts val="600"/>
              </a:spcAft>
              <a:defRPr sz="1800" b="0" i="0">
                <a:solidFill>
                  <a:srgbClr val="6E6E73"/>
                </a:solidFill>
                <a:latin typeface="Segoe UI"/>
              </a:defRPr>
            </a:pPr>
          </a:p>
          <a:p>
            <a:pPr>
              <a:lnSpc>
                <a:spcPct val="110000"/>
              </a:lnSpc>
              <a:spcAft>
                <a:spcPts val="600"/>
              </a:spcAft>
              <a:defRPr sz="1800" b="0" i="0">
                <a:solidFill>
                  <a:srgbClr val="6E6E73"/>
                </a:solidFill>
                <a:latin typeface="Segoe UI"/>
              </a:defRPr>
            </a:pPr>
            <a:r>
              <a:t>Only the src reuse</a:t>
            </a:r>
          </a:p>
          <a:p>
            <a:pPr>
              <a:lnSpc>
                <a:spcPct val="110000"/>
              </a:lnSpc>
              <a:spcAft>
                <a:spcPts val="600"/>
              </a:spcAft>
              <a:defRPr sz="1800" b="0" i="0">
                <a:solidFill>
                  <a:srgbClr val="6E6E73"/>
                </a:solidFill>
                <a:latin typeface="Segoe UI"/>
              </a:defRPr>
            </a:pPr>
            <a:r>
              <a:t>produces the shared hit.</a:t>
            </a:r>
          </a:p>
        </p:txBody>
      </p:sp>
      <p:sp>
        <p:nvSpPr>
          <p:cNvPr id="12" name="rect_0314"/>
          <p:cNvSpPr/>
          <p:nvPr/>
        </p:nvSpPr>
        <p:spPr>
          <a:xfrm>
            <a:off x="822960" y="5486400"/>
            <a:ext cx="502920" cy="41148"/>
          </a:xfrm>
          <a:prstGeom prst="rect">
            <a:avLst/>
          </a:prstGeom>
          <a:solidFill>
            <a:srgbClr val="007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x_0315"/>
          <p:cNvSpPr txBox="1"/>
          <p:nvPr/>
        </p:nvSpPr>
        <p:spPr>
          <a:xfrm>
            <a:off x="822960" y="5641848"/>
            <a:ext cx="10546079" cy="548640"/>
          </a:xfrm>
          <a:prstGeom prst="rect">
            <a:avLst/>
          </a:prstGeom>
          <a:noFill/>
        </p:spPr>
        <p:txBody>
          <a:bodyPr wrap="square" lIns="0" rIns="0" tIns="0" bIns="0">
            <a:spAutoFit/>
          </a:bodyPr>
          <a:lstStyle/>
          <a:p>
            <a:pPr>
              <a:spcAft>
                <a:spcPts val="400"/>
              </a:spcAft>
              <a:defRPr sz="2100" b="0" i="0">
                <a:solidFill>
                  <a:srgbClr val="1D1D1F"/>
                </a:solidFill>
                <a:latin typeface="Segoe UI Semibold"/>
              </a:defRPr>
            </a:pPr>
            <a:r>
              <a:t>The organisation follows field semantics, including src2 versus dst.</a:t>
            </a:r>
          </a:p>
        </p:txBody>
      </p:sp>
    </p:spTree>
  </p:cSld>
  <p:clrMapOvr>
    <a:masterClrMapping/>
  </p:clrMapOvr>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x_0316"/>
          <p:cNvSpPr txBox="1"/>
          <p:nvPr/>
        </p:nvSpPr>
        <p:spPr>
          <a:xfrm>
            <a:off x="822960" y="502920"/>
            <a:ext cx="10546079" cy="274320"/>
          </a:xfrm>
          <a:prstGeom prst="rect">
            <a:avLst/>
          </a:prstGeom>
          <a:noFill/>
        </p:spPr>
        <p:txBody>
          <a:bodyPr wrap="square" lIns="0" rIns="0" tIns="0" bIns="0">
            <a:spAutoFit/>
          </a:bodyPr>
          <a:lstStyle/>
          <a:p>
            <a:pPr>
              <a:spcAft>
                <a:spcPts val="400"/>
              </a:spcAft>
              <a:defRPr sz="1200" b="0" i="0">
                <a:solidFill>
                  <a:srgbClr val="0071E3"/>
                </a:solidFill>
                <a:latin typeface="Segoe UI Semibold"/>
              </a:defRPr>
            </a:pPr>
            <a:r>
              <a:t>The detective story</a:t>
            </a:r>
          </a:p>
        </p:txBody>
      </p:sp>
      <p:sp>
        <p:nvSpPr>
          <p:cNvPr id="3" name="tx_0317"/>
          <p:cNvSpPr txBox="1"/>
          <p:nvPr/>
        </p:nvSpPr>
        <p:spPr>
          <a:xfrm>
            <a:off x="822960" y="822960"/>
            <a:ext cx="10546079" cy="914400"/>
          </a:xfrm>
          <a:prstGeom prst="rect">
            <a:avLst/>
          </a:prstGeom>
          <a:noFill/>
        </p:spPr>
        <p:txBody>
          <a:bodyPr wrap="square" lIns="0" rIns="0" tIns="0" bIns="0">
            <a:spAutoFit/>
          </a:bodyPr>
          <a:lstStyle/>
          <a:p>
            <a:pPr>
              <a:lnSpc>
                <a:spcPct val="100000"/>
              </a:lnSpc>
              <a:spcAft>
                <a:spcPts val="400"/>
              </a:spcAft>
              <a:defRPr sz="3000" b="0" i="0">
                <a:solidFill>
                  <a:srgbClr val="1D1D1F"/>
                </a:solidFill>
                <a:latin typeface="Segoe UI Semibold"/>
              </a:defRPr>
            </a:pPr>
            <a:r>
              <a:t>A slot remembers the last page, not the history</a:t>
            </a:r>
          </a:p>
        </p:txBody>
      </p:sp>
      <p:sp>
        <p:nvSpPr>
          <p:cNvPr id="4" name="tx_0318"/>
          <p:cNvSpPr txBox="1"/>
          <p:nvPr/>
        </p:nvSpPr>
        <p:spPr>
          <a:xfrm>
            <a:off x="822960" y="6419088"/>
            <a:ext cx="9631679" cy="228600"/>
          </a:xfrm>
          <a:prstGeom prst="rect">
            <a:avLst/>
          </a:prstGeom>
          <a:noFill/>
        </p:spPr>
        <p:txBody>
          <a:bodyPr wrap="square" lIns="0" rIns="0" tIns="0" bIns="0">
            <a:spAutoFit/>
          </a:bodyPr>
          <a:lstStyle/>
          <a:p>
            <a:pPr>
              <a:spcAft>
                <a:spcPts val="400"/>
              </a:spcAft>
              <a:defRPr sz="1000" b="0" i="0">
                <a:solidFill>
                  <a:srgbClr val="86868B"/>
                </a:solidFill>
                <a:latin typeface="Segoe UI"/>
              </a:defRPr>
            </a:pPr>
            <a:r>
              <a:t>Paper § IV-B · pp. 5–6</a:t>
            </a:r>
          </a:p>
        </p:txBody>
      </p:sp>
      <p:sp>
        <p:nvSpPr>
          <p:cNvPr id="5" name="tx_0319"/>
          <p:cNvSpPr txBox="1"/>
          <p:nvPr/>
        </p:nvSpPr>
        <p:spPr>
          <a:xfrm>
            <a:off x="10820399" y="6419088"/>
            <a:ext cx="548640" cy="228600"/>
          </a:xfrm>
          <a:prstGeom prst="rect">
            <a:avLst/>
          </a:prstGeom>
          <a:noFill/>
        </p:spPr>
        <p:txBody>
          <a:bodyPr wrap="square" lIns="0" rIns="0" tIns="0" bIns="0">
            <a:spAutoFit/>
          </a:bodyPr>
          <a:lstStyle/>
          <a:p>
            <a:pPr algn="r">
              <a:spcAft>
                <a:spcPts val="400"/>
              </a:spcAft>
              <a:defRPr sz="1000" b="0" i="0">
                <a:solidFill>
                  <a:srgbClr val="86868B"/>
                </a:solidFill>
                <a:latin typeface="Segoe UI"/>
              </a:defRPr>
            </a:pPr>
            <a:r>
              <a:t>18</a:t>
            </a:r>
          </a:p>
        </p:txBody>
      </p:sp>
      <p:sp>
        <p:nvSpPr>
          <p:cNvPr id="6" name="tx_0320"/>
          <p:cNvSpPr txBox="1"/>
          <p:nvPr/>
        </p:nvSpPr>
        <p:spPr>
          <a:xfrm>
            <a:off x="822960" y="1783080"/>
            <a:ext cx="10546079" cy="365760"/>
          </a:xfrm>
          <a:prstGeom prst="rect">
            <a:avLst/>
          </a:prstGeom>
          <a:noFill/>
        </p:spPr>
        <p:txBody>
          <a:bodyPr wrap="square" lIns="0" rIns="0" tIns="0" bIns="0">
            <a:spAutoFit/>
          </a:bodyPr>
          <a:lstStyle/>
          <a:p>
            <a:pPr>
              <a:spcAft>
                <a:spcPts val="400"/>
              </a:spcAft>
              <a:defRPr sz="1800" b="0" i="0">
                <a:solidFill>
                  <a:srgbClr val="6E6E73"/>
                </a:solidFill>
                <a:latin typeface="Segoe UI"/>
              </a:defRPr>
            </a:pPr>
            <a:r>
              <a:t>One descriptor crossing several source pages</a:t>
            </a:r>
          </a:p>
        </p:txBody>
      </p:sp>
      <p:sp>
        <p:nvSpPr>
          <p:cNvPr id="7" name="rect_0321"/>
          <p:cNvSpPr/>
          <p:nvPr/>
        </p:nvSpPr>
        <p:spPr>
          <a:xfrm>
            <a:off x="822960" y="2286000"/>
            <a:ext cx="2293619" cy="914400"/>
          </a:xfrm>
          <a:prstGeom prst="roundRect">
            <a:avLst>
              <a:gd name="adj" fmla="val 18000"/>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x_0322"/>
          <p:cNvSpPr txBox="1"/>
          <p:nvPr/>
        </p:nvSpPr>
        <p:spPr>
          <a:xfrm>
            <a:off x="822960" y="2286000"/>
            <a:ext cx="2293619" cy="914400"/>
          </a:xfrm>
          <a:prstGeom prst="rect">
            <a:avLst/>
          </a:prstGeom>
          <a:noFill/>
        </p:spPr>
        <p:txBody>
          <a:bodyPr wrap="square" lIns="0" rIns="0" tIns="0" bIns="0" anchor="ctr">
            <a:spAutoFit/>
          </a:bodyPr>
          <a:lstStyle/>
          <a:p>
            <a:pPr algn="ctr">
              <a:spcAft>
                <a:spcPts val="400"/>
              </a:spcAft>
              <a:defRPr sz="2000" b="0" i="0">
                <a:solidFill>
                  <a:srgbClr val="1D1D1F"/>
                </a:solidFill>
                <a:latin typeface="Segoe UI Semibold"/>
              </a:defRPr>
            </a:pPr>
            <a:r>
              <a:t>Page A</a:t>
            </a:r>
          </a:p>
        </p:txBody>
      </p:sp>
      <p:cxnSp>
        <p:nvCxnSpPr>
          <p:cNvPr id="9" name="ar_0323"/>
          <p:cNvCxnSpPr/>
          <p:nvPr/>
        </p:nvCxnSpPr>
        <p:spPr>
          <a:xfrm>
            <a:off x="3208019" y="2743200"/>
            <a:ext cx="274320" cy="0"/>
          </a:xfrm>
          <a:prstGeom prst="line">
            <a:avLst/>
          </a:prstGeom>
          <a:ln w="15875">
            <a:solidFill>
              <a:srgbClr val="86868B"/>
            </a:solidFill>
            <a:tailEnd type="triangle" w="sm" len="med"/>
          </a:ln>
        </p:spPr>
        <p:style>
          <a:lnRef idx="2">
            <a:schemeClr val="accent1"/>
          </a:lnRef>
          <a:fillRef idx="0">
            <a:schemeClr val="accent1"/>
          </a:fillRef>
          <a:effectRef idx="1">
            <a:schemeClr val="accent1"/>
          </a:effectRef>
          <a:fontRef idx="minor">
            <a:schemeClr val="tx1"/>
          </a:fontRef>
        </p:style>
      </p:cxnSp>
      <p:sp>
        <p:nvSpPr>
          <p:cNvPr id="10" name="rect_0324"/>
          <p:cNvSpPr/>
          <p:nvPr/>
        </p:nvSpPr>
        <p:spPr>
          <a:xfrm>
            <a:off x="3573779" y="2286000"/>
            <a:ext cx="2293619" cy="914400"/>
          </a:xfrm>
          <a:prstGeom prst="roundRect">
            <a:avLst>
              <a:gd name="adj" fmla="val 18000"/>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x_0325"/>
          <p:cNvSpPr txBox="1"/>
          <p:nvPr/>
        </p:nvSpPr>
        <p:spPr>
          <a:xfrm>
            <a:off x="3573779" y="2286000"/>
            <a:ext cx="2293619" cy="914400"/>
          </a:xfrm>
          <a:prstGeom prst="rect">
            <a:avLst/>
          </a:prstGeom>
          <a:noFill/>
        </p:spPr>
        <p:txBody>
          <a:bodyPr wrap="square" lIns="0" rIns="0" tIns="0" bIns="0" anchor="ctr">
            <a:spAutoFit/>
          </a:bodyPr>
          <a:lstStyle/>
          <a:p>
            <a:pPr algn="ctr">
              <a:spcAft>
                <a:spcPts val="400"/>
              </a:spcAft>
              <a:defRPr sz="2000" b="0" i="0">
                <a:solidFill>
                  <a:srgbClr val="1D1D1F"/>
                </a:solidFill>
                <a:latin typeface="Segoe UI Semibold"/>
              </a:defRPr>
            </a:pPr>
            <a:r>
              <a:t>Page B</a:t>
            </a:r>
          </a:p>
        </p:txBody>
      </p:sp>
      <p:cxnSp>
        <p:nvCxnSpPr>
          <p:cNvPr id="12" name="ar_0326"/>
          <p:cNvCxnSpPr/>
          <p:nvPr/>
        </p:nvCxnSpPr>
        <p:spPr>
          <a:xfrm>
            <a:off x="5958839" y="2743200"/>
            <a:ext cx="274320" cy="0"/>
          </a:xfrm>
          <a:prstGeom prst="line">
            <a:avLst/>
          </a:prstGeom>
          <a:ln w="15875">
            <a:solidFill>
              <a:srgbClr val="86868B"/>
            </a:solidFill>
            <a:tailEnd type="triangle" w="sm" len="med"/>
          </a:ln>
        </p:spPr>
        <p:style>
          <a:lnRef idx="2">
            <a:schemeClr val="accent1"/>
          </a:lnRef>
          <a:fillRef idx="0">
            <a:schemeClr val="accent1"/>
          </a:fillRef>
          <a:effectRef idx="1">
            <a:schemeClr val="accent1"/>
          </a:effectRef>
          <a:fontRef idx="minor">
            <a:schemeClr val="tx1"/>
          </a:fontRef>
        </p:style>
      </p:cxnSp>
      <p:sp>
        <p:nvSpPr>
          <p:cNvPr id="13" name="rect_0327"/>
          <p:cNvSpPr/>
          <p:nvPr/>
        </p:nvSpPr>
        <p:spPr>
          <a:xfrm>
            <a:off x="6324599" y="2286000"/>
            <a:ext cx="2293619" cy="914400"/>
          </a:xfrm>
          <a:prstGeom prst="roundRect">
            <a:avLst>
              <a:gd name="adj" fmla="val 18000"/>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x_0328"/>
          <p:cNvSpPr txBox="1"/>
          <p:nvPr/>
        </p:nvSpPr>
        <p:spPr>
          <a:xfrm>
            <a:off x="6324599" y="2286000"/>
            <a:ext cx="2293619" cy="914400"/>
          </a:xfrm>
          <a:prstGeom prst="rect">
            <a:avLst/>
          </a:prstGeom>
          <a:noFill/>
        </p:spPr>
        <p:txBody>
          <a:bodyPr wrap="square" lIns="0" rIns="0" tIns="0" bIns="0" anchor="ctr">
            <a:spAutoFit/>
          </a:bodyPr>
          <a:lstStyle/>
          <a:p>
            <a:pPr algn="ctr">
              <a:spcAft>
                <a:spcPts val="400"/>
              </a:spcAft>
              <a:defRPr sz="2000" b="0" i="0">
                <a:solidFill>
                  <a:srgbClr val="1D1D1F"/>
                </a:solidFill>
                <a:latin typeface="Segoe UI Semibold"/>
              </a:defRPr>
            </a:pPr>
            <a:r>
              <a:t>Page C</a:t>
            </a:r>
          </a:p>
        </p:txBody>
      </p:sp>
      <p:cxnSp>
        <p:nvCxnSpPr>
          <p:cNvPr id="15" name="ar_0329"/>
          <p:cNvCxnSpPr/>
          <p:nvPr/>
        </p:nvCxnSpPr>
        <p:spPr>
          <a:xfrm>
            <a:off x="8709659" y="2743200"/>
            <a:ext cx="274320" cy="0"/>
          </a:xfrm>
          <a:prstGeom prst="line">
            <a:avLst/>
          </a:prstGeom>
          <a:ln w="15875">
            <a:solidFill>
              <a:srgbClr val="86868B"/>
            </a:solidFill>
            <a:tailEnd type="triangle" w="sm" len="med"/>
          </a:ln>
        </p:spPr>
        <p:style>
          <a:lnRef idx="2">
            <a:schemeClr val="accent1"/>
          </a:lnRef>
          <a:fillRef idx="0">
            <a:schemeClr val="accent1"/>
          </a:fillRef>
          <a:effectRef idx="1">
            <a:schemeClr val="accent1"/>
          </a:effectRef>
          <a:fontRef idx="minor">
            <a:schemeClr val="tx1"/>
          </a:fontRef>
        </p:style>
      </p:cxnSp>
      <p:sp>
        <p:nvSpPr>
          <p:cNvPr id="16" name="rect_0330"/>
          <p:cNvSpPr/>
          <p:nvPr/>
        </p:nvSpPr>
        <p:spPr>
          <a:xfrm>
            <a:off x="9075419" y="2286000"/>
            <a:ext cx="2293619" cy="914400"/>
          </a:xfrm>
          <a:prstGeom prst="roundRect">
            <a:avLst>
              <a:gd name="adj" fmla="val 18000"/>
            </a:avLst>
          </a:prstGeom>
          <a:solidFill>
            <a:srgbClr val="1D1D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x_0331"/>
          <p:cNvSpPr txBox="1"/>
          <p:nvPr/>
        </p:nvSpPr>
        <p:spPr>
          <a:xfrm>
            <a:off x="9075419" y="2286000"/>
            <a:ext cx="2293619" cy="914400"/>
          </a:xfrm>
          <a:prstGeom prst="rect">
            <a:avLst/>
          </a:prstGeom>
          <a:noFill/>
        </p:spPr>
        <p:txBody>
          <a:bodyPr wrap="square" lIns="0" rIns="0" tIns="0" bIns="0" anchor="ctr">
            <a:spAutoFit/>
          </a:bodyPr>
          <a:lstStyle/>
          <a:p>
            <a:pPr algn="ctr">
              <a:spcAft>
                <a:spcPts val="400"/>
              </a:spcAft>
              <a:defRPr sz="2000" b="0" i="0">
                <a:solidFill>
                  <a:srgbClr val="FFFFFF"/>
                </a:solidFill>
                <a:latin typeface="Segoe UI Semibold"/>
              </a:defRPr>
            </a:pPr>
            <a:r>
              <a:t>Page D</a:t>
            </a:r>
          </a:p>
        </p:txBody>
      </p:sp>
      <p:sp>
        <p:nvSpPr>
          <p:cNvPr id="18" name="tx_0332"/>
          <p:cNvSpPr txBox="1"/>
          <p:nvPr/>
        </p:nvSpPr>
        <p:spPr>
          <a:xfrm>
            <a:off x="822960" y="3474720"/>
            <a:ext cx="10546079" cy="457200"/>
          </a:xfrm>
          <a:prstGeom prst="rect">
            <a:avLst/>
          </a:prstGeom>
          <a:noFill/>
        </p:spPr>
        <p:txBody>
          <a:bodyPr wrap="square" lIns="0" rIns="0" tIns="0" bIns="0">
            <a:spAutoFit/>
          </a:bodyPr>
          <a:lstStyle/>
          <a:p>
            <a:pPr>
              <a:spcAft>
                <a:spcPts val="400"/>
              </a:spcAft>
              <a:defRPr sz="2000" b="0" i="0">
                <a:solidFill>
                  <a:srgbClr val="1D1D1F"/>
                </a:solidFill>
                <a:latin typeface="Segoe UI Semibold"/>
              </a:defRPr>
            </a:pPr>
            <a:r>
              <a:t>Retained in the src slot:  Page D</a:t>
            </a:r>
          </a:p>
        </p:txBody>
      </p:sp>
      <p:sp>
        <p:nvSpPr>
          <p:cNvPr id="19" name="tx_0333"/>
          <p:cNvSpPr txBox="1"/>
          <p:nvPr/>
        </p:nvSpPr>
        <p:spPr>
          <a:xfrm>
            <a:off x="822960" y="4160520"/>
            <a:ext cx="10546079" cy="365760"/>
          </a:xfrm>
          <a:prstGeom prst="rect">
            <a:avLst/>
          </a:prstGeom>
          <a:noFill/>
        </p:spPr>
        <p:txBody>
          <a:bodyPr wrap="square" lIns="0" rIns="0" tIns="0" bIns="0">
            <a:spAutoFit/>
          </a:bodyPr>
          <a:lstStyle/>
          <a:p>
            <a:pPr>
              <a:spcAft>
                <a:spcPts val="400"/>
              </a:spcAft>
              <a:defRPr sz="1600" b="0" i="1">
                <a:solidFill>
                  <a:srgbClr val="6E6E73"/>
                </a:solidFill>
                <a:latin typeface="Segoe UI"/>
              </a:defRPr>
            </a:pPr>
            <a:r>
              <a:t>The batch fetcher’s own descriptor reads and completion-record writes did not populate these slots — a separate translation path.</a:t>
            </a:r>
          </a:p>
        </p:txBody>
      </p:sp>
      <p:sp>
        <p:nvSpPr>
          <p:cNvPr id="20" name="rect_0334"/>
          <p:cNvSpPr/>
          <p:nvPr/>
        </p:nvSpPr>
        <p:spPr>
          <a:xfrm>
            <a:off x="822960" y="5623560"/>
            <a:ext cx="502920" cy="41148"/>
          </a:xfrm>
          <a:prstGeom prst="rect">
            <a:avLst/>
          </a:prstGeom>
          <a:solidFill>
            <a:srgbClr val="007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x_0335"/>
          <p:cNvSpPr txBox="1"/>
          <p:nvPr/>
        </p:nvSpPr>
        <p:spPr>
          <a:xfrm>
            <a:off x="822960" y="5779008"/>
            <a:ext cx="10546079" cy="548640"/>
          </a:xfrm>
          <a:prstGeom prst="rect">
            <a:avLst/>
          </a:prstGeom>
          <a:noFill/>
        </p:spPr>
        <p:txBody>
          <a:bodyPr wrap="square" lIns="0" rIns="0" tIns="0" bIns="0">
            <a:spAutoFit/>
          </a:bodyPr>
          <a:lstStyle/>
          <a:p>
            <a:pPr>
              <a:spcAft>
                <a:spcPts val="400"/>
              </a:spcAft>
              <a:defRPr sz="2100" b="0" i="0">
                <a:solidFill>
                  <a:srgbClr val="1D1D1F"/>
                </a:solidFill>
                <a:latin typeface="Segoe UI Semibold"/>
              </a:defRPr>
            </a:pPr>
            <a:r>
              <a:t>A slot records recent field-specific state, not a page-access history.</a:t>
            </a:r>
          </a:p>
        </p:txBody>
      </p:sp>
    </p:spTree>
  </p:cSld>
  <p:clrMapOvr>
    <a:masterClrMapping/>
  </p:clrMapOvr>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x_0336"/>
          <p:cNvSpPr txBox="1"/>
          <p:nvPr/>
        </p:nvSpPr>
        <p:spPr>
          <a:xfrm>
            <a:off x="822960" y="502920"/>
            <a:ext cx="10546079" cy="274320"/>
          </a:xfrm>
          <a:prstGeom prst="rect">
            <a:avLst/>
          </a:prstGeom>
          <a:noFill/>
        </p:spPr>
        <p:txBody>
          <a:bodyPr wrap="square" lIns="0" rIns="0" tIns="0" bIns="0">
            <a:spAutoFit/>
          </a:bodyPr>
          <a:lstStyle/>
          <a:p>
            <a:pPr>
              <a:spcAft>
                <a:spcPts val="400"/>
              </a:spcAft>
              <a:defRPr sz="1200" b="0" i="0">
                <a:solidFill>
                  <a:srgbClr val="0071E3"/>
                </a:solidFill>
                <a:latin typeface="Segoe UI Semibold"/>
              </a:defRPr>
            </a:pPr>
            <a:r>
              <a:t>The detective story</a:t>
            </a:r>
          </a:p>
        </p:txBody>
      </p:sp>
      <p:sp>
        <p:nvSpPr>
          <p:cNvPr id="3" name="tx_0337"/>
          <p:cNvSpPr txBox="1"/>
          <p:nvPr/>
        </p:nvSpPr>
        <p:spPr>
          <a:xfrm>
            <a:off x="822960" y="822960"/>
            <a:ext cx="10546079" cy="914400"/>
          </a:xfrm>
          <a:prstGeom prst="rect">
            <a:avLst/>
          </a:prstGeom>
          <a:noFill/>
        </p:spPr>
        <p:txBody>
          <a:bodyPr wrap="square" lIns="0" rIns="0" tIns="0" bIns="0">
            <a:spAutoFit/>
          </a:bodyPr>
          <a:lstStyle/>
          <a:p>
            <a:pPr>
              <a:lnSpc>
                <a:spcPct val="100000"/>
              </a:lnSpc>
              <a:spcAft>
                <a:spcPts val="400"/>
              </a:spcAft>
              <a:defRPr sz="2400" b="0" i="0">
                <a:solidFill>
                  <a:srgbClr val="1D1D1F"/>
                </a:solidFill>
                <a:latin typeface="Segoe UI Semibold"/>
              </a:defRPr>
            </a:pPr>
            <a:r>
              <a:t>The money shot — eviction follows the engine, not the queue</a:t>
            </a:r>
          </a:p>
        </p:txBody>
      </p:sp>
      <p:sp>
        <p:nvSpPr>
          <p:cNvPr id="4" name="tx_0338"/>
          <p:cNvSpPr txBox="1"/>
          <p:nvPr/>
        </p:nvSpPr>
        <p:spPr>
          <a:xfrm>
            <a:off x="822960" y="6419088"/>
            <a:ext cx="9631679" cy="228600"/>
          </a:xfrm>
          <a:prstGeom prst="rect">
            <a:avLst/>
          </a:prstGeom>
          <a:noFill/>
        </p:spPr>
        <p:txBody>
          <a:bodyPr wrap="square" lIns="0" rIns="0" tIns="0" bIns="0">
            <a:spAutoFit/>
          </a:bodyPr>
          <a:lstStyle/>
          <a:p>
            <a:pPr>
              <a:spcAft>
                <a:spcPts val="400"/>
              </a:spcAft>
              <a:defRPr sz="1000" b="0" i="0">
                <a:solidFill>
                  <a:srgbClr val="86868B"/>
                </a:solidFill>
                <a:latin typeface="Segoe UI"/>
              </a:defRPr>
            </a:pPr>
            <a:r>
              <a:t>Paper § IV-B, Fig. 5 · p. 6</a:t>
            </a:r>
          </a:p>
        </p:txBody>
      </p:sp>
      <p:sp>
        <p:nvSpPr>
          <p:cNvPr id="5" name="tx_0339"/>
          <p:cNvSpPr txBox="1"/>
          <p:nvPr/>
        </p:nvSpPr>
        <p:spPr>
          <a:xfrm>
            <a:off x="10820399" y="6419088"/>
            <a:ext cx="548640" cy="228600"/>
          </a:xfrm>
          <a:prstGeom prst="rect">
            <a:avLst/>
          </a:prstGeom>
          <a:noFill/>
        </p:spPr>
        <p:txBody>
          <a:bodyPr wrap="square" lIns="0" rIns="0" tIns="0" bIns="0">
            <a:spAutoFit/>
          </a:bodyPr>
          <a:lstStyle/>
          <a:p>
            <a:pPr algn="r">
              <a:spcAft>
                <a:spcPts val="400"/>
              </a:spcAft>
              <a:defRPr sz="1000" b="0" i="0">
                <a:solidFill>
                  <a:srgbClr val="86868B"/>
                </a:solidFill>
                <a:latin typeface="Segoe UI"/>
              </a:defRPr>
            </a:pPr>
            <a:r>
              <a:t>19</a:t>
            </a:r>
          </a:p>
        </p:txBody>
      </p:sp>
      <p:sp>
        <p:nvSpPr>
          <p:cNvPr id="6" name="rect_0340"/>
          <p:cNvSpPr/>
          <p:nvPr/>
        </p:nvSpPr>
        <p:spPr>
          <a:xfrm>
            <a:off x="822960" y="1783080"/>
            <a:ext cx="3210559" cy="3108960"/>
          </a:xfrm>
          <a:prstGeom prst="roundRect">
            <a:avLst>
              <a:gd name="adj" fmla="val 6470"/>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x_0341"/>
          <p:cNvSpPr txBox="1"/>
          <p:nvPr/>
        </p:nvSpPr>
        <p:spPr>
          <a:xfrm>
            <a:off x="1143000" y="2057400"/>
            <a:ext cx="2570479" cy="457200"/>
          </a:xfrm>
          <a:prstGeom prst="rect">
            <a:avLst/>
          </a:prstGeom>
          <a:noFill/>
        </p:spPr>
        <p:txBody>
          <a:bodyPr wrap="square" lIns="0" rIns="0" tIns="0" bIns="0">
            <a:spAutoFit/>
          </a:bodyPr>
          <a:lstStyle/>
          <a:p>
            <a:pPr>
              <a:spcAft>
                <a:spcPts val="400"/>
              </a:spcAft>
              <a:defRPr sz="2400" b="0" i="0">
                <a:solidFill>
                  <a:srgbClr val="1D1D1F"/>
                </a:solidFill>
                <a:latin typeface="Segoe UI Semibold"/>
              </a:defRPr>
            </a:pPr>
            <a:r>
              <a:t>E0</a:t>
            </a:r>
          </a:p>
        </p:txBody>
      </p:sp>
      <p:sp>
        <p:nvSpPr>
          <p:cNvPr id="8" name="tx_0342"/>
          <p:cNvSpPr txBox="1"/>
          <p:nvPr/>
        </p:nvSpPr>
        <p:spPr>
          <a:xfrm>
            <a:off x="1143000" y="2606040"/>
            <a:ext cx="2570479" cy="548640"/>
          </a:xfrm>
          <a:prstGeom prst="rect">
            <a:avLst/>
          </a:prstGeom>
          <a:noFill/>
        </p:spPr>
        <p:txBody>
          <a:bodyPr wrap="square" lIns="0" rIns="0" tIns="0" bIns="0">
            <a:spAutoFit/>
          </a:bodyPr>
          <a:lstStyle/>
          <a:p>
            <a:pPr>
              <a:lnSpc>
                <a:spcPct val="100000"/>
              </a:lnSpc>
              <a:spcAft>
                <a:spcPts val="400"/>
              </a:spcAft>
              <a:defRPr sz="1500" b="0" i="0">
                <a:solidFill>
                  <a:srgbClr val="6E6E73"/>
                </a:solidFill>
                <a:latin typeface="Segoe UI"/>
              </a:defRPr>
            </a:pPr>
            <a:r>
              <a:t>same WQ · same engine</a:t>
            </a:r>
          </a:p>
        </p:txBody>
      </p:sp>
      <p:sp>
        <p:nvSpPr>
          <p:cNvPr id="9" name="tx_0343"/>
          <p:cNvSpPr txBox="1"/>
          <p:nvPr/>
        </p:nvSpPr>
        <p:spPr>
          <a:xfrm>
            <a:off x="1143000" y="3291839"/>
            <a:ext cx="2570479" cy="640080"/>
          </a:xfrm>
          <a:prstGeom prst="rect">
            <a:avLst/>
          </a:prstGeom>
          <a:noFill/>
        </p:spPr>
        <p:txBody>
          <a:bodyPr wrap="square" lIns="0" rIns="0" tIns="0" bIns="0">
            <a:spAutoFit/>
          </a:bodyPr>
          <a:lstStyle/>
          <a:p>
            <a:pPr>
              <a:spcAft>
                <a:spcPts val="400"/>
              </a:spcAft>
              <a:defRPr sz="3400" b="0" i="0">
                <a:solidFill>
                  <a:srgbClr val="D70015"/>
                </a:solidFill>
                <a:latin typeface="Segoe UI Semibold"/>
              </a:defRPr>
            </a:pPr>
            <a:r>
              <a:t>Miss</a:t>
            </a:r>
          </a:p>
        </p:txBody>
      </p:sp>
      <p:sp>
        <p:nvSpPr>
          <p:cNvPr id="10" name="tx_0344"/>
          <p:cNvSpPr txBox="1"/>
          <p:nvPr/>
        </p:nvSpPr>
        <p:spPr>
          <a:xfrm>
            <a:off x="1143000" y="4069080"/>
            <a:ext cx="2570479" cy="548640"/>
          </a:xfrm>
          <a:prstGeom prst="rect">
            <a:avLst/>
          </a:prstGeom>
          <a:noFill/>
        </p:spPr>
        <p:txBody>
          <a:bodyPr wrap="square" lIns="0" rIns="0" tIns="0" bIns="0">
            <a:spAutoFit/>
          </a:bodyPr>
          <a:lstStyle/>
          <a:p>
            <a:pPr>
              <a:lnSpc>
                <a:spcPct val="100000"/>
              </a:lnSpc>
              <a:spcAft>
                <a:spcPts val="400"/>
              </a:spcAft>
              <a:defRPr sz="1500" b="0" i="0">
                <a:solidFill>
                  <a:srgbClr val="6E6E73"/>
                </a:solidFill>
                <a:latin typeface="Segoe UI"/>
              </a:defRPr>
            </a:pPr>
            <a:r>
              <a:t>Cross-VM interference</a:t>
            </a:r>
          </a:p>
        </p:txBody>
      </p:sp>
      <p:sp>
        <p:nvSpPr>
          <p:cNvPr id="11" name="rect_0345"/>
          <p:cNvSpPr/>
          <p:nvPr/>
        </p:nvSpPr>
        <p:spPr>
          <a:xfrm>
            <a:off x="4490719" y="1783080"/>
            <a:ext cx="3210559" cy="3108960"/>
          </a:xfrm>
          <a:prstGeom prst="roundRect">
            <a:avLst>
              <a:gd name="adj" fmla="val 6470"/>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x_0346"/>
          <p:cNvSpPr txBox="1"/>
          <p:nvPr/>
        </p:nvSpPr>
        <p:spPr>
          <a:xfrm>
            <a:off x="4810759" y="2057400"/>
            <a:ext cx="2570479" cy="457200"/>
          </a:xfrm>
          <a:prstGeom prst="rect">
            <a:avLst/>
          </a:prstGeom>
          <a:noFill/>
        </p:spPr>
        <p:txBody>
          <a:bodyPr wrap="square" lIns="0" rIns="0" tIns="0" bIns="0">
            <a:spAutoFit/>
          </a:bodyPr>
          <a:lstStyle/>
          <a:p>
            <a:pPr>
              <a:spcAft>
                <a:spcPts val="400"/>
              </a:spcAft>
              <a:defRPr sz="2400" b="0" i="0">
                <a:solidFill>
                  <a:srgbClr val="1D1D1F"/>
                </a:solidFill>
                <a:latin typeface="Segoe UI Semibold"/>
              </a:defRPr>
            </a:pPr>
            <a:r>
              <a:t>E1</a:t>
            </a:r>
          </a:p>
        </p:txBody>
      </p:sp>
      <p:sp>
        <p:nvSpPr>
          <p:cNvPr id="13" name="tx_0347"/>
          <p:cNvSpPr txBox="1"/>
          <p:nvPr/>
        </p:nvSpPr>
        <p:spPr>
          <a:xfrm>
            <a:off x="4810759" y="2606040"/>
            <a:ext cx="2570479" cy="548640"/>
          </a:xfrm>
          <a:prstGeom prst="rect">
            <a:avLst/>
          </a:prstGeom>
          <a:noFill/>
        </p:spPr>
        <p:txBody>
          <a:bodyPr wrap="square" lIns="0" rIns="0" tIns="0" bIns="0">
            <a:spAutoFit/>
          </a:bodyPr>
          <a:lstStyle/>
          <a:p>
            <a:pPr>
              <a:lnSpc>
                <a:spcPct val="100000"/>
              </a:lnSpc>
              <a:spcAft>
                <a:spcPts val="400"/>
              </a:spcAft>
              <a:defRPr sz="1500" b="0" i="0">
                <a:solidFill>
                  <a:srgbClr val="6E6E73"/>
                </a:solidFill>
                <a:latin typeface="Segoe UI"/>
              </a:defRPr>
            </a:pPr>
            <a:r>
              <a:t>different WQ · same engine</a:t>
            </a:r>
          </a:p>
        </p:txBody>
      </p:sp>
      <p:sp>
        <p:nvSpPr>
          <p:cNvPr id="14" name="tx_0348"/>
          <p:cNvSpPr txBox="1"/>
          <p:nvPr/>
        </p:nvSpPr>
        <p:spPr>
          <a:xfrm>
            <a:off x="4810759" y="3291839"/>
            <a:ext cx="2570479" cy="640080"/>
          </a:xfrm>
          <a:prstGeom prst="rect">
            <a:avLst/>
          </a:prstGeom>
          <a:noFill/>
        </p:spPr>
        <p:txBody>
          <a:bodyPr wrap="square" lIns="0" rIns="0" tIns="0" bIns="0">
            <a:spAutoFit/>
          </a:bodyPr>
          <a:lstStyle/>
          <a:p>
            <a:pPr>
              <a:spcAft>
                <a:spcPts val="400"/>
              </a:spcAft>
              <a:defRPr sz="3400" b="0" i="0">
                <a:solidFill>
                  <a:srgbClr val="D70015"/>
                </a:solidFill>
                <a:latin typeface="Segoe UI Semibold"/>
              </a:defRPr>
            </a:pPr>
            <a:r>
              <a:t>Miss</a:t>
            </a:r>
          </a:p>
        </p:txBody>
      </p:sp>
      <p:sp>
        <p:nvSpPr>
          <p:cNvPr id="15" name="tx_0349"/>
          <p:cNvSpPr txBox="1"/>
          <p:nvPr/>
        </p:nvSpPr>
        <p:spPr>
          <a:xfrm>
            <a:off x="4810759" y="4069080"/>
            <a:ext cx="2570479" cy="548640"/>
          </a:xfrm>
          <a:prstGeom prst="rect">
            <a:avLst/>
          </a:prstGeom>
          <a:noFill/>
        </p:spPr>
        <p:txBody>
          <a:bodyPr wrap="square" lIns="0" rIns="0" tIns="0" bIns="0">
            <a:spAutoFit/>
          </a:bodyPr>
          <a:lstStyle/>
          <a:p>
            <a:pPr>
              <a:lnSpc>
                <a:spcPct val="100000"/>
              </a:lnSpc>
              <a:spcAft>
                <a:spcPts val="400"/>
              </a:spcAft>
              <a:defRPr sz="1500" b="0" i="0">
                <a:solidFill>
                  <a:srgbClr val="6E6E73"/>
                </a:solidFill>
                <a:latin typeface="Segoe UI"/>
              </a:defRPr>
            </a:pPr>
            <a:r>
              <a:t>Queue separation insufficient</a:t>
            </a:r>
          </a:p>
        </p:txBody>
      </p:sp>
      <p:sp>
        <p:nvSpPr>
          <p:cNvPr id="16" name="rect_0350"/>
          <p:cNvSpPr/>
          <p:nvPr/>
        </p:nvSpPr>
        <p:spPr>
          <a:xfrm>
            <a:off x="8158479" y="1783080"/>
            <a:ext cx="3210559" cy="3108960"/>
          </a:xfrm>
          <a:prstGeom prst="roundRect">
            <a:avLst>
              <a:gd name="adj" fmla="val 6470"/>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x_0351"/>
          <p:cNvSpPr txBox="1"/>
          <p:nvPr/>
        </p:nvSpPr>
        <p:spPr>
          <a:xfrm>
            <a:off x="8478519" y="2057400"/>
            <a:ext cx="2570479" cy="457200"/>
          </a:xfrm>
          <a:prstGeom prst="rect">
            <a:avLst/>
          </a:prstGeom>
          <a:noFill/>
        </p:spPr>
        <p:txBody>
          <a:bodyPr wrap="square" lIns="0" rIns="0" tIns="0" bIns="0">
            <a:spAutoFit/>
          </a:bodyPr>
          <a:lstStyle/>
          <a:p>
            <a:pPr>
              <a:spcAft>
                <a:spcPts val="400"/>
              </a:spcAft>
              <a:defRPr sz="2400" b="0" i="0">
                <a:solidFill>
                  <a:srgbClr val="1D1D1F"/>
                </a:solidFill>
                <a:latin typeface="Segoe UI Semibold"/>
              </a:defRPr>
            </a:pPr>
            <a:r>
              <a:t>E2</a:t>
            </a:r>
          </a:p>
        </p:txBody>
      </p:sp>
      <p:sp>
        <p:nvSpPr>
          <p:cNvPr id="18" name="tx_0352"/>
          <p:cNvSpPr txBox="1"/>
          <p:nvPr/>
        </p:nvSpPr>
        <p:spPr>
          <a:xfrm>
            <a:off x="8478519" y="2606040"/>
            <a:ext cx="2570479" cy="548640"/>
          </a:xfrm>
          <a:prstGeom prst="rect">
            <a:avLst/>
          </a:prstGeom>
          <a:noFill/>
        </p:spPr>
        <p:txBody>
          <a:bodyPr wrap="square" lIns="0" rIns="0" tIns="0" bIns="0">
            <a:spAutoFit/>
          </a:bodyPr>
          <a:lstStyle/>
          <a:p>
            <a:pPr>
              <a:lnSpc>
                <a:spcPct val="100000"/>
              </a:lnSpc>
              <a:spcAft>
                <a:spcPts val="400"/>
              </a:spcAft>
              <a:defRPr sz="1500" b="0" i="0">
                <a:solidFill>
                  <a:srgbClr val="6E6E73"/>
                </a:solidFill>
                <a:latin typeface="Segoe UI"/>
              </a:defRPr>
            </a:pPr>
            <a:r>
              <a:t>different WQ · different engine</a:t>
            </a:r>
          </a:p>
        </p:txBody>
      </p:sp>
      <p:sp>
        <p:nvSpPr>
          <p:cNvPr id="19" name="tx_0353"/>
          <p:cNvSpPr txBox="1"/>
          <p:nvPr/>
        </p:nvSpPr>
        <p:spPr>
          <a:xfrm>
            <a:off x="8478519" y="3291839"/>
            <a:ext cx="2570479" cy="640080"/>
          </a:xfrm>
          <a:prstGeom prst="rect">
            <a:avLst/>
          </a:prstGeom>
          <a:noFill/>
        </p:spPr>
        <p:txBody>
          <a:bodyPr wrap="square" lIns="0" rIns="0" tIns="0" bIns="0">
            <a:spAutoFit/>
          </a:bodyPr>
          <a:lstStyle/>
          <a:p>
            <a:pPr>
              <a:spcAft>
                <a:spcPts val="400"/>
              </a:spcAft>
              <a:defRPr sz="3400" b="0" i="0">
                <a:solidFill>
                  <a:srgbClr val="248A3D"/>
                </a:solidFill>
                <a:latin typeface="Segoe UI Semibold"/>
              </a:defRPr>
            </a:pPr>
            <a:r>
              <a:t>Hit</a:t>
            </a:r>
          </a:p>
        </p:txBody>
      </p:sp>
      <p:sp>
        <p:nvSpPr>
          <p:cNvPr id="20" name="tx_0354"/>
          <p:cNvSpPr txBox="1"/>
          <p:nvPr/>
        </p:nvSpPr>
        <p:spPr>
          <a:xfrm>
            <a:off x="8478519" y="4069080"/>
            <a:ext cx="2570479" cy="548640"/>
          </a:xfrm>
          <a:prstGeom prst="rect">
            <a:avLst/>
          </a:prstGeom>
          <a:noFill/>
        </p:spPr>
        <p:txBody>
          <a:bodyPr wrap="square" lIns="0" rIns="0" tIns="0" bIns="0">
            <a:spAutoFit/>
          </a:bodyPr>
          <a:lstStyle/>
          <a:p>
            <a:pPr>
              <a:lnSpc>
                <a:spcPct val="100000"/>
              </a:lnSpc>
              <a:spcAft>
                <a:spcPts val="400"/>
              </a:spcAft>
              <a:defRPr sz="1500" b="0" i="0">
                <a:solidFill>
                  <a:srgbClr val="6E6E73"/>
                </a:solidFill>
                <a:latin typeface="Segoe UI"/>
              </a:defRPr>
            </a:pPr>
            <a:r>
              <a:t>No cross-engine eviction</a:t>
            </a:r>
          </a:p>
        </p:txBody>
      </p:sp>
      <p:sp>
        <p:nvSpPr>
          <p:cNvPr id="21" name="rect_0355"/>
          <p:cNvSpPr/>
          <p:nvPr/>
        </p:nvSpPr>
        <p:spPr>
          <a:xfrm>
            <a:off x="822960" y="5532120"/>
            <a:ext cx="502920" cy="41148"/>
          </a:xfrm>
          <a:prstGeom prst="rect">
            <a:avLst/>
          </a:prstGeom>
          <a:solidFill>
            <a:srgbClr val="007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x_0356"/>
          <p:cNvSpPr txBox="1"/>
          <p:nvPr/>
        </p:nvSpPr>
        <p:spPr>
          <a:xfrm>
            <a:off x="822960" y="5687568"/>
            <a:ext cx="10546079" cy="548640"/>
          </a:xfrm>
          <a:prstGeom prst="rect">
            <a:avLst/>
          </a:prstGeom>
          <a:noFill/>
        </p:spPr>
        <p:txBody>
          <a:bodyPr wrap="square" lIns="0" rIns="0" tIns="0" bIns="0">
            <a:spAutoFit/>
          </a:bodyPr>
          <a:lstStyle/>
          <a:p>
            <a:pPr>
              <a:spcAft>
                <a:spcPts val="400"/>
              </a:spcAft>
              <a:defRPr sz="2100" b="0" i="0">
                <a:solidFill>
                  <a:srgbClr val="1D1D1F"/>
                </a:solidFill>
                <a:latin typeface="Segoe UI Semibold"/>
              </a:defRPr>
            </a:pPr>
            <a:r>
              <a:t>E2 is the control that proves it: engine sharing is necessary and sufficient.</a:t>
            </a:r>
          </a:p>
        </p:txBody>
      </p:sp>
    </p:spTree>
  </p:cSld>
  <p:clrMapOvr>
    <a:masterClrMapping/>
  </p:clrMapOvr>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x_0357"/>
          <p:cNvSpPr txBox="1"/>
          <p:nvPr/>
        </p:nvSpPr>
        <p:spPr>
          <a:xfrm>
            <a:off x="822960" y="502920"/>
            <a:ext cx="10546079" cy="274320"/>
          </a:xfrm>
          <a:prstGeom prst="rect">
            <a:avLst/>
          </a:prstGeom>
          <a:noFill/>
        </p:spPr>
        <p:txBody>
          <a:bodyPr wrap="square" lIns="0" rIns="0" tIns="0" bIns="0">
            <a:spAutoFit/>
          </a:bodyPr>
          <a:lstStyle/>
          <a:p>
            <a:pPr>
              <a:spcAft>
                <a:spcPts val="400"/>
              </a:spcAft>
              <a:defRPr sz="1200" b="0" i="0">
                <a:solidFill>
                  <a:srgbClr val="0071E3"/>
                </a:solidFill>
                <a:latin typeface="Segoe UI Semibold"/>
              </a:defRPr>
            </a:pPr>
            <a:r>
              <a:t>The detective story</a:t>
            </a:r>
          </a:p>
        </p:txBody>
      </p:sp>
      <p:sp>
        <p:nvSpPr>
          <p:cNvPr id="3" name="tx_0358"/>
          <p:cNvSpPr txBox="1"/>
          <p:nvPr/>
        </p:nvSpPr>
        <p:spPr>
          <a:xfrm>
            <a:off x="822960" y="822960"/>
            <a:ext cx="10546079" cy="914400"/>
          </a:xfrm>
          <a:prstGeom prst="rect">
            <a:avLst/>
          </a:prstGeom>
          <a:noFill/>
        </p:spPr>
        <p:txBody>
          <a:bodyPr wrap="square" lIns="0" rIns="0" tIns="0" bIns="0">
            <a:spAutoFit/>
          </a:bodyPr>
          <a:lstStyle/>
          <a:p>
            <a:pPr>
              <a:lnSpc>
                <a:spcPct val="100000"/>
              </a:lnSpc>
              <a:spcAft>
                <a:spcPts val="400"/>
              </a:spcAft>
              <a:defRPr sz="3000" b="0" i="0">
                <a:solidFill>
                  <a:srgbClr val="1D1D1F"/>
                </a:solidFill>
                <a:latin typeface="Segoe UI Semibold"/>
              </a:defRPr>
            </a:pPr>
            <a:r>
              <a:t>The clock still works — even under noise</a:t>
            </a:r>
          </a:p>
        </p:txBody>
      </p:sp>
      <p:sp>
        <p:nvSpPr>
          <p:cNvPr id="4" name="tx_0359"/>
          <p:cNvSpPr txBox="1"/>
          <p:nvPr/>
        </p:nvSpPr>
        <p:spPr>
          <a:xfrm>
            <a:off x="822960" y="6419088"/>
            <a:ext cx="9631679" cy="228600"/>
          </a:xfrm>
          <a:prstGeom prst="rect">
            <a:avLst/>
          </a:prstGeom>
          <a:noFill/>
        </p:spPr>
        <p:txBody>
          <a:bodyPr wrap="square" lIns="0" rIns="0" tIns="0" bIns="0">
            <a:spAutoFit/>
          </a:bodyPr>
          <a:lstStyle/>
          <a:p>
            <a:pPr>
              <a:spcAft>
                <a:spcPts val="400"/>
              </a:spcAft>
              <a:defRPr sz="1000" b="0" i="0">
                <a:solidFill>
                  <a:srgbClr val="86868B"/>
                </a:solidFill>
                <a:latin typeface="Segoe UI"/>
              </a:defRPr>
            </a:pPr>
            <a:r>
              <a:t>Paper § IV-B, Fig. 4 · pp. 5–6 · original distributions</a:t>
            </a:r>
          </a:p>
        </p:txBody>
      </p:sp>
      <p:sp>
        <p:nvSpPr>
          <p:cNvPr id="5" name="tx_0360"/>
          <p:cNvSpPr txBox="1"/>
          <p:nvPr/>
        </p:nvSpPr>
        <p:spPr>
          <a:xfrm>
            <a:off x="10820399" y="6419088"/>
            <a:ext cx="548640" cy="228600"/>
          </a:xfrm>
          <a:prstGeom prst="rect">
            <a:avLst/>
          </a:prstGeom>
          <a:noFill/>
        </p:spPr>
        <p:txBody>
          <a:bodyPr wrap="square" lIns="0" rIns="0" tIns="0" bIns="0">
            <a:spAutoFit/>
          </a:bodyPr>
          <a:lstStyle/>
          <a:p>
            <a:pPr algn="r">
              <a:spcAft>
                <a:spcPts val="400"/>
              </a:spcAft>
              <a:defRPr sz="1000" b="0" i="0">
                <a:solidFill>
                  <a:srgbClr val="86868B"/>
                </a:solidFill>
                <a:latin typeface="Segoe UI"/>
              </a:defRPr>
            </a:pPr>
            <a:r>
              <a:t>20</a:t>
            </a:r>
          </a:p>
        </p:txBody>
      </p:sp>
      <p:pic>
        <p:nvPicPr>
          <p:cNvPr id="6" name="pic_0361" descr="latency.png"/>
          <p:cNvPicPr>
            <a:picLocks noChangeAspect="1"/>
          </p:cNvPicPr>
          <p:nvPr/>
        </p:nvPicPr>
        <p:blipFill>
          <a:blip r:embed="rId3"/>
          <a:stretch>
            <a:fillRect/>
          </a:stretch>
        </p:blipFill>
        <p:spPr>
          <a:xfrm>
            <a:off x="2261521" y="1783080"/>
            <a:ext cx="4163756" cy="3749039"/>
          </a:xfrm>
          <a:prstGeom prst="rect">
            <a:avLst/>
          </a:prstGeom>
        </p:spPr>
      </p:pic>
      <p:sp>
        <p:nvSpPr>
          <p:cNvPr id="7" name="tx_0362"/>
          <p:cNvSpPr txBox="1"/>
          <p:nvPr/>
        </p:nvSpPr>
        <p:spPr>
          <a:xfrm>
            <a:off x="8229600" y="1965960"/>
            <a:ext cx="3108960" cy="365760"/>
          </a:xfrm>
          <a:prstGeom prst="rect">
            <a:avLst/>
          </a:prstGeom>
          <a:noFill/>
        </p:spPr>
        <p:txBody>
          <a:bodyPr wrap="square" lIns="0" rIns="0" tIns="0" bIns="0">
            <a:spAutoFit/>
          </a:bodyPr>
          <a:lstStyle/>
          <a:p>
            <a:pPr>
              <a:spcAft>
                <a:spcPts val="400"/>
              </a:spcAft>
              <a:defRPr sz="1600" b="0" i="0">
                <a:solidFill>
                  <a:srgbClr val="0071E3"/>
                </a:solidFill>
                <a:latin typeface="Segoe UI Semibold"/>
              </a:defRPr>
            </a:pPr>
            <a:r>
              <a:t>Measured signal</a:t>
            </a:r>
          </a:p>
        </p:txBody>
      </p:sp>
      <p:cxnSp>
        <p:nvCxnSpPr>
          <p:cNvPr id="8" name="hl_0363"/>
          <p:cNvCxnSpPr/>
          <p:nvPr/>
        </p:nvCxnSpPr>
        <p:spPr>
          <a:xfrm>
            <a:off x="8229600" y="2350008"/>
            <a:ext cx="3108960"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9" name="tx_0364"/>
          <p:cNvSpPr txBox="1"/>
          <p:nvPr/>
        </p:nvSpPr>
        <p:spPr>
          <a:xfrm>
            <a:off x="8229600" y="2560320"/>
            <a:ext cx="1371600" cy="365760"/>
          </a:xfrm>
          <a:prstGeom prst="rect">
            <a:avLst/>
          </a:prstGeom>
          <a:noFill/>
        </p:spPr>
        <p:txBody>
          <a:bodyPr wrap="square" lIns="0" rIns="0" tIns="0" bIns="0">
            <a:spAutoFit/>
          </a:bodyPr>
          <a:lstStyle/>
          <a:p>
            <a:pPr>
              <a:spcAft>
                <a:spcPts val="400"/>
              </a:spcAft>
              <a:defRPr sz="1800" b="0" i="0">
                <a:solidFill>
                  <a:srgbClr val="1D1D1F"/>
                </a:solidFill>
                <a:latin typeface="Segoe UI Semibold"/>
              </a:defRPr>
            </a:pPr>
            <a:r>
              <a:t>Hit</a:t>
            </a:r>
          </a:p>
        </p:txBody>
      </p:sp>
      <p:sp>
        <p:nvSpPr>
          <p:cNvPr id="10" name="tx_0365"/>
          <p:cNvSpPr txBox="1"/>
          <p:nvPr/>
        </p:nvSpPr>
        <p:spPr>
          <a:xfrm>
            <a:off x="9509760" y="2560320"/>
            <a:ext cx="1828800" cy="365760"/>
          </a:xfrm>
          <a:prstGeom prst="rect">
            <a:avLst/>
          </a:prstGeom>
          <a:noFill/>
        </p:spPr>
        <p:txBody>
          <a:bodyPr wrap="square" lIns="0" rIns="0" tIns="0" bIns="0">
            <a:spAutoFit/>
          </a:bodyPr>
          <a:lstStyle/>
          <a:p>
            <a:pPr>
              <a:spcAft>
                <a:spcPts val="400"/>
              </a:spcAft>
              <a:defRPr sz="1800" b="0" i="0">
                <a:solidFill>
                  <a:srgbClr val="6E6E73"/>
                </a:solidFill>
                <a:latin typeface="Segoe UI"/>
              </a:defRPr>
            </a:pPr>
            <a:r>
              <a:t>≈ 500 cycles</a:t>
            </a:r>
          </a:p>
        </p:txBody>
      </p:sp>
      <p:sp>
        <p:nvSpPr>
          <p:cNvPr id="11" name="tx_0366"/>
          <p:cNvSpPr txBox="1"/>
          <p:nvPr/>
        </p:nvSpPr>
        <p:spPr>
          <a:xfrm>
            <a:off x="8229600" y="3127248"/>
            <a:ext cx="1371600" cy="365760"/>
          </a:xfrm>
          <a:prstGeom prst="rect">
            <a:avLst/>
          </a:prstGeom>
          <a:noFill/>
        </p:spPr>
        <p:txBody>
          <a:bodyPr wrap="square" lIns="0" rIns="0" tIns="0" bIns="0">
            <a:spAutoFit/>
          </a:bodyPr>
          <a:lstStyle/>
          <a:p>
            <a:pPr>
              <a:spcAft>
                <a:spcPts val="400"/>
              </a:spcAft>
              <a:defRPr sz="1800" b="0" i="0">
                <a:solidFill>
                  <a:srgbClr val="1D1D1F"/>
                </a:solidFill>
                <a:latin typeface="Segoe UI Semibold"/>
              </a:defRPr>
            </a:pPr>
            <a:r>
              <a:t>Miss</a:t>
            </a:r>
          </a:p>
        </p:txBody>
      </p:sp>
      <p:sp>
        <p:nvSpPr>
          <p:cNvPr id="12" name="tx_0367"/>
          <p:cNvSpPr txBox="1"/>
          <p:nvPr/>
        </p:nvSpPr>
        <p:spPr>
          <a:xfrm>
            <a:off x="9509760" y="3127248"/>
            <a:ext cx="1828800" cy="365760"/>
          </a:xfrm>
          <a:prstGeom prst="rect">
            <a:avLst/>
          </a:prstGeom>
          <a:noFill/>
        </p:spPr>
        <p:txBody>
          <a:bodyPr wrap="square" lIns="0" rIns="0" tIns="0" bIns="0">
            <a:spAutoFit/>
          </a:bodyPr>
          <a:lstStyle/>
          <a:p>
            <a:pPr>
              <a:spcAft>
                <a:spcPts val="400"/>
              </a:spcAft>
              <a:defRPr sz="1800" b="0" i="0">
                <a:solidFill>
                  <a:srgbClr val="6E6E73"/>
                </a:solidFill>
                <a:latin typeface="Segoe UI"/>
              </a:defRPr>
            </a:pPr>
            <a:r>
              <a:t>≈ &gt; 1000 cycles</a:t>
            </a:r>
          </a:p>
        </p:txBody>
      </p:sp>
      <p:sp>
        <p:nvSpPr>
          <p:cNvPr id="13" name="tx_0368"/>
          <p:cNvSpPr txBox="1"/>
          <p:nvPr/>
        </p:nvSpPr>
        <p:spPr>
          <a:xfrm>
            <a:off x="8229600" y="3694176"/>
            <a:ext cx="1371600" cy="365760"/>
          </a:xfrm>
          <a:prstGeom prst="rect">
            <a:avLst/>
          </a:prstGeom>
          <a:noFill/>
        </p:spPr>
        <p:txBody>
          <a:bodyPr wrap="square" lIns="0" rIns="0" tIns="0" bIns="0">
            <a:spAutoFit/>
          </a:bodyPr>
          <a:lstStyle/>
          <a:p>
            <a:pPr>
              <a:spcAft>
                <a:spcPts val="400"/>
              </a:spcAft>
              <a:defRPr sz="1800" b="0" i="0">
                <a:solidFill>
                  <a:srgbClr val="1D1D1F"/>
                </a:solidFill>
                <a:latin typeface="Segoe UI Semibold"/>
              </a:defRPr>
            </a:pPr>
            <a:r>
              <a:t>Threshold</a:t>
            </a:r>
          </a:p>
        </p:txBody>
      </p:sp>
      <p:sp>
        <p:nvSpPr>
          <p:cNvPr id="14" name="tx_0369"/>
          <p:cNvSpPr txBox="1"/>
          <p:nvPr/>
        </p:nvSpPr>
        <p:spPr>
          <a:xfrm>
            <a:off x="9509760" y="3694176"/>
            <a:ext cx="1828800" cy="365760"/>
          </a:xfrm>
          <a:prstGeom prst="rect">
            <a:avLst/>
          </a:prstGeom>
          <a:noFill/>
        </p:spPr>
        <p:txBody>
          <a:bodyPr wrap="square" lIns="0" rIns="0" tIns="0" bIns="0">
            <a:spAutoFit/>
          </a:bodyPr>
          <a:lstStyle/>
          <a:p>
            <a:pPr>
              <a:spcAft>
                <a:spcPts val="400"/>
              </a:spcAft>
              <a:defRPr sz="1800" b="0" i="0">
                <a:solidFill>
                  <a:srgbClr val="6E6E73"/>
                </a:solidFill>
                <a:latin typeface="Segoe UI"/>
              </a:defRPr>
            </a:pPr>
            <a:r>
              <a:t>600 – 900</a:t>
            </a:r>
          </a:p>
        </p:txBody>
      </p:sp>
      <p:sp>
        <p:nvSpPr>
          <p:cNvPr id="15" name="tx_0370"/>
          <p:cNvSpPr txBox="1"/>
          <p:nvPr/>
        </p:nvSpPr>
        <p:spPr>
          <a:xfrm>
            <a:off x="8229600" y="4434840"/>
            <a:ext cx="3108960" cy="914400"/>
          </a:xfrm>
          <a:prstGeom prst="rect">
            <a:avLst/>
          </a:prstGeom>
          <a:noFill/>
        </p:spPr>
        <p:txBody>
          <a:bodyPr wrap="square" lIns="0" rIns="0" tIns="0" bIns="0">
            <a:spAutoFit/>
          </a:bodyPr>
          <a:lstStyle/>
          <a:p>
            <a:pPr>
              <a:lnSpc>
                <a:spcPct val="115000"/>
              </a:lnSpc>
              <a:spcAft>
                <a:spcPts val="400"/>
              </a:spcAft>
              <a:defRPr sz="1500" b="0" i="0">
                <a:solidFill>
                  <a:srgbClr val="6E6E73"/>
                </a:solidFill>
                <a:latin typeface="Segoe UI"/>
              </a:defRPr>
            </a:pPr>
            <a:r>
              <a:t>Noise shifts latency; the separation survives in every tested environment.</a:t>
            </a:r>
          </a:p>
        </p:txBody>
      </p:sp>
      <p:sp>
        <p:nvSpPr>
          <p:cNvPr id="16" name="rect_0371"/>
          <p:cNvSpPr/>
          <p:nvPr/>
        </p:nvSpPr>
        <p:spPr>
          <a:xfrm>
            <a:off x="822960" y="5760720"/>
            <a:ext cx="502920" cy="41148"/>
          </a:xfrm>
          <a:prstGeom prst="rect">
            <a:avLst/>
          </a:prstGeom>
          <a:solidFill>
            <a:srgbClr val="007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x_0372"/>
          <p:cNvSpPr txBox="1"/>
          <p:nvPr/>
        </p:nvSpPr>
        <p:spPr>
          <a:xfrm>
            <a:off x="822960" y="5916168"/>
            <a:ext cx="10546079" cy="548640"/>
          </a:xfrm>
          <a:prstGeom prst="rect">
            <a:avLst/>
          </a:prstGeom>
          <a:noFill/>
        </p:spPr>
        <p:txBody>
          <a:bodyPr wrap="square" lIns="0" rIns="0" tIns="0" bIns="0">
            <a:spAutoFit/>
          </a:bodyPr>
          <a:lstStyle/>
          <a:p>
            <a:pPr>
              <a:spcAft>
                <a:spcPts val="400"/>
              </a:spcAft>
              <a:defRPr sz="2100" b="0" i="0">
                <a:solidFill>
                  <a:srgbClr val="1D1D1F"/>
                </a:solidFill>
                <a:latin typeface="Segoe UI Semibold"/>
              </a:defRPr>
            </a:pPr>
            <a:r>
              <a:t>An unprivileged clock cleanly tells a hit from a miss.</a:t>
            </a:r>
          </a:p>
        </p:txBody>
      </p:sp>
    </p:spTree>
  </p:cSld>
  <p:clrMapOvr>
    <a:masterClrMapping/>
  </p:clrMapOvr>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x_0373"/>
          <p:cNvSpPr txBox="1"/>
          <p:nvPr/>
        </p:nvSpPr>
        <p:spPr>
          <a:xfrm>
            <a:off x="822960" y="502920"/>
            <a:ext cx="10546079" cy="274320"/>
          </a:xfrm>
          <a:prstGeom prst="rect">
            <a:avLst/>
          </a:prstGeom>
          <a:noFill/>
        </p:spPr>
        <p:txBody>
          <a:bodyPr wrap="square" lIns="0" rIns="0" tIns="0" bIns="0">
            <a:spAutoFit/>
          </a:bodyPr>
          <a:lstStyle/>
          <a:p>
            <a:pPr>
              <a:spcAft>
                <a:spcPts val="400"/>
              </a:spcAft>
              <a:defRPr sz="1200" b="0" i="0">
                <a:solidFill>
                  <a:srgbClr val="0071E3"/>
                </a:solidFill>
                <a:latin typeface="Segoe UI Semibold"/>
              </a:defRPr>
            </a:pPr>
            <a:r>
              <a:t>The detective story</a:t>
            </a:r>
          </a:p>
        </p:txBody>
      </p:sp>
      <p:sp>
        <p:nvSpPr>
          <p:cNvPr id="3" name="tx_0374"/>
          <p:cNvSpPr txBox="1"/>
          <p:nvPr/>
        </p:nvSpPr>
        <p:spPr>
          <a:xfrm>
            <a:off x="822960" y="822960"/>
            <a:ext cx="10546079" cy="914400"/>
          </a:xfrm>
          <a:prstGeom prst="rect">
            <a:avLst/>
          </a:prstGeom>
          <a:noFill/>
        </p:spPr>
        <p:txBody>
          <a:bodyPr wrap="square" lIns="0" rIns="0" tIns="0" bIns="0">
            <a:spAutoFit/>
          </a:bodyPr>
          <a:lstStyle/>
          <a:p>
            <a:pPr>
              <a:lnSpc>
                <a:spcPct val="100000"/>
              </a:lnSpc>
              <a:spcAft>
                <a:spcPts val="400"/>
              </a:spcAft>
              <a:defRPr sz="3000" b="0" i="0">
                <a:solidFill>
                  <a:srgbClr val="1D1D1F"/>
                </a:solidFill>
                <a:latin typeface="Segoe UI Semibold"/>
              </a:defRPr>
            </a:pPr>
            <a:r>
              <a:t>Weapon #1 — Prime → Idle → Probe</a:t>
            </a:r>
          </a:p>
        </p:txBody>
      </p:sp>
      <p:sp>
        <p:nvSpPr>
          <p:cNvPr id="4" name="tx_0375"/>
          <p:cNvSpPr txBox="1"/>
          <p:nvPr/>
        </p:nvSpPr>
        <p:spPr>
          <a:xfrm>
            <a:off x="822960" y="6419088"/>
            <a:ext cx="9631679" cy="228600"/>
          </a:xfrm>
          <a:prstGeom prst="rect">
            <a:avLst/>
          </a:prstGeom>
          <a:noFill/>
        </p:spPr>
        <p:txBody>
          <a:bodyPr wrap="square" lIns="0" rIns="0" tIns="0" bIns="0">
            <a:spAutoFit/>
          </a:bodyPr>
          <a:lstStyle/>
          <a:p>
            <a:pPr>
              <a:spcAft>
                <a:spcPts val="400"/>
              </a:spcAft>
              <a:defRPr sz="1000" b="0" i="0">
                <a:solidFill>
                  <a:srgbClr val="86868B"/>
                </a:solidFill>
                <a:latin typeface="Segoe UI"/>
              </a:defRPr>
            </a:pPr>
            <a:r>
              <a:t>Paper § V-B · p. 8</a:t>
            </a:r>
          </a:p>
        </p:txBody>
      </p:sp>
      <p:sp>
        <p:nvSpPr>
          <p:cNvPr id="5" name="tx_0376"/>
          <p:cNvSpPr txBox="1"/>
          <p:nvPr/>
        </p:nvSpPr>
        <p:spPr>
          <a:xfrm>
            <a:off x="10820399" y="6419088"/>
            <a:ext cx="548640" cy="228600"/>
          </a:xfrm>
          <a:prstGeom prst="rect">
            <a:avLst/>
          </a:prstGeom>
          <a:noFill/>
        </p:spPr>
        <p:txBody>
          <a:bodyPr wrap="square" lIns="0" rIns="0" tIns="0" bIns="0">
            <a:spAutoFit/>
          </a:bodyPr>
          <a:lstStyle/>
          <a:p>
            <a:pPr algn="r">
              <a:spcAft>
                <a:spcPts val="400"/>
              </a:spcAft>
              <a:defRPr sz="1000" b="0" i="0">
                <a:solidFill>
                  <a:srgbClr val="86868B"/>
                </a:solidFill>
                <a:latin typeface="Segoe UI"/>
              </a:defRPr>
            </a:pPr>
            <a:r>
              <a:t>21</a:t>
            </a:r>
          </a:p>
        </p:txBody>
      </p:sp>
      <p:sp>
        <p:nvSpPr>
          <p:cNvPr id="6" name="tx_0377"/>
          <p:cNvSpPr txBox="1"/>
          <p:nvPr/>
        </p:nvSpPr>
        <p:spPr>
          <a:xfrm>
            <a:off x="822960" y="2057400"/>
            <a:ext cx="3149599" cy="822960"/>
          </a:xfrm>
          <a:prstGeom prst="rect">
            <a:avLst/>
          </a:prstGeom>
          <a:noFill/>
        </p:spPr>
        <p:txBody>
          <a:bodyPr wrap="square" lIns="0" rIns="0" tIns="0" bIns="0">
            <a:spAutoFit/>
          </a:bodyPr>
          <a:lstStyle/>
          <a:p>
            <a:pPr>
              <a:spcAft>
                <a:spcPts val="400"/>
              </a:spcAft>
              <a:defRPr sz="4800" b="0" i="0">
                <a:solidFill>
                  <a:srgbClr val="0071E3"/>
                </a:solidFill>
                <a:latin typeface="Segoe UI Semibold"/>
              </a:defRPr>
            </a:pPr>
            <a:r>
              <a:t>1</a:t>
            </a:r>
          </a:p>
        </p:txBody>
      </p:sp>
      <p:sp>
        <p:nvSpPr>
          <p:cNvPr id="7" name="tx_0378"/>
          <p:cNvSpPr txBox="1"/>
          <p:nvPr/>
        </p:nvSpPr>
        <p:spPr>
          <a:xfrm>
            <a:off x="822960" y="2971800"/>
            <a:ext cx="3149599" cy="548640"/>
          </a:xfrm>
          <a:prstGeom prst="rect">
            <a:avLst/>
          </a:prstGeom>
          <a:noFill/>
        </p:spPr>
        <p:txBody>
          <a:bodyPr wrap="square" lIns="0" rIns="0" tIns="0" bIns="0">
            <a:spAutoFit/>
          </a:bodyPr>
          <a:lstStyle/>
          <a:p>
            <a:pPr>
              <a:spcAft>
                <a:spcPts val="400"/>
              </a:spcAft>
              <a:defRPr sz="2600" b="0" i="0">
                <a:solidFill>
                  <a:srgbClr val="1D1D1F"/>
                </a:solidFill>
                <a:latin typeface="Segoe UI Semibold"/>
              </a:defRPr>
            </a:pPr>
            <a:r>
              <a:t>Prime</a:t>
            </a:r>
          </a:p>
        </p:txBody>
      </p:sp>
      <p:sp>
        <p:nvSpPr>
          <p:cNvPr id="8" name="tx_0379"/>
          <p:cNvSpPr txBox="1"/>
          <p:nvPr/>
        </p:nvSpPr>
        <p:spPr>
          <a:xfrm>
            <a:off x="822960" y="3611880"/>
            <a:ext cx="3149599" cy="457200"/>
          </a:xfrm>
          <a:prstGeom prst="rect">
            <a:avLst/>
          </a:prstGeom>
          <a:noFill/>
        </p:spPr>
        <p:txBody>
          <a:bodyPr wrap="square" lIns="0" rIns="0" tIns="0" bIns="0">
            <a:spAutoFit/>
          </a:bodyPr>
          <a:lstStyle/>
          <a:p>
            <a:pPr>
              <a:lnSpc>
                <a:spcPct val="112000"/>
              </a:lnSpc>
              <a:spcAft>
                <a:spcPts val="400"/>
              </a:spcAft>
              <a:defRPr sz="1800" b="0" i="0">
                <a:solidFill>
                  <a:srgbClr val="6E6E73"/>
                </a:solidFill>
                <a:latin typeface="Segoe UI"/>
              </a:defRPr>
            </a:pPr>
            <a:r>
              <a:t>Submit noop → cache my own</a:t>
            </a:r>
          </a:p>
          <a:p>
            <a:pPr>
              <a:lnSpc>
                <a:spcPct val="112000"/>
              </a:lnSpc>
              <a:spcAft>
                <a:spcPts val="400"/>
              </a:spcAft>
              <a:defRPr sz="1800" b="0" i="0">
                <a:solidFill>
                  <a:srgbClr val="6E6E73"/>
                </a:solidFill>
                <a:latin typeface="Segoe UI"/>
              </a:defRPr>
            </a:pPr>
            <a:r>
              <a:t>completion-record page</a:t>
            </a:r>
          </a:p>
        </p:txBody>
      </p:sp>
      <p:sp>
        <p:nvSpPr>
          <p:cNvPr id="9" name="tx_0380"/>
          <p:cNvSpPr txBox="1"/>
          <p:nvPr/>
        </p:nvSpPr>
        <p:spPr>
          <a:xfrm>
            <a:off x="4082287" y="2971800"/>
            <a:ext cx="365760" cy="548640"/>
          </a:xfrm>
          <a:prstGeom prst="rect">
            <a:avLst/>
          </a:prstGeom>
          <a:noFill/>
        </p:spPr>
        <p:txBody>
          <a:bodyPr wrap="square" lIns="0" rIns="0" tIns="0" bIns="0">
            <a:spAutoFit/>
          </a:bodyPr>
          <a:lstStyle/>
          <a:p>
            <a:pPr>
              <a:spcAft>
                <a:spcPts val="400"/>
              </a:spcAft>
              <a:defRPr sz="2400" b="0" i="0">
                <a:solidFill>
                  <a:srgbClr val="D2D2D7"/>
                </a:solidFill>
                <a:latin typeface="Segoe UI"/>
              </a:defRPr>
            </a:pPr>
            <a:r>
              <a:t>→</a:t>
            </a:r>
          </a:p>
        </p:txBody>
      </p:sp>
      <p:sp>
        <p:nvSpPr>
          <p:cNvPr id="10" name="tx_0381"/>
          <p:cNvSpPr txBox="1"/>
          <p:nvPr/>
        </p:nvSpPr>
        <p:spPr>
          <a:xfrm>
            <a:off x="4521199" y="2057400"/>
            <a:ext cx="3149599" cy="822960"/>
          </a:xfrm>
          <a:prstGeom prst="rect">
            <a:avLst/>
          </a:prstGeom>
          <a:noFill/>
        </p:spPr>
        <p:txBody>
          <a:bodyPr wrap="square" lIns="0" rIns="0" tIns="0" bIns="0">
            <a:spAutoFit/>
          </a:bodyPr>
          <a:lstStyle/>
          <a:p>
            <a:pPr>
              <a:spcAft>
                <a:spcPts val="400"/>
              </a:spcAft>
              <a:defRPr sz="4800" b="0" i="0">
                <a:solidFill>
                  <a:srgbClr val="D70015"/>
                </a:solidFill>
                <a:latin typeface="Segoe UI Semibold"/>
              </a:defRPr>
            </a:pPr>
            <a:r>
              <a:t>2</a:t>
            </a:r>
          </a:p>
        </p:txBody>
      </p:sp>
      <p:sp>
        <p:nvSpPr>
          <p:cNvPr id="11" name="tx_0382"/>
          <p:cNvSpPr txBox="1"/>
          <p:nvPr/>
        </p:nvSpPr>
        <p:spPr>
          <a:xfrm>
            <a:off x="4521199" y="2971800"/>
            <a:ext cx="3149599" cy="548640"/>
          </a:xfrm>
          <a:prstGeom prst="rect">
            <a:avLst/>
          </a:prstGeom>
          <a:noFill/>
        </p:spPr>
        <p:txBody>
          <a:bodyPr wrap="square" lIns="0" rIns="0" tIns="0" bIns="0">
            <a:spAutoFit/>
          </a:bodyPr>
          <a:lstStyle/>
          <a:p>
            <a:pPr>
              <a:spcAft>
                <a:spcPts val="400"/>
              </a:spcAft>
              <a:defRPr sz="2600" b="0" i="0">
                <a:solidFill>
                  <a:srgbClr val="1D1D1F"/>
                </a:solidFill>
                <a:latin typeface="Segoe UI Semibold"/>
              </a:defRPr>
            </a:pPr>
            <a:r>
              <a:t>Idle</a:t>
            </a:r>
          </a:p>
        </p:txBody>
      </p:sp>
      <p:sp>
        <p:nvSpPr>
          <p:cNvPr id="12" name="tx_0383"/>
          <p:cNvSpPr txBox="1"/>
          <p:nvPr/>
        </p:nvSpPr>
        <p:spPr>
          <a:xfrm>
            <a:off x="4521199" y="3611880"/>
            <a:ext cx="3149599" cy="457200"/>
          </a:xfrm>
          <a:prstGeom prst="rect">
            <a:avLst/>
          </a:prstGeom>
          <a:noFill/>
        </p:spPr>
        <p:txBody>
          <a:bodyPr wrap="square" lIns="0" rIns="0" tIns="0" bIns="0">
            <a:spAutoFit/>
          </a:bodyPr>
          <a:lstStyle/>
          <a:p>
            <a:pPr>
              <a:lnSpc>
                <a:spcPct val="112000"/>
              </a:lnSpc>
              <a:spcAft>
                <a:spcPts val="400"/>
              </a:spcAft>
              <a:defRPr sz="1800" b="0" i="0">
                <a:solidFill>
                  <a:srgbClr val="6E6E73"/>
                </a:solidFill>
                <a:latin typeface="Segoe UI"/>
              </a:defRPr>
            </a:pPr>
            <a:r>
              <a:t>Wait &gt; one DSA op; a victim</a:t>
            </a:r>
          </a:p>
          <a:p>
            <a:pPr>
              <a:lnSpc>
                <a:spcPct val="112000"/>
              </a:lnSpc>
              <a:spcAft>
                <a:spcPts val="400"/>
              </a:spcAft>
              <a:defRPr sz="1800" b="0" i="0">
                <a:solidFill>
                  <a:srgbClr val="6E6E73"/>
                </a:solidFill>
                <a:latin typeface="Segoe UI"/>
              </a:defRPr>
            </a:pPr>
            <a:r>
              <a:t>on this engine may evict it</a:t>
            </a:r>
          </a:p>
        </p:txBody>
      </p:sp>
      <p:sp>
        <p:nvSpPr>
          <p:cNvPr id="13" name="tx_0384"/>
          <p:cNvSpPr txBox="1"/>
          <p:nvPr/>
        </p:nvSpPr>
        <p:spPr>
          <a:xfrm>
            <a:off x="7780527" y="2971800"/>
            <a:ext cx="365760" cy="548640"/>
          </a:xfrm>
          <a:prstGeom prst="rect">
            <a:avLst/>
          </a:prstGeom>
          <a:noFill/>
        </p:spPr>
        <p:txBody>
          <a:bodyPr wrap="square" lIns="0" rIns="0" tIns="0" bIns="0">
            <a:spAutoFit/>
          </a:bodyPr>
          <a:lstStyle/>
          <a:p>
            <a:pPr>
              <a:spcAft>
                <a:spcPts val="400"/>
              </a:spcAft>
              <a:defRPr sz="2400" b="0" i="0">
                <a:solidFill>
                  <a:srgbClr val="D2D2D7"/>
                </a:solidFill>
                <a:latin typeface="Segoe UI"/>
              </a:defRPr>
            </a:pPr>
            <a:r>
              <a:t>→</a:t>
            </a:r>
          </a:p>
        </p:txBody>
      </p:sp>
      <p:sp>
        <p:nvSpPr>
          <p:cNvPr id="14" name="tx_0385"/>
          <p:cNvSpPr txBox="1"/>
          <p:nvPr/>
        </p:nvSpPr>
        <p:spPr>
          <a:xfrm>
            <a:off x="8219439" y="2057400"/>
            <a:ext cx="3149599" cy="822960"/>
          </a:xfrm>
          <a:prstGeom prst="rect">
            <a:avLst/>
          </a:prstGeom>
          <a:noFill/>
        </p:spPr>
        <p:txBody>
          <a:bodyPr wrap="square" lIns="0" rIns="0" tIns="0" bIns="0">
            <a:spAutoFit/>
          </a:bodyPr>
          <a:lstStyle/>
          <a:p>
            <a:pPr>
              <a:spcAft>
                <a:spcPts val="400"/>
              </a:spcAft>
              <a:defRPr sz="4800" b="0" i="0">
                <a:solidFill>
                  <a:srgbClr val="1D1D1F"/>
                </a:solidFill>
                <a:latin typeface="Segoe UI Semibold"/>
              </a:defRPr>
            </a:pPr>
            <a:r>
              <a:t>3</a:t>
            </a:r>
          </a:p>
        </p:txBody>
      </p:sp>
      <p:sp>
        <p:nvSpPr>
          <p:cNvPr id="15" name="tx_0386"/>
          <p:cNvSpPr txBox="1"/>
          <p:nvPr/>
        </p:nvSpPr>
        <p:spPr>
          <a:xfrm>
            <a:off x="8219439" y="2971800"/>
            <a:ext cx="3149599" cy="548640"/>
          </a:xfrm>
          <a:prstGeom prst="rect">
            <a:avLst/>
          </a:prstGeom>
          <a:noFill/>
        </p:spPr>
        <p:txBody>
          <a:bodyPr wrap="square" lIns="0" rIns="0" tIns="0" bIns="0">
            <a:spAutoFit/>
          </a:bodyPr>
          <a:lstStyle/>
          <a:p>
            <a:pPr>
              <a:spcAft>
                <a:spcPts val="400"/>
              </a:spcAft>
              <a:defRPr sz="2600" b="0" i="0">
                <a:solidFill>
                  <a:srgbClr val="1D1D1F"/>
                </a:solidFill>
                <a:latin typeface="Segoe UI Semibold"/>
              </a:defRPr>
            </a:pPr>
            <a:r>
              <a:t>Probe</a:t>
            </a:r>
          </a:p>
        </p:txBody>
      </p:sp>
      <p:sp>
        <p:nvSpPr>
          <p:cNvPr id="16" name="tx_0387"/>
          <p:cNvSpPr txBox="1"/>
          <p:nvPr/>
        </p:nvSpPr>
        <p:spPr>
          <a:xfrm>
            <a:off x="8219439" y="3611880"/>
            <a:ext cx="3149599" cy="457200"/>
          </a:xfrm>
          <a:prstGeom prst="rect">
            <a:avLst/>
          </a:prstGeom>
          <a:noFill/>
        </p:spPr>
        <p:txBody>
          <a:bodyPr wrap="square" lIns="0" rIns="0" tIns="0" bIns="0">
            <a:spAutoFit/>
          </a:bodyPr>
          <a:lstStyle/>
          <a:p>
            <a:pPr>
              <a:lnSpc>
                <a:spcPct val="112000"/>
              </a:lnSpc>
              <a:spcAft>
                <a:spcPts val="400"/>
              </a:spcAft>
              <a:defRPr sz="1800" b="0" i="0">
                <a:solidFill>
                  <a:srgbClr val="6E6E73"/>
                </a:solidFill>
                <a:latin typeface="Segoe UI"/>
              </a:defRPr>
            </a:pPr>
            <a:r>
              <a:t>Submit noop again,</a:t>
            </a:r>
          </a:p>
          <a:p>
            <a:pPr>
              <a:lnSpc>
                <a:spcPct val="112000"/>
              </a:lnSpc>
              <a:spcAft>
                <a:spcPts val="400"/>
              </a:spcAft>
              <a:defRPr sz="1800" b="0" i="0">
                <a:solidFill>
                  <a:srgbClr val="6E6E73"/>
                </a:solidFill>
                <a:latin typeface="Segoe UI"/>
              </a:defRPr>
            </a:pPr>
            <a:r>
              <a:t>time it with rdtsc</a:t>
            </a:r>
          </a:p>
        </p:txBody>
      </p:sp>
      <p:sp>
        <p:nvSpPr>
          <p:cNvPr id="17" name="rect_0388"/>
          <p:cNvSpPr/>
          <p:nvPr/>
        </p:nvSpPr>
        <p:spPr>
          <a:xfrm>
            <a:off x="822960" y="5623560"/>
            <a:ext cx="502920" cy="41148"/>
          </a:xfrm>
          <a:prstGeom prst="rect">
            <a:avLst/>
          </a:prstGeom>
          <a:solidFill>
            <a:srgbClr val="007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x_0389"/>
          <p:cNvSpPr txBox="1"/>
          <p:nvPr/>
        </p:nvSpPr>
        <p:spPr>
          <a:xfrm>
            <a:off x="822960" y="5779008"/>
            <a:ext cx="10546079" cy="548640"/>
          </a:xfrm>
          <a:prstGeom prst="rect">
            <a:avLst/>
          </a:prstGeom>
          <a:noFill/>
        </p:spPr>
        <p:txBody>
          <a:bodyPr wrap="square" lIns="0" rIns="0" tIns="0" bIns="0">
            <a:spAutoFit/>
          </a:bodyPr>
          <a:lstStyle/>
          <a:p>
            <a:pPr>
              <a:spcAft>
                <a:spcPts val="400"/>
              </a:spcAft>
              <a:defRPr sz="2100" b="0" i="0">
                <a:solidFill>
                  <a:srgbClr val="1D1D1F"/>
                </a:solidFill>
                <a:latin typeface="Segoe UI Semibold"/>
              </a:defRPr>
            </a:pPr>
            <a:r>
              <a:t>Fast probe → retained state.   Slow probe → the victim moved.</a:t>
            </a:r>
          </a:p>
        </p:txBody>
      </p:sp>
    </p:spTree>
  </p:cSld>
  <p:clrMapOvr>
    <a:masterClrMapping/>
  </p:clrMapOvr>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x_0390"/>
          <p:cNvSpPr txBox="1"/>
          <p:nvPr/>
        </p:nvSpPr>
        <p:spPr>
          <a:xfrm>
            <a:off x="822960" y="502920"/>
            <a:ext cx="10546079" cy="274320"/>
          </a:xfrm>
          <a:prstGeom prst="rect">
            <a:avLst/>
          </a:prstGeom>
          <a:noFill/>
        </p:spPr>
        <p:txBody>
          <a:bodyPr wrap="square" lIns="0" rIns="0" tIns="0" bIns="0">
            <a:spAutoFit/>
          </a:bodyPr>
          <a:lstStyle/>
          <a:p>
            <a:pPr>
              <a:spcAft>
                <a:spcPts val="400"/>
              </a:spcAft>
              <a:defRPr sz="1200" b="0" i="0">
                <a:solidFill>
                  <a:srgbClr val="0071E3"/>
                </a:solidFill>
                <a:latin typeface="Segoe UI Semibold"/>
              </a:defRPr>
            </a:pPr>
            <a:r>
              <a:t>The detective story</a:t>
            </a:r>
          </a:p>
        </p:txBody>
      </p:sp>
      <p:sp>
        <p:nvSpPr>
          <p:cNvPr id="3" name="tx_0391"/>
          <p:cNvSpPr txBox="1"/>
          <p:nvPr/>
        </p:nvSpPr>
        <p:spPr>
          <a:xfrm>
            <a:off x="822960" y="822960"/>
            <a:ext cx="10546079" cy="914400"/>
          </a:xfrm>
          <a:prstGeom prst="rect">
            <a:avLst/>
          </a:prstGeom>
          <a:noFill/>
        </p:spPr>
        <p:txBody>
          <a:bodyPr wrap="square" lIns="0" rIns="0" tIns="0" bIns="0">
            <a:spAutoFit/>
          </a:bodyPr>
          <a:lstStyle/>
          <a:p>
            <a:pPr>
              <a:lnSpc>
                <a:spcPct val="100000"/>
              </a:lnSpc>
              <a:spcAft>
                <a:spcPts val="400"/>
              </a:spcAft>
              <a:defRPr sz="3000" b="0" i="0">
                <a:solidFill>
                  <a:srgbClr val="1D1D1F"/>
                </a:solidFill>
                <a:latin typeface="Segoe UI Semibold"/>
              </a:defRPr>
            </a:pPr>
            <a:r>
              <a:t>Why it’s powerful — and what it cannot do</a:t>
            </a:r>
          </a:p>
        </p:txBody>
      </p:sp>
      <p:sp>
        <p:nvSpPr>
          <p:cNvPr id="4" name="tx_0392"/>
          <p:cNvSpPr txBox="1"/>
          <p:nvPr/>
        </p:nvSpPr>
        <p:spPr>
          <a:xfrm>
            <a:off x="822960" y="6419088"/>
            <a:ext cx="9631679" cy="228600"/>
          </a:xfrm>
          <a:prstGeom prst="rect">
            <a:avLst/>
          </a:prstGeom>
          <a:noFill/>
        </p:spPr>
        <p:txBody>
          <a:bodyPr wrap="square" lIns="0" rIns="0" tIns="0" bIns="0">
            <a:spAutoFit/>
          </a:bodyPr>
          <a:lstStyle/>
          <a:p>
            <a:pPr>
              <a:spcAft>
                <a:spcPts val="400"/>
              </a:spcAft>
              <a:defRPr sz="1000" b="0" i="0">
                <a:solidFill>
                  <a:srgbClr val="86868B"/>
                </a:solidFill>
                <a:latin typeface="Segoe UI"/>
              </a:defRPr>
            </a:pPr>
            <a:r>
              <a:t>Paper §§ IV-B, V-B · pp. 4–8 · interpretation</a:t>
            </a:r>
          </a:p>
        </p:txBody>
      </p:sp>
      <p:sp>
        <p:nvSpPr>
          <p:cNvPr id="5" name="tx_0393"/>
          <p:cNvSpPr txBox="1"/>
          <p:nvPr/>
        </p:nvSpPr>
        <p:spPr>
          <a:xfrm>
            <a:off x="10820399" y="6419088"/>
            <a:ext cx="548640" cy="228600"/>
          </a:xfrm>
          <a:prstGeom prst="rect">
            <a:avLst/>
          </a:prstGeom>
          <a:noFill/>
        </p:spPr>
        <p:txBody>
          <a:bodyPr wrap="square" lIns="0" rIns="0" tIns="0" bIns="0">
            <a:spAutoFit/>
          </a:bodyPr>
          <a:lstStyle/>
          <a:p>
            <a:pPr algn="r">
              <a:spcAft>
                <a:spcPts val="400"/>
              </a:spcAft>
              <a:defRPr sz="1000" b="0" i="0">
                <a:solidFill>
                  <a:srgbClr val="86868B"/>
                </a:solidFill>
                <a:latin typeface="Segoe UI"/>
              </a:defRPr>
            </a:pPr>
            <a:r>
              <a:t>22</a:t>
            </a:r>
          </a:p>
        </p:txBody>
      </p:sp>
      <p:sp>
        <p:nvSpPr>
          <p:cNvPr id="6" name="rect_0394"/>
          <p:cNvSpPr/>
          <p:nvPr/>
        </p:nvSpPr>
        <p:spPr>
          <a:xfrm>
            <a:off x="822960" y="2194560"/>
            <a:ext cx="109728" cy="109728"/>
          </a:xfrm>
          <a:prstGeom prst="ellipse">
            <a:avLst/>
          </a:prstGeom>
          <a:solidFill>
            <a:srgbClr val="007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x_0395"/>
          <p:cNvSpPr txBox="1"/>
          <p:nvPr/>
        </p:nvSpPr>
        <p:spPr>
          <a:xfrm>
            <a:off x="1188720" y="2057400"/>
            <a:ext cx="10180319" cy="457200"/>
          </a:xfrm>
          <a:prstGeom prst="rect">
            <a:avLst/>
          </a:prstGeom>
          <a:noFill/>
        </p:spPr>
        <p:txBody>
          <a:bodyPr wrap="square" lIns="0" rIns="0" tIns="0" bIns="0">
            <a:spAutoFit/>
          </a:bodyPr>
          <a:lstStyle/>
          <a:p>
            <a:pPr>
              <a:spcAft>
                <a:spcPts val="400"/>
              </a:spcAft>
              <a:defRPr sz="2400" b="0" i="0">
                <a:solidFill>
                  <a:srgbClr val="1D1D1F"/>
                </a:solidFill>
                <a:latin typeface="Segoe UI Semibold"/>
              </a:defRPr>
            </a:pPr>
            <a:r>
              <a:t>No address guessing</a:t>
            </a:r>
          </a:p>
        </p:txBody>
      </p:sp>
      <p:sp>
        <p:nvSpPr>
          <p:cNvPr id="8" name="tx_0396"/>
          <p:cNvSpPr txBox="1"/>
          <p:nvPr/>
        </p:nvSpPr>
        <p:spPr>
          <a:xfrm>
            <a:off x="1188720" y="2514600"/>
            <a:ext cx="10180319" cy="685800"/>
          </a:xfrm>
          <a:prstGeom prst="rect">
            <a:avLst/>
          </a:prstGeom>
          <a:noFill/>
        </p:spPr>
        <p:txBody>
          <a:bodyPr wrap="square" lIns="0" rIns="0" tIns="0" bIns="0">
            <a:spAutoFit/>
          </a:bodyPr>
          <a:lstStyle/>
          <a:p>
            <a:pPr>
              <a:spcAft>
                <a:spcPts val="400"/>
              </a:spcAft>
              <a:defRPr sz="1800" b="0" i="0">
                <a:solidFill>
                  <a:srgbClr val="6E6E73"/>
                </a:solidFill>
                <a:latin typeface="Segoe UI"/>
              </a:defRPr>
            </a:pPr>
            <a:r>
              <a:t>the attacker primes its own completion-record page</a:t>
            </a:r>
          </a:p>
        </p:txBody>
      </p:sp>
      <p:sp>
        <p:nvSpPr>
          <p:cNvPr id="9" name="rect_0397"/>
          <p:cNvSpPr/>
          <p:nvPr/>
        </p:nvSpPr>
        <p:spPr>
          <a:xfrm>
            <a:off x="822960" y="3337560"/>
            <a:ext cx="109728" cy="109728"/>
          </a:xfrm>
          <a:prstGeom prst="ellipse">
            <a:avLst/>
          </a:prstGeom>
          <a:solidFill>
            <a:srgbClr val="007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x_0398"/>
          <p:cNvSpPr txBox="1"/>
          <p:nvPr/>
        </p:nvSpPr>
        <p:spPr>
          <a:xfrm>
            <a:off x="1188720" y="3200400"/>
            <a:ext cx="10180319" cy="457200"/>
          </a:xfrm>
          <a:prstGeom prst="rect">
            <a:avLst/>
          </a:prstGeom>
          <a:noFill/>
        </p:spPr>
        <p:txBody>
          <a:bodyPr wrap="square" lIns="0" rIns="0" tIns="0" bIns="0">
            <a:spAutoFit/>
          </a:bodyPr>
          <a:lstStyle/>
          <a:p>
            <a:pPr>
              <a:spcAft>
                <a:spcPts val="400"/>
              </a:spcAft>
              <a:defRPr sz="2400" b="0" i="0">
                <a:solidFill>
                  <a:srgbClr val="1D1D1F"/>
                </a:solidFill>
                <a:latin typeface="Segoe UI Semibold"/>
              </a:defRPr>
            </a:pPr>
            <a:r>
              <a:t>No eviction-set search</a:t>
            </a:r>
          </a:p>
        </p:txBody>
      </p:sp>
      <p:sp>
        <p:nvSpPr>
          <p:cNvPr id="11" name="tx_0399"/>
          <p:cNvSpPr txBox="1"/>
          <p:nvPr/>
        </p:nvSpPr>
        <p:spPr>
          <a:xfrm>
            <a:off x="1188720" y="3657600"/>
            <a:ext cx="10180319" cy="685800"/>
          </a:xfrm>
          <a:prstGeom prst="rect">
            <a:avLst/>
          </a:prstGeom>
          <a:noFill/>
        </p:spPr>
        <p:txBody>
          <a:bodyPr wrap="square" lIns="0" rIns="0" tIns="0" bIns="0">
            <a:spAutoFit/>
          </a:bodyPr>
          <a:lstStyle/>
          <a:p>
            <a:pPr>
              <a:spcAft>
                <a:spcPts val="400"/>
              </a:spcAft>
              <a:defRPr sz="1800" b="0" i="0">
                <a:solidFill>
                  <a:srgbClr val="6E6E73"/>
                </a:solidFill>
                <a:latin typeface="Segoe UI"/>
              </a:defRPr>
            </a:pPr>
            <a:r>
              <a:t>one slot — a single different page evicts it</a:t>
            </a:r>
          </a:p>
        </p:txBody>
      </p:sp>
      <p:sp>
        <p:nvSpPr>
          <p:cNvPr id="12" name="rect_0400"/>
          <p:cNvSpPr/>
          <p:nvPr/>
        </p:nvSpPr>
        <p:spPr>
          <a:xfrm>
            <a:off x="822960" y="4480560"/>
            <a:ext cx="109728" cy="109728"/>
          </a:xfrm>
          <a:prstGeom prst="ellipse">
            <a:avLst/>
          </a:prstGeom>
          <a:solidFill>
            <a:srgbClr val="007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x_0401"/>
          <p:cNvSpPr txBox="1"/>
          <p:nvPr/>
        </p:nvSpPr>
        <p:spPr>
          <a:xfrm>
            <a:off x="1188720" y="4343400"/>
            <a:ext cx="10180319" cy="457200"/>
          </a:xfrm>
          <a:prstGeom prst="rect">
            <a:avLst/>
          </a:prstGeom>
          <a:noFill/>
        </p:spPr>
        <p:txBody>
          <a:bodyPr wrap="square" lIns="0" rIns="0" tIns="0" bIns="0">
            <a:spAutoFit/>
          </a:bodyPr>
          <a:lstStyle/>
          <a:p>
            <a:pPr>
              <a:spcAft>
                <a:spcPts val="400"/>
              </a:spcAft>
              <a:defRPr sz="2400" b="0" i="0">
                <a:solidFill>
                  <a:srgbClr val="1D1D1F"/>
                </a:solidFill>
                <a:latin typeface="Segoe UI Semibold"/>
              </a:defRPr>
            </a:pPr>
            <a:r>
              <a:t>A broad activity signal</a:t>
            </a:r>
          </a:p>
        </p:txBody>
      </p:sp>
      <p:sp>
        <p:nvSpPr>
          <p:cNvPr id="14" name="tx_0402"/>
          <p:cNvSpPr txBox="1"/>
          <p:nvPr/>
        </p:nvSpPr>
        <p:spPr>
          <a:xfrm>
            <a:off x="1188720" y="4800600"/>
            <a:ext cx="10180319" cy="685800"/>
          </a:xfrm>
          <a:prstGeom prst="rect">
            <a:avLst/>
          </a:prstGeom>
          <a:noFill/>
        </p:spPr>
        <p:txBody>
          <a:bodyPr wrap="square" lIns="0" rIns="0" tIns="0" bIns="0">
            <a:spAutoFit/>
          </a:bodyPr>
          <a:lstStyle/>
          <a:p>
            <a:pPr>
              <a:spcAft>
                <a:spcPts val="400"/>
              </a:spcAft>
              <a:defRPr sz="1800" b="0" i="0">
                <a:solidFill>
                  <a:srgbClr val="6E6E73"/>
                </a:solidFill>
                <a:latin typeface="Segoe UI"/>
              </a:defRPr>
            </a:pPr>
            <a:r>
              <a:t>meaning comes later, from timing patterns and a classifier</a:t>
            </a:r>
          </a:p>
        </p:txBody>
      </p:sp>
      <p:sp>
        <p:nvSpPr>
          <p:cNvPr id="15" name="rect_0403"/>
          <p:cNvSpPr/>
          <p:nvPr/>
        </p:nvSpPr>
        <p:spPr>
          <a:xfrm>
            <a:off x="822960" y="5623560"/>
            <a:ext cx="502920" cy="41148"/>
          </a:xfrm>
          <a:prstGeom prst="rect">
            <a:avLst/>
          </a:prstGeom>
          <a:solidFill>
            <a:srgbClr val="007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x_0404"/>
          <p:cNvSpPr txBox="1"/>
          <p:nvPr/>
        </p:nvSpPr>
        <p:spPr>
          <a:xfrm>
            <a:off x="822960" y="5779008"/>
            <a:ext cx="10546079" cy="548640"/>
          </a:xfrm>
          <a:prstGeom prst="rect">
            <a:avLst/>
          </a:prstGeom>
          <a:noFill/>
        </p:spPr>
        <p:txBody>
          <a:bodyPr wrap="square" lIns="0" rIns="0" tIns="0" bIns="0">
            <a:spAutoFit/>
          </a:bodyPr>
          <a:lstStyle/>
          <a:p>
            <a:pPr>
              <a:spcAft>
                <a:spcPts val="400"/>
              </a:spcAft>
              <a:defRPr sz="2100" b="0" i="0">
                <a:solidFill>
                  <a:srgbClr val="1D1D1F"/>
                </a:solidFill>
                <a:latin typeface="Segoe UI Semibold"/>
              </a:defRPr>
            </a:pPr>
            <a:r>
              <a:t>The primitive yields a heartbeat; the application supplies its meaning.</a:t>
            </a:r>
          </a:p>
        </p:txBody>
      </p:sp>
    </p:spTree>
  </p:cSld>
  <p:clrMapOvr>
    <a:masterClrMapping/>
  </p:clrMapOvr>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x_0405"/>
          <p:cNvSpPr txBox="1"/>
          <p:nvPr/>
        </p:nvSpPr>
        <p:spPr>
          <a:xfrm>
            <a:off x="822960" y="502920"/>
            <a:ext cx="10546079" cy="274320"/>
          </a:xfrm>
          <a:prstGeom prst="rect">
            <a:avLst/>
          </a:prstGeom>
          <a:noFill/>
        </p:spPr>
        <p:txBody>
          <a:bodyPr wrap="square" lIns="0" rIns="0" tIns="0" bIns="0">
            <a:spAutoFit/>
          </a:bodyPr>
          <a:lstStyle/>
          <a:p>
            <a:pPr>
              <a:spcAft>
                <a:spcPts val="400"/>
              </a:spcAft>
              <a:defRPr sz="1200" b="0" i="0">
                <a:solidFill>
                  <a:srgbClr val="0071E3"/>
                </a:solidFill>
                <a:latin typeface="Segoe UI Semibold"/>
              </a:defRPr>
            </a:pPr>
            <a:r>
              <a:t>The detective story</a:t>
            </a:r>
          </a:p>
        </p:txBody>
      </p:sp>
      <p:sp>
        <p:nvSpPr>
          <p:cNvPr id="3" name="tx_0406"/>
          <p:cNvSpPr txBox="1"/>
          <p:nvPr/>
        </p:nvSpPr>
        <p:spPr>
          <a:xfrm>
            <a:off x="822960" y="822960"/>
            <a:ext cx="10546079" cy="914400"/>
          </a:xfrm>
          <a:prstGeom prst="rect">
            <a:avLst/>
          </a:prstGeom>
          <a:noFill/>
        </p:spPr>
        <p:txBody>
          <a:bodyPr wrap="square" lIns="0" rIns="0" tIns="0" bIns="0">
            <a:spAutoFit/>
          </a:bodyPr>
          <a:lstStyle/>
          <a:p>
            <a:pPr>
              <a:lnSpc>
                <a:spcPct val="100000"/>
              </a:lnSpc>
              <a:spcAft>
                <a:spcPts val="400"/>
              </a:spcAft>
              <a:defRPr sz="3000" b="0" i="0">
                <a:solidFill>
                  <a:srgbClr val="1D1D1F"/>
                </a:solidFill>
                <a:latin typeface="Segoe UI Semibold"/>
              </a:defRPr>
            </a:pPr>
            <a:r>
              <a:t>The dead end that wasn’t — a flag talks</a:t>
            </a:r>
          </a:p>
        </p:txBody>
      </p:sp>
      <p:sp>
        <p:nvSpPr>
          <p:cNvPr id="4" name="tx_0407"/>
          <p:cNvSpPr txBox="1"/>
          <p:nvPr/>
        </p:nvSpPr>
        <p:spPr>
          <a:xfrm>
            <a:off x="822960" y="6419088"/>
            <a:ext cx="9631679" cy="228600"/>
          </a:xfrm>
          <a:prstGeom prst="rect">
            <a:avLst/>
          </a:prstGeom>
          <a:noFill/>
        </p:spPr>
        <p:txBody>
          <a:bodyPr wrap="square" lIns="0" rIns="0" tIns="0" bIns="0">
            <a:spAutoFit/>
          </a:bodyPr>
          <a:lstStyle/>
          <a:p>
            <a:pPr>
              <a:spcAft>
                <a:spcPts val="400"/>
              </a:spcAft>
              <a:defRPr sz="1000" b="0" i="0">
                <a:solidFill>
                  <a:srgbClr val="86868B"/>
                </a:solidFill>
                <a:latin typeface="Segoe UI"/>
              </a:defRPr>
            </a:pPr>
            <a:r>
              <a:t>Paper § IV-C, Fig. 6 · pp. 6–7 · original latency plot</a:t>
            </a:r>
          </a:p>
        </p:txBody>
      </p:sp>
      <p:sp>
        <p:nvSpPr>
          <p:cNvPr id="5" name="tx_0408"/>
          <p:cNvSpPr txBox="1"/>
          <p:nvPr/>
        </p:nvSpPr>
        <p:spPr>
          <a:xfrm>
            <a:off x="10820399" y="6419088"/>
            <a:ext cx="548640" cy="228600"/>
          </a:xfrm>
          <a:prstGeom prst="rect">
            <a:avLst/>
          </a:prstGeom>
          <a:noFill/>
        </p:spPr>
        <p:txBody>
          <a:bodyPr wrap="square" lIns="0" rIns="0" tIns="0" bIns="0">
            <a:spAutoFit/>
          </a:bodyPr>
          <a:lstStyle/>
          <a:p>
            <a:pPr algn="r">
              <a:spcAft>
                <a:spcPts val="400"/>
              </a:spcAft>
              <a:defRPr sz="1000" b="0" i="0">
                <a:solidFill>
                  <a:srgbClr val="86868B"/>
                </a:solidFill>
                <a:latin typeface="Segoe UI"/>
              </a:defRPr>
            </a:pPr>
            <a:r>
              <a:t>23</a:t>
            </a:r>
          </a:p>
        </p:txBody>
      </p:sp>
      <p:pic>
        <p:nvPicPr>
          <p:cNvPr id="6" name="pic_0409" descr="submit.png"/>
          <p:cNvPicPr>
            <a:picLocks noChangeAspect="1"/>
          </p:cNvPicPr>
          <p:nvPr/>
        </p:nvPicPr>
        <p:blipFill>
          <a:blip r:embed="rId3"/>
          <a:stretch>
            <a:fillRect/>
          </a:stretch>
        </p:blipFill>
        <p:spPr>
          <a:xfrm>
            <a:off x="822960" y="1862315"/>
            <a:ext cx="7040880" cy="3590568"/>
          </a:xfrm>
          <a:prstGeom prst="rect">
            <a:avLst/>
          </a:prstGeom>
        </p:spPr>
      </p:pic>
      <p:sp>
        <p:nvSpPr>
          <p:cNvPr id="7" name="tx_0410"/>
          <p:cNvSpPr txBox="1"/>
          <p:nvPr/>
        </p:nvSpPr>
        <p:spPr>
          <a:xfrm>
            <a:off x="8229600" y="1965960"/>
            <a:ext cx="3108960" cy="365760"/>
          </a:xfrm>
          <a:prstGeom prst="rect">
            <a:avLst/>
          </a:prstGeom>
          <a:noFill/>
        </p:spPr>
        <p:txBody>
          <a:bodyPr wrap="square" lIns="0" rIns="0" tIns="0" bIns="0">
            <a:spAutoFit/>
          </a:bodyPr>
          <a:lstStyle/>
          <a:p>
            <a:pPr>
              <a:spcAft>
                <a:spcPts val="400"/>
              </a:spcAft>
              <a:defRPr sz="1600" b="0" i="0">
                <a:solidFill>
                  <a:srgbClr val="0071E3"/>
                </a:solidFill>
                <a:latin typeface="Segoe UI Semibold"/>
              </a:defRPr>
            </a:pPr>
            <a:r>
              <a:t>Two observables</a:t>
            </a:r>
          </a:p>
        </p:txBody>
      </p:sp>
      <p:cxnSp>
        <p:nvCxnSpPr>
          <p:cNvPr id="8" name="hl_0411"/>
          <p:cNvCxnSpPr/>
          <p:nvPr/>
        </p:nvCxnSpPr>
        <p:spPr>
          <a:xfrm>
            <a:off x="8229600" y="2350008"/>
            <a:ext cx="3108960"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9" name="tx_0412"/>
          <p:cNvSpPr txBox="1"/>
          <p:nvPr/>
        </p:nvSpPr>
        <p:spPr>
          <a:xfrm>
            <a:off x="8229600" y="2560320"/>
            <a:ext cx="1463040" cy="365760"/>
          </a:xfrm>
          <a:prstGeom prst="rect">
            <a:avLst/>
          </a:prstGeom>
          <a:noFill/>
        </p:spPr>
        <p:txBody>
          <a:bodyPr wrap="square" lIns="0" rIns="0" tIns="0" bIns="0">
            <a:spAutoFit/>
          </a:bodyPr>
          <a:lstStyle/>
          <a:p>
            <a:pPr>
              <a:spcAft>
                <a:spcPts val="400"/>
              </a:spcAft>
              <a:defRPr sz="1800" b="0" i="0">
                <a:solidFill>
                  <a:srgbClr val="1D1D1F"/>
                </a:solidFill>
                <a:latin typeface="Segoe UI Semibold"/>
              </a:defRPr>
            </a:pPr>
            <a:r>
              <a:t>Submission</a:t>
            </a:r>
          </a:p>
        </p:txBody>
      </p:sp>
      <p:sp>
        <p:nvSpPr>
          <p:cNvPr id="10" name="tx_0413"/>
          <p:cNvSpPr txBox="1"/>
          <p:nvPr/>
        </p:nvSpPr>
        <p:spPr>
          <a:xfrm>
            <a:off x="9601200" y="2560320"/>
            <a:ext cx="1737360" cy="365760"/>
          </a:xfrm>
          <a:prstGeom prst="rect">
            <a:avLst/>
          </a:prstGeom>
          <a:noFill/>
        </p:spPr>
        <p:txBody>
          <a:bodyPr wrap="square" lIns="0" rIns="0" tIns="0" bIns="0">
            <a:spAutoFit/>
          </a:bodyPr>
          <a:lstStyle/>
          <a:p>
            <a:pPr>
              <a:spcAft>
                <a:spcPts val="400"/>
              </a:spcAft>
              <a:defRPr sz="1800" b="0" i="0">
                <a:solidFill>
                  <a:srgbClr val="6E6E73"/>
                </a:solidFill>
                <a:latin typeface="Segoe UI"/>
              </a:defRPr>
            </a:pPr>
            <a:r>
              <a:t>flat ≈ 700 cycles</a:t>
            </a:r>
          </a:p>
        </p:txBody>
      </p:sp>
      <p:sp>
        <p:nvSpPr>
          <p:cNvPr id="11" name="tx_0414"/>
          <p:cNvSpPr txBox="1"/>
          <p:nvPr/>
        </p:nvSpPr>
        <p:spPr>
          <a:xfrm>
            <a:off x="8229600" y="3127248"/>
            <a:ext cx="1463040" cy="365760"/>
          </a:xfrm>
          <a:prstGeom prst="rect">
            <a:avLst/>
          </a:prstGeom>
          <a:noFill/>
        </p:spPr>
        <p:txBody>
          <a:bodyPr wrap="square" lIns="0" rIns="0" tIns="0" bIns="0">
            <a:spAutoFit/>
          </a:bodyPr>
          <a:lstStyle/>
          <a:p>
            <a:pPr>
              <a:spcAft>
                <a:spcPts val="400"/>
              </a:spcAft>
              <a:defRPr sz="1800" b="0" i="0">
                <a:solidFill>
                  <a:srgbClr val="1D1D1F"/>
                </a:solidFill>
                <a:latin typeface="Segoe UI Semibold"/>
              </a:defRPr>
            </a:pPr>
            <a:r>
              <a:t>Completion</a:t>
            </a:r>
          </a:p>
        </p:txBody>
      </p:sp>
      <p:sp>
        <p:nvSpPr>
          <p:cNvPr id="12" name="tx_0415"/>
          <p:cNvSpPr txBox="1"/>
          <p:nvPr/>
        </p:nvSpPr>
        <p:spPr>
          <a:xfrm>
            <a:off x="9601200" y="3127248"/>
            <a:ext cx="1737360" cy="365760"/>
          </a:xfrm>
          <a:prstGeom prst="rect">
            <a:avLst/>
          </a:prstGeom>
          <a:noFill/>
        </p:spPr>
        <p:txBody>
          <a:bodyPr wrap="square" lIns="0" rIns="0" tIns="0" bIns="0">
            <a:spAutoFit/>
          </a:bodyPr>
          <a:lstStyle/>
          <a:p>
            <a:pPr>
              <a:spcAft>
                <a:spcPts val="400"/>
              </a:spcAft>
              <a:defRPr sz="1800" b="0" i="0">
                <a:solidFill>
                  <a:srgbClr val="6E6E73"/>
                </a:solidFill>
                <a:latin typeface="Segoe UI"/>
              </a:defRPr>
            </a:pPr>
            <a:r>
              <a:t>grows with size</a:t>
            </a:r>
          </a:p>
        </p:txBody>
      </p:sp>
      <p:sp>
        <p:nvSpPr>
          <p:cNvPr id="13" name="tx_0416"/>
          <p:cNvSpPr txBox="1"/>
          <p:nvPr/>
        </p:nvSpPr>
        <p:spPr>
          <a:xfrm>
            <a:off x="8229600" y="3694176"/>
            <a:ext cx="1463040" cy="365760"/>
          </a:xfrm>
          <a:prstGeom prst="rect">
            <a:avLst/>
          </a:prstGeom>
          <a:noFill/>
        </p:spPr>
        <p:txBody>
          <a:bodyPr wrap="square" lIns="0" rIns="0" tIns="0" bIns="0">
            <a:spAutoFit/>
          </a:bodyPr>
          <a:lstStyle/>
          <a:p>
            <a:pPr>
              <a:spcAft>
                <a:spcPts val="400"/>
              </a:spcAft>
              <a:defRPr sz="1800" b="0" i="0">
                <a:solidFill>
                  <a:srgbClr val="1D1D1F"/>
                </a:solidFill>
                <a:latin typeface="Segoe UI Semibold"/>
              </a:defRPr>
            </a:pPr>
            <a:r>
              <a:t>Queue-full</a:t>
            </a:r>
          </a:p>
        </p:txBody>
      </p:sp>
      <p:sp>
        <p:nvSpPr>
          <p:cNvPr id="14" name="tx_0417"/>
          <p:cNvSpPr txBox="1"/>
          <p:nvPr/>
        </p:nvSpPr>
        <p:spPr>
          <a:xfrm>
            <a:off x="9601200" y="3694176"/>
            <a:ext cx="1737360" cy="365760"/>
          </a:xfrm>
          <a:prstGeom prst="rect">
            <a:avLst/>
          </a:prstGeom>
          <a:noFill/>
        </p:spPr>
        <p:txBody>
          <a:bodyPr wrap="square" lIns="0" rIns="0" tIns="0" bIns="0">
            <a:spAutoFit/>
          </a:bodyPr>
          <a:lstStyle/>
          <a:p>
            <a:pPr>
              <a:spcAft>
                <a:spcPts val="400"/>
              </a:spcAft>
              <a:defRPr sz="1800" b="0" i="0">
                <a:solidFill>
                  <a:srgbClr val="6E6E73"/>
                </a:solidFill>
                <a:latin typeface="Segoe UI"/>
              </a:defRPr>
            </a:pPr>
            <a:r>
              <a:t>a visible flag</a:t>
            </a:r>
          </a:p>
        </p:txBody>
      </p:sp>
      <p:sp>
        <p:nvSpPr>
          <p:cNvPr id="15" name="rect_0418"/>
          <p:cNvSpPr/>
          <p:nvPr/>
        </p:nvSpPr>
        <p:spPr>
          <a:xfrm>
            <a:off x="822960" y="5760720"/>
            <a:ext cx="502920" cy="41148"/>
          </a:xfrm>
          <a:prstGeom prst="rect">
            <a:avLst/>
          </a:prstGeom>
          <a:solidFill>
            <a:srgbClr val="007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x_0419"/>
          <p:cNvSpPr txBox="1"/>
          <p:nvPr/>
        </p:nvSpPr>
        <p:spPr>
          <a:xfrm>
            <a:off x="822960" y="5916168"/>
            <a:ext cx="10546079" cy="548640"/>
          </a:xfrm>
          <a:prstGeom prst="rect">
            <a:avLst/>
          </a:prstGeom>
          <a:noFill/>
        </p:spPr>
        <p:txBody>
          <a:bodyPr wrap="square" lIns="0" rIns="0" tIns="0" bIns="0">
            <a:spAutoFit/>
          </a:bodyPr>
          <a:lstStyle/>
          <a:p>
            <a:pPr>
              <a:spcAft>
                <a:spcPts val="400"/>
              </a:spcAft>
              <a:defRPr sz="2100" b="0" i="0">
                <a:solidFill>
                  <a:srgbClr val="1D1D1F"/>
                </a:solidFill>
                <a:latin typeface="Segoe UI Semibold"/>
              </a:defRPr>
            </a:pPr>
            <a:r>
              <a:t>The SWQ channel uses ENQCMD / EFLAGS.ZF — no timing threshold at all.</a:t>
            </a:r>
          </a:p>
        </p:txBody>
      </p:sp>
    </p:spTree>
  </p:cSld>
  <p:clrMapOvr>
    <a:masterClrMapping/>
  </p:clrMapOvr>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x_0420"/>
          <p:cNvSpPr txBox="1"/>
          <p:nvPr/>
        </p:nvSpPr>
        <p:spPr>
          <a:xfrm>
            <a:off x="822960" y="502920"/>
            <a:ext cx="10546079" cy="274320"/>
          </a:xfrm>
          <a:prstGeom prst="rect">
            <a:avLst/>
          </a:prstGeom>
          <a:noFill/>
        </p:spPr>
        <p:txBody>
          <a:bodyPr wrap="square" lIns="0" rIns="0" tIns="0" bIns="0">
            <a:spAutoFit/>
          </a:bodyPr>
          <a:lstStyle/>
          <a:p>
            <a:pPr>
              <a:spcAft>
                <a:spcPts val="400"/>
              </a:spcAft>
              <a:defRPr sz="1200" b="0" i="0">
                <a:solidFill>
                  <a:srgbClr val="0071E3"/>
                </a:solidFill>
                <a:latin typeface="Segoe UI Semibold"/>
              </a:defRPr>
            </a:pPr>
            <a:r>
              <a:t>The detective story</a:t>
            </a:r>
          </a:p>
        </p:txBody>
      </p:sp>
      <p:sp>
        <p:nvSpPr>
          <p:cNvPr id="3" name="tx_0421"/>
          <p:cNvSpPr txBox="1"/>
          <p:nvPr/>
        </p:nvSpPr>
        <p:spPr>
          <a:xfrm>
            <a:off x="822960" y="822960"/>
            <a:ext cx="10546079" cy="914400"/>
          </a:xfrm>
          <a:prstGeom prst="rect">
            <a:avLst/>
          </a:prstGeom>
          <a:noFill/>
        </p:spPr>
        <p:txBody>
          <a:bodyPr wrap="square" lIns="0" rIns="0" tIns="0" bIns="0">
            <a:spAutoFit/>
          </a:bodyPr>
          <a:lstStyle/>
          <a:p>
            <a:pPr>
              <a:lnSpc>
                <a:spcPct val="100000"/>
              </a:lnSpc>
              <a:spcAft>
                <a:spcPts val="400"/>
              </a:spcAft>
              <a:defRPr sz="3000" b="0" i="0">
                <a:solidFill>
                  <a:srgbClr val="1D1D1F"/>
                </a:solidFill>
                <a:latin typeface="Segoe UI Semibold"/>
              </a:defRPr>
            </a:pPr>
            <a:r>
              <a:t>Learning to hold the queue hostage</a:t>
            </a:r>
          </a:p>
        </p:txBody>
      </p:sp>
      <p:sp>
        <p:nvSpPr>
          <p:cNvPr id="4" name="tx_0422"/>
          <p:cNvSpPr txBox="1"/>
          <p:nvPr/>
        </p:nvSpPr>
        <p:spPr>
          <a:xfrm>
            <a:off x="822960" y="6419088"/>
            <a:ext cx="9631679" cy="228600"/>
          </a:xfrm>
          <a:prstGeom prst="rect">
            <a:avLst/>
          </a:prstGeom>
          <a:noFill/>
        </p:spPr>
        <p:txBody>
          <a:bodyPr wrap="square" lIns="0" rIns="0" tIns="0" bIns="0">
            <a:spAutoFit/>
          </a:bodyPr>
          <a:lstStyle/>
          <a:p>
            <a:pPr>
              <a:spcAft>
                <a:spcPts val="400"/>
              </a:spcAft>
              <a:defRPr sz="1000" b="0" i="0">
                <a:solidFill>
                  <a:srgbClr val="86868B"/>
                </a:solidFill>
                <a:latin typeface="Segoe UI"/>
              </a:defRPr>
            </a:pPr>
            <a:r>
              <a:t>Paper §§ IV-A, IV-C · pp. 3–4, 6–7</a:t>
            </a:r>
          </a:p>
        </p:txBody>
      </p:sp>
      <p:sp>
        <p:nvSpPr>
          <p:cNvPr id="5" name="tx_0423"/>
          <p:cNvSpPr txBox="1"/>
          <p:nvPr/>
        </p:nvSpPr>
        <p:spPr>
          <a:xfrm>
            <a:off x="10820399" y="6419088"/>
            <a:ext cx="548640" cy="228600"/>
          </a:xfrm>
          <a:prstGeom prst="rect">
            <a:avLst/>
          </a:prstGeom>
          <a:noFill/>
        </p:spPr>
        <p:txBody>
          <a:bodyPr wrap="square" lIns="0" rIns="0" tIns="0" bIns="0">
            <a:spAutoFit/>
          </a:bodyPr>
          <a:lstStyle/>
          <a:p>
            <a:pPr algn="r">
              <a:spcAft>
                <a:spcPts val="400"/>
              </a:spcAft>
              <a:defRPr sz="1000" b="0" i="0">
                <a:solidFill>
                  <a:srgbClr val="86868B"/>
                </a:solidFill>
                <a:latin typeface="Segoe UI"/>
              </a:defRPr>
            </a:pPr>
            <a:r>
              <a:t>24</a:t>
            </a:r>
          </a:p>
        </p:txBody>
      </p:sp>
      <p:sp>
        <p:nvSpPr>
          <p:cNvPr id="6" name="rect_0424"/>
          <p:cNvSpPr/>
          <p:nvPr/>
        </p:nvSpPr>
        <p:spPr>
          <a:xfrm>
            <a:off x="822960" y="1783080"/>
            <a:ext cx="5212080" cy="2743200"/>
          </a:xfrm>
          <a:prstGeom prst="roundRect">
            <a:avLst>
              <a:gd name="adj" fmla="val 7333"/>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x_0425"/>
          <p:cNvSpPr txBox="1"/>
          <p:nvPr/>
        </p:nvSpPr>
        <p:spPr>
          <a:xfrm>
            <a:off x="1143000" y="2075688"/>
            <a:ext cx="4572000" cy="548640"/>
          </a:xfrm>
          <a:prstGeom prst="rect">
            <a:avLst/>
          </a:prstGeom>
          <a:noFill/>
        </p:spPr>
        <p:txBody>
          <a:bodyPr wrap="square" lIns="0" rIns="0" tIns="0" bIns="0">
            <a:spAutoFit/>
          </a:bodyPr>
          <a:lstStyle/>
          <a:p>
            <a:pPr>
              <a:spcAft>
                <a:spcPts val="400"/>
              </a:spcAft>
              <a:defRPr sz="2200" b="0" i="0">
                <a:solidFill>
                  <a:srgbClr val="0071E3"/>
                </a:solidFill>
                <a:latin typeface="Segoe UI Semibold"/>
              </a:defRPr>
            </a:pPr>
            <a:r>
              <a:t>Admission path</a:t>
            </a:r>
          </a:p>
        </p:txBody>
      </p:sp>
      <p:sp>
        <p:nvSpPr>
          <p:cNvPr id="8" name="tx_0426"/>
          <p:cNvSpPr txBox="1"/>
          <p:nvPr/>
        </p:nvSpPr>
        <p:spPr>
          <a:xfrm>
            <a:off x="1143000" y="2697480"/>
            <a:ext cx="4572000" cy="1645920"/>
          </a:xfrm>
          <a:prstGeom prst="rect">
            <a:avLst/>
          </a:prstGeom>
          <a:noFill/>
        </p:spPr>
        <p:txBody>
          <a:bodyPr wrap="square" lIns="0" rIns="0" tIns="0" bIns="0">
            <a:spAutoFit/>
          </a:bodyPr>
          <a:lstStyle/>
          <a:p>
            <a:pPr>
              <a:lnSpc>
                <a:spcPct val="110000"/>
              </a:lnSpc>
              <a:spcAft>
                <a:spcPts val="600"/>
              </a:spcAft>
              <a:defRPr sz="1800" b="0" i="0">
                <a:solidFill>
                  <a:srgbClr val="6E6E73"/>
                </a:solidFill>
                <a:latin typeface="Segoe UI"/>
              </a:defRPr>
            </a:pPr>
            <a:r>
              <a:t>Portal → per-queue metadata check</a:t>
            </a:r>
          </a:p>
          <a:p>
            <a:pPr>
              <a:lnSpc>
                <a:spcPct val="110000"/>
              </a:lnSpc>
              <a:spcAft>
                <a:spcPts val="600"/>
              </a:spcAft>
              <a:defRPr sz="1800" b="0" i="0">
                <a:solidFill>
                  <a:srgbClr val="6E6E73"/>
                </a:solidFill>
                <a:latin typeface="Segoe UI"/>
              </a:defRPr>
            </a:pPr>
            <a:r>
              <a:t>Fixed-time occupancy test</a:t>
            </a:r>
          </a:p>
          <a:p>
            <a:pPr>
              <a:lnSpc>
                <a:spcPct val="110000"/>
              </a:lnSpc>
              <a:spcAft>
                <a:spcPts val="600"/>
              </a:spcAft>
              <a:defRPr sz="1800" b="0" i="0">
                <a:solidFill>
                  <a:srgbClr val="6E6E73"/>
                </a:solidFill>
                <a:latin typeface="Segoe UI"/>
              </a:defRPr>
            </a:pPr>
            <a:r>
              <a:t>Success or retry stays visible</a:t>
            </a:r>
          </a:p>
        </p:txBody>
      </p:sp>
      <p:sp>
        <p:nvSpPr>
          <p:cNvPr id="9" name="rect_0427"/>
          <p:cNvSpPr/>
          <p:nvPr/>
        </p:nvSpPr>
        <p:spPr>
          <a:xfrm>
            <a:off x="6156959" y="1783080"/>
            <a:ext cx="5212080" cy="2743200"/>
          </a:xfrm>
          <a:prstGeom prst="roundRect">
            <a:avLst>
              <a:gd name="adj" fmla="val 7333"/>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x_0428"/>
          <p:cNvSpPr txBox="1"/>
          <p:nvPr/>
        </p:nvSpPr>
        <p:spPr>
          <a:xfrm>
            <a:off x="6476999" y="2075688"/>
            <a:ext cx="4572000" cy="548640"/>
          </a:xfrm>
          <a:prstGeom prst="rect">
            <a:avLst/>
          </a:prstGeom>
          <a:noFill/>
        </p:spPr>
        <p:txBody>
          <a:bodyPr wrap="square" lIns="0" rIns="0" tIns="0" bIns="0">
            <a:spAutoFit/>
          </a:bodyPr>
          <a:lstStyle/>
          <a:p>
            <a:pPr>
              <a:spcAft>
                <a:spcPts val="400"/>
              </a:spcAft>
              <a:defRPr sz="2200" b="0" i="0">
                <a:solidFill>
                  <a:srgbClr val="1D1D1F"/>
                </a:solidFill>
                <a:latin typeface="Segoe UI Semibold"/>
              </a:defRPr>
            </a:pPr>
            <a:r>
              <a:t>Execution path</a:t>
            </a:r>
          </a:p>
        </p:txBody>
      </p:sp>
      <p:sp>
        <p:nvSpPr>
          <p:cNvPr id="11" name="tx_0429"/>
          <p:cNvSpPr txBox="1"/>
          <p:nvPr/>
        </p:nvSpPr>
        <p:spPr>
          <a:xfrm>
            <a:off x="6476999" y="2697480"/>
            <a:ext cx="4572000" cy="1645920"/>
          </a:xfrm>
          <a:prstGeom prst="rect">
            <a:avLst/>
          </a:prstGeom>
          <a:noFill/>
        </p:spPr>
        <p:txBody>
          <a:bodyPr wrap="square" lIns="0" rIns="0" tIns="0" bIns="0">
            <a:spAutoFit/>
          </a:bodyPr>
          <a:lstStyle/>
          <a:p>
            <a:pPr>
              <a:lnSpc>
                <a:spcPct val="110000"/>
              </a:lnSpc>
              <a:spcAft>
                <a:spcPts val="600"/>
              </a:spcAft>
              <a:defRPr sz="1800" b="0" i="0">
                <a:solidFill>
                  <a:srgbClr val="6E6E73"/>
                </a:solidFill>
                <a:latin typeface="Segoe UI"/>
              </a:defRPr>
            </a:pPr>
            <a:r>
              <a:t>Work queue + batch buffer → arbiter</a:t>
            </a:r>
          </a:p>
          <a:p>
            <a:pPr>
              <a:lnSpc>
                <a:spcPct val="110000"/>
              </a:lnSpc>
              <a:spcAft>
                <a:spcPts val="600"/>
              </a:spcAft>
              <a:defRPr sz="1800" b="0" i="0">
                <a:solidFill>
                  <a:srgbClr val="6E6E73"/>
                </a:solidFill>
                <a:latin typeface="Segoe UI"/>
              </a:defRPr>
            </a:pPr>
            <a:r>
              <a:t>Arbiter prefers work over batch</a:t>
            </a:r>
          </a:p>
          <a:p>
            <a:pPr>
              <a:lnSpc>
                <a:spcPct val="110000"/>
              </a:lnSpc>
              <a:spcAft>
                <a:spcPts val="600"/>
              </a:spcAft>
              <a:defRPr sz="1800" b="0" i="0">
                <a:solidFill>
                  <a:srgbClr val="6E6E73"/>
                </a:solidFill>
                <a:latin typeface="Segoe UI"/>
              </a:defRPr>
            </a:pPr>
            <a:r>
              <a:t>So: use a long ordinary copy</a:t>
            </a:r>
          </a:p>
        </p:txBody>
      </p:sp>
      <p:sp>
        <p:nvSpPr>
          <p:cNvPr id="12" name="rect_0430"/>
          <p:cNvSpPr/>
          <p:nvPr/>
        </p:nvSpPr>
        <p:spPr>
          <a:xfrm>
            <a:off x="822960" y="5120640"/>
            <a:ext cx="502920" cy="41148"/>
          </a:xfrm>
          <a:prstGeom prst="rect">
            <a:avLst/>
          </a:prstGeom>
          <a:solidFill>
            <a:srgbClr val="007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x_0431"/>
          <p:cNvSpPr txBox="1"/>
          <p:nvPr/>
        </p:nvSpPr>
        <p:spPr>
          <a:xfrm>
            <a:off x="822960" y="5276088"/>
            <a:ext cx="10546079" cy="548640"/>
          </a:xfrm>
          <a:prstGeom prst="rect">
            <a:avLst/>
          </a:prstGeom>
          <a:noFill/>
        </p:spPr>
        <p:txBody>
          <a:bodyPr wrap="square" lIns="0" rIns="0" tIns="0" bIns="0">
            <a:spAutoFit/>
          </a:bodyPr>
          <a:lstStyle/>
          <a:p>
            <a:pPr>
              <a:spcAft>
                <a:spcPts val="400"/>
              </a:spcAft>
              <a:defRPr sz="2100" b="0" i="0">
                <a:solidFill>
                  <a:srgbClr val="1D1D1F"/>
                </a:solidFill>
                <a:latin typeface="Segoe UI Semibold"/>
              </a:defRPr>
            </a:pPr>
            <a:r>
              <a:t>The attacker holds the engine with a long ordinary copy, not batch priority.</a:t>
            </a:r>
          </a:p>
        </p:txBody>
      </p:sp>
    </p:spTree>
  </p:cSld>
  <p:clrMapOvr>
    <a:masterClrMapping/>
  </p:clrMapOvr>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x_0432"/>
          <p:cNvSpPr txBox="1"/>
          <p:nvPr/>
        </p:nvSpPr>
        <p:spPr>
          <a:xfrm>
            <a:off x="822960" y="502920"/>
            <a:ext cx="10546079" cy="274320"/>
          </a:xfrm>
          <a:prstGeom prst="rect">
            <a:avLst/>
          </a:prstGeom>
          <a:noFill/>
        </p:spPr>
        <p:txBody>
          <a:bodyPr wrap="square" lIns="0" rIns="0" tIns="0" bIns="0">
            <a:spAutoFit/>
          </a:bodyPr>
          <a:lstStyle/>
          <a:p>
            <a:pPr>
              <a:spcAft>
                <a:spcPts val="400"/>
              </a:spcAft>
              <a:defRPr sz="1200" b="0" i="0">
                <a:solidFill>
                  <a:srgbClr val="0071E3"/>
                </a:solidFill>
                <a:latin typeface="Segoe UI Semibold"/>
              </a:defRPr>
            </a:pPr>
            <a:r>
              <a:t>The detective story</a:t>
            </a:r>
          </a:p>
        </p:txBody>
      </p:sp>
      <p:sp>
        <p:nvSpPr>
          <p:cNvPr id="3" name="tx_0433"/>
          <p:cNvSpPr txBox="1"/>
          <p:nvPr/>
        </p:nvSpPr>
        <p:spPr>
          <a:xfrm>
            <a:off x="822960" y="822960"/>
            <a:ext cx="10546079" cy="914400"/>
          </a:xfrm>
          <a:prstGeom prst="rect">
            <a:avLst/>
          </a:prstGeom>
          <a:noFill/>
        </p:spPr>
        <p:txBody>
          <a:bodyPr wrap="square" lIns="0" rIns="0" tIns="0" bIns="0">
            <a:spAutoFit/>
          </a:bodyPr>
          <a:lstStyle/>
          <a:p>
            <a:pPr>
              <a:lnSpc>
                <a:spcPct val="100000"/>
              </a:lnSpc>
              <a:spcAft>
                <a:spcPts val="400"/>
              </a:spcAft>
              <a:defRPr sz="3000" b="0" i="0">
                <a:solidFill>
                  <a:srgbClr val="1D1D1F"/>
                </a:solidFill>
                <a:latin typeface="Segoe UI Semibold"/>
              </a:defRPr>
            </a:pPr>
            <a:r>
              <a:t>The trap — leave exactly one seat open</a:t>
            </a:r>
          </a:p>
        </p:txBody>
      </p:sp>
      <p:sp>
        <p:nvSpPr>
          <p:cNvPr id="4" name="tx_0434"/>
          <p:cNvSpPr txBox="1"/>
          <p:nvPr/>
        </p:nvSpPr>
        <p:spPr>
          <a:xfrm>
            <a:off x="822960" y="6419088"/>
            <a:ext cx="9631679" cy="228600"/>
          </a:xfrm>
          <a:prstGeom prst="rect">
            <a:avLst/>
          </a:prstGeom>
          <a:noFill/>
        </p:spPr>
        <p:txBody>
          <a:bodyPr wrap="square" lIns="0" rIns="0" tIns="0" bIns="0">
            <a:spAutoFit/>
          </a:bodyPr>
          <a:lstStyle/>
          <a:p>
            <a:pPr>
              <a:spcAft>
                <a:spcPts val="400"/>
              </a:spcAft>
              <a:defRPr sz="1000" b="0" i="0">
                <a:solidFill>
                  <a:srgbClr val="86868B"/>
                </a:solidFill>
                <a:latin typeface="Segoe UI"/>
              </a:defRPr>
            </a:pPr>
            <a:r>
              <a:t>Paper §§ IV-C, V-C, Listing 6 · pp. 7–8</a:t>
            </a:r>
          </a:p>
        </p:txBody>
      </p:sp>
      <p:sp>
        <p:nvSpPr>
          <p:cNvPr id="5" name="tx_0435"/>
          <p:cNvSpPr txBox="1"/>
          <p:nvPr/>
        </p:nvSpPr>
        <p:spPr>
          <a:xfrm>
            <a:off x="10820399" y="6419088"/>
            <a:ext cx="548640" cy="228600"/>
          </a:xfrm>
          <a:prstGeom prst="rect">
            <a:avLst/>
          </a:prstGeom>
          <a:noFill/>
        </p:spPr>
        <p:txBody>
          <a:bodyPr wrap="square" lIns="0" rIns="0" tIns="0" bIns="0">
            <a:spAutoFit/>
          </a:bodyPr>
          <a:lstStyle/>
          <a:p>
            <a:pPr algn="r">
              <a:spcAft>
                <a:spcPts val="400"/>
              </a:spcAft>
              <a:defRPr sz="1000" b="0" i="0">
                <a:solidFill>
                  <a:srgbClr val="86868B"/>
                </a:solidFill>
                <a:latin typeface="Segoe UI"/>
              </a:defRPr>
            </a:pPr>
            <a:r>
              <a:t>25</a:t>
            </a:r>
          </a:p>
        </p:txBody>
      </p:sp>
      <p:sp>
        <p:nvSpPr>
          <p:cNvPr id="6" name="tx_0436"/>
          <p:cNvSpPr txBox="1"/>
          <p:nvPr/>
        </p:nvSpPr>
        <p:spPr>
          <a:xfrm>
            <a:off x="822960" y="1783080"/>
            <a:ext cx="10546079" cy="457200"/>
          </a:xfrm>
          <a:prstGeom prst="rect">
            <a:avLst/>
          </a:prstGeom>
          <a:noFill/>
        </p:spPr>
        <p:txBody>
          <a:bodyPr wrap="square" lIns="0" rIns="0" tIns="0" bIns="0">
            <a:spAutoFit/>
          </a:bodyPr>
          <a:lstStyle/>
          <a:p>
            <a:pPr>
              <a:spcAft>
                <a:spcPts val="400"/>
              </a:spcAft>
              <a:defRPr sz="2000" b="0" i="0">
                <a:solidFill>
                  <a:srgbClr val="1D1D1F"/>
                </a:solidFill>
                <a:latin typeface="Segoe UI Semibold"/>
              </a:defRPr>
            </a:pPr>
            <a:r>
              <a:t>Target state: effective occupancy  N − 1</a:t>
            </a:r>
          </a:p>
        </p:txBody>
      </p:sp>
      <p:sp>
        <p:nvSpPr>
          <p:cNvPr id="7" name="rect_0437"/>
          <p:cNvSpPr/>
          <p:nvPr/>
        </p:nvSpPr>
        <p:spPr>
          <a:xfrm>
            <a:off x="822960" y="2423160"/>
            <a:ext cx="1349828" cy="1097280"/>
          </a:xfrm>
          <a:prstGeom prst="roundRect">
            <a:avLst>
              <a:gd name="adj" fmla="val 13333"/>
            </a:avLst>
          </a:prstGeom>
          <a:solidFill>
            <a:srgbClr val="D700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x_0438"/>
          <p:cNvSpPr txBox="1"/>
          <p:nvPr/>
        </p:nvSpPr>
        <p:spPr>
          <a:xfrm>
            <a:off x="822960" y="2423160"/>
            <a:ext cx="1349828" cy="1097280"/>
          </a:xfrm>
          <a:prstGeom prst="rect">
            <a:avLst/>
          </a:prstGeom>
          <a:noFill/>
        </p:spPr>
        <p:txBody>
          <a:bodyPr wrap="square" lIns="0" rIns="0" tIns="0" bIns="0" anchor="ctr">
            <a:spAutoFit/>
          </a:bodyPr>
          <a:lstStyle/>
          <a:p>
            <a:pPr algn="ctr">
              <a:lnSpc>
                <a:spcPct val="100000"/>
              </a:lnSpc>
              <a:spcAft>
                <a:spcPts val="400"/>
              </a:spcAft>
              <a:defRPr sz="1500" b="0" i="0">
                <a:solidFill>
                  <a:srgbClr val="FFFFFF"/>
                </a:solidFill>
                <a:latin typeface="Segoe UI Semibold"/>
              </a:defRPr>
            </a:pPr>
            <a:r>
              <a:t>LONG</a:t>
            </a:r>
          </a:p>
          <a:p>
            <a:pPr algn="ctr">
              <a:lnSpc>
                <a:spcPct val="100000"/>
              </a:lnSpc>
              <a:spcAft>
                <a:spcPts val="400"/>
              </a:spcAft>
              <a:defRPr sz="1500" b="0" i="0">
                <a:solidFill>
                  <a:srgbClr val="FFFFFF"/>
                </a:solidFill>
                <a:latin typeface="Segoe UI Semibold"/>
              </a:defRPr>
            </a:pPr>
            <a:r>
              <a:t>COPY</a:t>
            </a:r>
          </a:p>
        </p:txBody>
      </p:sp>
      <p:sp>
        <p:nvSpPr>
          <p:cNvPr id="9" name="rect_0439"/>
          <p:cNvSpPr/>
          <p:nvPr/>
        </p:nvSpPr>
        <p:spPr>
          <a:xfrm>
            <a:off x="2355668" y="2423160"/>
            <a:ext cx="1349828" cy="1097280"/>
          </a:xfrm>
          <a:prstGeom prst="roundRect">
            <a:avLst>
              <a:gd name="adj" fmla="val 13333"/>
            </a:avLst>
          </a:prstGeom>
          <a:solidFill>
            <a:srgbClr val="1D1D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x_0440"/>
          <p:cNvSpPr txBox="1"/>
          <p:nvPr/>
        </p:nvSpPr>
        <p:spPr>
          <a:xfrm>
            <a:off x="2355668" y="2423160"/>
            <a:ext cx="1349828" cy="1097280"/>
          </a:xfrm>
          <a:prstGeom prst="rect">
            <a:avLst/>
          </a:prstGeom>
          <a:noFill/>
        </p:spPr>
        <p:txBody>
          <a:bodyPr wrap="square" lIns="0" rIns="0" tIns="0" bIns="0" anchor="ctr">
            <a:spAutoFit/>
          </a:bodyPr>
          <a:lstStyle/>
          <a:p>
            <a:pPr algn="ctr">
              <a:lnSpc>
                <a:spcPct val="100000"/>
              </a:lnSpc>
              <a:spcAft>
                <a:spcPts val="400"/>
              </a:spcAft>
              <a:defRPr sz="1500" b="0" i="0">
                <a:solidFill>
                  <a:srgbClr val="FFFFFF"/>
                </a:solidFill>
                <a:latin typeface="Segoe UI Semibold"/>
              </a:defRPr>
            </a:pPr>
            <a:r>
              <a:t>WORK</a:t>
            </a:r>
          </a:p>
        </p:txBody>
      </p:sp>
      <p:sp>
        <p:nvSpPr>
          <p:cNvPr id="11" name="rect_0441"/>
          <p:cNvSpPr/>
          <p:nvPr/>
        </p:nvSpPr>
        <p:spPr>
          <a:xfrm>
            <a:off x="3888377" y="2423160"/>
            <a:ext cx="1349828" cy="1097280"/>
          </a:xfrm>
          <a:prstGeom prst="roundRect">
            <a:avLst>
              <a:gd name="adj" fmla="val 13333"/>
            </a:avLst>
          </a:prstGeom>
          <a:solidFill>
            <a:srgbClr val="1D1D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x_0442"/>
          <p:cNvSpPr txBox="1"/>
          <p:nvPr/>
        </p:nvSpPr>
        <p:spPr>
          <a:xfrm>
            <a:off x="3888377" y="2423160"/>
            <a:ext cx="1349828" cy="1097280"/>
          </a:xfrm>
          <a:prstGeom prst="rect">
            <a:avLst/>
          </a:prstGeom>
          <a:noFill/>
        </p:spPr>
        <p:txBody>
          <a:bodyPr wrap="square" lIns="0" rIns="0" tIns="0" bIns="0" anchor="ctr">
            <a:spAutoFit/>
          </a:bodyPr>
          <a:lstStyle/>
          <a:p>
            <a:pPr algn="ctr">
              <a:lnSpc>
                <a:spcPct val="100000"/>
              </a:lnSpc>
              <a:spcAft>
                <a:spcPts val="400"/>
              </a:spcAft>
              <a:defRPr sz="1500" b="0" i="0">
                <a:solidFill>
                  <a:srgbClr val="FFFFFF"/>
                </a:solidFill>
                <a:latin typeface="Segoe UI Semibold"/>
              </a:defRPr>
            </a:pPr>
            <a:r>
              <a:t>WORK</a:t>
            </a:r>
          </a:p>
        </p:txBody>
      </p:sp>
      <p:sp>
        <p:nvSpPr>
          <p:cNvPr id="13" name="rect_0443"/>
          <p:cNvSpPr/>
          <p:nvPr/>
        </p:nvSpPr>
        <p:spPr>
          <a:xfrm>
            <a:off x="5421085" y="2423160"/>
            <a:ext cx="1349828" cy="1097280"/>
          </a:xfrm>
          <a:prstGeom prst="roundRect">
            <a:avLst>
              <a:gd name="adj" fmla="val 13333"/>
            </a:avLst>
          </a:prstGeom>
          <a:solidFill>
            <a:srgbClr val="1D1D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x_0444"/>
          <p:cNvSpPr txBox="1"/>
          <p:nvPr/>
        </p:nvSpPr>
        <p:spPr>
          <a:xfrm>
            <a:off x="5421085" y="2423160"/>
            <a:ext cx="1349828" cy="1097280"/>
          </a:xfrm>
          <a:prstGeom prst="rect">
            <a:avLst/>
          </a:prstGeom>
          <a:noFill/>
        </p:spPr>
        <p:txBody>
          <a:bodyPr wrap="square" lIns="0" rIns="0" tIns="0" bIns="0" anchor="ctr">
            <a:spAutoFit/>
          </a:bodyPr>
          <a:lstStyle/>
          <a:p>
            <a:pPr algn="ctr">
              <a:lnSpc>
                <a:spcPct val="100000"/>
              </a:lnSpc>
              <a:spcAft>
                <a:spcPts val="400"/>
              </a:spcAft>
              <a:defRPr sz="1500" b="0" i="0">
                <a:solidFill>
                  <a:srgbClr val="FFFFFF"/>
                </a:solidFill>
                <a:latin typeface="Segoe UI Semibold"/>
              </a:defRPr>
            </a:pPr>
            <a:r>
              <a:t>WORK</a:t>
            </a:r>
          </a:p>
        </p:txBody>
      </p:sp>
      <p:sp>
        <p:nvSpPr>
          <p:cNvPr id="15" name="rect_0445"/>
          <p:cNvSpPr/>
          <p:nvPr/>
        </p:nvSpPr>
        <p:spPr>
          <a:xfrm>
            <a:off x="6953794" y="2423160"/>
            <a:ext cx="1349828" cy="1097280"/>
          </a:xfrm>
          <a:prstGeom prst="roundRect">
            <a:avLst>
              <a:gd name="adj" fmla="val 13333"/>
            </a:avLst>
          </a:prstGeom>
          <a:solidFill>
            <a:srgbClr val="1D1D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x_0446"/>
          <p:cNvSpPr txBox="1"/>
          <p:nvPr/>
        </p:nvSpPr>
        <p:spPr>
          <a:xfrm>
            <a:off x="6953794" y="2423160"/>
            <a:ext cx="1349828" cy="1097280"/>
          </a:xfrm>
          <a:prstGeom prst="rect">
            <a:avLst/>
          </a:prstGeom>
          <a:noFill/>
        </p:spPr>
        <p:txBody>
          <a:bodyPr wrap="square" lIns="0" rIns="0" tIns="0" bIns="0" anchor="ctr">
            <a:spAutoFit/>
          </a:bodyPr>
          <a:lstStyle/>
          <a:p>
            <a:pPr algn="ctr">
              <a:lnSpc>
                <a:spcPct val="100000"/>
              </a:lnSpc>
              <a:spcAft>
                <a:spcPts val="400"/>
              </a:spcAft>
              <a:defRPr sz="1500" b="0" i="0">
                <a:solidFill>
                  <a:srgbClr val="FFFFFF"/>
                </a:solidFill>
                <a:latin typeface="Segoe UI Semibold"/>
              </a:defRPr>
            </a:pPr>
            <a:r>
              <a:t>WORK</a:t>
            </a:r>
          </a:p>
        </p:txBody>
      </p:sp>
      <p:sp>
        <p:nvSpPr>
          <p:cNvPr id="17" name="rect_0447"/>
          <p:cNvSpPr/>
          <p:nvPr/>
        </p:nvSpPr>
        <p:spPr>
          <a:xfrm>
            <a:off x="8486502" y="2423160"/>
            <a:ext cx="1349828" cy="1097280"/>
          </a:xfrm>
          <a:prstGeom prst="roundRect">
            <a:avLst>
              <a:gd name="adj" fmla="val 13333"/>
            </a:avLst>
          </a:prstGeom>
          <a:solidFill>
            <a:srgbClr val="1D1D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x_0448"/>
          <p:cNvSpPr txBox="1"/>
          <p:nvPr/>
        </p:nvSpPr>
        <p:spPr>
          <a:xfrm>
            <a:off x="8486502" y="2423160"/>
            <a:ext cx="1349828" cy="1097280"/>
          </a:xfrm>
          <a:prstGeom prst="rect">
            <a:avLst/>
          </a:prstGeom>
          <a:noFill/>
        </p:spPr>
        <p:txBody>
          <a:bodyPr wrap="square" lIns="0" rIns="0" tIns="0" bIns="0" anchor="ctr">
            <a:spAutoFit/>
          </a:bodyPr>
          <a:lstStyle/>
          <a:p>
            <a:pPr algn="ctr">
              <a:lnSpc>
                <a:spcPct val="100000"/>
              </a:lnSpc>
              <a:spcAft>
                <a:spcPts val="400"/>
              </a:spcAft>
              <a:defRPr sz="1500" b="0" i="0">
                <a:solidFill>
                  <a:srgbClr val="FFFFFF"/>
                </a:solidFill>
                <a:latin typeface="Segoe UI Semibold"/>
              </a:defRPr>
            </a:pPr>
            <a:r>
              <a:t>WORK</a:t>
            </a:r>
          </a:p>
        </p:txBody>
      </p:sp>
      <p:sp>
        <p:nvSpPr>
          <p:cNvPr id="19" name="rect_0449"/>
          <p:cNvSpPr/>
          <p:nvPr/>
        </p:nvSpPr>
        <p:spPr>
          <a:xfrm>
            <a:off x="10019211" y="2423160"/>
            <a:ext cx="1349828" cy="1097280"/>
          </a:xfrm>
          <a:prstGeom prst="roundRect">
            <a:avLst>
              <a:gd name="adj" fmla="val 13333"/>
            </a:avLst>
          </a:prstGeom>
          <a:solidFill>
            <a:srgbClr val="F5F5F7"/>
          </a:solidFill>
          <a:ln w="9525">
            <a:solidFill>
              <a:srgbClr val="D2D2D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x_0450"/>
          <p:cNvSpPr txBox="1"/>
          <p:nvPr/>
        </p:nvSpPr>
        <p:spPr>
          <a:xfrm>
            <a:off x="10019211" y="2423160"/>
            <a:ext cx="1349828" cy="1097280"/>
          </a:xfrm>
          <a:prstGeom prst="rect">
            <a:avLst/>
          </a:prstGeom>
          <a:noFill/>
        </p:spPr>
        <p:txBody>
          <a:bodyPr wrap="square" lIns="0" rIns="0" tIns="0" bIns="0" anchor="ctr">
            <a:spAutoFit/>
          </a:bodyPr>
          <a:lstStyle/>
          <a:p>
            <a:pPr algn="ctr">
              <a:lnSpc>
                <a:spcPct val="100000"/>
              </a:lnSpc>
              <a:spcAft>
                <a:spcPts val="400"/>
              </a:spcAft>
              <a:defRPr sz="1500" b="0" i="0">
                <a:solidFill>
                  <a:srgbClr val="6E6E73"/>
                </a:solidFill>
                <a:latin typeface="Segoe UI Semibold"/>
              </a:defRPr>
            </a:pPr>
            <a:r>
              <a:t>FREE</a:t>
            </a:r>
          </a:p>
        </p:txBody>
      </p:sp>
      <p:sp>
        <p:nvSpPr>
          <p:cNvPr id="21" name="tx_0451"/>
          <p:cNvSpPr txBox="1"/>
          <p:nvPr/>
        </p:nvSpPr>
        <p:spPr>
          <a:xfrm>
            <a:off x="822960" y="3886200"/>
            <a:ext cx="10546079" cy="457200"/>
          </a:xfrm>
          <a:prstGeom prst="rect">
            <a:avLst/>
          </a:prstGeom>
          <a:noFill/>
        </p:spPr>
        <p:txBody>
          <a:bodyPr wrap="square" lIns="0" rIns="0" tIns="0" bIns="0">
            <a:spAutoFit/>
          </a:bodyPr>
          <a:lstStyle/>
          <a:p>
            <a:pPr>
              <a:spcAft>
                <a:spcPts val="400"/>
              </a:spcAft>
              <a:defRPr sz="1800" b="0" i="0">
                <a:solidFill>
                  <a:srgbClr val="1D1D1F"/>
                </a:solidFill>
                <a:latin typeface="Segoe UI Semibold"/>
              </a:defRPr>
            </a:pPr>
            <a:r>
              <a:t>If the victim submits during the hold window, it consumes the last seat — the queue goes full.</a:t>
            </a:r>
          </a:p>
        </p:txBody>
      </p:sp>
      <p:sp>
        <p:nvSpPr>
          <p:cNvPr id="22" name="tx_0452"/>
          <p:cNvSpPr txBox="1"/>
          <p:nvPr/>
        </p:nvSpPr>
        <p:spPr>
          <a:xfrm>
            <a:off x="822960" y="4480560"/>
            <a:ext cx="10546079" cy="365760"/>
          </a:xfrm>
          <a:prstGeom prst="rect">
            <a:avLst/>
          </a:prstGeom>
          <a:noFill/>
        </p:spPr>
        <p:txBody>
          <a:bodyPr wrap="square" lIns="0" rIns="0" tIns="0" bIns="0">
            <a:spAutoFit/>
          </a:bodyPr>
          <a:lstStyle/>
          <a:p>
            <a:pPr>
              <a:spcAft>
                <a:spcPts val="400"/>
              </a:spcAft>
              <a:defRPr sz="1500" b="0" i="1">
                <a:solidFill>
                  <a:srgbClr val="6E6E73"/>
                </a:solidFill>
                <a:latin typeface="Segoe UI"/>
              </a:defRPr>
            </a:pPr>
            <a:r>
              <a:t>The anchor must be large: contention only appeared for transfers ≥ 2²⁵ bytes (32 MiB). Queue size is readable via accel-config without root.</a:t>
            </a:r>
          </a:p>
        </p:txBody>
      </p:sp>
      <p:sp>
        <p:nvSpPr>
          <p:cNvPr id="23" name="rect_0453"/>
          <p:cNvSpPr/>
          <p:nvPr/>
        </p:nvSpPr>
        <p:spPr>
          <a:xfrm>
            <a:off x="822960" y="5623560"/>
            <a:ext cx="502920" cy="41148"/>
          </a:xfrm>
          <a:prstGeom prst="rect">
            <a:avLst/>
          </a:prstGeom>
          <a:solidFill>
            <a:srgbClr val="007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x_0454"/>
          <p:cNvSpPr txBox="1"/>
          <p:nvPr/>
        </p:nvSpPr>
        <p:spPr>
          <a:xfrm>
            <a:off x="822960" y="5779008"/>
            <a:ext cx="10546079" cy="548640"/>
          </a:xfrm>
          <a:prstGeom prst="rect">
            <a:avLst/>
          </a:prstGeom>
          <a:noFill/>
        </p:spPr>
        <p:txBody>
          <a:bodyPr wrap="square" lIns="0" rIns="0" tIns="0" bIns="0">
            <a:spAutoFit/>
          </a:bodyPr>
          <a:lstStyle/>
          <a:p>
            <a:pPr>
              <a:spcAft>
                <a:spcPts val="400"/>
              </a:spcAft>
              <a:defRPr sz="2100" b="0" i="0">
                <a:solidFill>
                  <a:srgbClr val="1D1D1F"/>
                </a:solidFill>
                <a:latin typeface="Segoe UI Semibold"/>
              </a:defRPr>
            </a:pPr>
            <a:r>
              <a:t>Probe before the long copy completes and the queue starts draining.</a:t>
            </a:r>
          </a:p>
        </p:txBody>
      </p:sp>
    </p:spTree>
  </p:cSld>
  <p:clrMapOvr>
    <a:masterClrMapping/>
  </p:clrMapOvr>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x_0455"/>
          <p:cNvSpPr txBox="1"/>
          <p:nvPr/>
        </p:nvSpPr>
        <p:spPr>
          <a:xfrm>
            <a:off x="822960" y="502920"/>
            <a:ext cx="10546079" cy="274320"/>
          </a:xfrm>
          <a:prstGeom prst="rect">
            <a:avLst/>
          </a:prstGeom>
          <a:noFill/>
        </p:spPr>
        <p:txBody>
          <a:bodyPr wrap="square" lIns="0" rIns="0" tIns="0" bIns="0">
            <a:spAutoFit/>
          </a:bodyPr>
          <a:lstStyle/>
          <a:p>
            <a:pPr>
              <a:spcAft>
                <a:spcPts val="400"/>
              </a:spcAft>
              <a:defRPr sz="1200" b="0" i="0">
                <a:solidFill>
                  <a:srgbClr val="0071E3"/>
                </a:solidFill>
                <a:latin typeface="Segoe UI Semibold"/>
              </a:defRPr>
            </a:pPr>
            <a:r>
              <a:t>The detective story</a:t>
            </a:r>
          </a:p>
        </p:txBody>
      </p:sp>
      <p:sp>
        <p:nvSpPr>
          <p:cNvPr id="3" name="tx_0456"/>
          <p:cNvSpPr txBox="1"/>
          <p:nvPr/>
        </p:nvSpPr>
        <p:spPr>
          <a:xfrm>
            <a:off x="822960" y="822960"/>
            <a:ext cx="10546079" cy="914400"/>
          </a:xfrm>
          <a:prstGeom prst="rect">
            <a:avLst/>
          </a:prstGeom>
          <a:noFill/>
        </p:spPr>
        <p:txBody>
          <a:bodyPr wrap="square" lIns="0" rIns="0" tIns="0" bIns="0">
            <a:spAutoFit/>
          </a:bodyPr>
          <a:lstStyle/>
          <a:p>
            <a:pPr>
              <a:lnSpc>
                <a:spcPct val="100000"/>
              </a:lnSpc>
              <a:spcAft>
                <a:spcPts val="400"/>
              </a:spcAft>
              <a:defRPr sz="3000" b="0" i="0">
                <a:solidFill>
                  <a:srgbClr val="1D1D1F"/>
                </a:solidFill>
                <a:latin typeface="Segoe UI Semibold"/>
              </a:defRPr>
            </a:pPr>
            <a:r>
              <a:t>Weapon #2 — Congest → Idle → Probe</a:t>
            </a:r>
          </a:p>
        </p:txBody>
      </p:sp>
      <p:sp>
        <p:nvSpPr>
          <p:cNvPr id="4" name="tx_0457"/>
          <p:cNvSpPr txBox="1"/>
          <p:nvPr/>
        </p:nvSpPr>
        <p:spPr>
          <a:xfrm>
            <a:off x="822960" y="6419088"/>
            <a:ext cx="9631679" cy="228600"/>
          </a:xfrm>
          <a:prstGeom prst="rect">
            <a:avLst/>
          </a:prstGeom>
          <a:noFill/>
        </p:spPr>
        <p:txBody>
          <a:bodyPr wrap="square" lIns="0" rIns="0" tIns="0" bIns="0">
            <a:spAutoFit/>
          </a:bodyPr>
          <a:lstStyle/>
          <a:p>
            <a:pPr>
              <a:spcAft>
                <a:spcPts val="400"/>
              </a:spcAft>
              <a:defRPr sz="1000" b="0" i="0">
                <a:solidFill>
                  <a:srgbClr val="86868B"/>
                </a:solidFill>
                <a:latin typeface="Segoe UI"/>
              </a:defRPr>
            </a:pPr>
            <a:r>
              <a:t>Paper § V-C · p. 8</a:t>
            </a:r>
          </a:p>
        </p:txBody>
      </p:sp>
      <p:sp>
        <p:nvSpPr>
          <p:cNvPr id="5" name="tx_0458"/>
          <p:cNvSpPr txBox="1"/>
          <p:nvPr/>
        </p:nvSpPr>
        <p:spPr>
          <a:xfrm>
            <a:off x="10820399" y="6419088"/>
            <a:ext cx="548640" cy="228600"/>
          </a:xfrm>
          <a:prstGeom prst="rect">
            <a:avLst/>
          </a:prstGeom>
          <a:noFill/>
        </p:spPr>
        <p:txBody>
          <a:bodyPr wrap="square" lIns="0" rIns="0" tIns="0" bIns="0">
            <a:spAutoFit/>
          </a:bodyPr>
          <a:lstStyle/>
          <a:p>
            <a:pPr algn="r">
              <a:spcAft>
                <a:spcPts val="400"/>
              </a:spcAft>
              <a:defRPr sz="1000" b="0" i="0">
                <a:solidFill>
                  <a:srgbClr val="86868B"/>
                </a:solidFill>
                <a:latin typeface="Segoe UI"/>
              </a:defRPr>
            </a:pPr>
            <a:r>
              <a:t>26</a:t>
            </a:r>
          </a:p>
        </p:txBody>
      </p:sp>
      <p:sp>
        <p:nvSpPr>
          <p:cNvPr id="6" name="tx_0459"/>
          <p:cNvSpPr txBox="1"/>
          <p:nvPr/>
        </p:nvSpPr>
        <p:spPr>
          <a:xfrm>
            <a:off x="822960" y="1783080"/>
            <a:ext cx="3149599" cy="822960"/>
          </a:xfrm>
          <a:prstGeom prst="rect">
            <a:avLst/>
          </a:prstGeom>
          <a:noFill/>
        </p:spPr>
        <p:txBody>
          <a:bodyPr wrap="square" lIns="0" rIns="0" tIns="0" bIns="0">
            <a:spAutoFit/>
          </a:bodyPr>
          <a:lstStyle/>
          <a:p>
            <a:pPr>
              <a:spcAft>
                <a:spcPts val="400"/>
              </a:spcAft>
              <a:defRPr sz="4800" b="0" i="0">
                <a:solidFill>
                  <a:srgbClr val="D70015"/>
                </a:solidFill>
                <a:latin typeface="Segoe UI Semibold"/>
              </a:defRPr>
            </a:pPr>
            <a:r>
              <a:t>1</a:t>
            </a:r>
          </a:p>
        </p:txBody>
      </p:sp>
      <p:sp>
        <p:nvSpPr>
          <p:cNvPr id="7" name="tx_0460"/>
          <p:cNvSpPr txBox="1"/>
          <p:nvPr/>
        </p:nvSpPr>
        <p:spPr>
          <a:xfrm>
            <a:off x="822960" y="2697480"/>
            <a:ext cx="3149599" cy="548640"/>
          </a:xfrm>
          <a:prstGeom prst="rect">
            <a:avLst/>
          </a:prstGeom>
          <a:noFill/>
        </p:spPr>
        <p:txBody>
          <a:bodyPr wrap="square" lIns="0" rIns="0" tIns="0" bIns="0">
            <a:spAutoFit/>
          </a:bodyPr>
          <a:lstStyle/>
          <a:p>
            <a:pPr>
              <a:spcAft>
                <a:spcPts val="400"/>
              </a:spcAft>
              <a:defRPr sz="2600" b="0" i="0">
                <a:solidFill>
                  <a:srgbClr val="1D1D1F"/>
                </a:solidFill>
                <a:latin typeface="Segoe UI Semibold"/>
              </a:defRPr>
            </a:pPr>
            <a:r>
              <a:t>Congest</a:t>
            </a:r>
          </a:p>
        </p:txBody>
      </p:sp>
      <p:sp>
        <p:nvSpPr>
          <p:cNvPr id="8" name="tx_0461"/>
          <p:cNvSpPr txBox="1"/>
          <p:nvPr/>
        </p:nvSpPr>
        <p:spPr>
          <a:xfrm>
            <a:off x="822960" y="3337560"/>
            <a:ext cx="3149599" cy="365760"/>
          </a:xfrm>
          <a:prstGeom prst="rect">
            <a:avLst/>
          </a:prstGeom>
          <a:noFill/>
        </p:spPr>
        <p:txBody>
          <a:bodyPr wrap="square" lIns="0" rIns="0" tIns="0" bIns="0">
            <a:spAutoFit/>
          </a:bodyPr>
          <a:lstStyle/>
          <a:p>
            <a:pPr>
              <a:lnSpc>
                <a:spcPct val="112000"/>
              </a:lnSpc>
              <a:spcAft>
                <a:spcPts val="400"/>
              </a:spcAft>
              <a:defRPr sz="1800" b="0" i="0">
                <a:solidFill>
                  <a:srgbClr val="6E6E73"/>
                </a:solidFill>
                <a:latin typeface="Segoe UI"/>
              </a:defRPr>
            </a:pPr>
            <a:r>
              <a:t>Long memcpy + fillers →</a:t>
            </a:r>
          </a:p>
          <a:p>
            <a:pPr>
              <a:lnSpc>
                <a:spcPct val="112000"/>
              </a:lnSpc>
              <a:spcAft>
                <a:spcPts val="400"/>
              </a:spcAft>
              <a:defRPr sz="1800" b="0" i="0">
                <a:solidFill>
                  <a:srgbClr val="6E6E73"/>
                </a:solidFill>
                <a:latin typeface="Segoe UI"/>
              </a:defRPr>
            </a:pPr>
            <a:r>
              <a:t>near-full SWQ</a:t>
            </a:r>
          </a:p>
        </p:txBody>
      </p:sp>
      <p:sp>
        <p:nvSpPr>
          <p:cNvPr id="9" name="tx_0462"/>
          <p:cNvSpPr txBox="1"/>
          <p:nvPr/>
        </p:nvSpPr>
        <p:spPr>
          <a:xfrm>
            <a:off x="4082287" y="2697480"/>
            <a:ext cx="365760" cy="548640"/>
          </a:xfrm>
          <a:prstGeom prst="rect">
            <a:avLst/>
          </a:prstGeom>
          <a:noFill/>
        </p:spPr>
        <p:txBody>
          <a:bodyPr wrap="square" lIns="0" rIns="0" tIns="0" bIns="0">
            <a:spAutoFit/>
          </a:bodyPr>
          <a:lstStyle/>
          <a:p>
            <a:pPr>
              <a:spcAft>
                <a:spcPts val="400"/>
              </a:spcAft>
              <a:defRPr sz="2400" b="0" i="0">
                <a:solidFill>
                  <a:srgbClr val="D2D2D7"/>
                </a:solidFill>
                <a:latin typeface="Segoe UI"/>
              </a:defRPr>
            </a:pPr>
            <a:r>
              <a:t>→</a:t>
            </a:r>
          </a:p>
        </p:txBody>
      </p:sp>
      <p:sp>
        <p:nvSpPr>
          <p:cNvPr id="10" name="tx_0463"/>
          <p:cNvSpPr txBox="1"/>
          <p:nvPr/>
        </p:nvSpPr>
        <p:spPr>
          <a:xfrm>
            <a:off x="4521199" y="1783080"/>
            <a:ext cx="3149599" cy="822960"/>
          </a:xfrm>
          <a:prstGeom prst="rect">
            <a:avLst/>
          </a:prstGeom>
          <a:noFill/>
        </p:spPr>
        <p:txBody>
          <a:bodyPr wrap="square" lIns="0" rIns="0" tIns="0" bIns="0">
            <a:spAutoFit/>
          </a:bodyPr>
          <a:lstStyle/>
          <a:p>
            <a:pPr>
              <a:spcAft>
                <a:spcPts val="400"/>
              </a:spcAft>
              <a:defRPr sz="4800" b="0" i="0">
                <a:solidFill>
                  <a:srgbClr val="0071E3"/>
                </a:solidFill>
                <a:latin typeface="Segoe UI Semibold"/>
              </a:defRPr>
            </a:pPr>
            <a:r>
              <a:t>2</a:t>
            </a:r>
          </a:p>
        </p:txBody>
      </p:sp>
      <p:sp>
        <p:nvSpPr>
          <p:cNvPr id="11" name="tx_0464"/>
          <p:cNvSpPr txBox="1"/>
          <p:nvPr/>
        </p:nvSpPr>
        <p:spPr>
          <a:xfrm>
            <a:off x="4521199" y="2697480"/>
            <a:ext cx="3149599" cy="548640"/>
          </a:xfrm>
          <a:prstGeom prst="rect">
            <a:avLst/>
          </a:prstGeom>
          <a:noFill/>
        </p:spPr>
        <p:txBody>
          <a:bodyPr wrap="square" lIns="0" rIns="0" tIns="0" bIns="0">
            <a:spAutoFit/>
          </a:bodyPr>
          <a:lstStyle/>
          <a:p>
            <a:pPr>
              <a:spcAft>
                <a:spcPts val="400"/>
              </a:spcAft>
              <a:defRPr sz="2600" b="0" i="0">
                <a:solidFill>
                  <a:srgbClr val="1D1D1F"/>
                </a:solidFill>
                <a:latin typeface="Segoe UI Semibold"/>
              </a:defRPr>
            </a:pPr>
            <a:r>
              <a:t>Idle</a:t>
            </a:r>
          </a:p>
        </p:txBody>
      </p:sp>
      <p:sp>
        <p:nvSpPr>
          <p:cNvPr id="12" name="tx_0465"/>
          <p:cNvSpPr txBox="1"/>
          <p:nvPr/>
        </p:nvSpPr>
        <p:spPr>
          <a:xfrm>
            <a:off x="4521199" y="3337560"/>
            <a:ext cx="3149599" cy="365760"/>
          </a:xfrm>
          <a:prstGeom prst="rect">
            <a:avLst/>
          </a:prstGeom>
          <a:noFill/>
        </p:spPr>
        <p:txBody>
          <a:bodyPr wrap="square" lIns="0" rIns="0" tIns="0" bIns="0">
            <a:spAutoFit/>
          </a:bodyPr>
          <a:lstStyle/>
          <a:p>
            <a:pPr>
              <a:lnSpc>
                <a:spcPct val="112000"/>
              </a:lnSpc>
              <a:spcAft>
                <a:spcPts val="400"/>
              </a:spcAft>
              <a:defRPr sz="1800" b="0" i="0">
                <a:solidFill>
                  <a:srgbClr val="6E6E73"/>
                </a:solidFill>
                <a:latin typeface="Segoe UI"/>
              </a:defRPr>
            </a:pPr>
            <a:r>
              <a:t>Hold the window;</a:t>
            </a:r>
          </a:p>
          <a:p>
            <a:pPr>
              <a:lnSpc>
                <a:spcPct val="112000"/>
              </a:lnSpc>
              <a:spcAft>
                <a:spcPts val="400"/>
              </a:spcAft>
              <a:defRPr sz="1800" b="0" i="0">
                <a:solidFill>
                  <a:srgbClr val="6E6E73"/>
                </a:solidFill>
                <a:latin typeface="Segoe UI"/>
              </a:defRPr>
            </a:pPr>
            <a:r>
              <a:t>the victim may enqueue</a:t>
            </a:r>
          </a:p>
        </p:txBody>
      </p:sp>
      <p:sp>
        <p:nvSpPr>
          <p:cNvPr id="13" name="tx_0466"/>
          <p:cNvSpPr txBox="1"/>
          <p:nvPr/>
        </p:nvSpPr>
        <p:spPr>
          <a:xfrm>
            <a:off x="7780527" y="2697480"/>
            <a:ext cx="365760" cy="548640"/>
          </a:xfrm>
          <a:prstGeom prst="rect">
            <a:avLst/>
          </a:prstGeom>
          <a:noFill/>
        </p:spPr>
        <p:txBody>
          <a:bodyPr wrap="square" lIns="0" rIns="0" tIns="0" bIns="0">
            <a:spAutoFit/>
          </a:bodyPr>
          <a:lstStyle/>
          <a:p>
            <a:pPr>
              <a:spcAft>
                <a:spcPts val="400"/>
              </a:spcAft>
              <a:defRPr sz="2400" b="0" i="0">
                <a:solidFill>
                  <a:srgbClr val="D2D2D7"/>
                </a:solidFill>
                <a:latin typeface="Segoe UI"/>
              </a:defRPr>
            </a:pPr>
            <a:r>
              <a:t>→</a:t>
            </a:r>
          </a:p>
        </p:txBody>
      </p:sp>
      <p:sp>
        <p:nvSpPr>
          <p:cNvPr id="14" name="tx_0467"/>
          <p:cNvSpPr txBox="1"/>
          <p:nvPr/>
        </p:nvSpPr>
        <p:spPr>
          <a:xfrm>
            <a:off x="8219439" y="1783080"/>
            <a:ext cx="3149599" cy="822960"/>
          </a:xfrm>
          <a:prstGeom prst="rect">
            <a:avLst/>
          </a:prstGeom>
          <a:noFill/>
        </p:spPr>
        <p:txBody>
          <a:bodyPr wrap="square" lIns="0" rIns="0" tIns="0" bIns="0">
            <a:spAutoFit/>
          </a:bodyPr>
          <a:lstStyle/>
          <a:p>
            <a:pPr>
              <a:spcAft>
                <a:spcPts val="400"/>
              </a:spcAft>
              <a:defRPr sz="4800" b="0" i="0">
                <a:solidFill>
                  <a:srgbClr val="1D1D1F"/>
                </a:solidFill>
                <a:latin typeface="Segoe UI Semibold"/>
              </a:defRPr>
            </a:pPr>
            <a:r>
              <a:t>3</a:t>
            </a:r>
          </a:p>
        </p:txBody>
      </p:sp>
      <p:sp>
        <p:nvSpPr>
          <p:cNvPr id="15" name="tx_0468"/>
          <p:cNvSpPr txBox="1"/>
          <p:nvPr/>
        </p:nvSpPr>
        <p:spPr>
          <a:xfrm>
            <a:off x="8219439" y="2697480"/>
            <a:ext cx="3149599" cy="548640"/>
          </a:xfrm>
          <a:prstGeom prst="rect">
            <a:avLst/>
          </a:prstGeom>
          <a:noFill/>
        </p:spPr>
        <p:txBody>
          <a:bodyPr wrap="square" lIns="0" rIns="0" tIns="0" bIns="0">
            <a:spAutoFit/>
          </a:bodyPr>
          <a:lstStyle/>
          <a:p>
            <a:pPr>
              <a:spcAft>
                <a:spcPts val="400"/>
              </a:spcAft>
              <a:defRPr sz="2600" b="0" i="0">
                <a:solidFill>
                  <a:srgbClr val="1D1D1F"/>
                </a:solidFill>
                <a:latin typeface="Segoe UI Semibold"/>
              </a:defRPr>
            </a:pPr>
            <a:r>
              <a:t>Probe</a:t>
            </a:r>
          </a:p>
        </p:txBody>
      </p:sp>
      <p:sp>
        <p:nvSpPr>
          <p:cNvPr id="16" name="tx_0469"/>
          <p:cNvSpPr txBox="1"/>
          <p:nvPr/>
        </p:nvSpPr>
        <p:spPr>
          <a:xfrm>
            <a:off x="8219439" y="3337560"/>
            <a:ext cx="3149599" cy="365760"/>
          </a:xfrm>
          <a:prstGeom prst="rect">
            <a:avLst/>
          </a:prstGeom>
          <a:noFill/>
        </p:spPr>
        <p:txBody>
          <a:bodyPr wrap="square" lIns="0" rIns="0" tIns="0" bIns="0">
            <a:spAutoFit/>
          </a:bodyPr>
          <a:lstStyle/>
          <a:p>
            <a:pPr>
              <a:lnSpc>
                <a:spcPct val="112000"/>
              </a:lnSpc>
              <a:spcAft>
                <a:spcPts val="400"/>
              </a:spcAft>
              <a:defRPr sz="1800" b="0" i="0">
                <a:solidFill>
                  <a:srgbClr val="6E6E73"/>
                </a:solidFill>
                <a:latin typeface="Segoe UI"/>
              </a:defRPr>
            </a:pPr>
            <a:r>
              <a:t>Submit once,</a:t>
            </a:r>
          </a:p>
          <a:p>
            <a:pPr>
              <a:lnSpc>
                <a:spcPct val="112000"/>
              </a:lnSpc>
              <a:spcAft>
                <a:spcPts val="400"/>
              </a:spcAft>
              <a:defRPr sz="1800" b="0" i="0">
                <a:solidFill>
                  <a:srgbClr val="6E6E73"/>
                </a:solidFill>
                <a:latin typeface="Segoe UI"/>
              </a:defRPr>
            </a:pPr>
            <a:r>
              <a:t>read EFLAGS.ZF</a:t>
            </a:r>
          </a:p>
        </p:txBody>
      </p:sp>
      <p:cxnSp>
        <p:nvCxnSpPr>
          <p:cNvPr id="17" name="hl_0470"/>
          <p:cNvCxnSpPr/>
          <p:nvPr/>
        </p:nvCxnSpPr>
        <p:spPr>
          <a:xfrm>
            <a:off x="822960" y="4251960"/>
            <a:ext cx="10546079"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18" name="tx_0471"/>
          <p:cNvSpPr txBox="1"/>
          <p:nvPr/>
        </p:nvSpPr>
        <p:spPr>
          <a:xfrm>
            <a:off x="822960" y="4480560"/>
            <a:ext cx="4998719" cy="457200"/>
          </a:xfrm>
          <a:prstGeom prst="rect">
            <a:avLst/>
          </a:prstGeom>
          <a:noFill/>
        </p:spPr>
        <p:txBody>
          <a:bodyPr wrap="square" lIns="0" rIns="0" tIns="0" bIns="0">
            <a:spAutoFit/>
          </a:bodyPr>
          <a:lstStyle/>
          <a:p>
            <a:pPr algn="ctr">
              <a:spcAft>
                <a:spcPts val="400"/>
              </a:spcAft>
              <a:defRPr sz="1900" b="0" i="0">
                <a:solidFill>
                  <a:srgbClr val="248A3D"/>
                </a:solidFill>
                <a:latin typeface="Segoe UI Semibold"/>
              </a:defRPr>
            </a:pPr>
            <a:r>
              <a:t>ZF = 0   →   accepted (victim idle)</a:t>
            </a:r>
          </a:p>
        </p:txBody>
      </p:sp>
      <p:sp>
        <p:nvSpPr>
          <p:cNvPr id="19" name="tx_0472"/>
          <p:cNvSpPr txBox="1"/>
          <p:nvPr/>
        </p:nvSpPr>
        <p:spPr>
          <a:xfrm>
            <a:off x="6370319" y="4480560"/>
            <a:ext cx="4998719" cy="457200"/>
          </a:xfrm>
          <a:prstGeom prst="rect">
            <a:avLst/>
          </a:prstGeom>
          <a:noFill/>
        </p:spPr>
        <p:txBody>
          <a:bodyPr wrap="square" lIns="0" rIns="0" tIns="0" bIns="0">
            <a:spAutoFit/>
          </a:bodyPr>
          <a:lstStyle/>
          <a:p>
            <a:pPr algn="ctr">
              <a:spcAft>
                <a:spcPts val="400"/>
              </a:spcAft>
              <a:defRPr sz="1900" b="0" i="0">
                <a:solidFill>
                  <a:srgbClr val="D70015"/>
                </a:solidFill>
                <a:latin typeface="Segoe UI Semibold"/>
              </a:defRPr>
            </a:pPr>
            <a:r>
              <a:t>ZF = 1   →   rejected (victim moved)</a:t>
            </a:r>
          </a:p>
        </p:txBody>
      </p:sp>
      <p:sp>
        <p:nvSpPr>
          <p:cNvPr id="20" name="rect_0473"/>
          <p:cNvSpPr/>
          <p:nvPr/>
        </p:nvSpPr>
        <p:spPr>
          <a:xfrm>
            <a:off x="822960" y="5623560"/>
            <a:ext cx="502920" cy="41148"/>
          </a:xfrm>
          <a:prstGeom prst="rect">
            <a:avLst/>
          </a:prstGeom>
          <a:solidFill>
            <a:srgbClr val="007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x_0474"/>
          <p:cNvSpPr txBox="1"/>
          <p:nvPr/>
        </p:nvSpPr>
        <p:spPr>
          <a:xfrm>
            <a:off x="822960" y="5779008"/>
            <a:ext cx="10546079" cy="548640"/>
          </a:xfrm>
          <a:prstGeom prst="rect">
            <a:avLst/>
          </a:prstGeom>
          <a:noFill/>
        </p:spPr>
        <p:txBody>
          <a:bodyPr wrap="square" lIns="0" rIns="0" tIns="0" bIns="0">
            <a:spAutoFit/>
          </a:bodyPr>
          <a:lstStyle/>
          <a:p>
            <a:pPr>
              <a:spcAft>
                <a:spcPts val="400"/>
              </a:spcAft>
              <a:defRPr sz="2100" b="0" i="0">
                <a:solidFill>
                  <a:srgbClr val="1D1D1F"/>
                </a:solidFill>
                <a:latin typeface="Segoe UI Semibold"/>
              </a:defRPr>
            </a:pPr>
            <a:r>
              <a:t>“Timer-free” describes the signal; the window still needs control.</a:t>
            </a:r>
          </a:p>
        </p:txBody>
      </p:sp>
    </p:spTree>
  </p:cSld>
  <p:clrMapOvr>
    <a:masterClrMapping/>
  </p:clrMapOvr>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x_0475"/>
          <p:cNvSpPr txBox="1"/>
          <p:nvPr/>
        </p:nvSpPr>
        <p:spPr>
          <a:xfrm>
            <a:off x="822960" y="502920"/>
            <a:ext cx="10546079" cy="274320"/>
          </a:xfrm>
          <a:prstGeom prst="rect">
            <a:avLst/>
          </a:prstGeom>
          <a:noFill/>
        </p:spPr>
        <p:txBody>
          <a:bodyPr wrap="square" lIns="0" rIns="0" tIns="0" bIns="0">
            <a:spAutoFit/>
          </a:bodyPr>
          <a:lstStyle/>
          <a:p>
            <a:pPr>
              <a:spcAft>
                <a:spcPts val="400"/>
              </a:spcAft>
              <a:defRPr sz="1200" b="0" i="0">
                <a:solidFill>
                  <a:srgbClr val="0071E3"/>
                </a:solidFill>
                <a:latin typeface="Segoe UI Semibold"/>
              </a:defRPr>
            </a:pPr>
            <a:r>
              <a:t>The detective story</a:t>
            </a:r>
          </a:p>
        </p:txBody>
      </p:sp>
      <p:sp>
        <p:nvSpPr>
          <p:cNvPr id="3" name="tx_0476"/>
          <p:cNvSpPr txBox="1"/>
          <p:nvPr/>
        </p:nvSpPr>
        <p:spPr>
          <a:xfrm>
            <a:off x="822960" y="822960"/>
            <a:ext cx="10546079" cy="914400"/>
          </a:xfrm>
          <a:prstGeom prst="rect">
            <a:avLst/>
          </a:prstGeom>
          <a:noFill/>
        </p:spPr>
        <p:txBody>
          <a:bodyPr wrap="square" lIns="0" rIns="0" tIns="0" bIns="0">
            <a:spAutoFit/>
          </a:bodyPr>
          <a:lstStyle/>
          <a:p>
            <a:pPr>
              <a:lnSpc>
                <a:spcPct val="100000"/>
              </a:lnSpc>
              <a:spcAft>
                <a:spcPts val="400"/>
              </a:spcAft>
              <a:defRPr sz="3000" b="0" i="0">
                <a:solidFill>
                  <a:srgbClr val="1D1D1F"/>
                </a:solidFill>
                <a:latin typeface="Segoe UI Semibold"/>
              </a:defRPr>
            </a:pPr>
            <a:r>
              <a:t>Two weapons, two personalities</a:t>
            </a:r>
          </a:p>
        </p:txBody>
      </p:sp>
      <p:sp>
        <p:nvSpPr>
          <p:cNvPr id="4" name="tx_0477"/>
          <p:cNvSpPr txBox="1"/>
          <p:nvPr/>
        </p:nvSpPr>
        <p:spPr>
          <a:xfrm>
            <a:off x="822960" y="6419088"/>
            <a:ext cx="9631679" cy="228600"/>
          </a:xfrm>
          <a:prstGeom prst="rect">
            <a:avLst/>
          </a:prstGeom>
          <a:noFill/>
        </p:spPr>
        <p:txBody>
          <a:bodyPr wrap="square" lIns="0" rIns="0" tIns="0" bIns="0">
            <a:spAutoFit/>
          </a:bodyPr>
          <a:lstStyle/>
          <a:p>
            <a:pPr>
              <a:spcAft>
                <a:spcPts val="400"/>
              </a:spcAft>
              <a:defRPr sz="1000" b="0" i="0">
                <a:solidFill>
                  <a:srgbClr val="86868B"/>
                </a:solidFill>
                <a:latin typeface="Segoe UI"/>
              </a:defRPr>
            </a:pPr>
            <a:r>
              <a:t>Paper §§ V–VI · pp. 7–12 · footprint row = presenter reading</a:t>
            </a:r>
          </a:p>
        </p:txBody>
      </p:sp>
      <p:sp>
        <p:nvSpPr>
          <p:cNvPr id="5" name="tx_0478"/>
          <p:cNvSpPr txBox="1"/>
          <p:nvPr/>
        </p:nvSpPr>
        <p:spPr>
          <a:xfrm>
            <a:off x="10820399" y="6419088"/>
            <a:ext cx="548640" cy="228600"/>
          </a:xfrm>
          <a:prstGeom prst="rect">
            <a:avLst/>
          </a:prstGeom>
          <a:noFill/>
        </p:spPr>
        <p:txBody>
          <a:bodyPr wrap="square" lIns="0" rIns="0" tIns="0" bIns="0">
            <a:spAutoFit/>
          </a:bodyPr>
          <a:lstStyle/>
          <a:p>
            <a:pPr algn="r">
              <a:spcAft>
                <a:spcPts val="400"/>
              </a:spcAft>
              <a:defRPr sz="1000" b="0" i="0">
                <a:solidFill>
                  <a:srgbClr val="86868B"/>
                </a:solidFill>
                <a:latin typeface="Segoe UI"/>
              </a:defRPr>
            </a:pPr>
            <a:r>
              <a:t>27</a:t>
            </a:r>
          </a:p>
        </p:txBody>
      </p:sp>
      <p:sp>
        <p:nvSpPr>
          <p:cNvPr id="6" name="tx_0479"/>
          <p:cNvSpPr txBox="1"/>
          <p:nvPr/>
        </p:nvSpPr>
        <p:spPr>
          <a:xfrm>
            <a:off x="868680" y="1783080"/>
            <a:ext cx="2650540" cy="274320"/>
          </a:xfrm>
          <a:prstGeom prst="rect">
            <a:avLst/>
          </a:prstGeom>
          <a:noFill/>
        </p:spPr>
        <p:txBody>
          <a:bodyPr wrap="square" lIns="0" rIns="0" tIns="0" bIns="0">
            <a:spAutoFit/>
          </a:bodyPr>
          <a:lstStyle/>
          <a:p>
            <a:pPr>
              <a:spcAft>
                <a:spcPts val="400"/>
              </a:spcAft>
              <a:defRPr sz="1200" b="0" i="0">
                <a:solidFill>
                  <a:srgbClr val="86868B"/>
                </a:solidFill>
                <a:latin typeface="Segoe UI Semibold"/>
              </a:defRPr>
            </a:pPr>
            <a:r>
              <a:t>PROPERTY</a:t>
            </a:r>
          </a:p>
        </p:txBody>
      </p:sp>
      <p:sp>
        <p:nvSpPr>
          <p:cNvPr id="7" name="tx_0480"/>
          <p:cNvSpPr txBox="1"/>
          <p:nvPr/>
        </p:nvSpPr>
        <p:spPr>
          <a:xfrm>
            <a:off x="3610660" y="1783080"/>
            <a:ext cx="4126991" cy="274320"/>
          </a:xfrm>
          <a:prstGeom prst="rect">
            <a:avLst/>
          </a:prstGeom>
          <a:noFill/>
        </p:spPr>
        <p:txBody>
          <a:bodyPr wrap="square" lIns="0" rIns="0" tIns="0" bIns="0">
            <a:spAutoFit/>
          </a:bodyPr>
          <a:lstStyle/>
          <a:p>
            <a:pPr>
              <a:spcAft>
                <a:spcPts val="400"/>
              </a:spcAft>
              <a:defRPr sz="1200" b="0" i="0">
                <a:solidFill>
                  <a:srgbClr val="86868B"/>
                </a:solidFill>
                <a:latin typeface="Segoe UI Semibold"/>
              </a:defRPr>
            </a:pPr>
            <a:r>
              <a:t>DEVTLB</a:t>
            </a:r>
          </a:p>
        </p:txBody>
      </p:sp>
      <p:sp>
        <p:nvSpPr>
          <p:cNvPr id="8" name="tx_0481"/>
          <p:cNvSpPr txBox="1"/>
          <p:nvPr/>
        </p:nvSpPr>
        <p:spPr>
          <a:xfrm>
            <a:off x="7829092" y="1783080"/>
            <a:ext cx="3494227" cy="274320"/>
          </a:xfrm>
          <a:prstGeom prst="rect">
            <a:avLst/>
          </a:prstGeom>
          <a:noFill/>
        </p:spPr>
        <p:txBody>
          <a:bodyPr wrap="square" lIns="0" rIns="0" tIns="0" bIns="0">
            <a:spAutoFit/>
          </a:bodyPr>
          <a:lstStyle/>
          <a:p>
            <a:pPr>
              <a:spcAft>
                <a:spcPts val="400"/>
              </a:spcAft>
              <a:defRPr sz="1200" b="0" i="0">
                <a:solidFill>
                  <a:srgbClr val="86868B"/>
                </a:solidFill>
                <a:latin typeface="Segoe UI Semibold"/>
              </a:defRPr>
            </a:pPr>
            <a:r>
              <a:t>SWQ</a:t>
            </a:r>
          </a:p>
        </p:txBody>
      </p:sp>
      <p:cxnSp>
        <p:nvCxnSpPr>
          <p:cNvPr id="9" name="hl_0482"/>
          <p:cNvCxnSpPr/>
          <p:nvPr/>
        </p:nvCxnSpPr>
        <p:spPr>
          <a:xfrm>
            <a:off x="822960" y="2148840"/>
            <a:ext cx="10546079" cy="0"/>
          </a:xfrm>
          <a:prstGeom prst="line">
            <a:avLst/>
          </a:prstGeom>
          <a:ln w="12700">
            <a:solidFill>
              <a:srgbClr val="1D1D1F"/>
            </a:solidFill>
          </a:ln>
        </p:spPr>
        <p:style>
          <a:lnRef idx="2">
            <a:schemeClr val="accent1"/>
          </a:lnRef>
          <a:fillRef idx="0">
            <a:schemeClr val="accent1"/>
          </a:fillRef>
          <a:effectRef idx="1">
            <a:schemeClr val="accent1"/>
          </a:effectRef>
          <a:fontRef idx="minor">
            <a:schemeClr val="tx1"/>
          </a:fontRef>
        </p:style>
      </p:cxnSp>
      <p:sp>
        <p:nvSpPr>
          <p:cNvPr id="10" name="tx_0483"/>
          <p:cNvSpPr txBox="1"/>
          <p:nvPr/>
        </p:nvSpPr>
        <p:spPr>
          <a:xfrm>
            <a:off x="868680" y="2231136"/>
            <a:ext cx="2650540" cy="365760"/>
          </a:xfrm>
          <a:prstGeom prst="rect">
            <a:avLst/>
          </a:prstGeom>
          <a:noFill/>
        </p:spPr>
        <p:txBody>
          <a:bodyPr wrap="square" lIns="0" rIns="0" tIns="0" bIns="0" anchor="ctr">
            <a:spAutoFit/>
          </a:bodyPr>
          <a:lstStyle/>
          <a:p>
            <a:pPr>
              <a:spcAft>
                <a:spcPts val="400"/>
              </a:spcAft>
              <a:defRPr sz="1700" b="0" i="0">
                <a:solidFill>
                  <a:srgbClr val="1D1D1F"/>
                </a:solidFill>
                <a:latin typeface="Segoe UI Semibold"/>
              </a:defRPr>
            </a:pPr>
            <a:r>
              <a:t>Shared resource</a:t>
            </a:r>
          </a:p>
        </p:txBody>
      </p:sp>
      <p:sp>
        <p:nvSpPr>
          <p:cNvPr id="11" name="tx_0484"/>
          <p:cNvSpPr txBox="1"/>
          <p:nvPr/>
        </p:nvSpPr>
        <p:spPr>
          <a:xfrm>
            <a:off x="3610660" y="2231136"/>
            <a:ext cx="4126991" cy="365760"/>
          </a:xfrm>
          <a:prstGeom prst="rect">
            <a:avLst/>
          </a:prstGeom>
          <a:noFill/>
        </p:spPr>
        <p:txBody>
          <a:bodyPr wrap="square" lIns="0" rIns="0" tIns="0" bIns="0" anchor="ctr">
            <a:spAutoFit/>
          </a:bodyPr>
          <a:lstStyle/>
          <a:p>
            <a:pPr>
              <a:spcAft>
                <a:spcPts val="400"/>
              </a:spcAft>
              <a:defRPr sz="1700" b="0" i="0">
                <a:solidFill>
                  <a:srgbClr val="1D1D1F"/>
                </a:solidFill>
                <a:latin typeface="Segoe UI"/>
              </a:defRPr>
            </a:pPr>
            <a:r>
              <a:t>same engine (queues may differ)</a:t>
            </a:r>
          </a:p>
        </p:txBody>
      </p:sp>
      <p:sp>
        <p:nvSpPr>
          <p:cNvPr id="12" name="tx_0485"/>
          <p:cNvSpPr txBox="1"/>
          <p:nvPr/>
        </p:nvSpPr>
        <p:spPr>
          <a:xfrm>
            <a:off x="7829092" y="2231136"/>
            <a:ext cx="3494227" cy="365760"/>
          </a:xfrm>
          <a:prstGeom prst="rect">
            <a:avLst/>
          </a:prstGeom>
          <a:noFill/>
        </p:spPr>
        <p:txBody>
          <a:bodyPr wrap="square" lIns="0" rIns="0" tIns="0" bIns="0" anchor="ctr">
            <a:spAutoFit/>
          </a:bodyPr>
          <a:lstStyle/>
          <a:p>
            <a:pPr>
              <a:spcAft>
                <a:spcPts val="400"/>
              </a:spcAft>
              <a:defRPr sz="1700" b="0" i="0">
                <a:solidFill>
                  <a:srgbClr val="1D1D1F"/>
                </a:solidFill>
                <a:latin typeface="Segoe UI"/>
              </a:defRPr>
            </a:pPr>
            <a:r>
              <a:t>same shared work queue</a:t>
            </a:r>
          </a:p>
        </p:txBody>
      </p:sp>
      <p:cxnSp>
        <p:nvCxnSpPr>
          <p:cNvPr id="13" name="hl_0486"/>
          <p:cNvCxnSpPr/>
          <p:nvPr/>
        </p:nvCxnSpPr>
        <p:spPr>
          <a:xfrm>
            <a:off x="822960" y="2679192"/>
            <a:ext cx="10546079"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14" name="tx_0487"/>
          <p:cNvSpPr txBox="1"/>
          <p:nvPr/>
        </p:nvSpPr>
        <p:spPr>
          <a:xfrm>
            <a:off x="868680" y="2761488"/>
            <a:ext cx="2650540" cy="365760"/>
          </a:xfrm>
          <a:prstGeom prst="rect">
            <a:avLst/>
          </a:prstGeom>
          <a:noFill/>
        </p:spPr>
        <p:txBody>
          <a:bodyPr wrap="square" lIns="0" rIns="0" tIns="0" bIns="0" anchor="ctr">
            <a:spAutoFit/>
          </a:bodyPr>
          <a:lstStyle/>
          <a:p>
            <a:pPr>
              <a:spcAft>
                <a:spcPts val="400"/>
              </a:spcAft>
              <a:defRPr sz="1700" b="0" i="0">
                <a:solidFill>
                  <a:srgbClr val="1D1D1F"/>
                </a:solidFill>
                <a:latin typeface="Segoe UI Semibold"/>
              </a:defRPr>
            </a:pPr>
            <a:r>
              <a:t>Observed signal</a:t>
            </a:r>
          </a:p>
        </p:txBody>
      </p:sp>
      <p:sp>
        <p:nvSpPr>
          <p:cNvPr id="15" name="tx_0488"/>
          <p:cNvSpPr txBox="1"/>
          <p:nvPr/>
        </p:nvSpPr>
        <p:spPr>
          <a:xfrm>
            <a:off x="3610660" y="2761488"/>
            <a:ext cx="4126991" cy="365760"/>
          </a:xfrm>
          <a:prstGeom prst="rect">
            <a:avLst/>
          </a:prstGeom>
          <a:noFill/>
        </p:spPr>
        <p:txBody>
          <a:bodyPr wrap="square" lIns="0" rIns="0" tIns="0" bIns="0" anchor="ctr">
            <a:spAutoFit/>
          </a:bodyPr>
          <a:lstStyle/>
          <a:p>
            <a:pPr>
              <a:spcAft>
                <a:spcPts val="400"/>
              </a:spcAft>
              <a:defRPr sz="1700" b="0" i="0">
                <a:solidFill>
                  <a:srgbClr val="1D1D1F"/>
                </a:solidFill>
                <a:latin typeface="Segoe UI"/>
              </a:defRPr>
            </a:pPr>
            <a:r>
              <a:t>completion latency</a:t>
            </a:r>
          </a:p>
        </p:txBody>
      </p:sp>
      <p:sp>
        <p:nvSpPr>
          <p:cNvPr id="16" name="tx_0489"/>
          <p:cNvSpPr txBox="1"/>
          <p:nvPr/>
        </p:nvSpPr>
        <p:spPr>
          <a:xfrm>
            <a:off x="7829092" y="2761488"/>
            <a:ext cx="3494227" cy="365760"/>
          </a:xfrm>
          <a:prstGeom prst="rect">
            <a:avLst/>
          </a:prstGeom>
          <a:noFill/>
        </p:spPr>
        <p:txBody>
          <a:bodyPr wrap="square" lIns="0" rIns="0" tIns="0" bIns="0" anchor="ctr">
            <a:spAutoFit/>
          </a:bodyPr>
          <a:lstStyle/>
          <a:p>
            <a:pPr>
              <a:spcAft>
                <a:spcPts val="400"/>
              </a:spcAft>
              <a:defRPr sz="1700" b="0" i="0">
                <a:solidFill>
                  <a:srgbClr val="1D1D1F"/>
                </a:solidFill>
                <a:latin typeface="Segoe UI"/>
              </a:defRPr>
            </a:pPr>
            <a:r>
              <a:t>submission success / retry</a:t>
            </a:r>
          </a:p>
        </p:txBody>
      </p:sp>
      <p:cxnSp>
        <p:nvCxnSpPr>
          <p:cNvPr id="17" name="hl_0490"/>
          <p:cNvCxnSpPr/>
          <p:nvPr/>
        </p:nvCxnSpPr>
        <p:spPr>
          <a:xfrm>
            <a:off x="822960" y="3209544"/>
            <a:ext cx="10546079"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18" name="tx_0491"/>
          <p:cNvSpPr txBox="1"/>
          <p:nvPr/>
        </p:nvSpPr>
        <p:spPr>
          <a:xfrm>
            <a:off x="868680" y="3291839"/>
            <a:ext cx="2650540" cy="365760"/>
          </a:xfrm>
          <a:prstGeom prst="rect">
            <a:avLst/>
          </a:prstGeom>
          <a:noFill/>
        </p:spPr>
        <p:txBody>
          <a:bodyPr wrap="square" lIns="0" rIns="0" tIns="0" bIns="0" anchor="ctr">
            <a:spAutoFit/>
          </a:bodyPr>
          <a:lstStyle/>
          <a:p>
            <a:pPr>
              <a:spcAft>
                <a:spcPts val="400"/>
              </a:spcAft>
              <a:defRPr sz="1700" b="0" i="0">
                <a:solidFill>
                  <a:srgbClr val="1D1D1F"/>
                </a:solidFill>
                <a:latin typeface="Segoe UI Semibold"/>
              </a:defRPr>
            </a:pPr>
            <a:r>
              <a:t>Preparation</a:t>
            </a:r>
          </a:p>
        </p:txBody>
      </p:sp>
      <p:sp>
        <p:nvSpPr>
          <p:cNvPr id="19" name="tx_0492"/>
          <p:cNvSpPr txBox="1"/>
          <p:nvPr/>
        </p:nvSpPr>
        <p:spPr>
          <a:xfrm>
            <a:off x="3610660" y="3291839"/>
            <a:ext cx="4126991" cy="365760"/>
          </a:xfrm>
          <a:prstGeom prst="rect">
            <a:avLst/>
          </a:prstGeom>
          <a:noFill/>
        </p:spPr>
        <p:txBody>
          <a:bodyPr wrap="square" lIns="0" rIns="0" tIns="0" bIns="0" anchor="ctr">
            <a:spAutoFit/>
          </a:bodyPr>
          <a:lstStyle/>
          <a:p>
            <a:pPr>
              <a:spcAft>
                <a:spcPts val="400"/>
              </a:spcAft>
              <a:defRPr sz="1700" b="0" i="0">
                <a:solidFill>
                  <a:srgbClr val="1D1D1F"/>
                </a:solidFill>
                <a:latin typeface="Segoe UI"/>
              </a:defRPr>
            </a:pPr>
            <a:r>
              <a:t>prime comp translation</a:t>
            </a:r>
          </a:p>
        </p:txBody>
      </p:sp>
      <p:sp>
        <p:nvSpPr>
          <p:cNvPr id="20" name="tx_0493"/>
          <p:cNvSpPr txBox="1"/>
          <p:nvPr/>
        </p:nvSpPr>
        <p:spPr>
          <a:xfrm>
            <a:off x="7829092" y="3291839"/>
            <a:ext cx="3494227" cy="365760"/>
          </a:xfrm>
          <a:prstGeom prst="rect">
            <a:avLst/>
          </a:prstGeom>
          <a:noFill/>
        </p:spPr>
        <p:txBody>
          <a:bodyPr wrap="square" lIns="0" rIns="0" tIns="0" bIns="0" anchor="ctr">
            <a:spAutoFit/>
          </a:bodyPr>
          <a:lstStyle/>
          <a:p>
            <a:pPr>
              <a:spcAft>
                <a:spcPts val="400"/>
              </a:spcAft>
              <a:defRPr sz="1700" b="0" i="0">
                <a:solidFill>
                  <a:srgbClr val="1D1D1F"/>
                </a:solidFill>
                <a:latin typeface="Segoe UI"/>
              </a:defRPr>
            </a:pPr>
            <a:r>
              <a:t>hold queue near-full</a:t>
            </a:r>
          </a:p>
        </p:txBody>
      </p:sp>
      <p:cxnSp>
        <p:nvCxnSpPr>
          <p:cNvPr id="21" name="hl_0494"/>
          <p:cNvCxnSpPr/>
          <p:nvPr/>
        </p:nvCxnSpPr>
        <p:spPr>
          <a:xfrm>
            <a:off x="822960" y="3739896"/>
            <a:ext cx="10546079"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22" name="tx_0495"/>
          <p:cNvSpPr txBox="1"/>
          <p:nvPr/>
        </p:nvSpPr>
        <p:spPr>
          <a:xfrm>
            <a:off x="868680" y="3822191"/>
            <a:ext cx="2650540" cy="365760"/>
          </a:xfrm>
          <a:prstGeom prst="rect">
            <a:avLst/>
          </a:prstGeom>
          <a:noFill/>
        </p:spPr>
        <p:txBody>
          <a:bodyPr wrap="square" lIns="0" rIns="0" tIns="0" bIns="0" anchor="ctr">
            <a:spAutoFit/>
          </a:bodyPr>
          <a:lstStyle/>
          <a:p>
            <a:pPr>
              <a:spcAft>
                <a:spcPts val="400"/>
              </a:spcAft>
              <a:defRPr sz="1700" b="0" i="0">
                <a:solidFill>
                  <a:srgbClr val="1D1D1F"/>
                </a:solidFill>
                <a:latin typeface="Segoe UI Semibold"/>
              </a:defRPr>
            </a:pPr>
            <a:r>
              <a:t>Timer</a:t>
            </a:r>
          </a:p>
        </p:txBody>
      </p:sp>
      <p:sp>
        <p:nvSpPr>
          <p:cNvPr id="23" name="tx_0496"/>
          <p:cNvSpPr txBox="1"/>
          <p:nvPr/>
        </p:nvSpPr>
        <p:spPr>
          <a:xfrm>
            <a:off x="3610660" y="3822191"/>
            <a:ext cx="4126991" cy="365760"/>
          </a:xfrm>
          <a:prstGeom prst="rect">
            <a:avLst/>
          </a:prstGeom>
          <a:noFill/>
        </p:spPr>
        <p:txBody>
          <a:bodyPr wrap="square" lIns="0" rIns="0" tIns="0" bIns="0" anchor="ctr">
            <a:spAutoFit/>
          </a:bodyPr>
          <a:lstStyle/>
          <a:p>
            <a:pPr>
              <a:spcAft>
                <a:spcPts val="400"/>
              </a:spcAft>
              <a:defRPr sz="1700" b="0" i="0">
                <a:solidFill>
                  <a:srgbClr val="1D1D1F"/>
                </a:solidFill>
                <a:latin typeface="Segoe UI"/>
              </a:defRPr>
            </a:pPr>
            <a:r>
              <a:t>rdtsc required</a:t>
            </a:r>
          </a:p>
        </p:txBody>
      </p:sp>
      <p:sp>
        <p:nvSpPr>
          <p:cNvPr id="24" name="tx_0497"/>
          <p:cNvSpPr txBox="1"/>
          <p:nvPr/>
        </p:nvSpPr>
        <p:spPr>
          <a:xfrm>
            <a:off x="7829092" y="3822191"/>
            <a:ext cx="3494227" cy="365760"/>
          </a:xfrm>
          <a:prstGeom prst="rect">
            <a:avLst/>
          </a:prstGeom>
          <a:noFill/>
        </p:spPr>
        <p:txBody>
          <a:bodyPr wrap="square" lIns="0" rIns="0" tIns="0" bIns="0" anchor="ctr">
            <a:spAutoFit/>
          </a:bodyPr>
          <a:lstStyle/>
          <a:p>
            <a:pPr>
              <a:spcAft>
                <a:spcPts val="400"/>
              </a:spcAft>
              <a:defRPr sz="1700" b="0" i="0">
                <a:solidFill>
                  <a:srgbClr val="1D1D1F"/>
                </a:solidFill>
                <a:latin typeface="Segoe UI"/>
              </a:defRPr>
            </a:pPr>
            <a:r>
              <a:t>none</a:t>
            </a:r>
          </a:p>
        </p:txBody>
      </p:sp>
      <p:cxnSp>
        <p:nvCxnSpPr>
          <p:cNvPr id="25" name="hl_0498"/>
          <p:cNvCxnSpPr/>
          <p:nvPr/>
        </p:nvCxnSpPr>
        <p:spPr>
          <a:xfrm>
            <a:off x="822960" y="4270248"/>
            <a:ext cx="10546079"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26" name="tx_0499"/>
          <p:cNvSpPr txBox="1"/>
          <p:nvPr/>
        </p:nvSpPr>
        <p:spPr>
          <a:xfrm>
            <a:off x="868680" y="4352544"/>
            <a:ext cx="2650540" cy="365760"/>
          </a:xfrm>
          <a:prstGeom prst="rect">
            <a:avLst/>
          </a:prstGeom>
          <a:noFill/>
        </p:spPr>
        <p:txBody>
          <a:bodyPr wrap="square" lIns="0" rIns="0" tIns="0" bIns="0" anchor="ctr">
            <a:spAutoFit/>
          </a:bodyPr>
          <a:lstStyle/>
          <a:p>
            <a:pPr>
              <a:spcAft>
                <a:spcPts val="400"/>
              </a:spcAft>
              <a:defRPr sz="1700" b="0" i="0">
                <a:solidFill>
                  <a:srgbClr val="1D1D1F"/>
                </a:solidFill>
                <a:latin typeface="Segoe UI Semibold"/>
              </a:defRPr>
            </a:pPr>
            <a:r>
              <a:t>Footprint</a:t>
            </a:r>
          </a:p>
        </p:txBody>
      </p:sp>
      <p:sp>
        <p:nvSpPr>
          <p:cNvPr id="27" name="tx_0500"/>
          <p:cNvSpPr txBox="1"/>
          <p:nvPr/>
        </p:nvSpPr>
        <p:spPr>
          <a:xfrm>
            <a:off x="3610660" y="4352544"/>
            <a:ext cx="4126991" cy="365760"/>
          </a:xfrm>
          <a:prstGeom prst="rect">
            <a:avLst/>
          </a:prstGeom>
          <a:noFill/>
        </p:spPr>
        <p:txBody>
          <a:bodyPr wrap="square" lIns="0" rIns="0" tIns="0" bIns="0" anchor="ctr">
            <a:spAutoFit/>
          </a:bodyPr>
          <a:lstStyle/>
          <a:p>
            <a:pPr>
              <a:spcAft>
                <a:spcPts val="400"/>
              </a:spcAft>
              <a:defRPr sz="1700" b="0" i="0">
                <a:solidFill>
                  <a:srgbClr val="1D1D1F"/>
                </a:solidFill>
                <a:latin typeface="Segoe UI"/>
              </a:defRPr>
            </a:pPr>
            <a:r>
              <a:t>light noop probes</a:t>
            </a:r>
          </a:p>
        </p:txBody>
      </p:sp>
      <p:sp>
        <p:nvSpPr>
          <p:cNvPr id="28" name="tx_0501"/>
          <p:cNvSpPr txBox="1"/>
          <p:nvPr/>
        </p:nvSpPr>
        <p:spPr>
          <a:xfrm>
            <a:off x="7829092" y="4352544"/>
            <a:ext cx="3494227" cy="365760"/>
          </a:xfrm>
          <a:prstGeom prst="rect">
            <a:avLst/>
          </a:prstGeom>
          <a:noFill/>
        </p:spPr>
        <p:txBody>
          <a:bodyPr wrap="square" lIns="0" rIns="0" tIns="0" bIns="0" anchor="ctr">
            <a:spAutoFit/>
          </a:bodyPr>
          <a:lstStyle/>
          <a:p>
            <a:pPr>
              <a:spcAft>
                <a:spcPts val="400"/>
              </a:spcAft>
              <a:defRPr sz="1700" b="0" i="0">
                <a:solidFill>
                  <a:srgbClr val="1D1D1F"/>
                </a:solidFill>
                <a:latin typeface="Segoe UI"/>
              </a:defRPr>
            </a:pPr>
            <a:r>
              <a:t>heavy active congestion</a:t>
            </a:r>
          </a:p>
        </p:txBody>
      </p:sp>
      <p:cxnSp>
        <p:nvCxnSpPr>
          <p:cNvPr id="29" name="hl_0502"/>
          <p:cNvCxnSpPr/>
          <p:nvPr/>
        </p:nvCxnSpPr>
        <p:spPr>
          <a:xfrm>
            <a:off x="822960" y="4800600"/>
            <a:ext cx="10546079"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30" name="tx_0503"/>
          <p:cNvSpPr txBox="1"/>
          <p:nvPr/>
        </p:nvSpPr>
        <p:spPr>
          <a:xfrm>
            <a:off x="868680" y="4882896"/>
            <a:ext cx="2650540" cy="365760"/>
          </a:xfrm>
          <a:prstGeom prst="rect">
            <a:avLst/>
          </a:prstGeom>
          <a:noFill/>
        </p:spPr>
        <p:txBody>
          <a:bodyPr wrap="square" lIns="0" rIns="0" tIns="0" bIns="0" anchor="ctr">
            <a:spAutoFit/>
          </a:bodyPr>
          <a:lstStyle/>
          <a:p>
            <a:pPr>
              <a:spcAft>
                <a:spcPts val="400"/>
              </a:spcAft>
              <a:defRPr sz="1700" b="0" i="0">
                <a:solidFill>
                  <a:srgbClr val="1D1D1F"/>
                </a:solidFill>
                <a:latin typeface="Segoe UI Semibold"/>
              </a:defRPr>
            </a:pPr>
            <a:r>
              <a:t>Best at</a:t>
            </a:r>
          </a:p>
        </p:txBody>
      </p:sp>
      <p:sp>
        <p:nvSpPr>
          <p:cNvPr id="31" name="tx_0504"/>
          <p:cNvSpPr txBox="1"/>
          <p:nvPr/>
        </p:nvSpPr>
        <p:spPr>
          <a:xfrm>
            <a:off x="3610660" y="4882896"/>
            <a:ext cx="4126991" cy="365760"/>
          </a:xfrm>
          <a:prstGeom prst="rect">
            <a:avLst/>
          </a:prstGeom>
          <a:noFill/>
        </p:spPr>
        <p:txBody>
          <a:bodyPr wrap="square" lIns="0" rIns="0" tIns="0" bIns="0" anchor="ctr">
            <a:spAutoFit/>
          </a:bodyPr>
          <a:lstStyle/>
          <a:p>
            <a:pPr>
              <a:spcAft>
                <a:spcPts val="400"/>
              </a:spcAft>
              <a:defRPr sz="1700" b="0" i="0">
                <a:solidFill>
                  <a:srgbClr val="1D1D1F"/>
                </a:solidFill>
                <a:latin typeface="Segoe UI"/>
              </a:defRPr>
            </a:pPr>
            <a:r>
              <a:t>covert bandwidth</a:t>
            </a:r>
          </a:p>
        </p:txBody>
      </p:sp>
      <p:sp>
        <p:nvSpPr>
          <p:cNvPr id="32" name="tx_0505"/>
          <p:cNvSpPr txBox="1"/>
          <p:nvPr/>
        </p:nvSpPr>
        <p:spPr>
          <a:xfrm>
            <a:off x="7829092" y="4882896"/>
            <a:ext cx="3494227" cy="365760"/>
          </a:xfrm>
          <a:prstGeom prst="rect">
            <a:avLst/>
          </a:prstGeom>
          <a:noFill/>
        </p:spPr>
        <p:txBody>
          <a:bodyPr wrap="square" lIns="0" rIns="0" tIns="0" bIns="0" anchor="ctr">
            <a:spAutoFit/>
          </a:bodyPr>
          <a:lstStyle/>
          <a:p>
            <a:pPr>
              <a:spcAft>
                <a:spcPts val="400"/>
              </a:spcAft>
              <a:defRPr sz="1700" b="0" i="0">
                <a:solidFill>
                  <a:srgbClr val="1D1D1F"/>
                </a:solidFill>
                <a:latin typeface="Segoe UI"/>
              </a:defRPr>
            </a:pPr>
            <a:r>
              <a:t>keystroke timing</a:t>
            </a:r>
          </a:p>
        </p:txBody>
      </p:sp>
      <p:cxnSp>
        <p:nvCxnSpPr>
          <p:cNvPr id="33" name="hl_0506"/>
          <p:cNvCxnSpPr/>
          <p:nvPr/>
        </p:nvCxnSpPr>
        <p:spPr>
          <a:xfrm>
            <a:off x="822960" y="5330952"/>
            <a:ext cx="10546079"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34" name="rect_0507"/>
          <p:cNvSpPr/>
          <p:nvPr/>
        </p:nvSpPr>
        <p:spPr>
          <a:xfrm>
            <a:off x="822960" y="5806440"/>
            <a:ext cx="502920" cy="41148"/>
          </a:xfrm>
          <a:prstGeom prst="rect">
            <a:avLst/>
          </a:prstGeom>
          <a:solidFill>
            <a:srgbClr val="007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x_0508"/>
          <p:cNvSpPr txBox="1"/>
          <p:nvPr/>
        </p:nvSpPr>
        <p:spPr>
          <a:xfrm>
            <a:off x="822960" y="5961888"/>
            <a:ext cx="10546079" cy="548640"/>
          </a:xfrm>
          <a:prstGeom prst="rect">
            <a:avLst/>
          </a:prstGeom>
          <a:noFill/>
        </p:spPr>
        <p:txBody>
          <a:bodyPr wrap="square" lIns="0" rIns="0" tIns="0" bIns="0">
            <a:spAutoFit/>
          </a:bodyPr>
          <a:lstStyle/>
          <a:p>
            <a:pPr>
              <a:spcAft>
                <a:spcPts val="400"/>
              </a:spcAft>
              <a:defRPr sz="2100" b="0" i="0">
                <a:solidFill>
                  <a:srgbClr val="1D1D1F"/>
                </a:solidFill>
                <a:latin typeface="Segoe UI Semibold"/>
              </a:defRPr>
            </a:pPr>
            <a:r>
              <a:t>Both infer activity through the attacker’s own requests.</a:t>
            </a:r>
          </a:p>
        </p:txBody>
      </p:sp>
    </p:spTree>
  </p:cSld>
  <p:clrMapOvr>
    <a:masterClrMapping/>
  </p:clrMapOvr>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x_0509"/>
          <p:cNvSpPr txBox="1"/>
          <p:nvPr/>
        </p:nvSpPr>
        <p:spPr>
          <a:xfrm>
            <a:off x="822960" y="1097280"/>
            <a:ext cx="5486400" cy="320040"/>
          </a:xfrm>
          <a:prstGeom prst="rect">
            <a:avLst/>
          </a:prstGeom>
          <a:noFill/>
        </p:spPr>
        <p:txBody>
          <a:bodyPr wrap="square" lIns="0" rIns="0" tIns="0" bIns="0">
            <a:spAutoFit/>
          </a:bodyPr>
          <a:lstStyle/>
          <a:p>
            <a:pPr>
              <a:spcAft>
                <a:spcPts val="400"/>
              </a:spcAft>
              <a:defRPr sz="1400" b="0" i="0">
                <a:solidFill>
                  <a:srgbClr val="A1A1A6"/>
                </a:solidFill>
                <a:latin typeface="Segoe UI Semibold"/>
              </a:defRPr>
            </a:pPr>
            <a:r>
              <a:t>Act 4 of 6</a:t>
            </a:r>
          </a:p>
        </p:txBody>
      </p:sp>
      <p:sp>
        <p:nvSpPr>
          <p:cNvPr id="3" name="tx_0510"/>
          <p:cNvSpPr txBox="1"/>
          <p:nvPr/>
        </p:nvSpPr>
        <p:spPr>
          <a:xfrm>
            <a:off x="777240" y="1371600"/>
            <a:ext cx="5486400" cy="2377440"/>
          </a:xfrm>
          <a:prstGeom prst="rect">
            <a:avLst/>
          </a:prstGeom>
          <a:noFill/>
        </p:spPr>
        <p:txBody>
          <a:bodyPr wrap="square" lIns="0" rIns="0" tIns="0" bIns="0">
            <a:spAutoFit/>
          </a:bodyPr>
          <a:lstStyle/>
          <a:p>
            <a:pPr>
              <a:spcAft>
                <a:spcPts val="400"/>
              </a:spcAft>
              <a:defRPr sz="16000" b="0" i="0">
                <a:solidFill>
                  <a:srgbClr val="2C2C2E"/>
                </a:solidFill>
                <a:latin typeface="Segoe UI Semibold"/>
              </a:defRPr>
            </a:pPr>
            <a:r>
              <a:t>04</a:t>
            </a:r>
          </a:p>
        </p:txBody>
      </p:sp>
      <p:sp>
        <p:nvSpPr>
          <p:cNvPr id="4" name="tx_0511"/>
          <p:cNvSpPr txBox="1"/>
          <p:nvPr/>
        </p:nvSpPr>
        <p:spPr>
          <a:xfrm>
            <a:off x="822960" y="3703320"/>
            <a:ext cx="10546079" cy="914400"/>
          </a:xfrm>
          <a:prstGeom prst="rect">
            <a:avLst/>
          </a:prstGeom>
          <a:noFill/>
        </p:spPr>
        <p:txBody>
          <a:bodyPr wrap="square" lIns="0" rIns="0" tIns="0" bIns="0">
            <a:spAutoFit/>
          </a:bodyPr>
          <a:lstStyle/>
          <a:p>
            <a:pPr>
              <a:spcAft>
                <a:spcPts val="400"/>
              </a:spcAft>
              <a:defRPr sz="4800" b="0" i="0">
                <a:solidFill>
                  <a:srgbClr val="FFFFFF"/>
                </a:solidFill>
                <a:latin typeface="Segoe UI Semibold"/>
              </a:defRPr>
            </a:pPr>
            <a:r>
              <a:t>What it steals</a:t>
            </a:r>
          </a:p>
        </p:txBody>
      </p:sp>
      <p:sp>
        <p:nvSpPr>
          <p:cNvPr id="5" name="tx_0512"/>
          <p:cNvSpPr txBox="1"/>
          <p:nvPr/>
        </p:nvSpPr>
        <p:spPr>
          <a:xfrm>
            <a:off x="822960" y="4846320"/>
            <a:ext cx="10546079" cy="438912"/>
          </a:xfrm>
          <a:prstGeom prst="rect">
            <a:avLst/>
          </a:prstGeom>
          <a:noFill/>
        </p:spPr>
        <p:txBody>
          <a:bodyPr wrap="square" lIns="0" rIns="0" tIns="0" bIns="0">
            <a:spAutoFit/>
          </a:bodyPr>
          <a:lstStyle/>
          <a:p>
            <a:pPr>
              <a:spcAft>
                <a:spcPts val="400"/>
              </a:spcAft>
              <a:defRPr sz="1900" b="0" i="0">
                <a:solidFill>
                  <a:srgbClr val="A1A1A6"/>
                </a:solidFill>
                <a:latin typeface="Segoe UI"/>
              </a:defRPr>
            </a:pPr>
            <a:r>
              <a:t>A covert channel proves the channel carries bits</a:t>
            </a:r>
          </a:p>
        </p:txBody>
      </p:sp>
      <p:sp>
        <p:nvSpPr>
          <p:cNvPr id="6" name="tx_0513"/>
          <p:cNvSpPr txBox="1"/>
          <p:nvPr/>
        </p:nvSpPr>
        <p:spPr>
          <a:xfrm>
            <a:off x="822960" y="5285231"/>
            <a:ext cx="10546079" cy="438912"/>
          </a:xfrm>
          <a:prstGeom prst="rect">
            <a:avLst/>
          </a:prstGeom>
          <a:noFill/>
        </p:spPr>
        <p:txBody>
          <a:bodyPr wrap="square" lIns="0" rIns="0" tIns="0" bIns="0">
            <a:spAutoFit/>
          </a:bodyPr>
          <a:lstStyle/>
          <a:p>
            <a:pPr>
              <a:spcAft>
                <a:spcPts val="400"/>
              </a:spcAft>
              <a:defRPr sz="1900" b="0" i="0">
                <a:solidFill>
                  <a:srgbClr val="A1A1A6"/>
                </a:solidFill>
                <a:latin typeface="Segoe UI"/>
              </a:defRPr>
            </a:pPr>
            <a:r>
              <a:t>Websites, SSH keystrokes, and the LLM next door</a:t>
            </a:r>
          </a:p>
        </p:txBody>
      </p:sp>
      <p:sp>
        <p:nvSpPr>
          <p:cNvPr id="7" name="tx_0514"/>
          <p:cNvSpPr txBox="1"/>
          <p:nvPr/>
        </p:nvSpPr>
        <p:spPr>
          <a:xfrm>
            <a:off x="822960" y="5724144"/>
            <a:ext cx="10546079" cy="438912"/>
          </a:xfrm>
          <a:prstGeom prst="rect">
            <a:avLst/>
          </a:prstGeom>
          <a:noFill/>
        </p:spPr>
        <p:txBody>
          <a:bodyPr wrap="square" lIns="0" rIns="0" tIns="0" bIns="0">
            <a:spAutoFit/>
          </a:bodyPr>
          <a:lstStyle/>
          <a:p>
            <a:pPr>
              <a:spcAft>
                <a:spcPts val="400"/>
              </a:spcAft>
              <a:defRPr sz="1900" b="0" i="0">
                <a:solidFill>
                  <a:srgbClr val="A1A1A6"/>
                </a:solidFill>
                <a:latin typeface="Segoe UI"/>
              </a:defRPr>
            </a:pPr>
            <a:r>
              <a:t>Strong numbers — quoted honestly, caveats and all</a:t>
            </a:r>
          </a:p>
        </p:txBody>
      </p:sp>
      <p:sp>
        <p:nvSpPr>
          <p:cNvPr id="8" name="tx_0515"/>
          <p:cNvSpPr txBox="1"/>
          <p:nvPr/>
        </p:nvSpPr>
        <p:spPr>
          <a:xfrm>
            <a:off x="10820399" y="6419088"/>
            <a:ext cx="548640" cy="228600"/>
          </a:xfrm>
          <a:prstGeom prst="rect">
            <a:avLst/>
          </a:prstGeom>
          <a:noFill/>
        </p:spPr>
        <p:txBody>
          <a:bodyPr wrap="square" lIns="0" rIns="0" tIns="0" bIns="0">
            <a:spAutoFit/>
          </a:bodyPr>
          <a:lstStyle/>
          <a:p>
            <a:pPr algn="r">
              <a:spcAft>
                <a:spcPts val="400"/>
              </a:spcAft>
              <a:defRPr sz="1000" b="0" i="0">
                <a:solidFill>
                  <a:srgbClr val="A1A1A6"/>
                </a:solidFill>
                <a:latin typeface="Segoe UI"/>
              </a:defRPr>
            </a:pPr>
            <a:r>
              <a:t>28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x_0516"/>
          <p:cNvSpPr txBox="1"/>
          <p:nvPr/>
        </p:nvSpPr>
        <p:spPr>
          <a:xfrm>
            <a:off x="822960" y="502920"/>
            <a:ext cx="10546079" cy="274320"/>
          </a:xfrm>
          <a:prstGeom prst="rect">
            <a:avLst/>
          </a:prstGeom>
          <a:noFill/>
        </p:spPr>
        <p:txBody>
          <a:bodyPr wrap="square" lIns="0" rIns="0" tIns="0" bIns="0">
            <a:spAutoFit/>
          </a:bodyPr>
          <a:lstStyle/>
          <a:p>
            <a:pPr>
              <a:spcAft>
                <a:spcPts val="400"/>
              </a:spcAft>
              <a:defRPr sz="1200" b="0" i="0">
                <a:solidFill>
                  <a:srgbClr val="0071E3"/>
                </a:solidFill>
                <a:latin typeface="Segoe UI Semibold"/>
              </a:defRPr>
            </a:pPr>
            <a:r>
              <a:t>What it steals</a:t>
            </a:r>
          </a:p>
        </p:txBody>
      </p:sp>
      <p:sp>
        <p:nvSpPr>
          <p:cNvPr id="3" name="tx_0517"/>
          <p:cNvSpPr txBox="1"/>
          <p:nvPr/>
        </p:nvSpPr>
        <p:spPr>
          <a:xfrm>
            <a:off x="822960" y="822960"/>
            <a:ext cx="10546079" cy="914400"/>
          </a:xfrm>
          <a:prstGeom prst="rect">
            <a:avLst/>
          </a:prstGeom>
          <a:noFill/>
        </p:spPr>
        <p:txBody>
          <a:bodyPr wrap="square" lIns="0" rIns="0" tIns="0" bIns="0">
            <a:spAutoFit/>
          </a:bodyPr>
          <a:lstStyle/>
          <a:p>
            <a:pPr>
              <a:lnSpc>
                <a:spcPct val="100000"/>
              </a:lnSpc>
              <a:spcAft>
                <a:spcPts val="400"/>
              </a:spcAft>
              <a:defRPr sz="3000" b="0" i="0">
                <a:solidFill>
                  <a:srgbClr val="1D1D1F"/>
                </a:solidFill>
                <a:latin typeface="Segoe UI Semibold"/>
              </a:defRPr>
            </a:pPr>
            <a:r>
              <a:t>Can it even carry a message?</a:t>
            </a:r>
          </a:p>
        </p:txBody>
      </p:sp>
      <p:sp>
        <p:nvSpPr>
          <p:cNvPr id="4" name="tx_0518"/>
          <p:cNvSpPr txBox="1"/>
          <p:nvPr/>
        </p:nvSpPr>
        <p:spPr>
          <a:xfrm>
            <a:off x="822960" y="6419088"/>
            <a:ext cx="9631679" cy="228600"/>
          </a:xfrm>
          <a:prstGeom prst="rect">
            <a:avLst/>
          </a:prstGeom>
          <a:noFill/>
        </p:spPr>
        <p:txBody>
          <a:bodyPr wrap="square" lIns="0" rIns="0" tIns="0" bIns="0">
            <a:spAutoFit/>
          </a:bodyPr>
          <a:lstStyle/>
          <a:p>
            <a:pPr>
              <a:spcAft>
                <a:spcPts val="400"/>
              </a:spcAft>
              <a:defRPr sz="1000" b="0" i="0">
                <a:solidFill>
                  <a:srgbClr val="86868B"/>
                </a:solidFill>
                <a:latin typeface="Segoe UI"/>
              </a:defRPr>
            </a:pPr>
            <a:r>
              <a:t>Paper § VI-A · p. 9 · simplified protocol</a:t>
            </a:r>
          </a:p>
        </p:txBody>
      </p:sp>
      <p:sp>
        <p:nvSpPr>
          <p:cNvPr id="5" name="tx_0519"/>
          <p:cNvSpPr txBox="1"/>
          <p:nvPr/>
        </p:nvSpPr>
        <p:spPr>
          <a:xfrm>
            <a:off x="10820399" y="6419088"/>
            <a:ext cx="548640" cy="228600"/>
          </a:xfrm>
          <a:prstGeom prst="rect">
            <a:avLst/>
          </a:prstGeom>
          <a:noFill/>
        </p:spPr>
        <p:txBody>
          <a:bodyPr wrap="square" lIns="0" rIns="0" tIns="0" bIns="0">
            <a:spAutoFit/>
          </a:bodyPr>
          <a:lstStyle/>
          <a:p>
            <a:pPr algn="r">
              <a:spcAft>
                <a:spcPts val="400"/>
              </a:spcAft>
              <a:defRPr sz="1000" b="0" i="0">
                <a:solidFill>
                  <a:srgbClr val="86868B"/>
                </a:solidFill>
                <a:latin typeface="Segoe UI"/>
              </a:defRPr>
            </a:pPr>
            <a:r>
              <a:t>29</a:t>
            </a:r>
          </a:p>
        </p:txBody>
      </p:sp>
      <p:sp>
        <p:nvSpPr>
          <p:cNvPr id="6" name="tx_0520"/>
          <p:cNvSpPr txBox="1"/>
          <p:nvPr/>
        </p:nvSpPr>
        <p:spPr>
          <a:xfrm>
            <a:off x="868680" y="1783080"/>
            <a:ext cx="2017775" cy="274320"/>
          </a:xfrm>
          <a:prstGeom prst="rect">
            <a:avLst/>
          </a:prstGeom>
          <a:noFill/>
        </p:spPr>
        <p:txBody>
          <a:bodyPr wrap="square" lIns="0" rIns="0" tIns="0" bIns="0">
            <a:spAutoFit/>
          </a:bodyPr>
          <a:lstStyle/>
          <a:p>
            <a:pPr>
              <a:spcAft>
                <a:spcPts val="400"/>
              </a:spcAft>
              <a:defRPr sz="1200" b="0" i="0">
                <a:solidFill>
                  <a:srgbClr val="86868B"/>
                </a:solidFill>
                <a:latin typeface="Segoe UI Semibold"/>
              </a:defRPr>
            </a:pPr>
            <a:r>
              <a:t>PHASE</a:t>
            </a:r>
          </a:p>
        </p:txBody>
      </p:sp>
      <p:sp>
        <p:nvSpPr>
          <p:cNvPr id="7" name="tx_0521"/>
          <p:cNvSpPr txBox="1"/>
          <p:nvPr/>
        </p:nvSpPr>
        <p:spPr>
          <a:xfrm>
            <a:off x="2977895" y="1783080"/>
            <a:ext cx="4126991" cy="274320"/>
          </a:xfrm>
          <a:prstGeom prst="rect">
            <a:avLst/>
          </a:prstGeom>
          <a:noFill/>
        </p:spPr>
        <p:txBody>
          <a:bodyPr wrap="square" lIns="0" rIns="0" tIns="0" bIns="0">
            <a:spAutoFit/>
          </a:bodyPr>
          <a:lstStyle/>
          <a:p>
            <a:pPr>
              <a:spcAft>
                <a:spcPts val="400"/>
              </a:spcAft>
              <a:defRPr sz="1200" b="0" i="0">
                <a:solidFill>
                  <a:srgbClr val="86868B"/>
                </a:solidFill>
                <a:latin typeface="Segoe UI Semibold"/>
              </a:defRPr>
            </a:pPr>
            <a:r>
              <a:t>RECEIVER</a:t>
            </a:r>
          </a:p>
        </p:txBody>
      </p:sp>
      <p:sp>
        <p:nvSpPr>
          <p:cNvPr id="8" name="tx_0522"/>
          <p:cNvSpPr txBox="1"/>
          <p:nvPr/>
        </p:nvSpPr>
        <p:spPr>
          <a:xfrm>
            <a:off x="7196327" y="1783080"/>
            <a:ext cx="4126991" cy="274320"/>
          </a:xfrm>
          <a:prstGeom prst="rect">
            <a:avLst/>
          </a:prstGeom>
          <a:noFill/>
        </p:spPr>
        <p:txBody>
          <a:bodyPr wrap="square" lIns="0" rIns="0" tIns="0" bIns="0">
            <a:spAutoFit/>
          </a:bodyPr>
          <a:lstStyle/>
          <a:p>
            <a:pPr>
              <a:spcAft>
                <a:spcPts val="400"/>
              </a:spcAft>
              <a:defRPr sz="1200" b="0" i="0">
                <a:solidFill>
                  <a:srgbClr val="86868B"/>
                </a:solidFill>
                <a:latin typeface="Segoe UI Semibold"/>
              </a:defRPr>
            </a:pPr>
            <a:r>
              <a:t>SENDER</a:t>
            </a:r>
          </a:p>
        </p:txBody>
      </p:sp>
      <p:cxnSp>
        <p:nvCxnSpPr>
          <p:cNvPr id="9" name="hl_0523"/>
          <p:cNvCxnSpPr/>
          <p:nvPr/>
        </p:nvCxnSpPr>
        <p:spPr>
          <a:xfrm>
            <a:off x="822960" y="2148840"/>
            <a:ext cx="10546079" cy="0"/>
          </a:xfrm>
          <a:prstGeom prst="line">
            <a:avLst/>
          </a:prstGeom>
          <a:ln w="12700">
            <a:solidFill>
              <a:srgbClr val="1D1D1F"/>
            </a:solidFill>
          </a:ln>
        </p:spPr>
        <p:style>
          <a:lnRef idx="2">
            <a:schemeClr val="accent1"/>
          </a:lnRef>
          <a:fillRef idx="0">
            <a:schemeClr val="accent1"/>
          </a:fillRef>
          <a:effectRef idx="1">
            <a:schemeClr val="accent1"/>
          </a:effectRef>
          <a:fontRef idx="minor">
            <a:schemeClr val="tx1"/>
          </a:fontRef>
        </p:style>
      </p:cxnSp>
      <p:sp>
        <p:nvSpPr>
          <p:cNvPr id="10" name="tx_0524"/>
          <p:cNvSpPr txBox="1"/>
          <p:nvPr/>
        </p:nvSpPr>
        <p:spPr>
          <a:xfrm>
            <a:off x="868680" y="2267712"/>
            <a:ext cx="2017775" cy="365760"/>
          </a:xfrm>
          <a:prstGeom prst="rect">
            <a:avLst/>
          </a:prstGeom>
          <a:noFill/>
        </p:spPr>
        <p:txBody>
          <a:bodyPr wrap="square" lIns="0" rIns="0" tIns="0" bIns="0" anchor="ctr">
            <a:spAutoFit/>
          </a:bodyPr>
          <a:lstStyle/>
          <a:p>
            <a:pPr>
              <a:spcAft>
                <a:spcPts val="400"/>
              </a:spcAft>
              <a:defRPr sz="1800" b="0" i="0">
                <a:solidFill>
                  <a:srgbClr val="1D1D1F"/>
                </a:solidFill>
                <a:latin typeface="Segoe UI Semibold"/>
              </a:defRPr>
            </a:pPr>
            <a:r>
              <a:t>Synchronize</a:t>
            </a:r>
          </a:p>
        </p:txBody>
      </p:sp>
      <p:sp>
        <p:nvSpPr>
          <p:cNvPr id="11" name="tx_0525"/>
          <p:cNvSpPr txBox="1"/>
          <p:nvPr/>
        </p:nvSpPr>
        <p:spPr>
          <a:xfrm>
            <a:off x="2977895" y="2267712"/>
            <a:ext cx="4126991" cy="365760"/>
          </a:xfrm>
          <a:prstGeom prst="rect">
            <a:avLst/>
          </a:prstGeom>
          <a:noFill/>
        </p:spPr>
        <p:txBody>
          <a:bodyPr wrap="square" lIns="0" rIns="0" tIns="0" bIns="0" anchor="ctr">
            <a:spAutoFit/>
          </a:bodyPr>
          <a:lstStyle/>
          <a:p>
            <a:pPr>
              <a:spcAft>
                <a:spcPts val="400"/>
              </a:spcAft>
              <a:defRPr sz="1800" b="0" i="0">
                <a:solidFill>
                  <a:srgbClr val="1D1D1F"/>
                </a:solidFill>
                <a:latin typeface="Segoe UI"/>
              </a:defRPr>
            </a:pPr>
            <a:r>
              <a:t>detect preamble</a:t>
            </a:r>
          </a:p>
        </p:txBody>
      </p:sp>
      <p:sp>
        <p:nvSpPr>
          <p:cNvPr id="12" name="tx_0526"/>
          <p:cNvSpPr txBox="1"/>
          <p:nvPr/>
        </p:nvSpPr>
        <p:spPr>
          <a:xfrm>
            <a:off x="7196327" y="2267712"/>
            <a:ext cx="4126991" cy="365760"/>
          </a:xfrm>
          <a:prstGeom prst="rect">
            <a:avLst/>
          </a:prstGeom>
          <a:noFill/>
        </p:spPr>
        <p:txBody>
          <a:bodyPr wrap="square" lIns="0" rIns="0" tIns="0" bIns="0" anchor="ctr">
            <a:spAutoFit/>
          </a:bodyPr>
          <a:lstStyle/>
          <a:p>
            <a:pPr>
              <a:spcAft>
                <a:spcPts val="400"/>
              </a:spcAft>
              <a:defRPr sz="1800" b="0" i="0">
                <a:solidFill>
                  <a:srgbClr val="1D1D1F"/>
                </a:solidFill>
                <a:latin typeface="Segoe UI"/>
              </a:defRPr>
            </a:pPr>
            <a:r>
              <a:t>transmit consecutive 1 bits</a:t>
            </a:r>
          </a:p>
        </p:txBody>
      </p:sp>
      <p:cxnSp>
        <p:nvCxnSpPr>
          <p:cNvPr id="13" name="hl_0527"/>
          <p:cNvCxnSpPr/>
          <p:nvPr/>
        </p:nvCxnSpPr>
        <p:spPr>
          <a:xfrm>
            <a:off x="822960" y="2752344"/>
            <a:ext cx="10546079"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14" name="tx_0528"/>
          <p:cNvSpPr txBox="1"/>
          <p:nvPr/>
        </p:nvSpPr>
        <p:spPr>
          <a:xfrm>
            <a:off x="868680" y="2871216"/>
            <a:ext cx="2017775" cy="365760"/>
          </a:xfrm>
          <a:prstGeom prst="rect">
            <a:avLst/>
          </a:prstGeom>
          <a:noFill/>
        </p:spPr>
        <p:txBody>
          <a:bodyPr wrap="square" lIns="0" rIns="0" tIns="0" bIns="0" anchor="ctr">
            <a:spAutoFit/>
          </a:bodyPr>
          <a:lstStyle/>
          <a:p>
            <a:pPr>
              <a:spcAft>
                <a:spcPts val="400"/>
              </a:spcAft>
              <a:defRPr sz="1800" b="0" i="0">
                <a:solidFill>
                  <a:srgbClr val="1D1D1F"/>
                </a:solidFill>
                <a:latin typeface="Segoe UI Semibold"/>
              </a:defRPr>
            </a:pPr>
            <a:r>
              <a:t>Prepare</a:t>
            </a:r>
          </a:p>
        </p:txBody>
      </p:sp>
      <p:sp>
        <p:nvSpPr>
          <p:cNvPr id="15" name="tx_0529"/>
          <p:cNvSpPr txBox="1"/>
          <p:nvPr/>
        </p:nvSpPr>
        <p:spPr>
          <a:xfrm>
            <a:off x="2977895" y="2871216"/>
            <a:ext cx="4126991" cy="365760"/>
          </a:xfrm>
          <a:prstGeom prst="rect">
            <a:avLst/>
          </a:prstGeom>
          <a:noFill/>
        </p:spPr>
        <p:txBody>
          <a:bodyPr wrap="square" lIns="0" rIns="0" tIns="0" bIns="0" anchor="ctr">
            <a:spAutoFit/>
          </a:bodyPr>
          <a:lstStyle/>
          <a:p>
            <a:pPr>
              <a:spcAft>
                <a:spcPts val="400"/>
              </a:spcAft>
              <a:defRPr sz="1800" b="0" i="0">
                <a:solidFill>
                  <a:srgbClr val="1D1D1F"/>
                </a:solidFill>
                <a:latin typeface="Segoe UI"/>
              </a:defRPr>
            </a:pPr>
            <a:r>
              <a:t>prime DevTLB / congest SWQ</a:t>
            </a:r>
          </a:p>
        </p:txBody>
      </p:sp>
      <p:sp>
        <p:nvSpPr>
          <p:cNvPr id="16" name="tx_0530"/>
          <p:cNvSpPr txBox="1"/>
          <p:nvPr/>
        </p:nvSpPr>
        <p:spPr>
          <a:xfrm>
            <a:off x="7196327" y="2871216"/>
            <a:ext cx="4126991" cy="365760"/>
          </a:xfrm>
          <a:prstGeom prst="rect">
            <a:avLst/>
          </a:prstGeom>
          <a:noFill/>
        </p:spPr>
        <p:txBody>
          <a:bodyPr wrap="square" lIns="0" rIns="0" tIns="0" bIns="0" anchor="ctr">
            <a:spAutoFit/>
          </a:bodyPr>
          <a:lstStyle/>
          <a:p>
            <a:pPr>
              <a:spcAft>
                <a:spcPts val="400"/>
              </a:spcAft>
              <a:defRPr sz="1800" b="0" i="0">
                <a:solidFill>
                  <a:srgbClr val="1D1D1F"/>
                </a:solidFill>
                <a:latin typeface="Segoe UI"/>
              </a:defRPr>
            </a:pPr>
            <a:r>
              <a:t>wait for data slot</a:t>
            </a:r>
          </a:p>
        </p:txBody>
      </p:sp>
      <p:cxnSp>
        <p:nvCxnSpPr>
          <p:cNvPr id="17" name="hl_0531"/>
          <p:cNvCxnSpPr/>
          <p:nvPr/>
        </p:nvCxnSpPr>
        <p:spPr>
          <a:xfrm>
            <a:off x="822960" y="3355848"/>
            <a:ext cx="10546079"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18" name="tx_0532"/>
          <p:cNvSpPr txBox="1"/>
          <p:nvPr/>
        </p:nvSpPr>
        <p:spPr>
          <a:xfrm>
            <a:off x="868680" y="3474720"/>
            <a:ext cx="2017775" cy="365760"/>
          </a:xfrm>
          <a:prstGeom prst="rect">
            <a:avLst/>
          </a:prstGeom>
          <a:noFill/>
        </p:spPr>
        <p:txBody>
          <a:bodyPr wrap="square" lIns="0" rIns="0" tIns="0" bIns="0" anchor="ctr">
            <a:spAutoFit/>
          </a:bodyPr>
          <a:lstStyle/>
          <a:p>
            <a:pPr>
              <a:spcAft>
                <a:spcPts val="400"/>
              </a:spcAft>
              <a:defRPr sz="1800" b="0" i="0">
                <a:solidFill>
                  <a:srgbClr val="1D1D1F"/>
                </a:solidFill>
                <a:latin typeface="Segoe UI Semibold"/>
              </a:defRPr>
            </a:pPr>
            <a:r>
              <a:t>Encode</a:t>
            </a:r>
          </a:p>
        </p:txBody>
      </p:sp>
      <p:sp>
        <p:nvSpPr>
          <p:cNvPr id="19" name="tx_0533"/>
          <p:cNvSpPr txBox="1"/>
          <p:nvPr/>
        </p:nvSpPr>
        <p:spPr>
          <a:xfrm>
            <a:off x="2977895" y="3474720"/>
            <a:ext cx="4126991" cy="365760"/>
          </a:xfrm>
          <a:prstGeom prst="rect">
            <a:avLst/>
          </a:prstGeom>
          <a:noFill/>
        </p:spPr>
        <p:txBody>
          <a:bodyPr wrap="square" lIns="0" rIns="0" tIns="0" bIns="0" anchor="ctr">
            <a:spAutoFit/>
          </a:bodyPr>
          <a:lstStyle/>
          <a:p>
            <a:pPr>
              <a:spcAft>
                <a:spcPts val="400"/>
              </a:spcAft>
              <a:defRPr sz="1800" b="0" i="0">
                <a:solidFill>
                  <a:srgbClr val="1D1D1F"/>
                </a:solidFill>
                <a:latin typeface="Segoe UI"/>
              </a:defRPr>
            </a:pPr>
            <a:r>
              <a:t>open observation window</a:t>
            </a:r>
          </a:p>
        </p:txBody>
      </p:sp>
      <p:sp>
        <p:nvSpPr>
          <p:cNvPr id="20" name="tx_0534"/>
          <p:cNvSpPr txBox="1"/>
          <p:nvPr/>
        </p:nvSpPr>
        <p:spPr>
          <a:xfrm>
            <a:off x="7196327" y="3474720"/>
            <a:ext cx="4126991" cy="365760"/>
          </a:xfrm>
          <a:prstGeom prst="rect">
            <a:avLst/>
          </a:prstGeom>
          <a:noFill/>
        </p:spPr>
        <p:txBody>
          <a:bodyPr wrap="square" lIns="0" rIns="0" tIns="0" bIns="0" anchor="ctr">
            <a:spAutoFit/>
          </a:bodyPr>
          <a:lstStyle/>
          <a:p>
            <a:pPr>
              <a:spcAft>
                <a:spcPts val="400"/>
              </a:spcAft>
              <a:defRPr sz="1800" b="0" i="0">
                <a:solidFill>
                  <a:srgbClr val="1D1D1F"/>
                </a:solidFill>
                <a:latin typeface="Segoe UI"/>
              </a:defRPr>
            </a:pPr>
            <a:r>
              <a:t>1 → submit · 0 → idle</a:t>
            </a:r>
          </a:p>
        </p:txBody>
      </p:sp>
      <p:cxnSp>
        <p:nvCxnSpPr>
          <p:cNvPr id="21" name="hl_0535"/>
          <p:cNvCxnSpPr/>
          <p:nvPr/>
        </p:nvCxnSpPr>
        <p:spPr>
          <a:xfrm>
            <a:off x="822960" y="3959352"/>
            <a:ext cx="10546079"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22" name="tx_0536"/>
          <p:cNvSpPr txBox="1"/>
          <p:nvPr/>
        </p:nvSpPr>
        <p:spPr>
          <a:xfrm>
            <a:off x="868680" y="4078224"/>
            <a:ext cx="2017775" cy="365760"/>
          </a:xfrm>
          <a:prstGeom prst="rect">
            <a:avLst/>
          </a:prstGeom>
          <a:noFill/>
        </p:spPr>
        <p:txBody>
          <a:bodyPr wrap="square" lIns="0" rIns="0" tIns="0" bIns="0" anchor="ctr">
            <a:spAutoFit/>
          </a:bodyPr>
          <a:lstStyle/>
          <a:p>
            <a:pPr>
              <a:spcAft>
                <a:spcPts val="400"/>
              </a:spcAft>
              <a:defRPr sz="1800" b="0" i="0">
                <a:solidFill>
                  <a:srgbClr val="1D1D1F"/>
                </a:solidFill>
                <a:latin typeface="Segoe UI Semibold"/>
              </a:defRPr>
            </a:pPr>
            <a:r>
              <a:t>Decode</a:t>
            </a:r>
          </a:p>
        </p:txBody>
      </p:sp>
      <p:sp>
        <p:nvSpPr>
          <p:cNvPr id="23" name="tx_0537"/>
          <p:cNvSpPr txBox="1"/>
          <p:nvPr/>
        </p:nvSpPr>
        <p:spPr>
          <a:xfrm>
            <a:off x="2977895" y="4078224"/>
            <a:ext cx="4126991" cy="365760"/>
          </a:xfrm>
          <a:prstGeom prst="rect">
            <a:avLst/>
          </a:prstGeom>
          <a:noFill/>
        </p:spPr>
        <p:txBody>
          <a:bodyPr wrap="square" lIns="0" rIns="0" tIns="0" bIns="0" anchor="ctr">
            <a:spAutoFit/>
          </a:bodyPr>
          <a:lstStyle/>
          <a:p>
            <a:pPr>
              <a:spcAft>
                <a:spcPts val="400"/>
              </a:spcAft>
              <a:defRPr sz="1800" b="0" i="0">
                <a:solidFill>
                  <a:srgbClr val="1D1D1F"/>
                </a:solidFill>
                <a:latin typeface="Segoe UI"/>
              </a:defRPr>
            </a:pPr>
            <a:r>
              <a:t>time completion / read ZF</a:t>
            </a:r>
          </a:p>
        </p:txBody>
      </p:sp>
      <p:sp>
        <p:nvSpPr>
          <p:cNvPr id="24" name="tx_0538"/>
          <p:cNvSpPr txBox="1"/>
          <p:nvPr/>
        </p:nvSpPr>
        <p:spPr>
          <a:xfrm>
            <a:off x="7196327" y="4078224"/>
            <a:ext cx="4126991" cy="365760"/>
          </a:xfrm>
          <a:prstGeom prst="rect">
            <a:avLst/>
          </a:prstGeom>
          <a:noFill/>
        </p:spPr>
        <p:txBody>
          <a:bodyPr wrap="square" lIns="0" rIns="0" tIns="0" bIns="0" anchor="ctr">
            <a:spAutoFit/>
          </a:bodyPr>
          <a:lstStyle/>
          <a:p>
            <a:pPr>
              <a:spcAft>
                <a:spcPts val="400"/>
              </a:spcAft>
              <a:defRPr sz="1800" b="0" i="0">
                <a:solidFill>
                  <a:srgbClr val="1D1D1F"/>
                </a:solidFill>
                <a:latin typeface="Segoe UI"/>
              </a:defRPr>
            </a:pPr>
            <a:r>
              <a:t>advance to next slot</a:t>
            </a:r>
          </a:p>
        </p:txBody>
      </p:sp>
      <p:cxnSp>
        <p:nvCxnSpPr>
          <p:cNvPr id="25" name="hl_0539"/>
          <p:cNvCxnSpPr/>
          <p:nvPr/>
        </p:nvCxnSpPr>
        <p:spPr>
          <a:xfrm>
            <a:off x="822960" y="4562856"/>
            <a:ext cx="10546079"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26" name="rect_0540"/>
          <p:cNvSpPr/>
          <p:nvPr/>
        </p:nvSpPr>
        <p:spPr>
          <a:xfrm>
            <a:off x="822960" y="5623560"/>
            <a:ext cx="502920" cy="41148"/>
          </a:xfrm>
          <a:prstGeom prst="rect">
            <a:avLst/>
          </a:prstGeom>
          <a:solidFill>
            <a:srgbClr val="007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x_0541"/>
          <p:cNvSpPr txBox="1"/>
          <p:nvPr/>
        </p:nvSpPr>
        <p:spPr>
          <a:xfrm>
            <a:off x="822960" y="5779008"/>
            <a:ext cx="10546079" cy="548640"/>
          </a:xfrm>
          <a:prstGeom prst="rect">
            <a:avLst/>
          </a:prstGeom>
          <a:noFill/>
        </p:spPr>
        <p:txBody>
          <a:bodyPr wrap="square" lIns="0" rIns="0" tIns="0" bIns="0">
            <a:spAutoFit/>
          </a:bodyPr>
          <a:lstStyle/>
          <a:p>
            <a:pPr>
              <a:spcAft>
                <a:spcPts val="400"/>
              </a:spcAft>
              <a:defRPr sz="2100" b="0" i="0">
                <a:solidFill>
                  <a:srgbClr val="1D1D1F"/>
                </a:solidFill>
                <a:latin typeface="Segoe UI Semibold"/>
              </a:defRPr>
            </a:pPr>
            <a:r>
              <a:t>Covert-channel feasibility is a separate claim from inference accuracy.</a:t>
            </a:r>
          </a:p>
        </p:txBody>
      </p:sp>
    </p:spTree>
  </p:cSld>
  <p:clrMapOvr>
    <a:masterClrMapping/>
  </p:clrMapOvr>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x_0542"/>
          <p:cNvSpPr txBox="1"/>
          <p:nvPr/>
        </p:nvSpPr>
        <p:spPr>
          <a:xfrm>
            <a:off x="822960" y="502920"/>
            <a:ext cx="10546079" cy="274320"/>
          </a:xfrm>
          <a:prstGeom prst="rect">
            <a:avLst/>
          </a:prstGeom>
          <a:noFill/>
        </p:spPr>
        <p:txBody>
          <a:bodyPr wrap="square" lIns="0" rIns="0" tIns="0" bIns="0">
            <a:spAutoFit/>
          </a:bodyPr>
          <a:lstStyle/>
          <a:p>
            <a:pPr>
              <a:spcAft>
                <a:spcPts val="400"/>
              </a:spcAft>
              <a:defRPr sz="1200" b="0" i="0">
                <a:solidFill>
                  <a:srgbClr val="0071E3"/>
                </a:solidFill>
                <a:latin typeface="Segoe UI Semibold"/>
              </a:defRPr>
            </a:pPr>
            <a:r>
              <a:t>What it steals</a:t>
            </a:r>
          </a:p>
        </p:txBody>
      </p:sp>
      <p:sp>
        <p:nvSpPr>
          <p:cNvPr id="3" name="tx_0543"/>
          <p:cNvSpPr txBox="1"/>
          <p:nvPr/>
        </p:nvSpPr>
        <p:spPr>
          <a:xfrm>
            <a:off x="822960" y="822960"/>
            <a:ext cx="10546079" cy="914400"/>
          </a:xfrm>
          <a:prstGeom prst="rect">
            <a:avLst/>
          </a:prstGeom>
          <a:noFill/>
        </p:spPr>
        <p:txBody>
          <a:bodyPr wrap="square" lIns="0" rIns="0" tIns="0" bIns="0">
            <a:spAutoFit/>
          </a:bodyPr>
          <a:lstStyle/>
          <a:p>
            <a:pPr>
              <a:lnSpc>
                <a:spcPct val="100000"/>
              </a:lnSpc>
              <a:spcAft>
                <a:spcPts val="400"/>
              </a:spcAft>
              <a:defRPr sz="3000" b="0" i="0">
                <a:solidFill>
                  <a:srgbClr val="1D1D1F"/>
                </a:solidFill>
                <a:latin typeface="Segoe UI Semibold"/>
              </a:defRPr>
            </a:pPr>
            <a:r>
              <a:t>17.19 kbps — and a bandwidth / error tradeoff</a:t>
            </a:r>
          </a:p>
        </p:txBody>
      </p:sp>
      <p:sp>
        <p:nvSpPr>
          <p:cNvPr id="4" name="tx_0544"/>
          <p:cNvSpPr txBox="1"/>
          <p:nvPr/>
        </p:nvSpPr>
        <p:spPr>
          <a:xfrm>
            <a:off x="822960" y="6419088"/>
            <a:ext cx="9631679" cy="228600"/>
          </a:xfrm>
          <a:prstGeom prst="rect">
            <a:avLst/>
          </a:prstGeom>
          <a:noFill/>
        </p:spPr>
        <p:txBody>
          <a:bodyPr wrap="square" lIns="0" rIns="0" tIns="0" bIns="0">
            <a:spAutoFit/>
          </a:bodyPr>
          <a:lstStyle/>
          <a:p>
            <a:pPr>
              <a:spcAft>
                <a:spcPts val="400"/>
              </a:spcAft>
              <a:defRPr sz="1000" b="0" i="0">
                <a:solidFill>
                  <a:srgbClr val="86868B"/>
                </a:solidFill>
                <a:latin typeface="Segoe UI"/>
              </a:defRPr>
            </a:pPr>
            <a:r>
              <a:t>Paper § VI-A, Fig. 9, Table IV · pp. 9, 12</a:t>
            </a:r>
          </a:p>
        </p:txBody>
      </p:sp>
      <p:sp>
        <p:nvSpPr>
          <p:cNvPr id="5" name="tx_0545"/>
          <p:cNvSpPr txBox="1"/>
          <p:nvPr/>
        </p:nvSpPr>
        <p:spPr>
          <a:xfrm>
            <a:off x="10820399" y="6419088"/>
            <a:ext cx="548640" cy="228600"/>
          </a:xfrm>
          <a:prstGeom prst="rect">
            <a:avLst/>
          </a:prstGeom>
          <a:noFill/>
        </p:spPr>
        <p:txBody>
          <a:bodyPr wrap="square" lIns="0" rIns="0" tIns="0" bIns="0">
            <a:spAutoFit/>
          </a:bodyPr>
          <a:lstStyle/>
          <a:p>
            <a:pPr algn="r">
              <a:spcAft>
                <a:spcPts val="400"/>
              </a:spcAft>
              <a:defRPr sz="1000" b="0" i="0">
                <a:solidFill>
                  <a:srgbClr val="86868B"/>
                </a:solidFill>
                <a:latin typeface="Segoe UI"/>
              </a:defRPr>
            </a:pPr>
            <a:r>
              <a:t>30</a:t>
            </a:r>
          </a:p>
        </p:txBody>
      </p:sp>
      <p:pic>
        <p:nvPicPr>
          <p:cNvPr id="6" name="pic_0546" descr="capacity.png"/>
          <p:cNvPicPr>
            <a:picLocks noChangeAspect="1"/>
          </p:cNvPicPr>
          <p:nvPr/>
        </p:nvPicPr>
        <p:blipFill>
          <a:blip r:embed="rId3"/>
          <a:stretch>
            <a:fillRect/>
          </a:stretch>
        </p:blipFill>
        <p:spPr>
          <a:xfrm>
            <a:off x="822960" y="2156854"/>
            <a:ext cx="7040880" cy="3001490"/>
          </a:xfrm>
          <a:prstGeom prst="rect">
            <a:avLst/>
          </a:prstGeom>
        </p:spPr>
      </p:pic>
      <p:sp>
        <p:nvSpPr>
          <p:cNvPr id="7" name="tx_0547"/>
          <p:cNvSpPr txBox="1"/>
          <p:nvPr/>
        </p:nvSpPr>
        <p:spPr>
          <a:xfrm>
            <a:off x="8229600" y="1965960"/>
            <a:ext cx="3108960" cy="914400"/>
          </a:xfrm>
          <a:prstGeom prst="rect">
            <a:avLst/>
          </a:prstGeom>
          <a:noFill/>
        </p:spPr>
        <p:txBody>
          <a:bodyPr wrap="square" lIns="0" rIns="0" tIns="0" bIns="0">
            <a:spAutoFit/>
          </a:bodyPr>
          <a:lstStyle/>
          <a:p>
            <a:pPr>
              <a:spcAft>
                <a:spcPts val="400"/>
              </a:spcAft>
              <a:defRPr sz="4000" b="0" i="0">
                <a:solidFill>
                  <a:srgbClr val="0071E3"/>
                </a:solidFill>
                <a:latin typeface="Segoe UI Semibold"/>
              </a:defRPr>
            </a:pPr>
            <a:r>
              <a:t>17.19 kbps</a:t>
            </a:r>
          </a:p>
        </p:txBody>
      </p:sp>
      <p:sp>
        <p:nvSpPr>
          <p:cNvPr id="8" name="tx_0548"/>
          <p:cNvSpPr txBox="1"/>
          <p:nvPr/>
        </p:nvSpPr>
        <p:spPr>
          <a:xfrm>
            <a:off x="8229600" y="2971800"/>
            <a:ext cx="3108960" cy="411480"/>
          </a:xfrm>
          <a:prstGeom prst="rect">
            <a:avLst/>
          </a:prstGeom>
          <a:noFill/>
        </p:spPr>
        <p:txBody>
          <a:bodyPr wrap="square" lIns="0" rIns="0" tIns="0" bIns="0">
            <a:spAutoFit/>
          </a:bodyPr>
          <a:lstStyle/>
          <a:p>
            <a:pPr>
              <a:spcAft>
                <a:spcPts val="400"/>
              </a:spcAft>
              <a:defRPr sz="2100" b="0" i="0">
                <a:solidFill>
                  <a:srgbClr val="1D1D1F"/>
                </a:solidFill>
                <a:latin typeface="Segoe UI Semibold"/>
              </a:defRPr>
            </a:pPr>
            <a:r>
              <a:t>DevTLB</a:t>
            </a:r>
          </a:p>
        </p:txBody>
      </p:sp>
      <p:sp>
        <p:nvSpPr>
          <p:cNvPr id="9" name="tx_0549"/>
          <p:cNvSpPr txBox="1"/>
          <p:nvPr/>
        </p:nvSpPr>
        <p:spPr>
          <a:xfrm>
            <a:off x="8229600" y="3383280"/>
            <a:ext cx="3108960" cy="365760"/>
          </a:xfrm>
          <a:prstGeom prst="rect">
            <a:avLst/>
          </a:prstGeom>
          <a:noFill/>
        </p:spPr>
        <p:txBody>
          <a:bodyPr wrap="square" lIns="0" rIns="0" tIns="0" bIns="0">
            <a:spAutoFit/>
          </a:bodyPr>
          <a:lstStyle/>
          <a:p>
            <a:pPr>
              <a:spcAft>
                <a:spcPts val="400"/>
              </a:spcAft>
              <a:defRPr sz="1600" b="0" i="0">
                <a:solidFill>
                  <a:srgbClr val="6E6E73"/>
                </a:solidFill>
                <a:latin typeface="Segoe UI"/>
              </a:defRPr>
            </a:pPr>
            <a:r>
              <a:t>4.63% bit error</a:t>
            </a:r>
          </a:p>
        </p:txBody>
      </p:sp>
      <p:sp>
        <p:nvSpPr>
          <p:cNvPr id="10" name="tx_0550"/>
          <p:cNvSpPr txBox="1"/>
          <p:nvPr/>
        </p:nvSpPr>
        <p:spPr>
          <a:xfrm>
            <a:off x="8229600" y="3794760"/>
            <a:ext cx="3108960" cy="914400"/>
          </a:xfrm>
          <a:prstGeom prst="rect">
            <a:avLst/>
          </a:prstGeom>
          <a:noFill/>
        </p:spPr>
        <p:txBody>
          <a:bodyPr wrap="square" lIns="0" rIns="0" tIns="0" bIns="0">
            <a:spAutoFit/>
          </a:bodyPr>
          <a:lstStyle/>
          <a:p>
            <a:pPr>
              <a:spcAft>
                <a:spcPts val="400"/>
              </a:spcAft>
              <a:defRPr sz="4000" b="0" i="0">
                <a:solidFill>
                  <a:srgbClr val="1D1D1F"/>
                </a:solidFill>
                <a:latin typeface="Segoe UI Semibold"/>
              </a:defRPr>
            </a:pPr>
            <a:r>
              <a:t>4.02 kbps</a:t>
            </a:r>
          </a:p>
        </p:txBody>
      </p:sp>
      <p:sp>
        <p:nvSpPr>
          <p:cNvPr id="11" name="tx_0551"/>
          <p:cNvSpPr txBox="1"/>
          <p:nvPr/>
        </p:nvSpPr>
        <p:spPr>
          <a:xfrm>
            <a:off x="8229600" y="4800600"/>
            <a:ext cx="3108960" cy="411480"/>
          </a:xfrm>
          <a:prstGeom prst="rect">
            <a:avLst/>
          </a:prstGeom>
          <a:noFill/>
        </p:spPr>
        <p:txBody>
          <a:bodyPr wrap="square" lIns="0" rIns="0" tIns="0" bIns="0">
            <a:spAutoFit/>
          </a:bodyPr>
          <a:lstStyle/>
          <a:p>
            <a:pPr>
              <a:spcAft>
                <a:spcPts val="400"/>
              </a:spcAft>
              <a:defRPr sz="2100" b="0" i="0">
                <a:solidFill>
                  <a:srgbClr val="1D1D1F"/>
                </a:solidFill>
                <a:latin typeface="Segoe UI Semibold"/>
              </a:defRPr>
            </a:pPr>
            <a:r>
              <a:t>SWQ</a:t>
            </a:r>
          </a:p>
        </p:txBody>
      </p:sp>
      <p:sp>
        <p:nvSpPr>
          <p:cNvPr id="12" name="tx_0552"/>
          <p:cNvSpPr txBox="1"/>
          <p:nvPr/>
        </p:nvSpPr>
        <p:spPr>
          <a:xfrm>
            <a:off x="8229600" y="5212080"/>
            <a:ext cx="3108960" cy="365760"/>
          </a:xfrm>
          <a:prstGeom prst="rect">
            <a:avLst/>
          </a:prstGeom>
          <a:noFill/>
        </p:spPr>
        <p:txBody>
          <a:bodyPr wrap="square" lIns="0" rIns="0" tIns="0" bIns="0">
            <a:spAutoFit/>
          </a:bodyPr>
          <a:lstStyle/>
          <a:p>
            <a:pPr>
              <a:spcAft>
                <a:spcPts val="400"/>
              </a:spcAft>
              <a:defRPr sz="1600" b="0" i="0">
                <a:solidFill>
                  <a:srgbClr val="6E6E73"/>
                </a:solidFill>
                <a:latin typeface="Segoe UI"/>
              </a:defRPr>
            </a:pPr>
            <a:r>
              <a:t>13.11% bit error</a:t>
            </a:r>
          </a:p>
        </p:txBody>
      </p:sp>
      <p:sp>
        <p:nvSpPr>
          <p:cNvPr id="13" name="rect_0553"/>
          <p:cNvSpPr/>
          <p:nvPr/>
        </p:nvSpPr>
        <p:spPr>
          <a:xfrm>
            <a:off x="822960" y="5760720"/>
            <a:ext cx="502920" cy="41148"/>
          </a:xfrm>
          <a:prstGeom prst="rect">
            <a:avLst/>
          </a:prstGeom>
          <a:solidFill>
            <a:srgbClr val="007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x_0554"/>
          <p:cNvSpPr txBox="1"/>
          <p:nvPr/>
        </p:nvSpPr>
        <p:spPr>
          <a:xfrm>
            <a:off x="822960" y="5916168"/>
            <a:ext cx="10546079" cy="548640"/>
          </a:xfrm>
          <a:prstGeom prst="rect">
            <a:avLst/>
          </a:prstGeom>
          <a:noFill/>
        </p:spPr>
        <p:txBody>
          <a:bodyPr wrap="square" lIns="0" rIns="0" tIns="0" bIns="0">
            <a:spAutoFit/>
          </a:bodyPr>
          <a:lstStyle/>
          <a:p>
            <a:pPr>
              <a:spcAft>
                <a:spcPts val="400"/>
              </a:spcAft>
              <a:defRPr sz="2100" b="0" i="0">
                <a:solidFill>
                  <a:srgbClr val="1D1D1F"/>
                </a:solidFill>
                <a:latin typeface="Segoe UI Semibold"/>
              </a:defRPr>
            </a:pPr>
            <a:r>
              <a:t>Faster raw signalling loses useful throughput as the error rate climbs.</a:t>
            </a:r>
          </a:p>
        </p:txBody>
      </p:sp>
    </p:spTree>
  </p:cSld>
  <p:clrMapOvr>
    <a:masterClrMapping/>
  </p:clrMapOvr>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x_0555"/>
          <p:cNvSpPr txBox="1"/>
          <p:nvPr/>
        </p:nvSpPr>
        <p:spPr>
          <a:xfrm>
            <a:off x="822960" y="502920"/>
            <a:ext cx="10546079" cy="274320"/>
          </a:xfrm>
          <a:prstGeom prst="rect">
            <a:avLst/>
          </a:prstGeom>
          <a:noFill/>
        </p:spPr>
        <p:txBody>
          <a:bodyPr wrap="square" lIns="0" rIns="0" tIns="0" bIns="0">
            <a:spAutoFit/>
          </a:bodyPr>
          <a:lstStyle/>
          <a:p>
            <a:pPr>
              <a:spcAft>
                <a:spcPts val="400"/>
              </a:spcAft>
              <a:defRPr sz="1200" b="0" i="0">
                <a:solidFill>
                  <a:srgbClr val="0071E3"/>
                </a:solidFill>
                <a:latin typeface="Segoe UI Semibold"/>
              </a:defRPr>
            </a:pPr>
            <a:r>
              <a:t>What it steals</a:t>
            </a:r>
          </a:p>
        </p:txBody>
      </p:sp>
      <p:sp>
        <p:nvSpPr>
          <p:cNvPr id="3" name="tx_0556"/>
          <p:cNvSpPr txBox="1"/>
          <p:nvPr/>
        </p:nvSpPr>
        <p:spPr>
          <a:xfrm>
            <a:off x="822960" y="822960"/>
            <a:ext cx="10546079" cy="914400"/>
          </a:xfrm>
          <a:prstGeom prst="rect">
            <a:avLst/>
          </a:prstGeom>
          <a:noFill/>
        </p:spPr>
        <p:txBody>
          <a:bodyPr wrap="square" lIns="0" rIns="0" tIns="0" bIns="0">
            <a:spAutoFit/>
          </a:bodyPr>
          <a:lstStyle/>
          <a:p>
            <a:pPr>
              <a:lnSpc>
                <a:spcPct val="100000"/>
              </a:lnSpc>
              <a:spcAft>
                <a:spcPts val="400"/>
              </a:spcAft>
              <a:defRPr sz="3000" b="0" i="0">
                <a:solidFill>
                  <a:srgbClr val="1D1D1F"/>
                </a:solidFill>
                <a:latin typeface="Segoe UI Semibold"/>
              </a:defRPr>
            </a:pPr>
            <a:r>
              <a:t>Attack #1 — websites leak through the stack</a:t>
            </a:r>
          </a:p>
        </p:txBody>
      </p:sp>
      <p:sp>
        <p:nvSpPr>
          <p:cNvPr id="4" name="tx_0557"/>
          <p:cNvSpPr txBox="1"/>
          <p:nvPr/>
        </p:nvSpPr>
        <p:spPr>
          <a:xfrm>
            <a:off x="822960" y="6419088"/>
            <a:ext cx="9631679" cy="228600"/>
          </a:xfrm>
          <a:prstGeom prst="rect">
            <a:avLst/>
          </a:prstGeom>
          <a:noFill/>
        </p:spPr>
        <p:txBody>
          <a:bodyPr wrap="square" lIns="0" rIns="0" tIns="0" bIns="0">
            <a:spAutoFit/>
          </a:bodyPr>
          <a:lstStyle/>
          <a:p>
            <a:pPr>
              <a:spcAft>
                <a:spcPts val="400"/>
              </a:spcAft>
              <a:defRPr sz="1000" b="0" i="0">
                <a:solidFill>
                  <a:srgbClr val="86868B"/>
                </a:solidFill>
                <a:latin typeface="Segoe UI"/>
              </a:defRPr>
            </a:pPr>
            <a:r>
              <a:t>Paper § VI-B, Fig. 8 · pp. 8–10 · simplified path</a:t>
            </a:r>
          </a:p>
        </p:txBody>
      </p:sp>
      <p:sp>
        <p:nvSpPr>
          <p:cNvPr id="5" name="tx_0558"/>
          <p:cNvSpPr txBox="1"/>
          <p:nvPr/>
        </p:nvSpPr>
        <p:spPr>
          <a:xfrm>
            <a:off x="10820399" y="6419088"/>
            <a:ext cx="548640" cy="228600"/>
          </a:xfrm>
          <a:prstGeom prst="rect">
            <a:avLst/>
          </a:prstGeom>
          <a:noFill/>
        </p:spPr>
        <p:txBody>
          <a:bodyPr wrap="square" lIns="0" rIns="0" tIns="0" bIns="0">
            <a:spAutoFit/>
          </a:bodyPr>
          <a:lstStyle/>
          <a:p>
            <a:pPr algn="r">
              <a:spcAft>
                <a:spcPts val="400"/>
              </a:spcAft>
              <a:defRPr sz="1000" b="0" i="0">
                <a:solidFill>
                  <a:srgbClr val="86868B"/>
                </a:solidFill>
                <a:latin typeface="Segoe UI"/>
              </a:defRPr>
            </a:pPr>
            <a:r>
              <a:t>31</a:t>
            </a:r>
          </a:p>
        </p:txBody>
      </p:sp>
      <p:sp>
        <p:nvSpPr>
          <p:cNvPr id="6" name="rect_0559"/>
          <p:cNvSpPr/>
          <p:nvPr/>
        </p:nvSpPr>
        <p:spPr>
          <a:xfrm>
            <a:off x="822960" y="2057400"/>
            <a:ext cx="2259329" cy="1554480"/>
          </a:xfrm>
          <a:prstGeom prst="roundRect">
            <a:avLst>
              <a:gd name="adj" fmla="val 12941"/>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x_0560"/>
          <p:cNvSpPr txBox="1"/>
          <p:nvPr/>
        </p:nvSpPr>
        <p:spPr>
          <a:xfrm>
            <a:off x="1097280" y="2331720"/>
            <a:ext cx="1710689" cy="548640"/>
          </a:xfrm>
          <a:prstGeom prst="rect">
            <a:avLst/>
          </a:prstGeom>
          <a:noFill/>
        </p:spPr>
        <p:txBody>
          <a:bodyPr wrap="square" lIns="0" rIns="0" tIns="0" bIns="0">
            <a:spAutoFit/>
          </a:bodyPr>
          <a:lstStyle/>
          <a:p>
            <a:pPr>
              <a:spcAft>
                <a:spcPts val="400"/>
              </a:spcAft>
              <a:defRPr sz="1900" b="0" i="0">
                <a:solidFill>
                  <a:srgbClr val="1D1D1F"/>
                </a:solidFill>
                <a:latin typeface="Segoe UI Semibold"/>
              </a:defRPr>
            </a:pPr>
            <a:r>
              <a:t>Website visit</a:t>
            </a:r>
          </a:p>
        </p:txBody>
      </p:sp>
      <p:sp>
        <p:nvSpPr>
          <p:cNvPr id="8" name="tx_0561"/>
          <p:cNvSpPr txBox="1"/>
          <p:nvPr/>
        </p:nvSpPr>
        <p:spPr>
          <a:xfrm>
            <a:off x="1097280" y="2926080"/>
            <a:ext cx="1710689" cy="548639"/>
          </a:xfrm>
          <a:prstGeom prst="rect">
            <a:avLst/>
          </a:prstGeom>
          <a:noFill/>
        </p:spPr>
        <p:txBody>
          <a:bodyPr wrap="square" lIns="0" rIns="0" tIns="0" bIns="0">
            <a:spAutoFit/>
          </a:bodyPr>
          <a:lstStyle/>
          <a:p>
            <a:pPr>
              <a:lnSpc>
                <a:spcPct val="110000"/>
              </a:lnSpc>
              <a:spcAft>
                <a:spcPts val="400"/>
              </a:spcAft>
              <a:defRPr sz="1600" b="0" i="0">
                <a:solidFill>
                  <a:srgbClr val="6E6E73"/>
                </a:solidFill>
                <a:latin typeface="Segoe UI"/>
              </a:defRPr>
            </a:pPr>
            <a:r>
              <a:t>victim browser</a:t>
            </a:r>
          </a:p>
        </p:txBody>
      </p:sp>
      <p:cxnSp>
        <p:nvCxnSpPr>
          <p:cNvPr id="9" name="ar_0562"/>
          <p:cNvCxnSpPr/>
          <p:nvPr/>
        </p:nvCxnSpPr>
        <p:spPr>
          <a:xfrm>
            <a:off x="3173729" y="2834640"/>
            <a:ext cx="320040" cy="0"/>
          </a:xfrm>
          <a:prstGeom prst="line">
            <a:avLst/>
          </a:prstGeom>
          <a:ln w="15875">
            <a:solidFill>
              <a:srgbClr val="86868B"/>
            </a:solidFill>
            <a:tailEnd type="triangle" w="sm" len="med"/>
          </a:ln>
        </p:spPr>
        <p:style>
          <a:lnRef idx="2">
            <a:schemeClr val="accent1"/>
          </a:lnRef>
          <a:fillRef idx="0">
            <a:schemeClr val="accent1"/>
          </a:fillRef>
          <a:effectRef idx="1">
            <a:schemeClr val="accent1"/>
          </a:effectRef>
          <a:fontRef idx="minor">
            <a:schemeClr val="tx1"/>
          </a:fontRef>
        </p:style>
      </p:cxnSp>
      <p:sp>
        <p:nvSpPr>
          <p:cNvPr id="10" name="rect_0563"/>
          <p:cNvSpPr/>
          <p:nvPr/>
        </p:nvSpPr>
        <p:spPr>
          <a:xfrm>
            <a:off x="3585209" y="2057400"/>
            <a:ext cx="2259329" cy="1554480"/>
          </a:xfrm>
          <a:prstGeom prst="roundRect">
            <a:avLst>
              <a:gd name="adj" fmla="val 12941"/>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x_0564"/>
          <p:cNvSpPr txBox="1"/>
          <p:nvPr/>
        </p:nvSpPr>
        <p:spPr>
          <a:xfrm>
            <a:off x="3859529" y="2331720"/>
            <a:ext cx="1710689" cy="548640"/>
          </a:xfrm>
          <a:prstGeom prst="rect">
            <a:avLst/>
          </a:prstGeom>
          <a:noFill/>
        </p:spPr>
        <p:txBody>
          <a:bodyPr wrap="square" lIns="0" rIns="0" tIns="0" bIns="0">
            <a:spAutoFit/>
          </a:bodyPr>
          <a:lstStyle/>
          <a:p>
            <a:pPr>
              <a:spcAft>
                <a:spcPts val="400"/>
              </a:spcAft>
              <a:defRPr sz="1900" b="0" i="0">
                <a:solidFill>
                  <a:srgbClr val="1D1D1F"/>
                </a:solidFill>
                <a:latin typeface="Segoe UI Semibold"/>
              </a:defRPr>
            </a:pPr>
            <a:r>
              <a:t>Packet movement</a:t>
            </a:r>
          </a:p>
        </p:txBody>
      </p:sp>
      <p:sp>
        <p:nvSpPr>
          <p:cNvPr id="12" name="tx_0565"/>
          <p:cNvSpPr txBox="1"/>
          <p:nvPr/>
        </p:nvSpPr>
        <p:spPr>
          <a:xfrm>
            <a:off x="3859529" y="2926080"/>
            <a:ext cx="1710689" cy="548639"/>
          </a:xfrm>
          <a:prstGeom prst="rect">
            <a:avLst/>
          </a:prstGeom>
          <a:noFill/>
        </p:spPr>
        <p:txBody>
          <a:bodyPr wrap="square" lIns="0" rIns="0" tIns="0" bIns="0">
            <a:spAutoFit/>
          </a:bodyPr>
          <a:lstStyle/>
          <a:p>
            <a:pPr>
              <a:lnSpc>
                <a:spcPct val="110000"/>
              </a:lnSpc>
              <a:spcAft>
                <a:spcPts val="400"/>
              </a:spcAft>
              <a:defRPr sz="1600" b="0" i="0">
                <a:solidFill>
                  <a:srgbClr val="6E6E73"/>
                </a:solidFill>
                <a:latin typeface="Segoe UI"/>
              </a:defRPr>
            </a:pPr>
            <a:r>
              <a:t>VPP / memif + DSA</a:t>
            </a:r>
          </a:p>
        </p:txBody>
      </p:sp>
      <p:cxnSp>
        <p:nvCxnSpPr>
          <p:cNvPr id="13" name="ar_0566"/>
          <p:cNvCxnSpPr/>
          <p:nvPr/>
        </p:nvCxnSpPr>
        <p:spPr>
          <a:xfrm>
            <a:off x="5935979" y="2834640"/>
            <a:ext cx="320040" cy="0"/>
          </a:xfrm>
          <a:prstGeom prst="line">
            <a:avLst/>
          </a:prstGeom>
          <a:ln w="15875">
            <a:solidFill>
              <a:srgbClr val="86868B"/>
            </a:solidFill>
            <a:tailEnd type="triangle" w="sm" len="med"/>
          </a:ln>
        </p:spPr>
        <p:style>
          <a:lnRef idx="2">
            <a:schemeClr val="accent1"/>
          </a:lnRef>
          <a:fillRef idx="0">
            <a:schemeClr val="accent1"/>
          </a:fillRef>
          <a:effectRef idx="1">
            <a:schemeClr val="accent1"/>
          </a:effectRef>
          <a:fontRef idx="minor">
            <a:schemeClr val="tx1"/>
          </a:fontRef>
        </p:style>
      </p:cxnSp>
      <p:sp>
        <p:nvSpPr>
          <p:cNvPr id="14" name="rect_0567"/>
          <p:cNvSpPr/>
          <p:nvPr/>
        </p:nvSpPr>
        <p:spPr>
          <a:xfrm>
            <a:off x="6347459" y="2057400"/>
            <a:ext cx="2259329" cy="1554480"/>
          </a:xfrm>
          <a:prstGeom prst="roundRect">
            <a:avLst>
              <a:gd name="adj" fmla="val 12941"/>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x_0568"/>
          <p:cNvSpPr txBox="1"/>
          <p:nvPr/>
        </p:nvSpPr>
        <p:spPr>
          <a:xfrm>
            <a:off x="6621779" y="2331720"/>
            <a:ext cx="1710689" cy="548640"/>
          </a:xfrm>
          <a:prstGeom prst="rect">
            <a:avLst/>
          </a:prstGeom>
          <a:noFill/>
        </p:spPr>
        <p:txBody>
          <a:bodyPr wrap="square" lIns="0" rIns="0" tIns="0" bIns="0">
            <a:spAutoFit/>
          </a:bodyPr>
          <a:lstStyle/>
          <a:p>
            <a:pPr>
              <a:spcAft>
                <a:spcPts val="400"/>
              </a:spcAft>
              <a:defRPr sz="1900" b="0" i="0">
                <a:solidFill>
                  <a:srgbClr val="1D1D1F"/>
                </a:solidFill>
                <a:latin typeface="Segoe UI Semibold"/>
              </a:defRPr>
            </a:pPr>
            <a:r>
              <a:t>Engine activity</a:t>
            </a:r>
          </a:p>
        </p:txBody>
      </p:sp>
      <p:sp>
        <p:nvSpPr>
          <p:cNvPr id="16" name="tx_0569"/>
          <p:cNvSpPr txBox="1"/>
          <p:nvPr/>
        </p:nvSpPr>
        <p:spPr>
          <a:xfrm>
            <a:off x="6621779" y="2926080"/>
            <a:ext cx="1710689" cy="548639"/>
          </a:xfrm>
          <a:prstGeom prst="rect">
            <a:avLst/>
          </a:prstGeom>
          <a:noFill/>
        </p:spPr>
        <p:txBody>
          <a:bodyPr wrap="square" lIns="0" rIns="0" tIns="0" bIns="0">
            <a:spAutoFit/>
          </a:bodyPr>
          <a:lstStyle/>
          <a:p>
            <a:pPr>
              <a:lnSpc>
                <a:spcPct val="110000"/>
              </a:lnSpc>
              <a:spcAft>
                <a:spcPts val="400"/>
              </a:spcAft>
              <a:defRPr sz="1600" b="0" i="0">
                <a:solidFill>
                  <a:srgbClr val="6E6E73"/>
                </a:solidFill>
                <a:latin typeface="Segoe UI"/>
              </a:defRPr>
            </a:pPr>
            <a:r>
              <a:t>completion-slot eviction</a:t>
            </a:r>
          </a:p>
        </p:txBody>
      </p:sp>
      <p:cxnSp>
        <p:nvCxnSpPr>
          <p:cNvPr id="17" name="ar_0570"/>
          <p:cNvCxnSpPr/>
          <p:nvPr/>
        </p:nvCxnSpPr>
        <p:spPr>
          <a:xfrm>
            <a:off x="8698229" y="2834640"/>
            <a:ext cx="320040" cy="0"/>
          </a:xfrm>
          <a:prstGeom prst="line">
            <a:avLst/>
          </a:prstGeom>
          <a:ln w="15875">
            <a:solidFill>
              <a:srgbClr val="86868B"/>
            </a:solidFill>
            <a:tailEnd type="triangle" w="sm" len="med"/>
          </a:ln>
        </p:spPr>
        <p:style>
          <a:lnRef idx="2">
            <a:schemeClr val="accent1"/>
          </a:lnRef>
          <a:fillRef idx="0">
            <a:schemeClr val="accent1"/>
          </a:fillRef>
          <a:effectRef idx="1">
            <a:schemeClr val="accent1"/>
          </a:effectRef>
          <a:fontRef idx="minor">
            <a:schemeClr val="tx1"/>
          </a:fontRef>
        </p:style>
      </p:cxnSp>
      <p:sp>
        <p:nvSpPr>
          <p:cNvPr id="18" name="rect_0571"/>
          <p:cNvSpPr/>
          <p:nvPr/>
        </p:nvSpPr>
        <p:spPr>
          <a:xfrm>
            <a:off x="9109709" y="2057400"/>
            <a:ext cx="2259329" cy="1554480"/>
          </a:xfrm>
          <a:prstGeom prst="roundRect">
            <a:avLst>
              <a:gd name="adj" fmla="val 12941"/>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x_0572"/>
          <p:cNvSpPr txBox="1"/>
          <p:nvPr/>
        </p:nvSpPr>
        <p:spPr>
          <a:xfrm>
            <a:off x="9384029" y="2331720"/>
            <a:ext cx="1710689" cy="548640"/>
          </a:xfrm>
          <a:prstGeom prst="rect">
            <a:avLst/>
          </a:prstGeom>
          <a:noFill/>
        </p:spPr>
        <p:txBody>
          <a:bodyPr wrap="square" lIns="0" rIns="0" tIns="0" bIns="0">
            <a:spAutoFit/>
          </a:bodyPr>
          <a:lstStyle/>
          <a:p>
            <a:pPr>
              <a:spcAft>
                <a:spcPts val="400"/>
              </a:spcAft>
              <a:defRPr sz="1900" b="0" i="0">
                <a:solidFill>
                  <a:srgbClr val="0071E3"/>
                </a:solidFill>
                <a:latin typeface="Segoe UI Semibold"/>
              </a:defRPr>
            </a:pPr>
            <a:r>
              <a:t>Observer trace</a:t>
            </a:r>
          </a:p>
        </p:txBody>
      </p:sp>
      <p:sp>
        <p:nvSpPr>
          <p:cNvPr id="20" name="tx_0573"/>
          <p:cNvSpPr txBox="1"/>
          <p:nvPr/>
        </p:nvSpPr>
        <p:spPr>
          <a:xfrm>
            <a:off x="9384029" y="2926080"/>
            <a:ext cx="1710689" cy="548639"/>
          </a:xfrm>
          <a:prstGeom prst="rect">
            <a:avLst/>
          </a:prstGeom>
          <a:noFill/>
        </p:spPr>
        <p:txBody>
          <a:bodyPr wrap="square" lIns="0" rIns="0" tIns="0" bIns="0">
            <a:spAutoFit/>
          </a:bodyPr>
          <a:lstStyle/>
          <a:p>
            <a:pPr>
              <a:lnSpc>
                <a:spcPct val="110000"/>
              </a:lnSpc>
              <a:spcAft>
                <a:spcPts val="400"/>
              </a:spcAft>
              <a:defRPr sz="1600" b="0" i="0">
                <a:solidFill>
                  <a:srgbClr val="6E6E73"/>
                </a:solidFill>
                <a:latin typeface="Segoe UI"/>
              </a:defRPr>
            </a:pPr>
            <a:r>
              <a:t>DevTLB miss counts</a:t>
            </a:r>
          </a:p>
        </p:txBody>
      </p:sp>
      <p:sp>
        <p:nvSpPr>
          <p:cNvPr id="21" name="rect_0574"/>
          <p:cNvSpPr/>
          <p:nvPr/>
        </p:nvSpPr>
        <p:spPr>
          <a:xfrm>
            <a:off x="822960" y="4937760"/>
            <a:ext cx="502920" cy="41148"/>
          </a:xfrm>
          <a:prstGeom prst="rect">
            <a:avLst/>
          </a:prstGeom>
          <a:solidFill>
            <a:srgbClr val="007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x_0575"/>
          <p:cNvSpPr txBox="1"/>
          <p:nvPr/>
        </p:nvSpPr>
        <p:spPr>
          <a:xfrm>
            <a:off x="822960" y="5093208"/>
            <a:ext cx="10546079" cy="548640"/>
          </a:xfrm>
          <a:prstGeom prst="rect">
            <a:avLst/>
          </a:prstGeom>
          <a:noFill/>
        </p:spPr>
        <p:txBody>
          <a:bodyPr wrap="square" lIns="0" rIns="0" tIns="0" bIns="0">
            <a:spAutoFit/>
          </a:bodyPr>
          <a:lstStyle/>
          <a:p>
            <a:pPr>
              <a:spcAft>
                <a:spcPts val="400"/>
              </a:spcAft>
              <a:defRPr sz="2100" b="0" i="0">
                <a:solidFill>
                  <a:srgbClr val="1D1D1F"/>
                </a:solidFill>
                <a:latin typeface="Segoe UI Semibold"/>
              </a:defRPr>
            </a:pPr>
            <a:r>
              <a:t>A fingerprint is learned from traffic-induced accelerator activity.</a:t>
            </a:r>
          </a:p>
        </p:txBody>
      </p:sp>
    </p:spTree>
  </p:cSld>
  <p:clrMapOvr>
    <a:masterClrMapping/>
  </p:clrMapOvr>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x_0576"/>
          <p:cNvSpPr txBox="1"/>
          <p:nvPr/>
        </p:nvSpPr>
        <p:spPr>
          <a:xfrm>
            <a:off x="822960" y="502920"/>
            <a:ext cx="10546079" cy="274320"/>
          </a:xfrm>
          <a:prstGeom prst="rect">
            <a:avLst/>
          </a:prstGeom>
          <a:noFill/>
        </p:spPr>
        <p:txBody>
          <a:bodyPr wrap="square" lIns="0" rIns="0" tIns="0" bIns="0">
            <a:spAutoFit/>
          </a:bodyPr>
          <a:lstStyle/>
          <a:p>
            <a:pPr>
              <a:spcAft>
                <a:spcPts val="400"/>
              </a:spcAft>
              <a:defRPr sz="1200" b="0" i="0">
                <a:solidFill>
                  <a:srgbClr val="0071E3"/>
                </a:solidFill>
                <a:latin typeface="Segoe UI Semibold"/>
              </a:defRPr>
            </a:pPr>
            <a:r>
              <a:t>What it steals</a:t>
            </a:r>
          </a:p>
        </p:txBody>
      </p:sp>
      <p:sp>
        <p:nvSpPr>
          <p:cNvPr id="3" name="tx_0577"/>
          <p:cNvSpPr txBox="1"/>
          <p:nvPr/>
        </p:nvSpPr>
        <p:spPr>
          <a:xfrm>
            <a:off x="822960" y="822960"/>
            <a:ext cx="10546079" cy="914400"/>
          </a:xfrm>
          <a:prstGeom prst="rect">
            <a:avLst/>
          </a:prstGeom>
          <a:noFill/>
        </p:spPr>
        <p:txBody>
          <a:bodyPr wrap="square" lIns="0" rIns="0" tIns="0" bIns="0">
            <a:spAutoFit/>
          </a:bodyPr>
          <a:lstStyle/>
          <a:p>
            <a:pPr>
              <a:lnSpc>
                <a:spcPct val="100000"/>
              </a:lnSpc>
              <a:spcAft>
                <a:spcPts val="400"/>
              </a:spcAft>
              <a:defRPr sz="3000" b="0" i="0">
                <a:solidFill>
                  <a:srgbClr val="1D1D1F"/>
                </a:solidFill>
                <a:latin typeface="Segoe UI Semibold"/>
              </a:defRPr>
            </a:pPr>
            <a:r>
              <a:t>The pipeline, laid bare — and it is closed-world</a:t>
            </a:r>
          </a:p>
        </p:txBody>
      </p:sp>
      <p:sp>
        <p:nvSpPr>
          <p:cNvPr id="4" name="tx_0578"/>
          <p:cNvSpPr txBox="1"/>
          <p:nvPr/>
        </p:nvSpPr>
        <p:spPr>
          <a:xfrm>
            <a:off x="822960" y="6419088"/>
            <a:ext cx="9631679" cy="228600"/>
          </a:xfrm>
          <a:prstGeom prst="rect">
            <a:avLst/>
          </a:prstGeom>
          <a:noFill/>
        </p:spPr>
        <p:txBody>
          <a:bodyPr wrap="square" lIns="0" rIns="0" tIns="0" bIns="0">
            <a:spAutoFit/>
          </a:bodyPr>
          <a:lstStyle/>
          <a:p>
            <a:pPr>
              <a:spcAft>
                <a:spcPts val="400"/>
              </a:spcAft>
              <a:defRPr sz="1000" b="0" i="0">
                <a:solidFill>
                  <a:srgbClr val="86868B"/>
                </a:solidFill>
                <a:latin typeface="Segoe UI"/>
              </a:defRPr>
            </a:pPr>
            <a:r>
              <a:t>Paper § VI-B · pp. 9–10 · dataset arithmetic from stated split</a:t>
            </a:r>
          </a:p>
        </p:txBody>
      </p:sp>
      <p:sp>
        <p:nvSpPr>
          <p:cNvPr id="5" name="tx_0579"/>
          <p:cNvSpPr txBox="1"/>
          <p:nvPr/>
        </p:nvSpPr>
        <p:spPr>
          <a:xfrm>
            <a:off x="10820399" y="6419088"/>
            <a:ext cx="548640" cy="228600"/>
          </a:xfrm>
          <a:prstGeom prst="rect">
            <a:avLst/>
          </a:prstGeom>
          <a:noFill/>
        </p:spPr>
        <p:txBody>
          <a:bodyPr wrap="square" lIns="0" rIns="0" tIns="0" bIns="0">
            <a:spAutoFit/>
          </a:bodyPr>
          <a:lstStyle/>
          <a:p>
            <a:pPr algn="r">
              <a:spcAft>
                <a:spcPts val="400"/>
              </a:spcAft>
              <a:defRPr sz="1000" b="0" i="0">
                <a:solidFill>
                  <a:srgbClr val="86868B"/>
                </a:solidFill>
                <a:latin typeface="Segoe UI"/>
              </a:defRPr>
            </a:pPr>
            <a:r>
              <a:t>32</a:t>
            </a:r>
          </a:p>
        </p:txBody>
      </p:sp>
      <p:cxnSp>
        <p:nvCxnSpPr>
          <p:cNvPr id="6" name="hl_0580"/>
          <p:cNvCxnSpPr/>
          <p:nvPr/>
        </p:nvCxnSpPr>
        <p:spPr>
          <a:xfrm>
            <a:off x="822960" y="1965960"/>
            <a:ext cx="3210559"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7" name="tx_0581"/>
          <p:cNvSpPr txBox="1"/>
          <p:nvPr/>
        </p:nvSpPr>
        <p:spPr>
          <a:xfrm>
            <a:off x="822960" y="2240279"/>
            <a:ext cx="3210559" cy="640080"/>
          </a:xfrm>
          <a:prstGeom prst="rect">
            <a:avLst/>
          </a:prstGeom>
          <a:noFill/>
        </p:spPr>
        <p:txBody>
          <a:bodyPr wrap="square" lIns="0" rIns="0" tIns="0" bIns="0">
            <a:spAutoFit/>
          </a:bodyPr>
          <a:lstStyle/>
          <a:p>
            <a:pPr>
              <a:spcAft>
                <a:spcPts val="400"/>
              </a:spcAft>
              <a:defRPr sz="2400" b="0" i="0">
                <a:solidFill>
                  <a:srgbClr val="1D1D1F"/>
                </a:solidFill>
                <a:latin typeface="Segoe UI Semibold"/>
              </a:defRPr>
            </a:pPr>
            <a:r>
              <a:t>Sampling</a:t>
            </a:r>
          </a:p>
        </p:txBody>
      </p:sp>
      <p:sp>
        <p:nvSpPr>
          <p:cNvPr id="8" name="tx_0582"/>
          <p:cNvSpPr txBox="1"/>
          <p:nvPr/>
        </p:nvSpPr>
        <p:spPr>
          <a:xfrm>
            <a:off x="822960" y="2971800"/>
            <a:ext cx="3210559" cy="2103120"/>
          </a:xfrm>
          <a:prstGeom prst="rect">
            <a:avLst/>
          </a:prstGeom>
          <a:noFill/>
        </p:spPr>
        <p:txBody>
          <a:bodyPr wrap="square" lIns="0" rIns="0" tIns="0" bIns="0">
            <a:spAutoFit/>
          </a:bodyPr>
          <a:lstStyle/>
          <a:p>
            <a:pPr>
              <a:lnSpc>
                <a:spcPct val="112000"/>
              </a:lnSpc>
              <a:spcAft>
                <a:spcPts val="600"/>
              </a:spcAft>
              <a:defRPr sz="1800" b="0" i="0">
                <a:solidFill>
                  <a:srgbClr val="6E6E73"/>
                </a:solidFill>
                <a:latin typeface="Segoe UI"/>
              </a:defRPr>
            </a:pPr>
            <a:r>
              <a:t>probe every 10 µs</a:t>
            </a:r>
          </a:p>
          <a:p>
            <a:pPr>
              <a:lnSpc>
                <a:spcPct val="112000"/>
              </a:lnSpc>
              <a:spcAft>
                <a:spcPts val="600"/>
              </a:spcAft>
              <a:defRPr sz="1800" b="0" i="0">
                <a:solidFill>
                  <a:srgbClr val="6E6E73"/>
                </a:solidFill>
                <a:latin typeface="Segoe UI"/>
              </a:defRPr>
            </a:pPr>
            <a:r>
              <a:t>400 probes / slot</a:t>
            </a:r>
          </a:p>
          <a:p>
            <a:pPr>
              <a:lnSpc>
                <a:spcPct val="112000"/>
              </a:lnSpc>
              <a:spcAft>
                <a:spcPts val="600"/>
              </a:spcAft>
              <a:defRPr sz="1800" b="0" i="0">
                <a:solidFill>
                  <a:srgbClr val="6E6E73"/>
                </a:solidFill>
                <a:latin typeface="Segoe UI"/>
              </a:defRPr>
            </a:pPr>
            <a:r>
              <a:t>≈ 4 ms per slot</a:t>
            </a:r>
          </a:p>
        </p:txBody>
      </p:sp>
      <p:cxnSp>
        <p:nvCxnSpPr>
          <p:cNvPr id="9" name="hl_0583"/>
          <p:cNvCxnSpPr/>
          <p:nvPr/>
        </p:nvCxnSpPr>
        <p:spPr>
          <a:xfrm>
            <a:off x="4490719" y="1965960"/>
            <a:ext cx="3210560"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10" name="tx_0584"/>
          <p:cNvSpPr txBox="1"/>
          <p:nvPr/>
        </p:nvSpPr>
        <p:spPr>
          <a:xfrm>
            <a:off x="4490719" y="2240279"/>
            <a:ext cx="3210559" cy="640080"/>
          </a:xfrm>
          <a:prstGeom prst="rect">
            <a:avLst/>
          </a:prstGeom>
          <a:noFill/>
        </p:spPr>
        <p:txBody>
          <a:bodyPr wrap="square" lIns="0" rIns="0" tIns="0" bIns="0">
            <a:spAutoFit/>
          </a:bodyPr>
          <a:lstStyle/>
          <a:p>
            <a:pPr>
              <a:spcAft>
                <a:spcPts val="400"/>
              </a:spcAft>
              <a:defRPr sz="2400" b="0" i="0">
                <a:solidFill>
                  <a:srgbClr val="1D1D1F"/>
                </a:solidFill>
                <a:latin typeface="Segoe UI Semibold"/>
              </a:defRPr>
            </a:pPr>
            <a:r>
              <a:t>Model</a:t>
            </a:r>
          </a:p>
        </p:txBody>
      </p:sp>
      <p:sp>
        <p:nvSpPr>
          <p:cNvPr id="11" name="tx_0585"/>
          <p:cNvSpPr txBox="1"/>
          <p:nvPr/>
        </p:nvSpPr>
        <p:spPr>
          <a:xfrm>
            <a:off x="4490719" y="2971800"/>
            <a:ext cx="3210559" cy="2103120"/>
          </a:xfrm>
          <a:prstGeom prst="rect">
            <a:avLst/>
          </a:prstGeom>
          <a:noFill/>
        </p:spPr>
        <p:txBody>
          <a:bodyPr wrap="square" lIns="0" rIns="0" tIns="0" bIns="0">
            <a:spAutoFit/>
          </a:bodyPr>
          <a:lstStyle/>
          <a:p>
            <a:pPr>
              <a:lnSpc>
                <a:spcPct val="112000"/>
              </a:lnSpc>
              <a:spcAft>
                <a:spcPts val="600"/>
              </a:spcAft>
              <a:defRPr sz="1800" b="0" i="0">
                <a:solidFill>
                  <a:srgbClr val="6E6E73"/>
                </a:solidFill>
                <a:latin typeface="Segoe UI"/>
              </a:defRPr>
            </a:pPr>
            <a:r>
              <a:t>2 × BiLSTM</a:t>
            </a:r>
          </a:p>
          <a:p>
            <a:pPr>
              <a:lnSpc>
                <a:spcPct val="112000"/>
              </a:lnSpc>
              <a:spcAft>
                <a:spcPts val="600"/>
              </a:spcAft>
              <a:defRPr sz="1800" b="0" i="0">
                <a:solidFill>
                  <a:srgbClr val="6E6E73"/>
                </a:solidFill>
                <a:latin typeface="Segoe UI"/>
              </a:defRPr>
            </a:pPr>
            <a:r>
              <a:t>attention + dropout</a:t>
            </a:r>
          </a:p>
          <a:p>
            <a:pPr>
              <a:lnSpc>
                <a:spcPct val="112000"/>
              </a:lnSpc>
              <a:spcAft>
                <a:spcPts val="600"/>
              </a:spcAft>
              <a:defRPr sz="1800" b="0" i="0">
                <a:solidFill>
                  <a:srgbClr val="6E6E73"/>
                </a:solidFill>
                <a:latin typeface="Segoe UI"/>
              </a:defRPr>
            </a:pPr>
            <a:r>
              <a:t>softmax classes</a:t>
            </a:r>
          </a:p>
        </p:txBody>
      </p:sp>
      <p:cxnSp>
        <p:nvCxnSpPr>
          <p:cNvPr id="12" name="hl_0586"/>
          <p:cNvCxnSpPr/>
          <p:nvPr/>
        </p:nvCxnSpPr>
        <p:spPr>
          <a:xfrm>
            <a:off x="8158479" y="1965960"/>
            <a:ext cx="3210560"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13" name="tx_0587"/>
          <p:cNvSpPr txBox="1"/>
          <p:nvPr/>
        </p:nvSpPr>
        <p:spPr>
          <a:xfrm>
            <a:off x="8158479" y="2240279"/>
            <a:ext cx="3210559" cy="640080"/>
          </a:xfrm>
          <a:prstGeom prst="rect">
            <a:avLst/>
          </a:prstGeom>
          <a:noFill/>
        </p:spPr>
        <p:txBody>
          <a:bodyPr wrap="square" lIns="0" rIns="0" tIns="0" bIns="0">
            <a:spAutoFit/>
          </a:bodyPr>
          <a:lstStyle/>
          <a:p>
            <a:pPr>
              <a:spcAft>
                <a:spcPts val="400"/>
              </a:spcAft>
              <a:defRPr sz="2400" b="0" i="0">
                <a:solidFill>
                  <a:srgbClr val="1D1D1F"/>
                </a:solidFill>
                <a:latin typeface="Segoe UI Semibold"/>
              </a:defRPr>
            </a:pPr>
            <a:r>
              <a:t>Dataset</a:t>
            </a:r>
          </a:p>
        </p:txBody>
      </p:sp>
      <p:sp>
        <p:nvSpPr>
          <p:cNvPr id="14" name="tx_0588"/>
          <p:cNvSpPr txBox="1"/>
          <p:nvPr/>
        </p:nvSpPr>
        <p:spPr>
          <a:xfrm>
            <a:off x="8158479" y="2971800"/>
            <a:ext cx="3210559" cy="2103120"/>
          </a:xfrm>
          <a:prstGeom prst="rect">
            <a:avLst/>
          </a:prstGeom>
          <a:noFill/>
        </p:spPr>
        <p:txBody>
          <a:bodyPr wrap="square" lIns="0" rIns="0" tIns="0" bIns="0">
            <a:spAutoFit/>
          </a:bodyPr>
          <a:lstStyle/>
          <a:p>
            <a:pPr>
              <a:lnSpc>
                <a:spcPct val="112000"/>
              </a:lnSpc>
              <a:spcAft>
                <a:spcPts val="600"/>
              </a:spcAft>
              <a:defRPr sz="1800" b="0" i="0">
                <a:solidFill>
                  <a:srgbClr val="6E6E73"/>
                </a:solidFill>
                <a:latin typeface="Segoe UI"/>
              </a:defRPr>
            </a:pPr>
            <a:r>
              <a:t>100 sites × 200 traces</a:t>
            </a:r>
          </a:p>
          <a:p>
            <a:pPr>
              <a:lnSpc>
                <a:spcPct val="112000"/>
              </a:lnSpc>
              <a:spcAft>
                <a:spcPts val="600"/>
              </a:spcAft>
              <a:defRPr sz="1800" b="0" i="0">
                <a:solidFill>
                  <a:srgbClr val="6E6E73"/>
                </a:solidFill>
                <a:latin typeface="Segoe UI"/>
              </a:defRPr>
            </a:pPr>
            <a:r>
              <a:t>80 / 20 split</a:t>
            </a:r>
          </a:p>
          <a:p>
            <a:pPr>
              <a:lnSpc>
                <a:spcPct val="112000"/>
              </a:lnSpc>
              <a:spcAft>
                <a:spcPts val="600"/>
              </a:spcAft>
              <a:defRPr sz="1800" b="0" i="0">
                <a:solidFill>
                  <a:srgbClr val="6E6E73"/>
                </a:solidFill>
                <a:latin typeface="Segoe UI"/>
              </a:defRPr>
            </a:pPr>
            <a:r>
              <a:t>≈ 16,000 / 4,000</a:t>
            </a:r>
          </a:p>
        </p:txBody>
      </p:sp>
      <p:sp>
        <p:nvSpPr>
          <p:cNvPr id="15" name="tx_0589"/>
          <p:cNvSpPr txBox="1"/>
          <p:nvPr/>
        </p:nvSpPr>
        <p:spPr>
          <a:xfrm>
            <a:off x="822960" y="5166360"/>
            <a:ext cx="10546079" cy="365760"/>
          </a:xfrm>
          <a:prstGeom prst="rect">
            <a:avLst/>
          </a:prstGeom>
          <a:noFill/>
        </p:spPr>
        <p:txBody>
          <a:bodyPr wrap="square" lIns="0" rIns="0" tIns="0" bIns="0">
            <a:spAutoFit/>
          </a:bodyPr>
          <a:lstStyle/>
          <a:p>
            <a:pPr>
              <a:spcAft>
                <a:spcPts val="400"/>
              </a:spcAft>
              <a:defRPr sz="1700" b="0" i="1">
                <a:solidFill>
                  <a:srgbClr val="6E6E73"/>
                </a:solidFill>
                <a:latin typeface="Segoe UI"/>
              </a:defRPr>
            </a:pPr>
            <a:r>
              <a:t>One feature per slot = the number of classified DevTLB misses.</a:t>
            </a:r>
          </a:p>
        </p:txBody>
      </p:sp>
      <p:sp>
        <p:nvSpPr>
          <p:cNvPr id="16" name="rect_0590"/>
          <p:cNvSpPr/>
          <p:nvPr/>
        </p:nvSpPr>
        <p:spPr>
          <a:xfrm>
            <a:off x="822960" y="5623560"/>
            <a:ext cx="502920" cy="41148"/>
          </a:xfrm>
          <a:prstGeom prst="rect">
            <a:avLst/>
          </a:prstGeom>
          <a:solidFill>
            <a:srgbClr val="007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x_0591"/>
          <p:cNvSpPr txBox="1"/>
          <p:nvPr/>
        </p:nvSpPr>
        <p:spPr>
          <a:xfrm>
            <a:off x="822960" y="5779008"/>
            <a:ext cx="10546079" cy="548640"/>
          </a:xfrm>
          <a:prstGeom prst="rect">
            <a:avLst/>
          </a:prstGeom>
          <a:noFill/>
        </p:spPr>
        <p:txBody>
          <a:bodyPr wrap="square" lIns="0" rIns="0" tIns="0" bIns="0">
            <a:spAutoFit/>
          </a:bodyPr>
          <a:lstStyle/>
          <a:p>
            <a:pPr>
              <a:spcAft>
                <a:spcPts val="400"/>
              </a:spcAft>
              <a:defRPr sz="2100" b="0" i="0">
                <a:solidFill>
                  <a:srgbClr val="1D1D1F"/>
                </a:solidFill>
                <a:latin typeface="Segoe UI Semibold"/>
              </a:defRPr>
            </a:pPr>
            <a:r>
              <a:t>The evaluated problem is closed-world classification over known labels.</a:t>
            </a:r>
          </a:p>
        </p:txBody>
      </p:sp>
    </p:spTree>
  </p:cSld>
  <p:clrMapOvr>
    <a:masterClrMapping/>
  </p:clrMapOvr>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x_0592"/>
          <p:cNvSpPr txBox="1"/>
          <p:nvPr/>
        </p:nvSpPr>
        <p:spPr>
          <a:xfrm>
            <a:off x="822960" y="502920"/>
            <a:ext cx="10546079" cy="274320"/>
          </a:xfrm>
          <a:prstGeom prst="rect">
            <a:avLst/>
          </a:prstGeom>
          <a:noFill/>
        </p:spPr>
        <p:txBody>
          <a:bodyPr wrap="square" lIns="0" rIns="0" tIns="0" bIns="0">
            <a:spAutoFit/>
          </a:bodyPr>
          <a:lstStyle/>
          <a:p>
            <a:pPr>
              <a:spcAft>
                <a:spcPts val="400"/>
              </a:spcAft>
              <a:defRPr sz="1200" b="0" i="0">
                <a:solidFill>
                  <a:srgbClr val="0071E3"/>
                </a:solidFill>
                <a:latin typeface="Segoe UI Semibold"/>
              </a:defRPr>
            </a:pPr>
            <a:r>
              <a:t>What it steals</a:t>
            </a:r>
          </a:p>
        </p:txBody>
      </p:sp>
      <p:sp>
        <p:nvSpPr>
          <p:cNvPr id="3" name="tx_0593"/>
          <p:cNvSpPr txBox="1"/>
          <p:nvPr/>
        </p:nvSpPr>
        <p:spPr>
          <a:xfrm>
            <a:off x="822960" y="822960"/>
            <a:ext cx="10546079" cy="914400"/>
          </a:xfrm>
          <a:prstGeom prst="rect">
            <a:avLst/>
          </a:prstGeom>
          <a:noFill/>
        </p:spPr>
        <p:txBody>
          <a:bodyPr wrap="square" lIns="0" rIns="0" tIns="0" bIns="0">
            <a:spAutoFit/>
          </a:bodyPr>
          <a:lstStyle/>
          <a:p>
            <a:pPr>
              <a:lnSpc>
                <a:spcPct val="100000"/>
              </a:lnSpc>
              <a:spcAft>
                <a:spcPts val="400"/>
              </a:spcAft>
              <a:defRPr sz="3000" b="0" i="0">
                <a:solidFill>
                  <a:srgbClr val="1D1D1F"/>
                </a:solidFill>
                <a:latin typeface="Segoe UI Semibold"/>
              </a:defRPr>
            </a:pPr>
            <a:r>
              <a:t>The traces really are different</a:t>
            </a:r>
          </a:p>
        </p:txBody>
      </p:sp>
      <p:sp>
        <p:nvSpPr>
          <p:cNvPr id="4" name="tx_0594"/>
          <p:cNvSpPr txBox="1"/>
          <p:nvPr/>
        </p:nvSpPr>
        <p:spPr>
          <a:xfrm>
            <a:off x="822960" y="6419088"/>
            <a:ext cx="9631679" cy="228600"/>
          </a:xfrm>
          <a:prstGeom prst="rect">
            <a:avLst/>
          </a:prstGeom>
          <a:noFill/>
        </p:spPr>
        <p:txBody>
          <a:bodyPr wrap="square" lIns="0" rIns="0" tIns="0" bIns="0">
            <a:spAutoFit/>
          </a:bodyPr>
          <a:lstStyle/>
          <a:p>
            <a:pPr>
              <a:spcAft>
                <a:spcPts val="400"/>
              </a:spcAft>
              <a:defRPr sz="1000" b="0" i="0">
                <a:solidFill>
                  <a:srgbClr val="86868B"/>
                </a:solidFill>
                <a:latin typeface="Segoe UI"/>
              </a:defRPr>
            </a:pPr>
            <a:r>
              <a:t>Paper § VI-B, Fig. 10 · p. 9 · original example traces</a:t>
            </a:r>
          </a:p>
        </p:txBody>
      </p:sp>
      <p:sp>
        <p:nvSpPr>
          <p:cNvPr id="5" name="tx_0595"/>
          <p:cNvSpPr txBox="1"/>
          <p:nvPr/>
        </p:nvSpPr>
        <p:spPr>
          <a:xfrm>
            <a:off x="10820399" y="6419088"/>
            <a:ext cx="548640" cy="228600"/>
          </a:xfrm>
          <a:prstGeom prst="rect">
            <a:avLst/>
          </a:prstGeom>
          <a:noFill/>
        </p:spPr>
        <p:txBody>
          <a:bodyPr wrap="square" lIns="0" rIns="0" tIns="0" bIns="0">
            <a:spAutoFit/>
          </a:bodyPr>
          <a:lstStyle/>
          <a:p>
            <a:pPr algn="r">
              <a:spcAft>
                <a:spcPts val="400"/>
              </a:spcAft>
              <a:defRPr sz="1000" b="0" i="0">
                <a:solidFill>
                  <a:srgbClr val="86868B"/>
                </a:solidFill>
                <a:latin typeface="Segoe UI"/>
              </a:defRPr>
            </a:pPr>
            <a:r>
              <a:t>33</a:t>
            </a:r>
          </a:p>
        </p:txBody>
      </p:sp>
      <p:pic>
        <p:nvPicPr>
          <p:cNvPr id="6" name="pic_0596" descr="website_traces.png"/>
          <p:cNvPicPr>
            <a:picLocks noChangeAspect="1"/>
          </p:cNvPicPr>
          <p:nvPr/>
        </p:nvPicPr>
        <p:blipFill>
          <a:blip r:embed="rId3"/>
          <a:stretch>
            <a:fillRect/>
          </a:stretch>
        </p:blipFill>
        <p:spPr>
          <a:xfrm>
            <a:off x="1737360" y="1996925"/>
            <a:ext cx="8717279" cy="3229908"/>
          </a:xfrm>
          <a:prstGeom prst="rect">
            <a:avLst/>
          </a:prstGeom>
        </p:spPr>
      </p:pic>
      <p:sp>
        <p:nvSpPr>
          <p:cNvPr id="7" name="rect_0597"/>
          <p:cNvSpPr/>
          <p:nvPr/>
        </p:nvSpPr>
        <p:spPr>
          <a:xfrm>
            <a:off x="822960" y="5623560"/>
            <a:ext cx="502920" cy="41148"/>
          </a:xfrm>
          <a:prstGeom prst="rect">
            <a:avLst/>
          </a:prstGeom>
          <a:solidFill>
            <a:srgbClr val="007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x_0598"/>
          <p:cNvSpPr txBox="1"/>
          <p:nvPr/>
        </p:nvSpPr>
        <p:spPr>
          <a:xfrm>
            <a:off x="822960" y="5779008"/>
            <a:ext cx="10546079" cy="548640"/>
          </a:xfrm>
          <a:prstGeom prst="rect">
            <a:avLst/>
          </a:prstGeom>
          <a:noFill/>
        </p:spPr>
        <p:txBody>
          <a:bodyPr wrap="square" lIns="0" rIns="0" tIns="0" bIns="0">
            <a:spAutoFit/>
          </a:bodyPr>
          <a:lstStyle/>
          <a:p>
            <a:pPr>
              <a:spcAft>
                <a:spcPts val="400"/>
              </a:spcAft>
              <a:defRPr sz="2100" b="0" i="0">
                <a:solidFill>
                  <a:srgbClr val="1D1D1F"/>
                </a:solidFill>
                <a:latin typeface="Segoe UI Semibold"/>
              </a:defRPr>
            </a:pPr>
            <a:r>
              <a:t>Temporal shape is the feature; miss count is a proxy for DSA activity.</a:t>
            </a:r>
          </a:p>
        </p:txBody>
      </p:sp>
    </p:spTree>
  </p:cSld>
  <p:clrMapOvr>
    <a:masterClrMapping/>
  </p:clrMapOvr>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x_0599"/>
          <p:cNvSpPr txBox="1"/>
          <p:nvPr/>
        </p:nvSpPr>
        <p:spPr>
          <a:xfrm>
            <a:off x="822960" y="502920"/>
            <a:ext cx="10546079" cy="274320"/>
          </a:xfrm>
          <a:prstGeom prst="rect">
            <a:avLst/>
          </a:prstGeom>
          <a:noFill/>
        </p:spPr>
        <p:txBody>
          <a:bodyPr wrap="square" lIns="0" rIns="0" tIns="0" bIns="0">
            <a:spAutoFit/>
          </a:bodyPr>
          <a:lstStyle/>
          <a:p>
            <a:pPr>
              <a:spcAft>
                <a:spcPts val="400"/>
              </a:spcAft>
              <a:defRPr sz="1200" b="0" i="0">
                <a:solidFill>
                  <a:srgbClr val="0071E3"/>
                </a:solidFill>
                <a:latin typeface="Segoe UI Semibold"/>
              </a:defRPr>
            </a:pPr>
            <a:r>
              <a:t>What it steals</a:t>
            </a:r>
          </a:p>
        </p:txBody>
      </p:sp>
      <p:sp>
        <p:nvSpPr>
          <p:cNvPr id="3" name="tx_0600"/>
          <p:cNvSpPr txBox="1"/>
          <p:nvPr/>
        </p:nvSpPr>
        <p:spPr>
          <a:xfrm>
            <a:off x="822960" y="822960"/>
            <a:ext cx="10546079" cy="914400"/>
          </a:xfrm>
          <a:prstGeom prst="rect">
            <a:avLst/>
          </a:prstGeom>
          <a:noFill/>
        </p:spPr>
        <p:txBody>
          <a:bodyPr wrap="square" lIns="0" rIns="0" tIns="0" bIns="0">
            <a:spAutoFit/>
          </a:bodyPr>
          <a:lstStyle/>
          <a:p>
            <a:pPr>
              <a:lnSpc>
                <a:spcPct val="100000"/>
              </a:lnSpc>
              <a:spcAft>
                <a:spcPts val="400"/>
              </a:spcAft>
              <a:defRPr sz="3000" b="0" i="0">
                <a:solidFill>
                  <a:srgbClr val="1D1D1F"/>
                </a:solidFill>
                <a:latin typeface="Segoe UI Semibold"/>
              </a:defRPr>
            </a:pPr>
            <a:r>
              <a:t>85.73% — the number you must not misquote</a:t>
            </a:r>
          </a:p>
        </p:txBody>
      </p:sp>
      <p:sp>
        <p:nvSpPr>
          <p:cNvPr id="4" name="tx_0601"/>
          <p:cNvSpPr txBox="1"/>
          <p:nvPr/>
        </p:nvSpPr>
        <p:spPr>
          <a:xfrm>
            <a:off x="822960" y="6419088"/>
            <a:ext cx="9631679" cy="228600"/>
          </a:xfrm>
          <a:prstGeom prst="rect">
            <a:avLst/>
          </a:prstGeom>
          <a:noFill/>
        </p:spPr>
        <p:txBody>
          <a:bodyPr wrap="square" lIns="0" rIns="0" tIns="0" bIns="0">
            <a:spAutoFit/>
          </a:bodyPr>
          <a:lstStyle/>
          <a:p>
            <a:pPr>
              <a:spcAft>
                <a:spcPts val="400"/>
              </a:spcAft>
              <a:defRPr sz="1000" b="0" i="0">
                <a:solidFill>
                  <a:srgbClr val="86868B"/>
                </a:solidFill>
                <a:latin typeface="Segoe UI"/>
              </a:defRPr>
            </a:pPr>
            <a:r>
              <a:t>Paper § VI-B, Fig. 11 · pp. 9–10 · original 15-site matrix</a:t>
            </a:r>
          </a:p>
        </p:txBody>
      </p:sp>
      <p:sp>
        <p:nvSpPr>
          <p:cNvPr id="5" name="tx_0602"/>
          <p:cNvSpPr txBox="1"/>
          <p:nvPr/>
        </p:nvSpPr>
        <p:spPr>
          <a:xfrm>
            <a:off x="10820399" y="6419088"/>
            <a:ext cx="548640" cy="228600"/>
          </a:xfrm>
          <a:prstGeom prst="rect">
            <a:avLst/>
          </a:prstGeom>
          <a:noFill/>
        </p:spPr>
        <p:txBody>
          <a:bodyPr wrap="square" lIns="0" rIns="0" tIns="0" bIns="0">
            <a:spAutoFit/>
          </a:bodyPr>
          <a:lstStyle/>
          <a:p>
            <a:pPr algn="r">
              <a:spcAft>
                <a:spcPts val="400"/>
              </a:spcAft>
              <a:defRPr sz="1000" b="0" i="0">
                <a:solidFill>
                  <a:srgbClr val="86868B"/>
                </a:solidFill>
                <a:latin typeface="Segoe UI"/>
              </a:defRPr>
            </a:pPr>
            <a:r>
              <a:t>34</a:t>
            </a:r>
          </a:p>
        </p:txBody>
      </p:sp>
      <p:pic>
        <p:nvPicPr>
          <p:cNvPr id="6" name="pic_0603" descr="confusion.png"/>
          <p:cNvPicPr>
            <a:picLocks noChangeAspect="1"/>
          </p:cNvPicPr>
          <p:nvPr/>
        </p:nvPicPr>
        <p:blipFill>
          <a:blip r:embed="rId3"/>
          <a:stretch>
            <a:fillRect/>
          </a:stretch>
        </p:blipFill>
        <p:spPr>
          <a:xfrm>
            <a:off x="2430780" y="1783080"/>
            <a:ext cx="3825240" cy="3749039"/>
          </a:xfrm>
          <a:prstGeom prst="rect">
            <a:avLst/>
          </a:prstGeom>
        </p:spPr>
      </p:pic>
      <p:sp>
        <p:nvSpPr>
          <p:cNvPr id="7" name="tx_0604"/>
          <p:cNvSpPr txBox="1"/>
          <p:nvPr/>
        </p:nvSpPr>
        <p:spPr>
          <a:xfrm>
            <a:off x="8229600" y="1965960"/>
            <a:ext cx="3108960" cy="914400"/>
          </a:xfrm>
          <a:prstGeom prst="rect">
            <a:avLst/>
          </a:prstGeom>
          <a:noFill/>
        </p:spPr>
        <p:txBody>
          <a:bodyPr wrap="square" lIns="0" rIns="0" tIns="0" bIns="0">
            <a:spAutoFit/>
          </a:bodyPr>
          <a:lstStyle/>
          <a:p>
            <a:pPr>
              <a:spcAft>
                <a:spcPts val="400"/>
              </a:spcAft>
              <a:defRPr sz="4400" b="0" i="0">
                <a:solidFill>
                  <a:srgbClr val="0071E3"/>
                </a:solidFill>
                <a:latin typeface="Segoe UI Semibold"/>
              </a:defRPr>
            </a:pPr>
            <a:r>
              <a:t>85.73%</a:t>
            </a:r>
          </a:p>
        </p:txBody>
      </p:sp>
      <p:sp>
        <p:nvSpPr>
          <p:cNvPr id="8" name="tx_0605"/>
          <p:cNvSpPr txBox="1"/>
          <p:nvPr/>
        </p:nvSpPr>
        <p:spPr>
          <a:xfrm>
            <a:off x="8229600" y="2971800"/>
            <a:ext cx="3108960" cy="411480"/>
          </a:xfrm>
          <a:prstGeom prst="rect">
            <a:avLst/>
          </a:prstGeom>
          <a:noFill/>
        </p:spPr>
        <p:txBody>
          <a:bodyPr wrap="square" lIns="0" rIns="0" tIns="0" bIns="0">
            <a:spAutoFit/>
          </a:bodyPr>
          <a:lstStyle/>
          <a:p>
            <a:pPr>
              <a:spcAft>
                <a:spcPts val="400"/>
              </a:spcAft>
              <a:defRPr sz="2100" b="0" i="0">
                <a:solidFill>
                  <a:srgbClr val="1D1D1F"/>
                </a:solidFill>
                <a:latin typeface="Segoe UI Semibold"/>
              </a:defRPr>
            </a:pPr>
            <a:r>
              <a:t>Full dataset</a:t>
            </a:r>
          </a:p>
        </p:txBody>
      </p:sp>
      <p:sp>
        <p:nvSpPr>
          <p:cNvPr id="9" name="tx_0606"/>
          <p:cNvSpPr txBox="1"/>
          <p:nvPr/>
        </p:nvSpPr>
        <p:spPr>
          <a:xfrm>
            <a:off x="8229600" y="3383280"/>
            <a:ext cx="3108960" cy="365760"/>
          </a:xfrm>
          <a:prstGeom prst="rect">
            <a:avLst/>
          </a:prstGeom>
          <a:noFill/>
        </p:spPr>
        <p:txBody>
          <a:bodyPr wrap="square" lIns="0" rIns="0" tIns="0" bIns="0">
            <a:spAutoFit/>
          </a:bodyPr>
          <a:lstStyle/>
          <a:p>
            <a:pPr>
              <a:spcAft>
                <a:spcPts val="400"/>
              </a:spcAft>
              <a:defRPr sz="1600" b="0" i="0">
                <a:solidFill>
                  <a:srgbClr val="6E6E73"/>
                </a:solidFill>
                <a:latin typeface="Segoe UI"/>
              </a:defRPr>
            </a:pPr>
            <a:r>
              <a:t>100 websites · 1% baseline</a:t>
            </a:r>
          </a:p>
        </p:txBody>
      </p:sp>
      <p:sp>
        <p:nvSpPr>
          <p:cNvPr id="10" name="tx_0607"/>
          <p:cNvSpPr txBox="1"/>
          <p:nvPr/>
        </p:nvSpPr>
        <p:spPr>
          <a:xfrm>
            <a:off x="8229600" y="3794760"/>
            <a:ext cx="3108960" cy="914400"/>
          </a:xfrm>
          <a:prstGeom prst="rect">
            <a:avLst/>
          </a:prstGeom>
          <a:noFill/>
        </p:spPr>
        <p:txBody>
          <a:bodyPr wrap="square" lIns="0" rIns="0" tIns="0" bIns="0">
            <a:spAutoFit/>
          </a:bodyPr>
          <a:lstStyle/>
          <a:p>
            <a:pPr>
              <a:spcAft>
                <a:spcPts val="400"/>
              </a:spcAft>
              <a:defRPr sz="4400" b="0" i="0">
                <a:solidFill>
                  <a:srgbClr val="1D1D1F"/>
                </a:solidFill>
                <a:latin typeface="Segoe UI Semibold"/>
              </a:defRPr>
            </a:pPr>
            <a:r>
              <a:t>96.5%</a:t>
            </a:r>
          </a:p>
        </p:txBody>
      </p:sp>
      <p:sp>
        <p:nvSpPr>
          <p:cNvPr id="11" name="tx_0608"/>
          <p:cNvSpPr txBox="1"/>
          <p:nvPr/>
        </p:nvSpPr>
        <p:spPr>
          <a:xfrm>
            <a:off x="8229600" y="4800600"/>
            <a:ext cx="3108960" cy="411480"/>
          </a:xfrm>
          <a:prstGeom prst="rect">
            <a:avLst/>
          </a:prstGeom>
          <a:noFill/>
        </p:spPr>
        <p:txBody>
          <a:bodyPr wrap="square" lIns="0" rIns="0" tIns="0" bIns="0">
            <a:spAutoFit/>
          </a:bodyPr>
          <a:lstStyle/>
          <a:p>
            <a:pPr>
              <a:spcAft>
                <a:spcPts val="400"/>
              </a:spcAft>
              <a:defRPr sz="2100" b="0" i="0">
                <a:solidFill>
                  <a:srgbClr val="1D1D1F"/>
                </a:solidFill>
                <a:latin typeface="Segoe UI Semibold"/>
              </a:defRPr>
            </a:pPr>
            <a:r>
              <a:t>Displayed subset</a:t>
            </a:r>
          </a:p>
        </p:txBody>
      </p:sp>
      <p:sp>
        <p:nvSpPr>
          <p:cNvPr id="12" name="tx_0609"/>
          <p:cNvSpPr txBox="1"/>
          <p:nvPr/>
        </p:nvSpPr>
        <p:spPr>
          <a:xfrm>
            <a:off x="8229600" y="5212080"/>
            <a:ext cx="3108960" cy="365760"/>
          </a:xfrm>
          <a:prstGeom prst="rect">
            <a:avLst/>
          </a:prstGeom>
          <a:noFill/>
        </p:spPr>
        <p:txBody>
          <a:bodyPr wrap="square" lIns="0" rIns="0" tIns="0" bIns="0">
            <a:spAutoFit/>
          </a:bodyPr>
          <a:lstStyle/>
          <a:p>
            <a:pPr>
              <a:spcAft>
                <a:spcPts val="400"/>
              </a:spcAft>
              <a:defRPr sz="1600" b="0" i="0">
                <a:solidFill>
                  <a:srgbClr val="6E6E73"/>
                </a:solidFill>
                <a:latin typeface="Segoe UI"/>
              </a:defRPr>
            </a:pPr>
            <a:r>
              <a:t>15 selected websites only</a:t>
            </a:r>
          </a:p>
        </p:txBody>
      </p:sp>
      <p:sp>
        <p:nvSpPr>
          <p:cNvPr id="13" name="rect_0610"/>
          <p:cNvSpPr/>
          <p:nvPr/>
        </p:nvSpPr>
        <p:spPr>
          <a:xfrm>
            <a:off x="822960" y="5760720"/>
            <a:ext cx="502920" cy="41148"/>
          </a:xfrm>
          <a:prstGeom prst="rect">
            <a:avLst/>
          </a:prstGeom>
          <a:solidFill>
            <a:srgbClr val="007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x_0611"/>
          <p:cNvSpPr txBox="1"/>
          <p:nvPr/>
        </p:nvSpPr>
        <p:spPr>
          <a:xfrm>
            <a:off x="822960" y="5916168"/>
            <a:ext cx="10546079" cy="548640"/>
          </a:xfrm>
          <a:prstGeom prst="rect">
            <a:avLst/>
          </a:prstGeom>
          <a:noFill/>
        </p:spPr>
        <p:txBody>
          <a:bodyPr wrap="square" lIns="0" rIns="0" tIns="0" bIns="0">
            <a:spAutoFit/>
          </a:bodyPr>
          <a:lstStyle/>
          <a:p>
            <a:pPr>
              <a:spcAft>
                <a:spcPts val="400"/>
              </a:spcAft>
              <a:defRPr sz="2100" b="0" i="0">
                <a:solidFill>
                  <a:srgbClr val="1D1D1F"/>
                </a:solidFill>
                <a:latin typeface="Segoe UI Semibold"/>
              </a:defRPr>
            </a:pPr>
            <a:r>
              <a:t>The headline is 85.73% on 100 sites; 96.5% is the 15-site subset.</a:t>
            </a:r>
          </a:p>
        </p:txBody>
      </p:sp>
    </p:spTree>
  </p:cSld>
  <p:clrMapOvr>
    <a:masterClrMapping/>
  </p:clrMapOvr>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x_0612"/>
          <p:cNvSpPr txBox="1"/>
          <p:nvPr/>
        </p:nvSpPr>
        <p:spPr>
          <a:xfrm>
            <a:off x="822960" y="502920"/>
            <a:ext cx="10546079" cy="274320"/>
          </a:xfrm>
          <a:prstGeom prst="rect">
            <a:avLst/>
          </a:prstGeom>
          <a:noFill/>
        </p:spPr>
        <p:txBody>
          <a:bodyPr wrap="square" lIns="0" rIns="0" tIns="0" bIns="0">
            <a:spAutoFit/>
          </a:bodyPr>
          <a:lstStyle/>
          <a:p>
            <a:pPr>
              <a:spcAft>
                <a:spcPts val="400"/>
              </a:spcAft>
              <a:defRPr sz="1200" b="0" i="0">
                <a:solidFill>
                  <a:srgbClr val="0071E3"/>
                </a:solidFill>
                <a:latin typeface="Segoe UI Semibold"/>
              </a:defRPr>
            </a:pPr>
            <a:r>
              <a:t>What it steals</a:t>
            </a:r>
          </a:p>
        </p:txBody>
      </p:sp>
      <p:sp>
        <p:nvSpPr>
          <p:cNvPr id="3" name="tx_0613"/>
          <p:cNvSpPr txBox="1"/>
          <p:nvPr/>
        </p:nvSpPr>
        <p:spPr>
          <a:xfrm>
            <a:off x="822960" y="822960"/>
            <a:ext cx="10546079" cy="914400"/>
          </a:xfrm>
          <a:prstGeom prst="rect">
            <a:avLst/>
          </a:prstGeom>
          <a:noFill/>
        </p:spPr>
        <p:txBody>
          <a:bodyPr wrap="square" lIns="0" rIns="0" tIns="0" bIns="0">
            <a:spAutoFit/>
          </a:bodyPr>
          <a:lstStyle/>
          <a:p>
            <a:pPr>
              <a:lnSpc>
                <a:spcPct val="100000"/>
              </a:lnSpc>
              <a:spcAft>
                <a:spcPts val="400"/>
              </a:spcAft>
              <a:defRPr sz="3000" b="0" i="0">
                <a:solidFill>
                  <a:srgbClr val="1D1D1F"/>
                </a:solidFill>
                <a:latin typeface="Segoe UI Semibold"/>
              </a:defRPr>
            </a:pPr>
            <a:r>
              <a:t>Attack #2 — keystrokes, via transparent offload</a:t>
            </a:r>
          </a:p>
        </p:txBody>
      </p:sp>
      <p:sp>
        <p:nvSpPr>
          <p:cNvPr id="4" name="tx_0614"/>
          <p:cNvSpPr txBox="1"/>
          <p:nvPr/>
        </p:nvSpPr>
        <p:spPr>
          <a:xfrm>
            <a:off x="822960" y="6419088"/>
            <a:ext cx="9631679" cy="228600"/>
          </a:xfrm>
          <a:prstGeom prst="rect">
            <a:avLst/>
          </a:prstGeom>
          <a:noFill/>
        </p:spPr>
        <p:txBody>
          <a:bodyPr wrap="square" lIns="0" rIns="0" tIns="0" bIns="0">
            <a:spAutoFit/>
          </a:bodyPr>
          <a:lstStyle/>
          <a:p>
            <a:pPr>
              <a:spcAft>
                <a:spcPts val="400"/>
              </a:spcAft>
              <a:defRPr sz="1000" b="0" i="0">
                <a:solidFill>
                  <a:srgbClr val="86868B"/>
                </a:solidFill>
                <a:latin typeface="Segoe UI"/>
              </a:defRPr>
            </a:pPr>
            <a:r>
              <a:t>Paper § VI-C · p. 10 · no end-to-end text recovery</a:t>
            </a:r>
          </a:p>
        </p:txBody>
      </p:sp>
      <p:sp>
        <p:nvSpPr>
          <p:cNvPr id="5" name="tx_0615"/>
          <p:cNvSpPr txBox="1"/>
          <p:nvPr/>
        </p:nvSpPr>
        <p:spPr>
          <a:xfrm>
            <a:off x="10820399" y="6419088"/>
            <a:ext cx="548640" cy="228600"/>
          </a:xfrm>
          <a:prstGeom prst="rect">
            <a:avLst/>
          </a:prstGeom>
          <a:noFill/>
        </p:spPr>
        <p:txBody>
          <a:bodyPr wrap="square" lIns="0" rIns="0" tIns="0" bIns="0">
            <a:spAutoFit/>
          </a:bodyPr>
          <a:lstStyle/>
          <a:p>
            <a:pPr algn="r">
              <a:spcAft>
                <a:spcPts val="400"/>
              </a:spcAft>
              <a:defRPr sz="1000" b="0" i="0">
                <a:solidFill>
                  <a:srgbClr val="86868B"/>
                </a:solidFill>
                <a:latin typeface="Segoe UI"/>
              </a:defRPr>
            </a:pPr>
            <a:r>
              <a:t>35</a:t>
            </a:r>
          </a:p>
        </p:txBody>
      </p:sp>
      <p:sp>
        <p:nvSpPr>
          <p:cNvPr id="6" name="rect_0616"/>
          <p:cNvSpPr/>
          <p:nvPr/>
        </p:nvSpPr>
        <p:spPr>
          <a:xfrm>
            <a:off x="822960" y="2057400"/>
            <a:ext cx="2259329" cy="1554480"/>
          </a:xfrm>
          <a:prstGeom prst="roundRect">
            <a:avLst>
              <a:gd name="adj" fmla="val 12941"/>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x_0617"/>
          <p:cNvSpPr txBox="1"/>
          <p:nvPr/>
        </p:nvSpPr>
        <p:spPr>
          <a:xfrm>
            <a:off x="1097280" y="2331720"/>
            <a:ext cx="1710689" cy="548640"/>
          </a:xfrm>
          <a:prstGeom prst="rect">
            <a:avLst/>
          </a:prstGeom>
          <a:noFill/>
        </p:spPr>
        <p:txBody>
          <a:bodyPr wrap="square" lIns="0" rIns="0" tIns="0" bIns="0">
            <a:spAutoFit/>
          </a:bodyPr>
          <a:lstStyle/>
          <a:p>
            <a:pPr>
              <a:spcAft>
                <a:spcPts val="400"/>
              </a:spcAft>
              <a:defRPr sz="1900" b="0" i="0">
                <a:solidFill>
                  <a:srgbClr val="1D1D1F"/>
                </a:solidFill>
                <a:latin typeface="Segoe UI Semibold"/>
              </a:defRPr>
            </a:pPr>
            <a:r>
              <a:t>User input</a:t>
            </a:r>
          </a:p>
        </p:txBody>
      </p:sp>
      <p:sp>
        <p:nvSpPr>
          <p:cNvPr id="8" name="tx_0618"/>
          <p:cNvSpPr txBox="1"/>
          <p:nvPr/>
        </p:nvSpPr>
        <p:spPr>
          <a:xfrm>
            <a:off x="1097280" y="2926080"/>
            <a:ext cx="1710689" cy="548639"/>
          </a:xfrm>
          <a:prstGeom prst="rect">
            <a:avLst/>
          </a:prstGeom>
          <a:noFill/>
        </p:spPr>
        <p:txBody>
          <a:bodyPr wrap="square" lIns="0" rIns="0" tIns="0" bIns="0">
            <a:spAutoFit/>
          </a:bodyPr>
          <a:lstStyle/>
          <a:p>
            <a:pPr>
              <a:lnSpc>
                <a:spcPct val="110000"/>
              </a:lnSpc>
              <a:spcAft>
                <a:spcPts val="400"/>
              </a:spcAft>
              <a:defRPr sz="1600" b="0" i="0">
                <a:solidFill>
                  <a:srgbClr val="6E6E73"/>
                </a:solidFill>
                <a:latin typeface="Segoe UI"/>
              </a:defRPr>
            </a:pPr>
            <a:r>
              <a:t>interactive SSH event</a:t>
            </a:r>
          </a:p>
        </p:txBody>
      </p:sp>
      <p:cxnSp>
        <p:nvCxnSpPr>
          <p:cNvPr id="9" name="ar_0619"/>
          <p:cNvCxnSpPr/>
          <p:nvPr/>
        </p:nvCxnSpPr>
        <p:spPr>
          <a:xfrm>
            <a:off x="3173729" y="2834640"/>
            <a:ext cx="320040" cy="0"/>
          </a:xfrm>
          <a:prstGeom prst="line">
            <a:avLst/>
          </a:prstGeom>
          <a:ln w="15875">
            <a:solidFill>
              <a:srgbClr val="86868B"/>
            </a:solidFill>
            <a:tailEnd type="triangle" w="sm" len="med"/>
          </a:ln>
        </p:spPr>
        <p:style>
          <a:lnRef idx="2">
            <a:schemeClr val="accent1"/>
          </a:lnRef>
          <a:fillRef idx="0">
            <a:schemeClr val="accent1"/>
          </a:fillRef>
          <a:effectRef idx="1">
            <a:schemeClr val="accent1"/>
          </a:effectRef>
          <a:fontRef idx="minor">
            <a:schemeClr val="tx1"/>
          </a:fontRef>
        </p:style>
      </p:cxnSp>
      <p:sp>
        <p:nvSpPr>
          <p:cNvPr id="10" name="rect_0620"/>
          <p:cNvSpPr/>
          <p:nvPr/>
        </p:nvSpPr>
        <p:spPr>
          <a:xfrm>
            <a:off x="3585209" y="2057400"/>
            <a:ext cx="2259329" cy="1554480"/>
          </a:xfrm>
          <a:prstGeom prst="roundRect">
            <a:avLst>
              <a:gd name="adj" fmla="val 12941"/>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x_0621"/>
          <p:cNvSpPr txBox="1"/>
          <p:nvPr/>
        </p:nvSpPr>
        <p:spPr>
          <a:xfrm>
            <a:off x="3859529" y="2331720"/>
            <a:ext cx="1710689" cy="548640"/>
          </a:xfrm>
          <a:prstGeom prst="rect">
            <a:avLst/>
          </a:prstGeom>
          <a:noFill/>
        </p:spPr>
        <p:txBody>
          <a:bodyPr wrap="square" lIns="0" rIns="0" tIns="0" bIns="0">
            <a:spAutoFit/>
          </a:bodyPr>
          <a:lstStyle/>
          <a:p>
            <a:pPr>
              <a:spcAft>
                <a:spcPts val="400"/>
              </a:spcAft>
              <a:defRPr sz="1900" b="0" i="0">
                <a:solidFill>
                  <a:srgbClr val="1D1D1F"/>
                </a:solidFill>
                <a:latin typeface="Segoe UI Semibold"/>
              </a:defRPr>
            </a:pPr>
            <a:r>
              <a:t>Packet handling</a:t>
            </a:r>
          </a:p>
        </p:txBody>
      </p:sp>
      <p:sp>
        <p:nvSpPr>
          <p:cNvPr id="12" name="tx_0622"/>
          <p:cNvSpPr txBox="1"/>
          <p:nvPr/>
        </p:nvSpPr>
        <p:spPr>
          <a:xfrm>
            <a:off x="3859529" y="2926080"/>
            <a:ext cx="1710689" cy="548639"/>
          </a:xfrm>
          <a:prstGeom prst="rect">
            <a:avLst/>
          </a:prstGeom>
          <a:noFill/>
        </p:spPr>
        <p:txBody>
          <a:bodyPr wrap="square" lIns="0" rIns="0" tIns="0" bIns="0">
            <a:spAutoFit/>
          </a:bodyPr>
          <a:lstStyle/>
          <a:p>
            <a:pPr>
              <a:lnSpc>
                <a:spcPct val="110000"/>
              </a:lnSpc>
              <a:spcAft>
                <a:spcPts val="400"/>
              </a:spcAft>
              <a:defRPr sz="1600" b="0" i="0">
                <a:solidFill>
                  <a:srgbClr val="6E6E73"/>
                </a:solidFill>
                <a:latin typeface="Segoe UI"/>
              </a:defRPr>
            </a:pPr>
            <a:r>
              <a:t>OpenSSH mem* calls</a:t>
            </a:r>
          </a:p>
        </p:txBody>
      </p:sp>
      <p:cxnSp>
        <p:nvCxnSpPr>
          <p:cNvPr id="13" name="ar_0623"/>
          <p:cNvCxnSpPr/>
          <p:nvPr/>
        </p:nvCxnSpPr>
        <p:spPr>
          <a:xfrm>
            <a:off x="5935979" y="2834640"/>
            <a:ext cx="320040" cy="0"/>
          </a:xfrm>
          <a:prstGeom prst="line">
            <a:avLst/>
          </a:prstGeom>
          <a:ln w="15875">
            <a:solidFill>
              <a:srgbClr val="86868B"/>
            </a:solidFill>
            <a:tailEnd type="triangle" w="sm" len="med"/>
          </a:ln>
        </p:spPr>
        <p:style>
          <a:lnRef idx="2">
            <a:schemeClr val="accent1"/>
          </a:lnRef>
          <a:fillRef idx="0">
            <a:schemeClr val="accent1"/>
          </a:fillRef>
          <a:effectRef idx="1">
            <a:schemeClr val="accent1"/>
          </a:effectRef>
          <a:fontRef idx="minor">
            <a:schemeClr val="tx1"/>
          </a:fontRef>
        </p:style>
      </p:cxnSp>
      <p:sp>
        <p:nvSpPr>
          <p:cNvPr id="14" name="rect_0624"/>
          <p:cNvSpPr/>
          <p:nvPr/>
        </p:nvSpPr>
        <p:spPr>
          <a:xfrm>
            <a:off x="6347459" y="2057400"/>
            <a:ext cx="2259329" cy="1554480"/>
          </a:xfrm>
          <a:prstGeom prst="roundRect">
            <a:avLst>
              <a:gd name="adj" fmla="val 12941"/>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x_0625"/>
          <p:cNvSpPr txBox="1"/>
          <p:nvPr/>
        </p:nvSpPr>
        <p:spPr>
          <a:xfrm>
            <a:off x="6621779" y="2331720"/>
            <a:ext cx="1710689" cy="548640"/>
          </a:xfrm>
          <a:prstGeom prst="rect">
            <a:avLst/>
          </a:prstGeom>
          <a:noFill/>
        </p:spPr>
        <p:txBody>
          <a:bodyPr wrap="square" lIns="0" rIns="0" tIns="0" bIns="0">
            <a:spAutoFit/>
          </a:bodyPr>
          <a:lstStyle/>
          <a:p>
            <a:pPr>
              <a:spcAft>
                <a:spcPts val="400"/>
              </a:spcAft>
              <a:defRPr sz="1900" b="0" i="0">
                <a:solidFill>
                  <a:srgbClr val="1D1D1F"/>
                </a:solidFill>
                <a:latin typeface="Segoe UI Semibold"/>
              </a:defRPr>
            </a:pPr>
            <a:r>
              <a:t>DTO offload</a:t>
            </a:r>
          </a:p>
        </p:txBody>
      </p:sp>
      <p:sp>
        <p:nvSpPr>
          <p:cNvPr id="16" name="tx_0626"/>
          <p:cNvSpPr txBox="1"/>
          <p:nvPr/>
        </p:nvSpPr>
        <p:spPr>
          <a:xfrm>
            <a:off x="6621779" y="2926080"/>
            <a:ext cx="1710689" cy="548639"/>
          </a:xfrm>
          <a:prstGeom prst="rect">
            <a:avLst/>
          </a:prstGeom>
          <a:noFill/>
        </p:spPr>
        <p:txBody>
          <a:bodyPr wrap="square" lIns="0" rIns="0" tIns="0" bIns="0">
            <a:spAutoFit/>
          </a:bodyPr>
          <a:lstStyle/>
          <a:p>
            <a:pPr>
              <a:lnSpc>
                <a:spcPct val="110000"/>
              </a:lnSpc>
              <a:spcAft>
                <a:spcPts val="400"/>
              </a:spcAft>
              <a:defRPr sz="1600" b="0" i="0">
                <a:solidFill>
                  <a:srgbClr val="6E6E73"/>
                </a:solidFill>
                <a:latin typeface="Segoe UI"/>
              </a:defRPr>
            </a:pPr>
            <a:r>
              <a:t>eligible calls → DSA</a:t>
            </a:r>
          </a:p>
        </p:txBody>
      </p:sp>
      <p:cxnSp>
        <p:nvCxnSpPr>
          <p:cNvPr id="17" name="ar_0627"/>
          <p:cNvCxnSpPr/>
          <p:nvPr/>
        </p:nvCxnSpPr>
        <p:spPr>
          <a:xfrm>
            <a:off x="8698229" y="2834640"/>
            <a:ext cx="320040" cy="0"/>
          </a:xfrm>
          <a:prstGeom prst="line">
            <a:avLst/>
          </a:prstGeom>
          <a:ln w="15875">
            <a:solidFill>
              <a:srgbClr val="86868B"/>
            </a:solidFill>
            <a:tailEnd type="triangle" w="sm" len="med"/>
          </a:ln>
        </p:spPr>
        <p:style>
          <a:lnRef idx="2">
            <a:schemeClr val="accent1"/>
          </a:lnRef>
          <a:fillRef idx="0">
            <a:schemeClr val="accent1"/>
          </a:fillRef>
          <a:effectRef idx="1">
            <a:schemeClr val="accent1"/>
          </a:effectRef>
          <a:fontRef idx="minor">
            <a:schemeClr val="tx1"/>
          </a:fontRef>
        </p:style>
      </p:cxnSp>
      <p:sp>
        <p:nvSpPr>
          <p:cNvPr id="18" name="rect_0628"/>
          <p:cNvSpPr/>
          <p:nvPr/>
        </p:nvSpPr>
        <p:spPr>
          <a:xfrm>
            <a:off x="9109709" y="2057400"/>
            <a:ext cx="2259329" cy="1554480"/>
          </a:xfrm>
          <a:prstGeom prst="roundRect">
            <a:avLst>
              <a:gd name="adj" fmla="val 12941"/>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x_0629"/>
          <p:cNvSpPr txBox="1"/>
          <p:nvPr/>
        </p:nvSpPr>
        <p:spPr>
          <a:xfrm>
            <a:off x="9384029" y="2331720"/>
            <a:ext cx="1710689" cy="548640"/>
          </a:xfrm>
          <a:prstGeom prst="rect">
            <a:avLst/>
          </a:prstGeom>
          <a:noFill/>
        </p:spPr>
        <p:txBody>
          <a:bodyPr wrap="square" lIns="0" rIns="0" tIns="0" bIns="0">
            <a:spAutoFit/>
          </a:bodyPr>
          <a:lstStyle/>
          <a:p>
            <a:pPr>
              <a:spcAft>
                <a:spcPts val="400"/>
              </a:spcAft>
              <a:defRPr sz="1900" b="0" i="0">
                <a:solidFill>
                  <a:srgbClr val="D70015"/>
                </a:solidFill>
                <a:latin typeface="Segoe UI Semibold"/>
              </a:defRPr>
            </a:pPr>
            <a:r>
              <a:t>DSA observation</a:t>
            </a:r>
          </a:p>
        </p:txBody>
      </p:sp>
      <p:sp>
        <p:nvSpPr>
          <p:cNvPr id="20" name="tx_0630"/>
          <p:cNvSpPr txBox="1"/>
          <p:nvPr/>
        </p:nvSpPr>
        <p:spPr>
          <a:xfrm>
            <a:off x="9384029" y="2926080"/>
            <a:ext cx="1710689" cy="548639"/>
          </a:xfrm>
          <a:prstGeom prst="rect">
            <a:avLst/>
          </a:prstGeom>
          <a:noFill/>
        </p:spPr>
        <p:txBody>
          <a:bodyPr wrap="square" lIns="0" rIns="0" tIns="0" bIns="0">
            <a:spAutoFit/>
          </a:bodyPr>
          <a:lstStyle/>
          <a:p>
            <a:pPr>
              <a:lnSpc>
                <a:spcPct val="110000"/>
              </a:lnSpc>
              <a:spcAft>
                <a:spcPts val="400"/>
              </a:spcAft>
              <a:defRPr sz="1600" b="0" i="0">
                <a:solidFill>
                  <a:srgbClr val="6E6E73"/>
                </a:solidFill>
                <a:latin typeface="Segoe UI"/>
              </a:defRPr>
            </a:pPr>
            <a:r>
              <a:t>eviction or congestion</a:t>
            </a:r>
          </a:p>
        </p:txBody>
      </p:sp>
      <p:sp>
        <p:nvSpPr>
          <p:cNvPr id="21" name="rect_0631"/>
          <p:cNvSpPr/>
          <p:nvPr/>
        </p:nvSpPr>
        <p:spPr>
          <a:xfrm>
            <a:off x="822960" y="4937760"/>
            <a:ext cx="502920" cy="41148"/>
          </a:xfrm>
          <a:prstGeom prst="rect">
            <a:avLst/>
          </a:prstGeom>
          <a:solidFill>
            <a:srgbClr val="D700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x_0632"/>
          <p:cNvSpPr txBox="1"/>
          <p:nvPr/>
        </p:nvSpPr>
        <p:spPr>
          <a:xfrm>
            <a:off x="822960" y="5093208"/>
            <a:ext cx="10546079" cy="548640"/>
          </a:xfrm>
          <a:prstGeom prst="rect">
            <a:avLst/>
          </a:prstGeom>
          <a:noFill/>
        </p:spPr>
        <p:txBody>
          <a:bodyPr wrap="square" lIns="0" rIns="0" tIns="0" bIns="0">
            <a:spAutoFit/>
          </a:bodyPr>
          <a:lstStyle/>
          <a:p>
            <a:pPr>
              <a:spcAft>
                <a:spcPts val="400"/>
              </a:spcAft>
              <a:defRPr sz="2100" b="0" i="0">
                <a:solidFill>
                  <a:srgbClr val="D70015"/>
                </a:solidFill>
                <a:latin typeface="Segoe UI Semibold"/>
              </a:defRPr>
            </a:pPr>
            <a:r>
              <a:t>The demonstrated output is keystroke timing — not recovered command text.</a:t>
            </a:r>
          </a:p>
        </p:txBody>
      </p:sp>
    </p:spTree>
  </p:cSld>
  <p:clrMapOvr>
    <a:masterClrMapping/>
  </p:clrMapOvr>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x_0633"/>
          <p:cNvSpPr txBox="1"/>
          <p:nvPr/>
        </p:nvSpPr>
        <p:spPr>
          <a:xfrm>
            <a:off x="822960" y="502920"/>
            <a:ext cx="10546079" cy="274320"/>
          </a:xfrm>
          <a:prstGeom prst="rect">
            <a:avLst/>
          </a:prstGeom>
          <a:noFill/>
        </p:spPr>
        <p:txBody>
          <a:bodyPr wrap="square" lIns="0" rIns="0" tIns="0" bIns="0">
            <a:spAutoFit/>
          </a:bodyPr>
          <a:lstStyle/>
          <a:p>
            <a:pPr>
              <a:spcAft>
                <a:spcPts val="400"/>
              </a:spcAft>
              <a:defRPr sz="1200" b="0" i="0">
                <a:solidFill>
                  <a:srgbClr val="0071E3"/>
                </a:solidFill>
                <a:latin typeface="Segoe UI Semibold"/>
              </a:defRPr>
            </a:pPr>
            <a:r>
              <a:t>What it steals</a:t>
            </a:r>
          </a:p>
        </p:txBody>
      </p:sp>
      <p:sp>
        <p:nvSpPr>
          <p:cNvPr id="3" name="tx_0634"/>
          <p:cNvSpPr txBox="1"/>
          <p:nvPr/>
        </p:nvSpPr>
        <p:spPr>
          <a:xfrm>
            <a:off x="822960" y="822960"/>
            <a:ext cx="10546079" cy="914400"/>
          </a:xfrm>
          <a:prstGeom prst="rect">
            <a:avLst/>
          </a:prstGeom>
          <a:noFill/>
        </p:spPr>
        <p:txBody>
          <a:bodyPr wrap="square" lIns="0" rIns="0" tIns="0" bIns="0">
            <a:spAutoFit/>
          </a:bodyPr>
          <a:lstStyle/>
          <a:p>
            <a:pPr>
              <a:lnSpc>
                <a:spcPct val="100000"/>
              </a:lnSpc>
              <a:spcAft>
                <a:spcPts val="400"/>
              </a:spcAft>
              <a:defRPr sz="3000" b="0" i="0">
                <a:solidFill>
                  <a:srgbClr val="1D1D1F"/>
                </a:solidFill>
                <a:latin typeface="Segoe UI Semibold"/>
              </a:defRPr>
            </a:pPr>
            <a:r>
              <a:t>You can see the typing</a:t>
            </a:r>
          </a:p>
        </p:txBody>
      </p:sp>
      <p:sp>
        <p:nvSpPr>
          <p:cNvPr id="4" name="tx_0635"/>
          <p:cNvSpPr txBox="1"/>
          <p:nvPr/>
        </p:nvSpPr>
        <p:spPr>
          <a:xfrm>
            <a:off x="822960" y="6419088"/>
            <a:ext cx="9631679" cy="228600"/>
          </a:xfrm>
          <a:prstGeom prst="rect">
            <a:avLst/>
          </a:prstGeom>
          <a:noFill/>
        </p:spPr>
        <p:txBody>
          <a:bodyPr wrap="square" lIns="0" rIns="0" tIns="0" bIns="0">
            <a:spAutoFit/>
          </a:bodyPr>
          <a:lstStyle/>
          <a:p>
            <a:pPr>
              <a:spcAft>
                <a:spcPts val="400"/>
              </a:spcAft>
              <a:defRPr sz="1000" b="0" i="0">
                <a:solidFill>
                  <a:srgbClr val="86868B"/>
                </a:solidFill>
                <a:latin typeface="Segoe UI"/>
              </a:defRPr>
            </a:pPr>
            <a:r>
              <a:t>Paper § VI-C, Fig. 12 · p. 10 · original filtered traces</a:t>
            </a:r>
          </a:p>
        </p:txBody>
      </p:sp>
      <p:sp>
        <p:nvSpPr>
          <p:cNvPr id="5" name="tx_0636"/>
          <p:cNvSpPr txBox="1"/>
          <p:nvPr/>
        </p:nvSpPr>
        <p:spPr>
          <a:xfrm>
            <a:off x="10820399" y="6419088"/>
            <a:ext cx="548640" cy="228600"/>
          </a:xfrm>
          <a:prstGeom prst="rect">
            <a:avLst/>
          </a:prstGeom>
          <a:noFill/>
        </p:spPr>
        <p:txBody>
          <a:bodyPr wrap="square" lIns="0" rIns="0" tIns="0" bIns="0">
            <a:spAutoFit/>
          </a:bodyPr>
          <a:lstStyle/>
          <a:p>
            <a:pPr algn="r">
              <a:spcAft>
                <a:spcPts val="400"/>
              </a:spcAft>
              <a:defRPr sz="1000" b="0" i="0">
                <a:solidFill>
                  <a:srgbClr val="86868B"/>
                </a:solidFill>
                <a:latin typeface="Segoe UI"/>
              </a:defRPr>
            </a:pPr>
            <a:r>
              <a:t>36</a:t>
            </a:r>
          </a:p>
        </p:txBody>
      </p:sp>
      <p:pic>
        <p:nvPicPr>
          <p:cNvPr id="6" name="pic_0637" descr="keystrokes.png"/>
          <p:cNvPicPr>
            <a:picLocks noChangeAspect="1"/>
          </p:cNvPicPr>
          <p:nvPr/>
        </p:nvPicPr>
        <p:blipFill>
          <a:blip r:embed="rId3"/>
          <a:stretch>
            <a:fillRect/>
          </a:stretch>
        </p:blipFill>
        <p:spPr>
          <a:xfrm>
            <a:off x="1984295" y="1783080"/>
            <a:ext cx="4901088" cy="3749039"/>
          </a:xfrm>
          <a:prstGeom prst="rect">
            <a:avLst/>
          </a:prstGeom>
        </p:spPr>
      </p:pic>
      <p:sp>
        <p:nvSpPr>
          <p:cNvPr id="7" name="tx_0638"/>
          <p:cNvSpPr txBox="1"/>
          <p:nvPr/>
        </p:nvSpPr>
        <p:spPr>
          <a:xfrm>
            <a:off x="8412480" y="1965960"/>
            <a:ext cx="2926080" cy="365760"/>
          </a:xfrm>
          <a:prstGeom prst="rect">
            <a:avLst/>
          </a:prstGeom>
          <a:noFill/>
        </p:spPr>
        <p:txBody>
          <a:bodyPr wrap="square" lIns="0" rIns="0" tIns="0" bIns="0">
            <a:spAutoFit/>
          </a:bodyPr>
          <a:lstStyle/>
          <a:p>
            <a:pPr>
              <a:spcAft>
                <a:spcPts val="400"/>
              </a:spcAft>
              <a:defRPr sz="1600" b="0" i="0">
                <a:solidFill>
                  <a:srgbClr val="0071E3"/>
                </a:solidFill>
                <a:latin typeface="Segoe UI Semibold"/>
              </a:defRPr>
            </a:pPr>
            <a:r>
              <a:t>Read the panels</a:t>
            </a:r>
          </a:p>
        </p:txBody>
      </p:sp>
      <p:cxnSp>
        <p:nvCxnSpPr>
          <p:cNvPr id="8" name="hl_0639"/>
          <p:cNvCxnSpPr/>
          <p:nvPr/>
        </p:nvCxnSpPr>
        <p:spPr>
          <a:xfrm>
            <a:off x="8412480" y="2350008"/>
            <a:ext cx="2926080"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9" name="tx_0640"/>
          <p:cNvSpPr txBox="1"/>
          <p:nvPr/>
        </p:nvSpPr>
        <p:spPr>
          <a:xfrm>
            <a:off x="8412480" y="2560320"/>
            <a:ext cx="2926080" cy="457200"/>
          </a:xfrm>
          <a:prstGeom prst="rect">
            <a:avLst/>
          </a:prstGeom>
          <a:noFill/>
        </p:spPr>
        <p:txBody>
          <a:bodyPr wrap="square" lIns="0" rIns="0" tIns="0" bIns="0">
            <a:spAutoFit/>
          </a:bodyPr>
          <a:lstStyle/>
          <a:p>
            <a:pPr>
              <a:spcAft>
                <a:spcPts val="400"/>
              </a:spcAft>
              <a:defRPr sz="1700" b="0" i="0">
                <a:solidFill>
                  <a:srgbClr val="1D1D1F"/>
                </a:solidFill>
                <a:latin typeface="Segoe UI"/>
              </a:defRPr>
            </a:pPr>
            <a:r>
              <a:t>Top: completion latency</a:t>
            </a:r>
          </a:p>
        </p:txBody>
      </p:sp>
      <p:sp>
        <p:nvSpPr>
          <p:cNvPr id="10" name="tx_0641"/>
          <p:cNvSpPr txBox="1"/>
          <p:nvPr/>
        </p:nvSpPr>
        <p:spPr>
          <a:xfrm>
            <a:off x="8412480" y="3063239"/>
            <a:ext cx="2926080" cy="457200"/>
          </a:xfrm>
          <a:prstGeom prst="rect">
            <a:avLst/>
          </a:prstGeom>
          <a:noFill/>
        </p:spPr>
        <p:txBody>
          <a:bodyPr wrap="square" lIns="0" rIns="0" tIns="0" bIns="0">
            <a:spAutoFit/>
          </a:bodyPr>
          <a:lstStyle/>
          <a:p>
            <a:pPr>
              <a:spcAft>
                <a:spcPts val="400"/>
              </a:spcAft>
              <a:defRPr sz="1700" b="0" i="0">
                <a:solidFill>
                  <a:srgbClr val="1D1D1F"/>
                </a:solidFill>
                <a:latin typeface="Segoe UI"/>
              </a:defRPr>
            </a:pPr>
            <a:r>
              <a:t>Bottom: queue contention</a:t>
            </a:r>
          </a:p>
        </p:txBody>
      </p:sp>
      <p:sp>
        <p:nvSpPr>
          <p:cNvPr id="11" name="tx_0642"/>
          <p:cNvSpPr txBox="1"/>
          <p:nvPr/>
        </p:nvSpPr>
        <p:spPr>
          <a:xfrm>
            <a:off x="8412480" y="3566160"/>
            <a:ext cx="2926080" cy="457200"/>
          </a:xfrm>
          <a:prstGeom prst="rect">
            <a:avLst/>
          </a:prstGeom>
          <a:noFill/>
        </p:spPr>
        <p:txBody>
          <a:bodyPr wrap="square" lIns="0" rIns="0" tIns="0" bIns="0">
            <a:spAutoFit/>
          </a:bodyPr>
          <a:lstStyle/>
          <a:p>
            <a:pPr>
              <a:spcAft>
                <a:spcPts val="400"/>
              </a:spcAft>
              <a:defRPr sz="1700" b="0" i="0">
                <a:solidFill>
                  <a:srgbClr val="1D1D1F"/>
                </a:solidFill>
                <a:latin typeface="Segoe UI"/>
              </a:defRPr>
            </a:pPr>
            <a:r>
              <a:t>Labels: ground-truth input</a:t>
            </a:r>
          </a:p>
        </p:txBody>
      </p:sp>
      <p:sp>
        <p:nvSpPr>
          <p:cNvPr id="12" name="tx_0643"/>
          <p:cNvSpPr txBox="1"/>
          <p:nvPr/>
        </p:nvSpPr>
        <p:spPr>
          <a:xfrm>
            <a:off x="8412480" y="4251960"/>
            <a:ext cx="2926080" cy="822960"/>
          </a:xfrm>
          <a:prstGeom prst="rect">
            <a:avLst/>
          </a:prstGeom>
          <a:noFill/>
        </p:spPr>
        <p:txBody>
          <a:bodyPr wrap="square" lIns="0" rIns="0" tIns="0" bIns="0">
            <a:spAutoFit/>
          </a:bodyPr>
          <a:lstStyle/>
          <a:p>
            <a:pPr>
              <a:lnSpc>
                <a:spcPct val="115000"/>
              </a:lnSpc>
              <a:spcAft>
                <a:spcPts val="400"/>
              </a:spcAft>
              <a:defRPr sz="1500" b="0" i="0">
                <a:solidFill>
                  <a:srgbClr val="6E6E73"/>
                </a:solidFill>
                <a:latin typeface="Segoe UI"/>
              </a:defRPr>
            </a:pPr>
            <a:r>
              <a:t>Filtering affects event metrics; thresholds matter.</a:t>
            </a:r>
          </a:p>
        </p:txBody>
      </p:sp>
      <p:sp>
        <p:nvSpPr>
          <p:cNvPr id="13" name="rect_0644"/>
          <p:cNvSpPr/>
          <p:nvPr/>
        </p:nvSpPr>
        <p:spPr>
          <a:xfrm>
            <a:off x="822960" y="5760720"/>
            <a:ext cx="502920" cy="41148"/>
          </a:xfrm>
          <a:prstGeom prst="rect">
            <a:avLst/>
          </a:prstGeom>
          <a:solidFill>
            <a:srgbClr val="007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x_0645"/>
          <p:cNvSpPr txBox="1"/>
          <p:nvPr/>
        </p:nvSpPr>
        <p:spPr>
          <a:xfrm>
            <a:off x="822960" y="5916168"/>
            <a:ext cx="10546079" cy="548640"/>
          </a:xfrm>
          <a:prstGeom prst="rect">
            <a:avLst/>
          </a:prstGeom>
          <a:noFill/>
        </p:spPr>
        <p:txBody>
          <a:bodyPr wrap="square" lIns="0" rIns="0" tIns="0" bIns="0">
            <a:spAutoFit/>
          </a:bodyPr>
          <a:lstStyle/>
          <a:p>
            <a:pPr>
              <a:spcAft>
                <a:spcPts val="400"/>
              </a:spcAft>
              <a:defRPr sz="2100" b="0" i="0">
                <a:solidFill>
                  <a:srgbClr val="1D1D1F"/>
                </a:solidFill>
                <a:latin typeface="Segoe UI Semibold"/>
              </a:defRPr>
            </a:pPr>
            <a:r>
              <a:t>Both primitives reveal candidate keystroke events.</a:t>
            </a:r>
          </a:p>
        </p:txBody>
      </p:sp>
    </p:spTree>
  </p:cSld>
  <p:clrMapOvr>
    <a:masterClrMapping/>
  </p:clrMapOvr>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x_0646"/>
          <p:cNvSpPr txBox="1"/>
          <p:nvPr/>
        </p:nvSpPr>
        <p:spPr>
          <a:xfrm>
            <a:off x="822960" y="502920"/>
            <a:ext cx="10546079" cy="274320"/>
          </a:xfrm>
          <a:prstGeom prst="rect">
            <a:avLst/>
          </a:prstGeom>
          <a:noFill/>
        </p:spPr>
        <p:txBody>
          <a:bodyPr wrap="square" lIns="0" rIns="0" tIns="0" bIns="0">
            <a:spAutoFit/>
          </a:bodyPr>
          <a:lstStyle/>
          <a:p>
            <a:pPr>
              <a:spcAft>
                <a:spcPts val="400"/>
              </a:spcAft>
              <a:defRPr sz="1200" b="0" i="0">
                <a:solidFill>
                  <a:srgbClr val="0071E3"/>
                </a:solidFill>
                <a:latin typeface="Segoe UI Semibold"/>
              </a:defRPr>
            </a:pPr>
            <a:r>
              <a:t>What it steals</a:t>
            </a:r>
          </a:p>
        </p:txBody>
      </p:sp>
      <p:sp>
        <p:nvSpPr>
          <p:cNvPr id="3" name="tx_0647"/>
          <p:cNvSpPr txBox="1"/>
          <p:nvPr/>
        </p:nvSpPr>
        <p:spPr>
          <a:xfrm>
            <a:off x="822960" y="822960"/>
            <a:ext cx="10546079" cy="914400"/>
          </a:xfrm>
          <a:prstGeom prst="rect">
            <a:avLst/>
          </a:prstGeom>
          <a:noFill/>
        </p:spPr>
        <p:txBody>
          <a:bodyPr wrap="square" lIns="0" rIns="0" tIns="0" bIns="0">
            <a:spAutoFit/>
          </a:bodyPr>
          <a:lstStyle/>
          <a:p>
            <a:pPr>
              <a:lnSpc>
                <a:spcPct val="100000"/>
              </a:lnSpc>
              <a:spcAft>
                <a:spcPts val="400"/>
              </a:spcAft>
              <a:defRPr sz="3000" b="0" i="0">
                <a:solidFill>
                  <a:srgbClr val="1D1D1F"/>
                </a:solidFill>
                <a:latin typeface="Segoe UI Semibold"/>
              </a:defRPr>
            </a:pPr>
            <a:r>
              <a:t>SWQ wins timing — and a caveat I owe you</a:t>
            </a:r>
          </a:p>
        </p:txBody>
      </p:sp>
      <p:sp>
        <p:nvSpPr>
          <p:cNvPr id="4" name="tx_0648"/>
          <p:cNvSpPr txBox="1"/>
          <p:nvPr/>
        </p:nvSpPr>
        <p:spPr>
          <a:xfrm>
            <a:off x="822960" y="6419088"/>
            <a:ext cx="9631679" cy="228600"/>
          </a:xfrm>
          <a:prstGeom prst="rect">
            <a:avLst/>
          </a:prstGeom>
          <a:noFill/>
        </p:spPr>
        <p:txBody>
          <a:bodyPr wrap="square" lIns="0" rIns="0" tIns="0" bIns="0">
            <a:spAutoFit/>
          </a:bodyPr>
          <a:lstStyle/>
          <a:p>
            <a:pPr>
              <a:spcAft>
                <a:spcPts val="400"/>
              </a:spcAft>
              <a:defRPr sz="1000" b="0" i="0">
                <a:solidFill>
                  <a:srgbClr val="86868B"/>
                </a:solidFill>
                <a:latin typeface="Segoe UI"/>
              </a:defRPr>
            </a:pPr>
            <a:r>
              <a:t>Paper § VI-C, Tables III–IV · pp. 10–12 · headline metrics as reported</a:t>
            </a:r>
          </a:p>
        </p:txBody>
      </p:sp>
      <p:sp>
        <p:nvSpPr>
          <p:cNvPr id="5" name="tx_0649"/>
          <p:cNvSpPr txBox="1"/>
          <p:nvPr/>
        </p:nvSpPr>
        <p:spPr>
          <a:xfrm>
            <a:off x="10820399" y="6419088"/>
            <a:ext cx="548640" cy="228600"/>
          </a:xfrm>
          <a:prstGeom prst="rect">
            <a:avLst/>
          </a:prstGeom>
          <a:noFill/>
        </p:spPr>
        <p:txBody>
          <a:bodyPr wrap="square" lIns="0" rIns="0" tIns="0" bIns="0">
            <a:spAutoFit/>
          </a:bodyPr>
          <a:lstStyle/>
          <a:p>
            <a:pPr algn="r">
              <a:spcAft>
                <a:spcPts val="400"/>
              </a:spcAft>
              <a:defRPr sz="1000" b="0" i="0">
                <a:solidFill>
                  <a:srgbClr val="86868B"/>
                </a:solidFill>
                <a:latin typeface="Segoe UI"/>
              </a:defRPr>
            </a:pPr>
            <a:r>
              <a:t>37</a:t>
            </a:r>
          </a:p>
        </p:txBody>
      </p:sp>
      <p:sp>
        <p:nvSpPr>
          <p:cNvPr id="6" name="tx_0650"/>
          <p:cNvSpPr txBox="1"/>
          <p:nvPr/>
        </p:nvSpPr>
        <p:spPr>
          <a:xfrm>
            <a:off x="868680" y="1783080"/>
            <a:ext cx="3388766" cy="274320"/>
          </a:xfrm>
          <a:prstGeom prst="rect">
            <a:avLst/>
          </a:prstGeom>
          <a:noFill/>
        </p:spPr>
        <p:txBody>
          <a:bodyPr wrap="square" lIns="0" rIns="0" tIns="0" bIns="0">
            <a:spAutoFit/>
          </a:bodyPr>
          <a:lstStyle/>
          <a:p>
            <a:pPr>
              <a:spcAft>
                <a:spcPts val="400"/>
              </a:spcAft>
              <a:defRPr sz="1200" b="0" i="0">
                <a:solidFill>
                  <a:srgbClr val="86868B"/>
                </a:solidFill>
                <a:latin typeface="Segoe UI Semibold"/>
              </a:defRPr>
            </a:pPr>
            <a:r>
              <a:t>PRIMITIVE</a:t>
            </a:r>
          </a:p>
        </p:txBody>
      </p:sp>
      <p:sp>
        <p:nvSpPr>
          <p:cNvPr id="7" name="tx_0651"/>
          <p:cNvSpPr txBox="1"/>
          <p:nvPr/>
        </p:nvSpPr>
        <p:spPr>
          <a:xfrm>
            <a:off x="4348886" y="1783080"/>
            <a:ext cx="3388766" cy="274320"/>
          </a:xfrm>
          <a:prstGeom prst="rect">
            <a:avLst/>
          </a:prstGeom>
          <a:noFill/>
        </p:spPr>
        <p:txBody>
          <a:bodyPr wrap="square" lIns="0" rIns="0" tIns="0" bIns="0">
            <a:spAutoFit/>
          </a:bodyPr>
          <a:lstStyle/>
          <a:p>
            <a:pPr>
              <a:spcAft>
                <a:spcPts val="400"/>
              </a:spcAft>
              <a:defRPr sz="1200" b="0" i="0">
                <a:solidFill>
                  <a:srgbClr val="86868B"/>
                </a:solidFill>
                <a:latin typeface="Segoe UI Semibold"/>
              </a:defRPr>
            </a:pPr>
            <a:r>
              <a:t>REPORTED F1</a:t>
            </a:r>
          </a:p>
        </p:txBody>
      </p:sp>
      <p:sp>
        <p:nvSpPr>
          <p:cNvPr id="8" name="tx_0652"/>
          <p:cNvSpPr txBox="1"/>
          <p:nvPr/>
        </p:nvSpPr>
        <p:spPr>
          <a:xfrm>
            <a:off x="7829092" y="1783080"/>
            <a:ext cx="3494227" cy="274320"/>
          </a:xfrm>
          <a:prstGeom prst="rect">
            <a:avLst/>
          </a:prstGeom>
          <a:noFill/>
        </p:spPr>
        <p:txBody>
          <a:bodyPr wrap="square" lIns="0" rIns="0" tIns="0" bIns="0">
            <a:spAutoFit/>
          </a:bodyPr>
          <a:lstStyle/>
          <a:p>
            <a:pPr>
              <a:spcAft>
                <a:spcPts val="400"/>
              </a:spcAft>
              <a:defRPr sz="1200" b="0" i="0">
                <a:solidFill>
                  <a:srgbClr val="86868B"/>
                </a:solidFill>
                <a:latin typeface="Segoe UI Semibold"/>
              </a:defRPr>
            </a:pPr>
            <a:r>
              <a:t>TIMESTAMP DEVIATION (Σ)</a:t>
            </a:r>
          </a:p>
        </p:txBody>
      </p:sp>
      <p:cxnSp>
        <p:nvCxnSpPr>
          <p:cNvPr id="9" name="hl_0653"/>
          <p:cNvCxnSpPr/>
          <p:nvPr/>
        </p:nvCxnSpPr>
        <p:spPr>
          <a:xfrm>
            <a:off x="822960" y="2148840"/>
            <a:ext cx="10546079" cy="0"/>
          </a:xfrm>
          <a:prstGeom prst="line">
            <a:avLst/>
          </a:prstGeom>
          <a:ln w="12700">
            <a:solidFill>
              <a:srgbClr val="1D1D1F"/>
            </a:solidFill>
          </a:ln>
        </p:spPr>
        <p:style>
          <a:lnRef idx="2">
            <a:schemeClr val="accent1"/>
          </a:lnRef>
          <a:fillRef idx="0">
            <a:schemeClr val="accent1"/>
          </a:fillRef>
          <a:effectRef idx="1">
            <a:schemeClr val="accent1"/>
          </a:effectRef>
          <a:fontRef idx="minor">
            <a:schemeClr val="tx1"/>
          </a:fontRef>
        </p:style>
      </p:cxnSp>
      <p:sp>
        <p:nvSpPr>
          <p:cNvPr id="10" name="tx_0654"/>
          <p:cNvSpPr txBox="1"/>
          <p:nvPr/>
        </p:nvSpPr>
        <p:spPr>
          <a:xfrm>
            <a:off x="868680" y="2286000"/>
            <a:ext cx="3388766" cy="365760"/>
          </a:xfrm>
          <a:prstGeom prst="rect">
            <a:avLst/>
          </a:prstGeom>
          <a:noFill/>
        </p:spPr>
        <p:txBody>
          <a:bodyPr wrap="square" lIns="0" rIns="0" tIns="0" bIns="0" anchor="ctr">
            <a:spAutoFit/>
          </a:bodyPr>
          <a:lstStyle/>
          <a:p>
            <a:pPr>
              <a:spcAft>
                <a:spcPts val="400"/>
              </a:spcAft>
              <a:defRPr sz="2000" b="0" i="0">
                <a:solidFill>
                  <a:srgbClr val="1D1D1F"/>
                </a:solidFill>
                <a:latin typeface="Segoe UI Semibold"/>
              </a:defRPr>
            </a:pPr>
            <a:r>
              <a:t>DevTLB</a:t>
            </a:r>
          </a:p>
        </p:txBody>
      </p:sp>
      <p:sp>
        <p:nvSpPr>
          <p:cNvPr id="11" name="tx_0655"/>
          <p:cNvSpPr txBox="1"/>
          <p:nvPr/>
        </p:nvSpPr>
        <p:spPr>
          <a:xfrm>
            <a:off x="4348886" y="2286000"/>
            <a:ext cx="3388766" cy="365760"/>
          </a:xfrm>
          <a:prstGeom prst="rect">
            <a:avLst/>
          </a:prstGeom>
          <a:noFill/>
        </p:spPr>
        <p:txBody>
          <a:bodyPr wrap="square" lIns="0" rIns="0" tIns="0" bIns="0" anchor="ctr">
            <a:spAutoFit/>
          </a:bodyPr>
          <a:lstStyle/>
          <a:p>
            <a:pPr>
              <a:spcAft>
                <a:spcPts val="400"/>
              </a:spcAft>
              <a:defRPr sz="2000" b="0" i="0">
                <a:solidFill>
                  <a:srgbClr val="1D1D1F"/>
                </a:solidFill>
                <a:latin typeface="Segoe UI"/>
              </a:defRPr>
            </a:pPr>
            <a:r>
              <a:t>92.0%</a:t>
            </a:r>
          </a:p>
        </p:txBody>
      </p:sp>
      <p:sp>
        <p:nvSpPr>
          <p:cNvPr id="12" name="tx_0656"/>
          <p:cNvSpPr txBox="1"/>
          <p:nvPr/>
        </p:nvSpPr>
        <p:spPr>
          <a:xfrm>
            <a:off x="7829092" y="2286000"/>
            <a:ext cx="3494227" cy="365760"/>
          </a:xfrm>
          <a:prstGeom prst="rect">
            <a:avLst/>
          </a:prstGeom>
          <a:noFill/>
        </p:spPr>
        <p:txBody>
          <a:bodyPr wrap="square" lIns="0" rIns="0" tIns="0" bIns="0" anchor="ctr">
            <a:spAutoFit/>
          </a:bodyPr>
          <a:lstStyle/>
          <a:p>
            <a:pPr>
              <a:spcAft>
                <a:spcPts val="400"/>
              </a:spcAft>
              <a:defRPr sz="2000" b="0" i="0">
                <a:solidFill>
                  <a:srgbClr val="1D1D1F"/>
                </a:solidFill>
                <a:latin typeface="Segoe UI"/>
              </a:defRPr>
            </a:pPr>
            <a:r>
              <a:t>5.29 ms</a:t>
            </a:r>
          </a:p>
        </p:txBody>
      </p:sp>
      <p:cxnSp>
        <p:nvCxnSpPr>
          <p:cNvPr id="13" name="hl_0657"/>
          <p:cNvCxnSpPr/>
          <p:nvPr/>
        </p:nvCxnSpPr>
        <p:spPr>
          <a:xfrm>
            <a:off x="822960" y="2788920"/>
            <a:ext cx="10546079"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14" name="tx_0658"/>
          <p:cNvSpPr txBox="1"/>
          <p:nvPr/>
        </p:nvSpPr>
        <p:spPr>
          <a:xfrm>
            <a:off x="868680" y="2926079"/>
            <a:ext cx="3388766" cy="365760"/>
          </a:xfrm>
          <a:prstGeom prst="rect">
            <a:avLst/>
          </a:prstGeom>
          <a:noFill/>
        </p:spPr>
        <p:txBody>
          <a:bodyPr wrap="square" lIns="0" rIns="0" tIns="0" bIns="0" anchor="ctr">
            <a:spAutoFit/>
          </a:bodyPr>
          <a:lstStyle/>
          <a:p>
            <a:pPr>
              <a:spcAft>
                <a:spcPts val="400"/>
              </a:spcAft>
              <a:defRPr sz="2000" b="0" i="0">
                <a:solidFill>
                  <a:srgbClr val="0071E3"/>
                </a:solidFill>
                <a:latin typeface="Segoe UI Semibold"/>
              </a:defRPr>
            </a:pPr>
            <a:r>
              <a:t>SWQ</a:t>
            </a:r>
          </a:p>
        </p:txBody>
      </p:sp>
      <p:sp>
        <p:nvSpPr>
          <p:cNvPr id="15" name="tx_0659"/>
          <p:cNvSpPr txBox="1"/>
          <p:nvPr/>
        </p:nvSpPr>
        <p:spPr>
          <a:xfrm>
            <a:off x="4348886" y="2926079"/>
            <a:ext cx="3388766" cy="365760"/>
          </a:xfrm>
          <a:prstGeom prst="rect">
            <a:avLst/>
          </a:prstGeom>
          <a:noFill/>
        </p:spPr>
        <p:txBody>
          <a:bodyPr wrap="square" lIns="0" rIns="0" tIns="0" bIns="0" anchor="ctr">
            <a:spAutoFit/>
          </a:bodyPr>
          <a:lstStyle/>
          <a:p>
            <a:pPr>
              <a:spcAft>
                <a:spcPts val="400"/>
              </a:spcAft>
              <a:defRPr sz="2000" b="0" i="0">
                <a:solidFill>
                  <a:srgbClr val="0071E3"/>
                </a:solidFill>
                <a:latin typeface="Segoe UI Semibold"/>
              </a:defRPr>
            </a:pPr>
            <a:r>
              <a:t>98.4%</a:t>
            </a:r>
          </a:p>
        </p:txBody>
      </p:sp>
      <p:sp>
        <p:nvSpPr>
          <p:cNvPr id="16" name="tx_0660"/>
          <p:cNvSpPr txBox="1"/>
          <p:nvPr/>
        </p:nvSpPr>
        <p:spPr>
          <a:xfrm>
            <a:off x="7829092" y="2926079"/>
            <a:ext cx="3494227" cy="365760"/>
          </a:xfrm>
          <a:prstGeom prst="rect">
            <a:avLst/>
          </a:prstGeom>
          <a:noFill/>
        </p:spPr>
        <p:txBody>
          <a:bodyPr wrap="square" lIns="0" rIns="0" tIns="0" bIns="0" anchor="ctr">
            <a:spAutoFit/>
          </a:bodyPr>
          <a:lstStyle/>
          <a:p>
            <a:pPr>
              <a:spcAft>
                <a:spcPts val="400"/>
              </a:spcAft>
              <a:defRPr sz="2000" b="0" i="0">
                <a:solidFill>
                  <a:srgbClr val="0071E3"/>
                </a:solidFill>
                <a:latin typeface="Segoe UI Semibold"/>
              </a:defRPr>
            </a:pPr>
            <a:r>
              <a:t>1.21 ms</a:t>
            </a:r>
          </a:p>
        </p:txBody>
      </p:sp>
      <p:cxnSp>
        <p:nvCxnSpPr>
          <p:cNvPr id="17" name="hl_0661"/>
          <p:cNvCxnSpPr/>
          <p:nvPr/>
        </p:nvCxnSpPr>
        <p:spPr>
          <a:xfrm>
            <a:off x="822960" y="3429000"/>
            <a:ext cx="10546079"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18" name="tx_0662"/>
          <p:cNvSpPr txBox="1"/>
          <p:nvPr/>
        </p:nvSpPr>
        <p:spPr>
          <a:xfrm>
            <a:off x="822960" y="3886200"/>
            <a:ext cx="10546079" cy="457200"/>
          </a:xfrm>
          <a:prstGeom prst="rect">
            <a:avLst/>
          </a:prstGeom>
          <a:noFill/>
        </p:spPr>
        <p:txBody>
          <a:bodyPr wrap="square" lIns="0" rIns="0" tIns="0" bIns="0">
            <a:spAutoFit/>
          </a:bodyPr>
          <a:lstStyle/>
          <a:p>
            <a:pPr>
              <a:spcAft>
                <a:spcPts val="400"/>
              </a:spcAft>
              <a:defRPr sz="1600" b="0" i="1">
                <a:solidFill>
                  <a:srgbClr val="D70015"/>
                </a:solidFill>
                <a:latin typeface="Segoe UI"/>
              </a:defRPr>
            </a:pPr>
            <a:r>
              <a:t>Reporting caveat: the detection / FP / FN counts in § VI-C do not fully reconcile with the printed F1 (see backup).</a:t>
            </a:r>
          </a:p>
        </p:txBody>
      </p:sp>
      <p:sp>
        <p:nvSpPr>
          <p:cNvPr id="19" name="rect_0663"/>
          <p:cNvSpPr/>
          <p:nvPr/>
        </p:nvSpPr>
        <p:spPr>
          <a:xfrm>
            <a:off x="822960" y="5623560"/>
            <a:ext cx="502920" cy="41148"/>
          </a:xfrm>
          <a:prstGeom prst="rect">
            <a:avLst/>
          </a:prstGeom>
          <a:solidFill>
            <a:srgbClr val="007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x_0664"/>
          <p:cNvSpPr txBox="1"/>
          <p:nvPr/>
        </p:nvSpPr>
        <p:spPr>
          <a:xfrm>
            <a:off x="822960" y="5779008"/>
            <a:ext cx="10546079" cy="548640"/>
          </a:xfrm>
          <a:prstGeom prst="rect">
            <a:avLst/>
          </a:prstGeom>
          <a:noFill/>
        </p:spPr>
        <p:txBody>
          <a:bodyPr wrap="square" lIns="0" rIns="0" tIns="0" bIns="0">
            <a:spAutoFit/>
          </a:bodyPr>
          <a:lstStyle/>
          <a:p>
            <a:pPr>
              <a:spcAft>
                <a:spcPts val="400"/>
              </a:spcAft>
              <a:defRPr sz="2100" b="0" i="0">
                <a:solidFill>
                  <a:srgbClr val="1D1D1F"/>
                </a:solidFill>
                <a:latin typeface="Segoe UI Semibold"/>
              </a:defRPr>
            </a:pPr>
            <a:r>
              <a:t>Use the headline values with attribution; disclose the arithmetic gap.</a:t>
            </a:r>
          </a:p>
        </p:txBody>
      </p:sp>
    </p:spTree>
  </p:cSld>
  <p:clrMapOvr>
    <a:masterClrMapping/>
  </p:clrMapOvr>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x_0665"/>
          <p:cNvSpPr txBox="1"/>
          <p:nvPr/>
        </p:nvSpPr>
        <p:spPr>
          <a:xfrm>
            <a:off x="822960" y="502920"/>
            <a:ext cx="10546079" cy="274320"/>
          </a:xfrm>
          <a:prstGeom prst="rect">
            <a:avLst/>
          </a:prstGeom>
          <a:noFill/>
        </p:spPr>
        <p:txBody>
          <a:bodyPr wrap="square" lIns="0" rIns="0" tIns="0" bIns="0">
            <a:spAutoFit/>
          </a:bodyPr>
          <a:lstStyle/>
          <a:p>
            <a:pPr>
              <a:spcAft>
                <a:spcPts val="400"/>
              </a:spcAft>
              <a:defRPr sz="1200" b="0" i="0">
                <a:solidFill>
                  <a:srgbClr val="0071E3"/>
                </a:solidFill>
                <a:latin typeface="Segoe UI Semibold"/>
              </a:defRPr>
            </a:pPr>
            <a:r>
              <a:t>What it steals</a:t>
            </a:r>
          </a:p>
        </p:txBody>
      </p:sp>
      <p:sp>
        <p:nvSpPr>
          <p:cNvPr id="3" name="tx_0666"/>
          <p:cNvSpPr txBox="1"/>
          <p:nvPr/>
        </p:nvSpPr>
        <p:spPr>
          <a:xfrm>
            <a:off x="822960" y="822960"/>
            <a:ext cx="10546079" cy="914400"/>
          </a:xfrm>
          <a:prstGeom prst="rect">
            <a:avLst/>
          </a:prstGeom>
          <a:noFill/>
        </p:spPr>
        <p:txBody>
          <a:bodyPr wrap="square" lIns="0" rIns="0" tIns="0" bIns="0">
            <a:spAutoFit/>
          </a:bodyPr>
          <a:lstStyle/>
          <a:p>
            <a:pPr>
              <a:lnSpc>
                <a:spcPct val="100000"/>
              </a:lnSpc>
              <a:spcAft>
                <a:spcPts val="400"/>
              </a:spcAft>
              <a:defRPr sz="3000" b="0" i="0">
                <a:solidFill>
                  <a:srgbClr val="1D1D1F"/>
                </a:solidFill>
                <a:latin typeface="Segoe UI Semibold"/>
              </a:defRPr>
            </a:pPr>
            <a:r>
              <a:t>Attack #3 — fingerprinting the LLM next door</a:t>
            </a:r>
          </a:p>
        </p:txBody>
      </p:sp>
      <p:sp>
        <p:nvSpPr>
          <p:cNvPr id="4" name="tx_0667"/>
          <p:cNvSpPr txBox="1"/>
          <p:nvPr/>
        </p:nvSpPr>
        <p:spPr>
          <a:xfrm>
            <a:off x="822960" y="6419088"/>
            <a:ext cx="9631679" cy="228600"/>
          </a:xfrm>
          <a:prstGeom prst="rect">
            <a:avLst/>
          </a:prstGeom>
          <a:noFill/>
        </p:spPr>
        <p:txBody>
          <a:bodyPr wrap="square" lIns="0" rIns="0" tIns="0" bIns="0">
            <a:spAutoFit/>
          </a:bodyPr>
          <a:lstStyle/>
          <a:p>
            <a:pPr>
              <a:spcAft>
                <a:spcPts val="400"/>
              </a:spcAft>
              <a:defRPr sz="1000" b="0" i="0">
                <a:solidFill>
                  <a:srgbClr val="86868B"/>
                </a:solidFill>
                <a:latin typeface="Segoe UI"/>
              </a:defRPr>
            </a:pPr>
            <a:r>
              <a:t>Paper § VI-D, Table II · pp. 10–11</a:t>
            </a:r>
          </a:p>
        </p:txBody>
      </p:sp>
      <p:sp>
        <p:nvSpPr>
          <p:cNvPr id="5" name="tx_0668"/>
          <p:cNvSpPr txBox="1"/>
          <p:nvPr/>
        </p:nvSpPr>
        <p:spPr>
          <a:xfrm>
            <a:off x="10820399" y="6419088"/>
            <a:ext cx="548640" cy="228600"/>
          </a:xfrm>
          <a:prstGeom prst="rect">
            <a:avLst/>
          </a:prstGeom>
          <a:noFill/>
        </p:spPr>
        <p:txBody>
          <a:bodyPr wrap="square" lIns="0" rIns="0" tIns="0" bIns="0">
            <a:spAutoFit/>
          </a:bodyPr>
          <a:lstStyle/>
          <a:p>
            <a:pPr algn="r">
              <a:spcAft>
                <a:spcPts val="400"/>
              </a:spcAft>
              <a:defRPr sz="1000" b="0" i="0">
                <a:solidFill>
                  <a:srgbClr val="86868B"/>
                </a:solidFill>
                <a:latin typeface="Segoe UI"/>
              </a:defRPr>
            </a:pPr>
            <a:r>
              <a:t>38</a:t>
            </a:r>
          </a:p>
        </p:txBody>
      </p:sp>
      <p:sp>
        <p:nvSpPr>
          <p:cNvPr id="6" name="tx_0669"/>
          <p:cNvSpPr txBox="1"/>
          <p:nvPr/>
        </p:nvSpPr>
        <p:spPr>
          <a:xfrm>
            <a:off x="868680" y="1783080"/>
            <a:ext cx="3494227" cy="274320"/>
          </a:xfrm>
          <a:prstGeom prst="rect">
            <a:avLst/>
          </a:prstGeom>
          <a:noFill/>
        </p:spPr>
        <p:txBody>
          <a:bodyPr wrap="square" lIns="0" rIns="0" tIns="0" bIns="0">
            <a:spAutoFit/>
          </a:bodyPr>
          <a:lstStyle/>
          <a:p>
            <a:pPr>
              <a:spcAft>
                <a:spcPts val="400"/>
              </a:spcAft>
              <a:defRPr sz="1200" b="0" i="0">
                <a:solidFill>
                  <a:srgbClr val="86868B"/>
                </a:solidFill>
                <a:latin typeface="Segoe UI Semibold"/>
              </a:defRPr>
            </a:pPr>
            <a:r>
              <a:t>FAMILY</a:t>
            </a:r>
          </a:p>
        </p:txBody>
      </p:sp>
      <p:sp>
        <p:nvSpPr>
          <p:cNvPr id="7" name="tx_0670"/>
          <p:cNvSpPr txBox="1"/>
          <p:nvPr/>
        </p:nvSpPr>
        <p:spPr>
          <a:xfrm>
            <a:off x="4454347" y="1783080"/>
            <a:ext cx="4548835" cy="274320"/>
          </a:xfrm>
          <a:prstGeom prst="rect">
            <a:avLst/>
          </a:prstGeom>
          <a:noFill/>
        </p:spPr>
        <p:txBody>
          <a:bodyPr wrap="square" lIns="0" rIns="0" tIns="0" bIns="0">
            <a:spAutoFit/>
          </a:bodyPr>
          <a:lstStyle/>
          <a:p>
            <a:pPr>
              <a:spcAft>
                <a:spcPts val="400"/>
              </a:spcAft>
              <a:defRPr sz="1200" b="0" i="0">
                <a:solidFill>
                  <a:srgbClr val="86868B"/>
                </a:solidFill>
                <a:latin typeface="Segoe UI Semibold"/>
              </a:defRPr>
            </a:pPr>
            <a:r>
              <a:t>PARAMETER COUNTS</a:t>
            </a:r>
          </a:p>
        </p:txBody>
      </p:sp>
      <p:sp>
        <p:nvSpPr>
          <p:cNvPr id="8" name="tx_0671"/>
          <p:cNvSpPr txBox="1"/>
          <p:nvPr/>
        </p:nvSpPr>
        <p:spPr>
          <a:xfrm>
            <a:off x="9094622" y="1783080"/>
            <a:ext cx="2228697" cy="274320"/>
          </a:xfrm>
          <a:prstGeom prst="rect">
            <a:avLst/>
          </a:prstGeom>
          <a:noFill/>
        </p:spPr>
        <p:txBody>
          <a:bodyPr wrap="square" lIns="0" rIns="0" tIns="0" bIns="0">
            <a:spAutoFit/>
          </a:bodyPr>
          <a:lstStyle/>
          <a:p>
            <a:pPr>
              <a:spcAft>
                <a:spcPts val="400"/>
              </a:spcAft>
              <a:defRPr sz="1200" b="0" i="0">
                <a:solidFill>
                  <a:srgbClr val="86868B"/>
                </a:solidFill>
                <a:latin typeface="Segoe UI Semibold"/>
              </a:defRPr>
            </a:pPr>
            <a:r>
              <a:t>CHOICES</a:t>
            </a:r>
          </a:p>
        </p:txBody>
      </p:sp>
      <p:cxnSp>
        <p:nvCxnSpPr>
          <p:cNvPr id="9" name="hl_0672"/>
          <p:cNvCxnSpPr/>
          <p:nvPr/>
        </p:nvCxnSpPr>
        <p:spPr>
          <a:xfrm>
            <a:off x="822960" y="2148840"/>
            <a:ext cx="10546079" cy="0"/>
          </a:xfrm>
          <a:prstGeom prst="line">
            <a:avLst/>
          </a:prstGeom>
          <a:ln w="12700">
            <a:solidFill>
              <a:srgbClr val="1D1D1F"/>
            </a:solidFill>
          </a:ln>
        </p:spPr>
        <p:style>
          <a:lnRef idx="2">
            <a:schemeClr val="accent1"/>
          </a:lnRef>
          <a:fillRef idx="0">
            <a:schemeClr val="accent1"/>
          </a:fillRef>
          <a:effectRef idx="1">
            <a:schemeClr val="accent1"/>
          </a:effectRef>
          <a:fontRef idx="minor">
            <a:schemeClr val="tx1"/>
          </a:fontRef>
        </p:style>
      </p:cxnSp>
      <p:sp>
        <p:nvSpPr>
          <p:cNvPr id="10" name="tx_0673"/>
          <p:cNvSpPr txBox="1"/>
          <p:nvPr/>
        </p:nvSpPr>
        <p:spPr>
          <a:xfrm>
            <a:off x="868680" y="2240280"/>
            <a:ext cx="3494227" cy="365760"/>
          </a:xfrm>
          <a:prstGeom prst="rect">
            <a:avLst/>
          </a:prstGeom>
          <a:noFill/>
        </p:spPr>
        <p:txBody>
          <a:bodyPr wrap="square" lIns="0" rIns="0" tIns="0" bIns="0" anchor="ctr">
            <a:spAutoFit/>
          </a:bodyPr>
          <a:lstStyle/>
          <a:p>
            <a:pPr>
              <a:spcAft>
                <a:spcPts val="400"/>
              </a:spcAft>
              <a:defRPr sz="1800" b="0" i="0">
                <a:solidFill>
                  <a:srgbClr val="1D1D1F"/>
                </a:solidFill>
                <a:latin typeface="Segoe UI Semibold"/>
              </a:defRPr>
            </a:pPr>
            <a:r>
              <a:t>TinyStories</a:t>
            </a:r>
          </a:p>
        </p:txBody>
      </p:sp>
      <p:sp>
        <p:nvSpPr>
          <p:cNvPr id="11" name="tx_0674"/>
          <p:cNvSpPr txBox="1"/>
          <p:nvPr/>
        </p:nvSpPr>
        <p:spPr>
          <a:xfrm>
            <a:off x="4454347" y="2240280"/>
            <a:ext cx="4548835" cy="365760"/>
          </a:xfrm>
          <a:prstGeom prst="rect">
            <a:avLst/>
          </a:prstGeom>
          <a:noFill/>
        </p:spPr>
        <p:txBody>
          <a:bodyPr wrap="square" lIns="0" rIns="0" tIns="0" bIns="0" anchor="ctr">
            <a:spAutoFit/>
          </a:bodyPr>
          <a:lstStyle/>
          <a:p>
            <a:pPr>
              <a:spcAft>
                <a:spcPts val="400"/>
              </a:spcAft>
              <a:defRPr sz="1800" b="0" i="0">
                <a:solidFill>
                  <a:srgbClr val="6E6E73"/>
                </a:solidFill>
                <a:latin typeface="Segoe UI"/>
              </a:defRPr>
            </a:pPr>
            <a:r>
              <a:t>15M / 42M / 110M</a:t>
            </a:r>
          </a:p>
        </p:txBody>
      </p:sp>
      <p:sp>
        <p:nvSpPr>
          <p:cNvPr id="12" name="tx_0675"/>
          <p:cNvSpPr txBox="1"/>
          <p:nvPr/>
        </p:nvSpPr>
        <p:spPr>
          <a:xfrm>
            <a:off x="9094622" y="2240280"/>
            <a:ext cx="2228697" cy="365760"/>
          </a:xfrm>
          <a:prstGeom prst="rect">
            <a:avLst/>
          </a:prstGeom>
          <a:noFill/>
        </p:spPr>
        <p:txBody>
          <a:bodyPr wrap="square" lIns="0" rIns="0" tIns="0" bIns="0" anchor="ctr">
            <a:spAutoFit/>
          </a:bodyPr>
          <a:lstStyle/>
          <a:p>
            <a:pPr>
              <a:spcAft>
                <a:spcPts val="400"/>
              </a:spcAft>
              <a:defRPr sz="1800" b="0" i="0">
                <a:solidFill>
                  <a:srgbClr val="6E6E73"/>
                </a:solidFill>
                <a:latin typeface="Segoe UI"/>
              </a:defRPr>
            </a:pPr>
            <a:r>
              <a:t>3</a:t>
            </a:r>
          </a:p>
        </p:txBody>
      </p:sp>
      <p:cxnSp>
        <p:nvCxnSpPr>
          <p:cNvPr id="13" name="hl_0676"/>
          <p:cNvCxnSpPr/>
          <p:nvPr/>
        </p:nvCxnSpPr>
        <p:spPr>
          <a:xfrm>
            <a:off x="822960" y="2697480"/>
            <a:ext cx="10546079"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14" name="tx_0677"/>
          <p:cNvSpPr txBox="1"/>
          <p:nvPr/>
        </p:nvSpPr>
        <p:spPr>
          <a:xfrm>
            <a:off x="868680" y="2788920"/>
            <a:ext cx="3494227" cy="365760"/>
          </a:xfrm>
          <a:prstGeom prst="rect">
            <a:avLst/>
          </a:prstGeom>
          <a:noFill/>
        </p:spPr>
        <p:txBody>
          <a:bodyPr wrap="square" lIns="0" rIns="0" tIns="0" bIns="0" anchor="ctr">
            <a:spAutoFit/>
          </a:bodyPr>
          <a:lstStyle/>
          <a:p>
            <a:pPr>
              <a:spcAft>
                <a:spcPts val="400"/>
              </a:spcAft>
              <a:defRPr sz="1800" b="0" i="0">
                <a:solidFill>
                  <a:srgbClr val="1D1D1F"/>
                </a:solidFill>
                <a:latin typeface="Segoe UI Semibold"/>
              </a:defRPr>
            </a:pPr>
            <a:r>
              <a:t>LLaMA 2</a:t>
            </a:r>
          </a:p>
        </p:txBody>
      </p:sp>
      <p:sp>
        <p:nvSpPr>
          <p:cNvPr id="15" name="tx_0678"/>
          <p:cNvSpPr txBox="1"/>
          <p:nvPr/>
        </p:nvSpPr>
        <p:spPr>
          <a:xfrm>
            <a:off x="4454347" y="2788920"/>
            <a:ext cx="4548835" cy="365760"/>
          </a:xfrm>
          <a:prstGeom prst="rect">
            <a:avLst/>
          </a:prstGeom>
          <a:noFill/>
        </p:spPr>
        <p:txBody>
          <a:bodyPr wrap="square" lIns="0" rIns="0" tIns="0" bIns="0" anchor="ctr">
            <a:spAutoFit/>
          </a:bodyPr>
          <a:lstStyle/>
          <a:p>
            <a:pPr>
              <a:spcAft>
                <a:spcPts val="400"/>
              </a:spcAft>
              <a:defRPr sz="1800" b="0" i="0">
                <a:solidFill>
                  <a:srgbClr val="6E6E73"/>
                </a:solidFill>
                <a:latin typeface="Segoe UI"/>
              </a:defRPr>
            </a:pPr>
            <a:r>
              <a:t>7B</a:t>
            </a:r>
          </a:p>
        </p:txBody>
      </p:sp>
      <p:sp>
        <p:nvSpPr>
          <p:cNvPr id="16" name="tx_0679"/>
          <p:cNvSpPr txBox="1"/>
          <p:nvPr/>
        </p:nvSpPr>
        <p:spPr>
          <a:xfrm>
            <a:off x="9094622" y="2788920"/>
            <a:ext cx="2228697" cy="365760"/>
          </a:xfrm>
          <a:prstGeom prst="rect">
            <a:avLst/>
          </a:prstGeom>
          <a:noFill/>
        </p:spPr>
        <p:txBody>
          <a:bodyPr wrap="square" lIns="0" rIns="0" tIns="0" bIns="0" anchor="ctr">
            <a:spAutoFit/>
          </a:bodyPr>
          <a:lstStyle/>
          <a:p>
            <a:pPr>
              <a:spcAft>
                <a:spcPts val="400"/>
              </a:spcAft>
              <a:defRPr sz="1800" b="0" i="0">
                <a:solidFill>
                  <a:srgbClr val="6E6E73"/>
                </a:solidFill>
                <a:latin typeface="Segoe UI"/>
              </a:defRPr>
            </a:pPr>
            <a:r>
              <a:t>1</a:t>
            </a:r>
          </a:p>
        </p:txBody>
      </p:sp>
      <p:cxnSp>
        <p:nvCxnSpPr>
          <p:cNvPr id="17" name="hl_0680"/>
          <p:cNvCxnSpPr/>
          <p:nvPr/>
        </p:nvCxnSpPr>
        <p:spPr>
          <a:xfrm>
            <a:off x="822960" y="3246120"/>
            <a:ext cx="10546079"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18" name="tx_0681"/>
          <p:cNvSpPr txBox="1"/>
          <p:nvPr/>
        </p:nvSpPr>
        <p:spPr>
          <a:xfrm>
            <a:off x="868680" y="3337560"/>
            <a:ext cx="3494227" cy="365760"/>
          </a:xfrm>
          <a:prstGeom prst="rect">
            <a:avLst/>
          </a:prstGeom>
          <a:noFill/>
        </p:spPr>
        <p:txBody>
          <a:bodyPr wrap="square" lIns="0" rIns="0" tIns="0" bIns="0" anchor="ctr">
            <a:spAutoFit/>
          </a:bodyPr>
          <a:lstStyle/>
          <a:p>
            <a:pPr>
              <a:spcAft>
                <a:spcPts val="400"/>
              </a:spcAft>
              <a:defRPr sz="1800" b="0" i="0">
                <a:solidFill>
                  <a:srgbClr val="1D1D1F"/>
                </a:solidFill>
                <a:latin typeface="Segoe UI Semibold"/>
              </a:defRPr>
            </a:pPr>
            <a:r>
              <a:t>Gemma 3</a:t>
            </a:r>
          </a:p>
        </p:txBody>
      </p:sp>
      <p:sp>
        <p:nvSpPr>
          <p:cNvPr id="19" name="tx_0682"/>
          <p:cNvSpPr txBox="1"/>
          <p:nvPr/>
        </p:nvSpPr>
        <p:spPr>
          <a:xfrm>
            <a:off x="4454347" y="3337560"/>
            <a:ext cx="4548835" cy="365760"/>
          </a:xfrm>
          <a:prstGeom prst="rect">
            <a:avLst/>
          </a:prstGeom>
          <a:noFill/>
        </p:spPr>
        <p:txBody>
          <a:bodyPr wrap="square" lIns="0" rIns="0" tIns="0" bIns="0" anchor="ctr">
            <a:spAutoFit/>
          </a:bodyPr>
          <a:lstStyle/>
          <a:p>
            <a:pPr>
              <a:spcAft>
                <a:spcPts val="400"/>
              </a:spcAft>
              <a:defRPr sz="1800" b="0" i="0">
                <a:solidFill>
                  <a:srgbClr val="6E6E73"/>
                </a:solidFill>
                <a:latin typeface="Segoe UI"/>
              </a:defRPr>
            </a:pPr>
            <a:r>
              <a:t>1B / 4B</a:t>
            </a:r>
          </a:p>
        </p:txBody>
      </p:sp>
      <p:sp>
        <p:nvSpPr>
          <p:cNvPr id="20" name="tx_0683"/>
          <p:cNvSpPr txBox="1"/>
          <p:nvPr/>
        </p:nvSpPr>
        <p:spPr>
          <a:xfrm>
            <a:off x="9094622" y="3337560"/>
            <a:ext cx="2228697" cy="365760"/>
          </a:xfrm>
          <a:prstGeom prst="rect">
            <a:avLst/>
          </a:prstGeom>
          <a:noFill/>
        </p:spPr>
        <p:txBody>
          <a:bodyPr wrap="square" lIns="0" rIns="0" tIns="0" bIns="0" anchor="ctr">
            <a:spAutoFit/>
          </a:bodyPr>
          <a:lstStyle/>
          <a:p>
            <a:pPr>
              <a:spcAft>
                <a:spcPts val="400"/>
              </a:spcAft>
              <a:defRPr sz="1800" b="0" i="0">
                <a:solidFill>
                  <a:srgbClr val="6E6E73"/>
                </a:solidFill>
                <a:latin typeface="Segoe UI"/>
              </a:defRPr>
            </a:pPr>
            <a:r>
              <a:t>2</a:t>
            </a:r>
          </a:p>
        </p:txBody>
      </p:sp>
      <p:cxnSp>
        <p:nvCxnSpPr>
          <p:cNvPr id="21" name="hl_0684"/>
          <p:cNvCxnSpPr/>
          <p:nvPr/>
        </p:nvCxnSpPr>
        <p:spPr>
          <a:xfrm>
            <a:off x="822960" y="3794759"/>
            <a:ext cx="10546079"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22" name="tx_0685"/>
          <p:cNvSpPr txBox="1"/>
          <p:nvPr/>
        </p:nvSpPr>
        <p:spPr>
          <a:xfrm>
            <a:off x="868680" y="3886200"/>
            <a:ext cx="3494227" cy="365760"/>
          </a:xfrm>
          <a:prstGeom prst="rect">
            <a:avLst/>
          </a:prstGeom>
          <a:noFill/>
        </p:spPr>
        <p:txBody>
          <a:bodyPr wrap="square" lIns="0" rIns="0" tIns="0" bIns="0" anchor="ctr">
            <a:spAutoFit/>
          </a:bodyPr>
          <a:lstStyle/>
          <a:p>
            <a:pPr>
              <a:spcAft>
                <a:spcPts val="400"/>
              </a:spcAft>
              <a:defRPr sz="1800" b="0" i="0">
                <a:solidFill>
                  <a:srgbClr val="1D1D1F"/>
                </a:solidFill>
                <a:latin typeface="Segoe UI Semibold"/>
              </a:defRPr>
            </a:pPr>
            <a:r>
              <a:t>Qwen3</a:t>
            </a:r>
          </a:p>
        </p:txBody>
      </p:sp>
      <p:sp>
        <p:nvSpPr>
          <p:cNvPr id="23" name="tx_0686"/>
          <p:cNvSpPr txBox="1"/>
          <p:nvPr/>
        </p:nvSpPr>
        <p:spPr>
          <a:xfrm>
            <a:off x="4454347" y="3886200"/>
            <a:ext cx="4548835" cy="365760"/>
          </a:xfrm>
          <a:prstGeom prst="rect">
            <a:avLst/>
          </a:prstGeom>
          <a:noFill/>
        </p:spPr>
        <p:txBody>
          <a:bodyPr wrap="square" lIns="0" rIns="0" tIns="0" bIns="0" anchor="ctr">
            <a:spAutoFit/>
          </a:bodyPr>
          <a:lstStyle/>
          <a:p>
            <a:pPr>
              <a:spcAft>
                <a:spcPts val="400"/>
              </a:spcAft>
              <a:defRPr sz="1800" b="0" i="0">
                <a:solidFill>
                  <a:srgbClr val="6E6E73"/>
                </a:solidFill>
                <a:latin typeface="Segoe UI"/>
              </a:defRPr>
            </a:pPr>
            <a:r>
              <a:t>1.7B / 4B</a:t>
            </a:r>
          </a:p>
        </p:txBody>
      </p:sp>
      <p:sp>
        <p:nvSpPr>
          <p:cNvPr id="24" name="tx_0687"/>
          <p:cNvSpPr txBox="1"/>
          <p:nvPr/>
        </p:nvSpPr>
        <p:spPr>
          <a:xfrm>
            <a:off x="9094622" y="3886200"/>
            <a:ext cx="2228697" cy="365760"/>
          </a:xfrm>
          <a:prstGeom prst="rect">
            <a:avLst/>
          </a:prstGeom>
          <a:noFill/>
        </p:spPr>
        <p:txBody>
          <a:bodyPr wrap="square" lIns="0" rIns="0" tIns="0" bIns="0" anchor="ctr">
            <a:spAutoFit/>
          </a:bodyPr>
          <a:lstStyle/>
          <a:p>
            <a:pPr>
              <a:spcAft>
                <a:spcPts val="400"/>
              </a:spcAft>
              <a:defRPr sz="1800" b="0" i="0">
                <a:solidFill>
                  <a:srgbClr val="6E6E73"/>
                </a:solidFill>
                <a:latin typeface="Segoe UI"/>
              </a:defRPr>
            </a:pPr>
            <a:r>
              <a:t>2</a:t>
            </a:r>
          </a:p>
        </p:txBody>
      </p:sp>
      <p:cxnSp>
        <p:nvCxnSpPr>
          <p:cNvPr id="25" name="hl_0688"/>
          <p:cNvCxnSpPr/>
          <p:nvPr/>
        </p:nvCxnSpPr>
        <p:spPr>
          <a:xfrm>
            <a:off x="822960" y="4343400"/>
            <a:ext cx="10546079"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26" name="tx_0689"/>
          <p:cNvSpPr txBox="1"/>
          <p:nvPr/>
        </p:nvSpPr>
        <p:spPr>
          <a:xfrm>
            <a:off x="822960" y="4617720"/>
            <a:ext cx="10546079" cy="365760"/>
          </a:xfrm>
          <a:prstGeom prst="rect">
            <a:avLst/>
          </a:prstGeom>
          <a:noFill/>
        </p:spPr>
        <p:txBody>
          <a:bodyPr wrap="square" lIns="0" rIns="0" tIns="0" bIns="0">
            <a:spAutoFit/>
          </a:bodyPr>
          <a:lstStyle/>
          <a:p>
            <a:pPr>
              <a:spcAft>
                <a:spcPts val="400"/>
              </a:spcAft>
              <a:defRPr sz="1700" b="0" i="1">
                <a:solidFill>
                  <a:srgbClr val="6E6E73"/>
                </a:solidFill>
                <a:latin typeface="Segoe UI"/>
              </a:defRPr>
            </a:pPr>
            <a:r>
              <a:t>50 traces per model · identical prompts · 80 / 20 split · 8 ms slots</a:t>
            </a:r>
          </a:p>
        </p:txBody>
      </p:sp>
      <p:sp>
        <p:nvSpPr>
          <p:cNvPr id="27" name="rect_0690"/>
          <p:cNvSpPr/>
          <p:nvPr/>
        </p:nvSpPr>
        <p:spPr>
          <a:xfrm>
            <a:off x="822960" y="5623560"/>
            <a:ext cx="502920" cy="41148"/>
          </a:xfrm>
          <a:prstGeom prst="rect">
            <a:avLst/>
          </a:prstGeom>
          <a:solidFill>
            <a:srgbClr val="007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x_0691"/>
          <p:cNvSpPr txBox="1"/>
          <p:nvPr/>
        </p:nvSpPr>
        <p:spPr>
          <a:xfrm>
            <a:off x="822960" y="5779008"/>
            <a:ext cx="10546079" cy="548640"/>
          </a:xfrm>
          <a:prstGeom prst="rect">
            <a:avLst/>
          </a:prstGeom>
          <a:noFill/>
        </p:spPr>
        <p:txBody>
          <a:bodyPr wrap="square" lIns="0" rIns="0" tIns="0" bIns="0">
            <a:spAutoFit/>
          </a:bodyPr>
          <a:lstStyle/>
          <a:p>
            <a:pPr>
              <a:spcAft>
                <a:spcPts val="400"/>
              </a:spcAft>
              <a:defRPr sz="2100" b="0" i="0">
                <a:solidFill>
                  <a:srgbClr val="1D1D1F"/>
                </a:solidFill>
                <a:latin typeface="Segoe UI Semibold"/>
              </a:defRPr>
            </a:pPr>
            <a:r>
              <a:t>The label is a model configuration — no weights or prompts are recovered.</a:t>
            </a:r>
          </a:p>
        </p:txBody>
      </p:sp>
    </p:spTree>
  </p:cSld>
  <p:clrMapOvr>
    <a:masterClrMapping/>
  </p:clrMapOvr>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x_0692"/>
          <p:cNvSpPr txBox="1"/>
          <p:nvPr/>
        </p:nvSpPr>
        <p:spPr>
          <a:xfrm>
            <a:off x="822960" y="502920"/>
            <a:ext cx="10546079" cy="274320"/>
          </a:xfrm>
          <a:prstGeom prst="rect">
            <a:avLst/>
          </a:prstGeom>
          <a:noFill/>
        </p:spPr>
        <p:txBody>
          <a:bodyPr wrap="square" lIns="0" rIns="0" tIns="0" bIns="0">
            <a:spAutoFit/>
          </a:bodyPr>
          <a:lstStyle/>
          <a:p>
            <a:pPr>
              <a:spcAft>
                <a:spcPts val="400"/>
              </a:spcAft>
              <a:defRPr sz="1200" b="0" i="0">
                <a:solidFill>
                  <a:srgbClr val="0071E3"/>
                </a:solidFill>
                <a:latin typeface="Segoe UI Semibold"/>
              </a:defRPr>
            </a:pPr>
            <a:r>
              <a:t>What it steals</a:t>
            </a:r>
          </a:p>
        </p:txBody>
      </p:sp>
      <p:sp>
        <p:nvSpPr>
          <p:cNvPr id="3" name="tx_0693"/>
          <p:cNvSpPr txBox="1"/>
          <p:nvPr/>
        </p:nvSpPr>
        <p:spPr>
          <a:xfrm>
            <a:off x="822960" y="822960"/>
            <a:ext cx="10546079" cy="914400"/>
          </a:xfrm>
          <a:prstGeom prst="rect">
            <a:avLst/>
          </a:prstGeom>
          <a:noFill/>
        </p:spPr>
        <p:txBody>
          <a:bodyPr wrap="square" lIns="0" rIns="0" tIns="0" bIns="0">
            <a:spAutoFit/>
          </a:bodyPr>
          <a:lstStyle/>
          <a:p>
            <a:pPr>
              <a:lnSpc>
                <a:spcPct val="100000"/>
              </a:lnSpc>
              <a:spcAft>
                <a:spcPts val="400"/>
              </a:spcAft>
              <a:defRPr sz="3000" b="0" i="0">
                <a:solidFill>
                  <a:srgbClr val="1D1D1F"/>
                </a:solidFill>
                <a:latin typeface="Segoe UI Semibold"/>
              </a:defRPr>
            </a:pPr>
            <a:r>
              <a:t>98.6% — impressive, and bounded</a:t>
            </a:r>
          </a:p>
        </p:txBody>
      </p:sp>
      <p:sp>
        <p:nvSpPr>
          <p:cNvPr id="4" name="tx_0694"/>
          <p:cNvSpPr txBox="1"/>
          <p:nvPr/>
        </p:nvSpPr>
        <p:spPr>
          <a:xfrm>
            <a:off x="822960" y="6419088"/>
            <a:ext cx="9631679" cy="228600"/>
          </a:xfrm>
          <a:prstGeom prst="rect">
            <a:avLst/>
          </a:prstGeom>
          <a:noFill/>
        </p:spPr>
        <p:txBody>
          <a:bodyPr wrap="square" lIns="0" rIns="0" tIns="0" bIns="0">
            <a:spAutoFit/>
          </a:bodyPr>
          <a:lstStyle/>
          <a:p>
            <a:pPr>
              <a:spcAft>
                <a:spcPts val="400"/>
              </a:spcAft>
              <a:defRPr sz="1000" b="0" i="0">
                <a:solidFill>
                  <a:srgbClr val="86868B"/>
                </a:solidFill>
                <a:latin typeface="Segoe UI"/>
              </a:defRPr>
            </a:pPr>
            <a:r>
              <a:t>Paper § VI-D, Fig. 13 · p. 11 · original model traces</a:t>
            </a:r>
          </a:p>
        </p:txBody>
      </p:sp>
      <p:sp>
        <p:nvSpPr>
          <p:cNvPr id="5" name="tx_0695"/>
          <p:cNvSpPr txBox="1"/>
          <p:nvPr/>
        </p:nvSpPr>
        <p:spPr>
          <a:xfrm>
            <a:off x="10820399" y="6419088"/>
            <a:ext cx="548640" cy="228600"/>
          </a:xfrm>
          <a:prstGeom prst="rect">
            <a:avLst/>
          </a:prstGeom>
          <a:noFill/>
        </p:spPr>
        <p:txBody>
          <a:bodyPr wrap="square" lIns="0" rIns="0" tIns="0" bIns="0">
            <a:spAutoFit/>
          </a:bodyPr>
          <a:lstStyle/>
          <a:p>
            <a:pPr algn="r">
              <a:spcAft>
                <a:spcPts val="400"/>
              </a:spcAft>
              <a:defRPr sz="1000" b="0" i="0">
                <a:solidFill>
                  <a:srgbClr val="86868B"/>
                </a:solidFill>
                <a:latin typeface="Segoe UI"/>
              </a:defRPr>
            </a:pPr>
            <a:r>
              <a:t>39</a:t>
            </a:r>
          </a:p>
        </p:txBody>
      </p:sp>
      <p:pic>
        <p:nvPicPr>
          <p:cNvPr id="6" name="pic_0696" descr="llm_traces.png"/>
          <p:cNvPicPr>
            <a:picLocks noChangeAspect="1"/>
          </p:cNvPicPr>
          <p:nvPr/>
        </p:nvPicPr>
        <p:blipFill>
          <a:blip r:embed="rId3"/>
          <a:stretch>
            <a:fillRect/>
          </a:stretch>
        </p:blipFill>
        <p:spPr>
          <a:xfrm>
            <a:off x="822960" y="2017144"/>
            <a:ext cx="7223760" cy="3280910"/>
          </a:xfrm>
          <a:prstGeom prst="rect">
            <a:avLst/>
          </a:prstGeom>
        </p:spPr>
      </p:pic>
      <p:sp>
        <p:nvSpPr>
          <p:cNvPr id="7" name="tx_0697"/>
          <p:cNvSpPr txBox="1"/>
          <p:nvPr/>
        </p:nvSpPr>
        <p:spPr>
          <a:xfrm>
            <a:off x="8412480" y="2057400"/>
            <a:ext cx="2926080" cy="914400"/>
          </a:xfrm>
          <a:prstGeom prst="rect">
            <a:avLst/>
          </a:prstGeom>
          <a:noFill/>
        </p:spPr>
        <p:txBody>
          <a:bodyPr wrap="square" lIns="0" rIns="0" tIns="0" bIns="0">
            <a:spAutoFit/>
          </a:bodyPr>
          <a:lstStyle/>
          <a:p>
            <a:pPr>
              <a:spcAft>
                <a:spcPts val="400"/>
              </a:spcAft>
              <a:defRPr sz="4800" b="0" i="0">
                <a:solidFill>
                  <a:srgbClr val="0071E3"/>
                </a:solidFill>
                <a:latin typeface="Segoe UI Semibold"/>
              </a:defRPr>
            </a:pPr>
            <a:r>
              <a:t>98.6%</a:t>
            </a:r>
          </a:p>
        </p:txBody>
      </p:sp>
      <p:sp>
        <p:nvSpPr>
          <p:cNvPr id="8" name="tx_0698"/>
          <p:cNvSpPr txBox="1"/>
          <p:nvPr/>
        </p:nvSpPr>
        <p:spPr>
          <a:xfrm>
            <a:off x="8412480" y="3063240"/>
            <a:ext cx="2926080" cy="411480"/>
          </a:xfrm>
          <a:prstGeom prst="rect">
            <a:avLst/>
          </a:prstGeom>
          <a:noFill/>
        </p:spPr>
        <p:txBody>
          <a:bodyPr wrap="square" lIns="0" rIns="0" tIns="0" bIns="0">
            <a:spAutoFit/>
          </a:bodyPr>
          <a:lstStyle/>
          <a:p>
            <a:pPr>
              <a:spcAft>
                <a:spcPts val="400"/>
              </a:spcAft>
              <a:defRPr sz="2100" b="0" i="0">
                <a:solidFill>
                  <a:srgbClr val="1D1D1F"/>
                </a:solidFill>
                <a:latin typeface="Segoe UI Semibold"/>
              </a:defRPr>
            </a:pPr>
            <a:r>
              <a:t>Validation accuracy</a:t>
            </a:r>
          </a:p>
        </p:txBody>
      </p:sp>
      <p:sp>
        <p:nvSpPr>
          <p:cNvPr id="9" name="tx_0699"/>
          <p:cNvSpPr txBox="1"/>
          <p:nvPr/>
        </p:nvSpPr>
        <p:spPr>
          <a:xfrm>
            <a:off x="8412480" y="3474720"/>
            <a:ext cx="2926080" cy="365760"/>
          </a:xfrm>
          <a:prstGeom prst="rect">
            <a:avLst/>
          </a:prstGeom>
          <a:noFill/>
        </p:spPr>
        <p:txBody>
          <a:bodyPr wrap="square" lIns="0" rIns="0" tIns="0" bIns="0">
            <a:spAutoFit/>
          </a:bodyPr>
          <a:lstStyle/>
          <a:p>
            <a:pPr>
              <a:spcAft>
                <a:spcPts val="400"/>
              </a:spcAft>
              <a:defRPr sz="1600" b="0" i="0">
                <a:solidFill>
                  <a:srgbClr val="6E6E73"/>
                </a:solidFill>
                <a:latin typeface="Segoe UI"/>
              </a:defRPr>
            </a:pPr>
            <a:r>
              <a:t>8 model choices</a:t>
            </a:r>
          </a:p>
        </p:txBody>
      </p:sp>
      <p:sp>
        <p:nvSpPr>
          <p:cNvPr id="10" name="tx_0700"/>
          <p:cNvSpPr txBox="1"/>
          <p:nvPr/>
        </p:nvSpPr>
        <p:spPr>
          <a:xfrm>
            <a:off x="8412480" y="3886200"/>
            <a:ext cx="2926080" cy="1097280"/>
          </a:xfrm>
          <a:prstGeom prst="rect">
            <a:avLst/>
          </a:prstGeom>
          <a:noFill/>
        </p:spPr>
        <p:txBody>
          <a:bodyPr wrap="square" lIns="0" rIns="0" tIns="0" bIns="0">
            <a:spAutoFit/>
          </a:bodyPr>
          <a:lstStyle/>
          <a:p>
            <a:pPr>
              <a:lnSpc>
                <a:spcPct val="120000"/>
              </a:lnSpc>
              <a:spcAft>
                <a:spcPts val="400"/>
              </a:spcAft>
              <a:defRPr sz="1600" b="0" i="0">
                <a:solidFill>
                  <a:srgbClr val="6E6E73"/>
                </a:solidFill>
                <a:latin typeface="Segoe UI"/>
              </a:defRPr>
            </a:pPr>
            <a:r>
              <a:t>Generality beyond identical prompts and fixed runtimes remains open.</a:t>
            </a:r>
          </a:p>
        </p:txBody>
      </p:sp>
      <p:sp>
        <p:nvSpPr>
          <p:cNvPr id="11" name="rect_0701"/>
          <p:cNvSpPr/>
          <p:nvPr/>
        </p:nvSpPr>
        <p:spPr>
          <a:xfrm>
            <a:off x="822960" y="5760720"/>
            <a:ext cx="502920" cy="41148"/>
          </a:xfrm>
          <a:prstGeom prst="rect">
            <a:avLst/>
          </a:prstGeom>
          <a:solidFill>
            <a:srgbClr val="007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x_0702"/>
          <p:cNvSpPr txBox="1"/>
          <p:nvPr/>
        </p:nvSpPr>
        <p:spPr>
          <a:xfrm>
            <a:off x="822960" y="5916168"/>
            <a:ext cx="10546079" cy="548640"/>
          </a:xfrm>
          <a:prstGeom prst="rect">
            <a:avLst/>
          </a:prstGeom>
          <a:noFill/>
        </p:spPr>
        <p:txBody>
          <a:bodyPr wrap="square" lIns="0" rIns="0" tIns="0" bIns="0">
            <a:spAutoFit/>
          </a:bodyPr>
          <a:lstStyle/>
          <a:p>
            <a:pPr>
              <a:spcAft>
                <a:spcPts val="400"/>
              </a:spcAft>
              <a:defRPr sz="2100" b="0" i="0">
                <a:solidFill>
                  <a:srgbClr val="1D1D1F"/>
                </a:solidFill>
                <a:latin typeface="Segoe UI Semibold"/>
              </a:defRPr>
            </a:pPr>
            <a:r>
              <a:t>Distinguishable configurations within a controlled dataset.</a:t>
            </a:r>
          </a:p>
        </p:txBody>
      </p:sp>
    </p:spTree>
  </p:cSld>
  <p:clrMapOvr>
    <a:masterClrMapping/>
  </p:clrMapOvr>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x_0703"/>
          <p:cNvSpPr txBox="1"/>
          <p:nvPr/>
        </p:nvSpPr>
        <p:spPr>
          <a:xfrm>
            <a:off x="822960" y="1097280"/>
            <a:ext cx="5486400" cy="320040"/>
          </a:xfrm>
          <a:prstGeom prst="rect">
            <a:avLst/>
          </a:prstGeom>
          <a:noFill/>
        </p:spPr>
        <p:txBody>
          <a:bodyPr wrap="square" lIns="0" rIns="0" tIns="0" bIns="0">
            <a:spAutoFit/>
          </a:bodyPr>
          <a:lstStyle/>
          <a:p>
            <a:pPr>
              <a:spcAft>
                <a:spcPts val="400"/>
              </a:spcAft>
              <a:defRPr sz="1400" b="0" i="0">
                <a:solidFill>
                  <a:srgbClr val="A1A1A6"/>
                </a:solidFill>
                <a:latin typeface="Segoe UI Semibold"/>
              </a:defRPr>
            </a:pPr>
            <a:r>
              <a:t>Act 5 of 6</a:t>
            </a:r>
          </a:p>
        </p:txBody>
      </p:sp>
      <p:sp>
        <p:nvSpPr>
          <p:cNvPr id="3" name="tx_0704"/>
          <p:cNvSpPr txBox="1"/>
          <p:nvPr/>
        </p:nvSpPr>
        <p:spPr>
          <a:xfrm>
            <a:off x="777240" y="1371600"/>
            <a:ext cx="5486400" cy="2377440"/>
          </a:xfrm>
          <a:prstGeom prst="rect">
            <a:avLst/>
          </a:prstGeom>
          <a:noFill/>
        </p:spPr>
        <p:txBody>
          <a:bodyPr wrap="square" lIns="0" rIns="0" tIns="0" bIns="0">
            <a:spAutoFit/>
          </a:bodyPr>
          <a:lstStyle/>
          <a:p>
            <a:pPr>
              <a:spcAft>
                <a:spcPts val="400"/>
              </a:spcAft>
              <a:defRPr sz="16000" b="0" i="0">
                <a:solidFill>
                  <a:srgbClr val="2C2C2E"/>
                </a:solidFill>
                <a:latin typeface="Segoe UI Semibold"/>
              </a:defRPr>
            </a:pPr>
            <a:r>
              <a:t>05</a:t>
            </a:r>
          </a:p>
        </p:txBody>
      </p:sp>
      <p:sp>
        <p:nvSpPr>
          <p:cNvPr id="4" name="tx_0705"/>
          <p:cNvSpPr txBox="1"/>
          <p:nvPr/>
        </p:nvSpPr>
        <p:spPr>
          <a:xfrm>
            <a:off x="822960" y="3703320"/>
            <a:ext cx="10546079" cy="914400"/>
          </a:xfrm>
          <a:prstGeom prst="rect">
            <a:avLst/>
          </a:prstGeom>
          <a:noFill/>
        </p:spPr>
        <p:txBody>
          <a:bodyPr wrap="square" lIns="0" rIns="0" tIns="0" bIns="0">
            <a:spAutoFit/>
          </a:bodyPr>
          <a:lstStyle/>
          <a:p>
            <a:pPr>
              <a:spcAft>
                <a:spcPts val="400"/>
              </a:spcAft>
              <a:defRPr sz="4800" b="0" i="0">
                <a:solidFill>
                  <a:srgbClr val="FFFFFF"/>
                </a:solidFill>
                <a:latin typeface="Segoe UI Semibold"/>
              </a:defRPr>
            </a:pPr>
            <a:r>
              <a:t>Does it hold up?</a:t>
            </a:r>
          </a:p>
        </p:txBody>
      </p:sp>
      <p:sp>
        <p:nvSpPr>
          <p:cNvPr id="5" name="tx_0706"/>
          <p:cNvSpPr txBox="1"/>
          <p:nvPr/>
        </p:nvSpPr>
        <p:spPr>
          <a:xfrm>
            <a:off x="822960" y="4846320"/>
            <a:ext cx="10546079" cy="438912"/>
          </a:xfrm>
          <a:prstGeom prst="rect">
            <a:avLst/>
          </a:prstGeom>
          <a:noFill/>
        </p:spPr>
        <p:txBody>
          <a:bodyPr wrap="square" lIns="0" rIns="0" tIns="0" bIns="0">
            <a:spAutoFit/>
          </a:bodyPr>
          <a:lstStyle/>
          <a:p>
            <a:pPr>
              <a:spcAft>
                <a:spcPts val="400"/>
              </a:spcAft>
              <a:defRPr sz="1900" b="0" i="0">
                <a:solidFill>
                  <a:srgbClr val="A1A1A6"/>
                </a:solidFill>
                <a:latin typeface="Segoe UI"/>
              </a:defRPr>
            </a:pPr>
            <a:r>
              <a:t>Robust across quiet / noisy and local / cloud</a:t>
            </a:r>
          </a:p>
        </p:txBody>
      </p:sp>
      <p:sp>
        <p:nvSpPr>
          <p:cNvPr id="6" name="tx_0707"/>
          <p:cNvSpPr txBox="1"/>
          <p:nvPr/>
        </p:nvSpPr>
        <p:spPr>
          <a:xfrm>
            <a:off x="822960" y="5285231"/>
            <a:ext cx="10546079" cy="438912"/>
          </a:xfrm>
          <a:prstGeom prst="rect">
            <a:avLst/>
          </a:prstGeom>
          <a:noFill/>
        </p:spPr>
        <p:txBody>
          <a:bodyPr wrap="square" lIns="0" rIns="0" tIns="0" bIns="0">
            <a:spAutoFit/>
          </a:bodyPr>
          <a:lstStyle/>
          <a:p>
            <a:pPr>
              <a:spcAft>
                <a:spcPts val="400"/>
              </a:spcAft>
              <a:defRPr sz="1900" b="0" i="0">
                <a:solidFill>
                  <a:srgbClr val="A1A1A6"/>
                </a:solidFill>
                <a:latin typeface="Segoe UI"/>
              </a:defRPr>
            </a:pPr>
            <a:r>
              <a:t>Better than prior work on capacity and timing — not every axis</a:t>
            </a:r>
          </a:p>
        </p:txBody>
      </p:sp>
      <p:sp>
        <p:nvSpPr>
          <p:cNvPr id="7" name="tx_0708"/>
          <p:cNvSpPr txBox="1"/>
          <p:nvPr/>
        </p:nvSpPr>
        <p:spPr>
          <a:xfrm>
            <a:off x="822960" y="5724144"/>
            <a:ext cx="10546079" cy="438912"/>
          </a:xfrm>
          <a:prstGeom prst="rect">
            <a:avLst/>
          </a:prstGeom>
          <a:noFill/>
        </p:spPr>
        <p:txBody>
          <a:bodyPr wrap="square" lIns="0" rIns="0" tIns="0" bIns="0">
            <a:spAutoFit/>
          </a:bodyPr>
          <a:lstStyle/>
          <a:p>
            <a:pPr>
              <a:spcAft>
                <a:spcPts val="400"/>
              </a:spcAft>
              <a:defRPr sz="1900" b="0" i="0">
                <a:solidFill>
                  <a:srgbClr val="A1A1A6"/>
                </a:solidFill>
                <a:latin typeface="Segoe UI"/>
              </a:defRPr>
            </a:pPr>
            <a:r>
              <a:t>The clean fix costs the thing DSA is for</a:t>
            </a:r>
          </a:p>
        </p:txBody>
      </p:sp>
      <p:sp>
        <p:nvSpPr>
          <p:cNvPr id="8" name="tx_0709"/>
          <p:cNvSpPr txBox="1"/>
          <p:nvPr/>
        </p:nvSpPr>
        <p:spPr>
          <a:xfrm>
            <a:off x="10820399" y="6419088"/>
            <a:ext cx="548640" cy="228600"/>
          </a:xfrm>
          <a:prstGeom prst="rect">
            <a:avLst/>
          </a:prstGeom>
          <a:noFill/>
        </p:spPr>
        <p:txBody>
          <a:bodyPr wrap="square" lIns="0" rIns="0" tIns="0" bIns="0">
            <a:spAutoFit/>
          </a:bodyPr>
          <a:lstStyle/>
          <a:p>
            <a:pPr algn="r">
              <a:spcAft>
                <a:spcPts val="400"/>
              </a:spcAft>
              <a:defRPr sz="1000" b="0" i="0">
                <a:solidFill>
                  <a:srgbClr val="A1A1A6"/>
                </a:solidFill>
                <a:latin typeface="Segoe UI"/>
              </a:defRPr>
            </a:pPr>
            <a:r>
              <a:t>40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x_0710"/>
          <p:cNvSpPr txBox="1"/>
          <p:nvPr/>
        </p:nvSpPr>
        <p:spPr>
          <a:xfrm>
            <a:off x="822960" y="502920"/>
            <a:ext cx="10546079" cy="274320"/>
          </a:xfrm>
          <a:prstGeom prst="rect">
            <a:avLst/>
          </a:prstGeom>
          <a:noFill/>
        </p:spPr>
        <p:txBody>
          <a:bodyPr wrap="square" lIns="0" rIns="0" tIns="0" bIns="0">
            <a:spAutoFit/>
          </a:bodyPr>
          <a:lstStyle/>
          <a:p>
            <a:pPr>
              <a:spcAft>
                <a:spcPts val="400"/>
              </a:spcAft>
              <a:defRPr sz="1200" b="0" i="0">
                <a:solidFill>
                  <a:srgbClr val="0071E3"/>
                </a:solidFill>
                <a:latin typeface="Segoe UI Semibold"/>
              </a:defRPr>
            </a:pPr>
            <a:r>
              <a:t>Does it hold up?</a:t>
            </a:r>
          </a:p>
        </p:txBody>
      </p:sp>
      <p:sp>
        <p:nvSpPr>
          <p:cNvPr id="3" name="tx_0711"/>
          <p:cNvSpPr txBox="1"/>
          <p:nvPr/>
        </p:nvSpPr>
        <p:spPr>
          <a:xfrm>
            <a:off x="822960" y="822960"/>
            <a:ext cx="10546079" cy="914400"/>
          </a:xfrm>
          <a:prstGeom prst="rect">
            <a:avLst/>
          </a:prstGeom>
          <a:noFill/>
        </p:spPr>
        <p:txBody>
          <a:bodyPr wrap="square" lIns="0" rIns="0" tIns="0" bIns="0">
            <a:spAutoFit/>
          </a:bodyPr>
          <a:lstStyle/>
          <a:p>
            <a:pPr>
              <a:lnSpc>
                <a:spcPct val="100000"/>
              </a:lnSpc>
              <a:spcAft>
                <a:spcPts val="400"/>
              </a:spcAft>
              <a:defRPr sz="3000" b="0" i="0">
                <a:solidFill>
                  <a:srgbClr val="1D1D1F"/>
                </a:solidFill>
                <a:latin typeface="Segoe UI Semibold"/>
              </a:defRPr>
            </a:pPr>
            <a:r>
              <a:t>It barely flinches under stress</a:t>
            </a:r>
          </a:p>
        </p:txBody>
      </p:sp>
      <p:sp>
        <p:nvSpPr>
          <p:cNvPr id="4" name="tx_0712"/>
          <p:cNvSpPr txBox="1"/>
          <p:nvPr/>
        </p:nvSpPr>
        <p:spPr>
          <a:xfrm>
            <a:off x="822960" y="6419088"/>
            <a:ext cx="9631679" cy="228600"/>
          </a:xfrm>
          <a:prstGeom prst="rect">
            <a:avLst/>
          </a:prstGeom>
          <a:noFill/>
        </p:spPr>
        <p:txBody>
          <a:bodyPr wrap="square" lIns="0" rIns="0" tIns="0" bIns="0">
            <a:spAutoFit/>
          </a:bodyPr>
          <a:lstStyle/>
          <a:p>
            <a:pPr>
              <a:spcAft>
                <a:spcPts val="400"/>
              </a:spcAft>
              <a:defRPr sz="1000" b="0" i="0">
                <a:solidFill>
                  <a:srgbClr val="86868B"/>
                </a:solidFill>
                <a:latin typeface="Segoe UI"/>
              </a:defRPr>
            </a:pPr>
            <a:r>
              <a:t>Paper § VI-E, Table III · p. 11 · all six reported rows</a:t>
            </a:r>
          </a:p>
        </p:txBody>
      </p:sp>
      <p:sp>
        <p:nvSpPr>
          <p:cNvPr id="5" name="tx_0713"/>
          <p:cNvSpPr txBox="1"/>
          <p:nvPr/>
        </p:nvSpPr>
        <p:spPr>
          <a:xfrm>
            <a:off x="10820399" y="6419088"/>
            <a:ext cx="548640" cy="228600"/>
          </a:xfrm>
          <a:prstGeom prst="rect">
            <a:avLst/>
          </a:prstGeom>
          <a:noFill/>
        </p:spPr>
        <p:txBody>
          <a:bodyPr wrap="square" lIns="0" rIns="0" tIns="0" bIns="0">
            <a:spAutoFit/>
          </a:bodyPr>
          <a:lstStyle/>
          <a:p>
            <a:pPr algn="r">
              <a:spcAft>
                <a:spcPts val="400"/>
              </a:spcAft>
              <a:defRPr sz="1000" b="0" i="0">
                <a:solidFill>
                  <a:srgbClr val="86868B"/>
                </a:solidFill>
                <a:latin typeface="Segoe UI"/>
              </a:defRPr>
            </a:pPr>
            <a:r>
              <a:t>41</a:t>
            </a:r>
          </a:p>
        </p:txBody>
      </p:sp>
      <p:sp>
        <p:nvSpPr>
          <p:cNvPr id="6" name="tx_0714"/>
          <p:cNvSpPr txBox="1"/>
          <p:nvPr/>
        </p:nvSpPr>
        <p:spPr>
          <a:xfrm>
            <a:off x="868680" y="1783080"/>
            <a:ext cx="3283305" cy="274320"/>
          </a:xfrm>
          <a:prstGeom prst="rect">
            <a:avLst/>
          </a:prstGeom>
          <a:noFill/>
        </p:spPr>
        <p:txBody>
          <a:bodyPr wrap="square" lIns="0" rIns="0" tIns="0" bIns="0">
            <a:spAutoFit/>
          </a:bodyPr>
          <a:lstStyle/>
          <a:p>
            <a:pPr>
              <a:spcAft>
                <a:spcPts val="400"/>
              </a:spcAft>
              <a:defRPr sz="1200" b="0" i="0">
                <a:solidFill>
                  <a:srgbClr val="86868B"/>
                </a:solidFill>
                <a:latin typeface="Segoe UI Semibold"/>
              </a:defRPr>
            </a:pPr>
            <a:r>
              <a:t>METRIC</a:t>
            </a:r>
          </a:p>
        </p:txBody>
      </p:sp>
      <p:sp>
        <p:nvSpPr>
          <p:cNvPr id="7" name="tx_0715"/>
          <p:cNvSpPr txBox="1"/>
          <p:nvPr/>
        </p:nvSpPr>
        <p:spPr>
          <a:xfrm>
            <a:off x="4243425" y="1783080"/>
            <a:ext cx="1701393" cy="274320"/>
          </a:xfrm>
          <a:prstGeom prst="rect">
            <a:avLst/>
          </a:prstGeom>
          <a:noFill/>
        </p:spPr>
        <p:txBody>
          <a:bodyPr wrap="square" lIns="0" rIns="0" tIns="0" bIns="0">
            <a:spAutoFit/>
          </a:bodyPr>
          <a:lstStyle/>
          <a:p>
            <a:pPr>
              <a:spcAft>
                <a:spcPts val="400"/>
              </a:spcAft>
              <a:defRPr sz="1200" b="0" i="0">
                <a:solidFill>
                  <a:srgbClr val="86868B"/>
                </a:solidFill>
                <a:latin typeface="Segoe UI Semibold"/>
              </a:defRPr>
            </a:pPr>
            <a:r>
              <a:t>LOCAL</a:t>
            </a:r>
          </a:p>
        </p:txBody>
      </p:sp>
      <p:sp>
        <p:nvSpPr>
          <p:cNvPr id="8" name="tx_0716"/>
          <p:cNvSpPr txBox="1"/>
          <p:nvPr/>
        </p:nvSpPr>
        <p:spPr>
          <a:xfrm>
            <a:off x="6036259" y="1783080"/>
            <a:ext cx="1701393" cy="274320"/>
          </a:xfrm>
          <a:prstGeom prst="rect">
            <a:avLst/>
          </a:prstGeom>
          <a:noFill/>
        </p:spPr>
        <p:txBody>
          <a:bodyPr wrap="square" lIns="0" rIns="0" tIns="0" bIns="0">
            <a:spAutoFit/>
          </a:bodyPr>
          <a:lstStyle/>
          <a:p>
            <a:pPr>
              <a:spcAft>
                <a:spcPts val="400"/>
              </a:spcAft>
              <a:defRPr sz="1200" b="0" i="0">
                <a:solidFill>
                  <a:srgbClr val="86868B"/>
                </a:solidFill>
                <a:latin typeface="Segoe UI Semibold"/>
              </a:defRPr>
            </a:pPr>
            <a:r>
              <a:t>NOISY LOCAL</a:t>
            </a:r>
          </a:p>
        </p:txBody>
      </p:sp>
      <p:sp>
        <p:nvSpPr>
          <p:cNvPr id="9" name="tx_0717"/>
          <p:cNvSpPr txBox="1"/>
          <p:nvPr/>
        </p:nvSpPr>
        <p:spPr>
          <a:xfrm>
            <a:off x="7829092" y="1783080"/>
            <a:ext cx="1701393" cy="274320"/>
          </a:xfrm>
          <a:prstGeom prst="rect">
            <a:avLst/>
          </a:prstGeom>
          <a:noFill/>
        </p:spPr>
        <p:txBody>
          <a:bodyPr wrap="square" lIns="0" rIns="0" tIns="0" bIns="0">
            <a:spAutoFit/>
          </a:bodyPr>
          <a:lstStyle/>
          <a:p>
            <a:pPr>
              <a:spcAft>
                <a:spcPts val="400"/>
              </a:spcAft>
              <a:defRPr sz="1200" b="0" i="0">
                <a:solidFill>
                  <a:srgbClr val="86868B"/>
                </a:solidFill>
                <a:latin typeface="Segoe UI Semibold"/>
              </a:defRPr>
            </a:pPr>
            <a:r>
              <a:t>CLOUD</a:t>
            </a:r>
          </a:p>
        </p:txBody>
      </p:sp>
      <p:sp>
        <p:nvSpPr>
          <p:cNvPr id="10" name="tx_0718"/>
          <p:cNvSpPr txBox="1"/>
          <p:nvPr/>
        </p:nvSpPr>
        <p:spPr>
          <a:xfrm>
            <a:off x="9621926" y="1783080"/>
            <a:ext cx="1701393" cy="274320"/>
          </a:xfrm>
          <a:prstGeom prst="rect">
            <a:avLst/>
          </a:prstGeom>
          <a:noFill/>
        </p:spPr>
        <p:txBody>
          <a:bodyPr wrap="square" lIns="0" rIns="0" tIns="0" bIns="0">
            <a:spAutoFit/>
          </a:bodyPr>
          <a:lstStyle/>
          <a:p>
            <a:pPr>
              <a:spcAft>
                <a:spcPts val="400"/>
              </a:spcAft>
              <a:defRPr sz="1200" b="0" i="0">
                <a:solidFill>
                  <a:srgbClr val="86868B"/>
                </a:solidFill>
                <a:latin typeface="Segoe UI Semibold"/>
              </a:defRPr>
            </a:pPr>
            <a:r>
              <a:t>NOISY CLOUD</a:t>
            </a:r>
          </a:p>
        </p:txBody>
      </p:sp>
      <p:cxnSp>
        <p:nvCxnSpPr>
          <p:cNvPr id="11" name="hl_0719"/>
          <p:cNvCxnSpPr/>
          <p:nvPr/>
        </p:nvCxnSpPr>
        <p:spPr>
          <a:xfrm>
            <a:off x="822960" y="2148840"/>
            <a:ext cx="10546079" cy="0"/>
          </a:xfrm>
          <a:prstGeom prst="line">
            <a:avLst/>
          </a:prstGeom>
          <a:ln w="12700">
            <a:solidFill>
              <a:srgbClr val="1D1D1F"/>
            </a:solidFill>
          </a:ln>
        </p:spPr>
        <p:style>
          <a:lnRef idx="2">
            <a:schemeClr val="accent1"/>
          </a:lnRef>
          <a:fillRef idx="0">
            <a:schemeClr val="accent1"/>
          </a:fillRef>
          <a:effectRef idx="1">
            <a:schemeClr val="accent1"/>
          </a:effectRef>
          <a:fontRef idx="minor">
            <a:schemeClr val="tx1"/>
          </a:fontRef>
        </p:style>
      </p:cxnSp>
      <p:sp>
        <p:nvSpPr>
          <p:cNvPr id="12" name="tx_0720"/>
          <p:cNvSpPr txBox="1"/>
          <p:nvPr/>
        </p:nvSpPr>
        <p:spPr>
          <a:xfrm>
            <a:off x="868680" y="2217420"/>
            <a:ext cx="3283305"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Semibold"/>
              </a:defRPr>
            </a:pPr>
            <a:r>
              <a:t>DevTLB covert (kbps)</a:t>
            </a:r>
          </a:p>
        </p:txBody>
      </p:sp>
      <p:sp>
        <p:nvSpPr>
          <p:cNvPr id="13" name="tx_0721"/>
          <p:cNvSpPr txBox="1"/>
          <p:nvPr/>
        </p:nvSpPr>
        <p:spPr>
          <a:xfrm>
            <a:off x="4243425" y="2217420"/>
            <a:ext cx="1701393"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a:defRPr>
            </a:pPr>
            <a:r>
              <a:t>17.19</a:t>
            </a:r>
          </a:p>
        </p:txBody>
      </p:sp>
      <p:sp>
        <p:nvSpPr>
          <p:cNvPr id="14" name="tx_0722"/>
          <p:cNvSpPr txBox="1"/>
          <p:nvPr/>
        </p:nvSpPr>
        <p:spPr>
          <a:xfrm>
            <a:off x="6036259" y="2217420"/>
            <a:ext cx="1701393"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a:defRPr>
            </a:pPr>
            <a:r>
              <a:t>16.81</a:t>
            </a:r>
          </a:p>
        </p:txBody>
      </p:sp>
      <p:sp>
        <p:nvSpPr>
          <p:cNvPr id="15" name="tx_0723"/>
          <p:cNvSpPr txBox="1"/>
          <p:nvPr/>
        </p:nvSpPr>
        <p:spPr>
          <a:xfrm>
            <a:off x="7829092" y="2217420"/>
            <a:ext cx="1701393"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a:defRPr>
            </a:pPr>
            <a:r>
              <a:t>16.97</a:t>
            </a:r>
          </a:p>
        </p:txBody>
      </p:sp>
      <p:sp>
        <p:nvSpPr>
          <p:cNvPr id="16" name="tx_0724"/>
          <p:cNvSpPr txBox="1"/>
          <p:nvPr/>
        </p:nvSpPr>
        <p:spPr>
          <a:xfrm>
            <a:off x="9621926" y="2217420"/>
            <a:ext cx="1701393"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a:defRPr>
            </a:pPr>
            <a:r>
              <a:t>16.52</a:t>
            </a:r>
          </a:p>
        </p:txBody>
      </p:sp>
      <p:cxnSp>
        <p:nvCxnSpPr>
          <p:cNvPr id="17" name="hl_0725"/>
          <p:cNvCxnSpPr/>
          <p:nvPr/>
        </p:nvCxnSpPr>
        <p:spPr>
          <a:xfrm>
            <a:off x="822960" y="2651760"/>
            <a:ext cx="10546079"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18" name="tx_0726"/>
          <p:cNvSpPr txBox="1"/>
          <p:nvPr/>
        </p:nvSpPr>
        <p:spPr>
          <a:xfrm>
            <a:off x="868680" y="2720340"/>
            <a:ext cx="3283305"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Semibold"/>
              </a:defRPr>
            </a:pPr>
            <a:r>
              <a:t>SWQ covert (kbps)</a:t>
            </a:r>
          </a:p>
        </p:txBody>
      </p:sp>
      <p:sp>
        <p:nvSpPr>
          <p:cNvPr id="19" name="tx_0727"/>
          <p:cNvSpPr txBox="1"/>
          <p:nvPr/>
        </p:nvSpPr>
        <p:spPr>
          <a:xfrm>
            <a:off x="4243425" y="2720340"/>
            <a:ext cx="1701393"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a:defRPr>
            </a:pPr>
            <a:r>
              <a:t>4.02</a:t>
            </a:r>
          </a:p>
        </p:txBody>
      </p:sp>
      <p:sp>
        <p:nvSpPr>
          <p:cNvPr id="20" name="tx_0728"/>
          <p:cNvSpPr txBox="1"/>
          <p:nvPr/>
        </p:nvSpPr>
        <p:spPr>
          <a:xfrm>
            <a:off x="6036259" y="2720340"/>
            <a:ext cx="1701393"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a:defRPr>
            </a:pPr>
            <a:r>
              <a:t>4.08</a:t>
            </a:r>
          </a:p>
        </p:txBody>
      </p:sp>
      <p:sp>
        <p:nvSpPr>
          <p:cNvPr id="21" name="tx_0729"/>
          <p:cNvSpPr txBox="1"/>
          <p:nvPr/>
        </p:nvSpPr>
        <p:spPr>
          <a:xfrm>
            <a:off x="7829092" y="2720340"/>
            <a:ext cx="1701393"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a:defRPr>
            </a:pPr>
            <a:r>
              <a:t>3.96</a:t>
            </a:r>
          </a:p>
        </p:txBody>
      </p:sp>
      <p:sp>
        <p:nvSpPr>
          <p:cNvPr id="22" name="tx_0730"/>
          <p:cNvSpPr txBox="1"/>
          <p:nvPr/>
        </p:nvSpPr>
        <p:spPr>
          <a:xfrm>
            <a:off x="9621926" y="2720340"/>
            <a:ext cx="1701393"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a:defRPr>
            </a:pPr>
            <a:r>
              <a:t>3.80</a:t>
            </a:r>
          </a:p>
        </p:txBody>
      </p:sp>
      <p:cxnSp>
        <p:nvCxnSpPr>
          <p:cNvPr id="23" name="hl_0731"/>
          <p:cNvCxnSpPr/>
          <p:nvPr/>
        </p:nvCxnSpPr>
        <p:spPr>
          <a:xfrm>
            <a:off x="822960" y="3154680"/>
            <a:ext cx="10546079"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24" name="tx_0732"/>
          <p:cNvSpPr txBox="1"/>
          <p:nvPr/>
        </p:nvSpPr>
        <p:spPr>
          <a:xfrm>
            <a:off x="868680" y="3223260"/>
            <a:ext cx="3283305"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Semibold"/>
              </a:defRPr>
            </a:pPr>
            <a:r>
              <a:t>Website accuracy</a:t>
            </a:r>
          </a:p>
        </p:txBody>
      </p:sp>
      <p:sp>
        <p:nvSpPr>
          <p:cNvPr id="25" name="tx_0733"/>
          <p:cNvSpPr txBox="1"/>
          <p:nvPr/>
        </p:nvSpPr>
        <p:spPr>
          <a:xfrm>
            <a:off x="4243425" y="3223260"/>
            <a:ext cx="1701393"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a:defRPr>
            </a:pPr>
            <a:r>
              <a:t>85.7%</a:t>
            </a:r>
          </a:p>
        </p:txBody>
      </p:sp>
      <p:sp>
        <p:nvSpPr>
          <p:cNvPr id="26" name="tx_0734"/>
          <p:cNvSpPr txBox="1"/>
          <p:nvPr/>
        </p:nvSpPr>
        <p:spPr>
          <a:xfrm>
            <a:off x="6036259" y="3223260"/>
            <a:ext cx="1701393"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a:defRPr>
            </a:pPr>
            <a:r>
              <a:t>86.0%</a:t>
            </a:r>
          </a:p>
        </p:txBody>
      </p:sp>
      <p:sp>
        <p:nvSpPr>
          <p:cNvPr id="27" name="tx_0735"/>
          <p:cNvSpPr txBox="1"/>
          <p:nvPr/>
        </p:nvSpPr>
        <p:spPr>
          <a:xfrm>
            <a:off x="7829092" y="3223260"/>
            <a:ext cx="1701393"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a:defRPr>
            </a:pPr>
            <a:r>
              <a:t>85.5%</a:t>
            </a:r>
          </a:p>
        </p:txBody>
      </p:sp>
      <p:sp>
        <p:nvSpPr>
          <p:cNvPr id="28" name="tx_0736"/>
          <p:cNvSpPr txBox="1"/>
          <p:nvPr/>
        </p:nvSpPr>
        <p:spPr>
          <a:xfrm>
            <a:off x="9621926" y="3223260"/>
            <a:ext cx="1701393"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a:defRPr>
            </a:pPr>
            <a:r>
              <a:t>85.1%</a:t>
            </a:r>
          </a:p>
        </p:txBody>
      </p:sp>
      <p:cxnSp>
        <p:nvCxnSpPr>
          <p:cNvPr id="29" name="hl_0737"/>
          <p:cNvCxnSpPr/>
          <p:nvPr/>
        </p:nvCxnSpPr>
        <p:spPr>
          <a:xfrm>
            <a:off x="822960" y="3657600"/>
            <a:ext cx="10546079"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30" name="tx_0738"/>
          <p:cNvSpPr txBox="1"/>
          <p:nvPr/>
        </p:nvSpPr>
        <p:spPr>
          <a:xfrm>
            <a:off x="868680" y="3726180"/>
            <a:ext cx="3283305"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Semibold"/>
              </a:defRPr>
            </a:pPr>
            <a:r>
              <a:t>DevTLB keystroke F1</a:t>
            </a:r>
          </a:p>
        </p:txBody>
      </p:sp>
      <p:sp>
        <p:nvSpPr>
          <p:cNvPr id="31" name="tx_0739"/>
          <p:cNvSpPr txBox="1"/>
          <p:nvPr/>
        </p:nvSpPr>
        <p:spPr>
          <a:xfrm>
            <a:off x="4243425" y="3726180"/>
            <a:ext cx="1701393"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a:defRPr>
            </a:pPr>
            <a:r>
              <a:t>92.0%</a:t>
            </a:r>
          </a:p>
        </p:txBody>
      </p:sp>
      <p:sp>
        <p:nvSpPr>
          <p:cNvPr id="32" name="tx_0740"/>
          <p:cNvSpPr txBox="1"/>
          <p:nvPr/>
        </p:nvSpPr>
        <p:spPr>
          <a:xfrm>
            <a:off x="6036259" y="3726180"/>
            <a:ext cx="1701393"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a:defRPr>
            </a:pPr>
            <a:r>
              <a:t>90.5%</a:t>
            </a:r>
          </a:p>
        </p:txBody>
      </p:sp>
      <p:sp>
        <p:nvSpPr>
          <p:cNvPr id="33" name="tx_0741"/>
          <p:cNvSpPr txBox="1"/>
          <p:nvPr/>
        </p:nvSpPr>
        <p:spPr>
          <a:xfrm>
            <a:off x="7829092" y="3726180"/>
            <a:ext cx="1701393"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a:defRPr>
            </a:pPr>
            <a:r>
              <a:t>93.4%</a:t>
            </a:r>
          </a:p>
        </p:txBody>
      </p:sp>
      <p:sp>
        <p:nvSpPr>
          <p:cNvPr id="34" name="tx_0742"/>
          <p:cNvSpPr txBox="1"/>
          <p:nvPr/>
        </p:nvSpPr>
        <p:spPr>
          <a:xfrm>
            <a:off x="9621926" y="3726180"/>
            <a:ext cx="1701393"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a:defRPr>
            </a:pPr>
            <a:r>
              <a:t>93.0%</a:t>
            </a:r>
          </a:p>
        </p:txBody>
      </p:sp>
      <p:cxnSp>
        <p:nvCxnSpPr>
          <p:cNvPr id="35" name="hl_0743"/>
          <p:cNvCxnSpPr/>
          <p:nvPr/>
        </p:nvCxnSpPr>
        <p:spPr>
          <a:xfrm>
            <a:off x="822960" y="4160520"/>
            <a:ext cx="10546079"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36" name="tx_0744"/>
          <p:cNvSpPr txBox="1"/>
          <p:nvPr/>
        </p:nvSpPr>
        <p:spPr>
          <a:xfrm>
            <a:off x="868680" y="4229100"/>
            <a:ext cx="3283305"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Semibold"/>
              </a:defRPr>
            </a:pPr>
            <a:r>
              <a:t>SWQ keystroke F1</a:t>
            </a:r>
          </a:p>
        </p:txBody>
      </p:sp>
      <p:sp>
        <p:nvSpPr>
          <p:cNvPr id="37" name="tx_0745"/>
          <p:cNvSpPr txBox="1"/>
          <p:nvPr/>
        </p:nvSpPr>
        <p:spPr>
          <a:xfrm>
            <a:off x="4243425" y="4229100"/>
            <a:ext cx="1701393"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a:defRPr>
            </a:pPr>
            <a:r>
              <a:t>98.4%</a:t>
            </a:r>
          </a:p>
        </p:txBody>
      </p:sp>
      <p:sp>
        <p:nvSpPr>
          <p:cNvPr id="38" name="tx_0746"/>
          <p:cNvSpPr txBox="1"/>
          <p:nvPr/>
        </p:nvSpPr>
        <p:spPr>
          <a:xfrm>
            <a:off x="6036259" y="4229100"/>
            <a:ext cx="1701393"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a:defRPr>
            </a:pPr>
            <a:r>
              <a:t>98.2%</a:t>
            </a:r>
          </a:p>
        </p:txBody>
      </p:sp>
      <p:sp>
        <p:nvSpPr>
          <p:cNvPr id="39" name="tx_0747"/>
          <p:cNvSpPr txBox="1"/>
          <p:nvPr/>
        </p:nvSpPr>
        <p:spPr>
          <a:xfrm>
            <a:off x="7829092" y="4229100"/>
            <a:ext cx="1701393"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a:defRPr>
            </a:pPr>
            <a:r>
              <a:t>99.1%</a:t>
            </a:r>
          </a:p>
        </p:txBody>
      </p:sp>
      <p:sp>
        <p:nvSpPr>
          <p:cNvPr id="40" name="tx_0748"/>
          <p:cNvSpPr txBox="1"/>
          <p:nvPr/>
        </p:nvSpPr>
        <p:spPr>
          <a:xfrm>
            <a:off x="9621926" y="4229100"/>
            <a:ext cx="1701393"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a:defRPr>
            </a:pPr>
            <a:r>
              <a:t>98.9%</a:t>
            </a:r>
          </a:p>
        </p:txBody>
      </p:sp>
      <p:cxnSp>
        <p:nvCxnSpPr>
          <p:cNvPr id="41" name="hl_0749"/>
          <p:cNvCxnSpPr/>
          <p:nvPr/>
        </p:nvCxnSpPr>
        <p:spPr>
          <a:xfrm>
            <a:off x="822960" y="4663440"/>
            <a:ext cx="10546079"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42" name="tx_0750"/>
          <p:cNvSpPr txBox="1"/>
          <p:nvPr/>
        </p:nvSpPr>
        <p:spPr>
          <a:xfrm>
            <a:off x="868680" y="4732020"/>
            <a:ext cx="3283305"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Semibold"/>
              </a:defRPr>
            </a:pPr>
            <a:r>
              <a:t>LLM accuracy</a:t>
            </a:r>
          </a:p>
        </p:txBody>
      </p:sp>
      <p:sp>
        <p:nvSpPr>
          <p:cNvPr id="43" name="tx_0751"/>
          <p:cNvSpPr txBox="1"/>
          <p:nvPr/>
        </p:nvSpPr>
        <p:spPr>
          <a:xfrm>
            <a:off x="4243425" y="4732020"/>
            <a:ext cx="1701393"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a:defRPr>
            </a:pPr>
            <a:r>
              <a:t>98.6%</a:t>
            </a:r>
          </a:p>
        </p:txBody>
      </p:sp>
      <p:sp>
        <p:nvSpPr>
          <p:cNvPr id="44" name="tx_0752"/>
          <p:cNvSpPr txBox="1"/>
          <p:nvPr/>
        </p:nvSpPr>
        <p:spPr>
          <a:xfrm>
            <a:off x="6036259" y="4732020"/>
            <a:ext cx="1701393"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a:defRPr>
            </a:pPr>
            <a:r>
              <a:t>98.6%</a:t>
            </a:r>
          </a:p>
        </p:txBody>
      </p:sp>
      <p:sp>
        <p:nvSpPr>
          <p:cNvPr id="45" name="tx_0753"/>
          <p:cNvSpPr txBox="1"/>
          <p:nvPr/>
        </p:nvSpPr>
        <p:spPr>
          <a:xfrm>
            <a:off x="7829092" y="4732020"/>
            <a:ext cx="1701393"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a:defRPr>
            </a:pPr>
            <a:r>
              <a:t>97.7%</a:t>
            </a:r>
          </a:p>
        </p:txBody>
      </p:sp>
      <p:sp>
        <p:nvSpPr>
          <p:cNvPr id="46" name="tx_0754"/>
          <p:cNvSpPr txBox="1"/>
          <p:nvPr/>
        </p:nvSpPr>
        <p:spPr>
          <a:xfrm>
            <a:off x="9621926" y="4732020"/>
            <a:ext cx="1701393"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a:defRPr>
            </a:pPr>
            <a:r>
              <a:t>98.0%</a:t>
            </a:r>
          </a:p>
        </p:txBody>
      </p:sp>
      <p:cxnSp>
        <p:nvCxnSpPr>
          <p:cNvPr id="47" name="hl_0755"/>
          <p:cNvCxnSpPr/>
          <p:nvPr/>
        </p:nvCxnSpPr>
        <p:spPr>
          <a:xfrm>
            <a:off x="822960" y="5166359"/>
            <a:ext cx="10546079"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48" name="rect_0756"/>
          <p:cNvSpPr/>
          <p:nvPr/>
        </p:nvSpPr>
        <p:spPr>
          <a:xfrm>
            <a:off x="822960" y="5623560"/>
            <a:ext cx="502920" cy="41148"/>
          </a:xfrm>
          <a:prstGeom prst="rect">
            <a:avLst/>
          </a:prstGeom>
          <a:solidFill>
            <a:srgbClr val="007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x_0757"/>
          <p:cNvSpPr txBox="1"/>
          <p:nvPr/>
        </p:nvSpPr>
        <p:spPr>
          <a:xfrm>
            <a:off x="822960" y="5779008"/>
            <a:ext cx="10546079" cy="548640"/>
          </a:xfrm>
          <a:prstGeom prst="rect">
            <a:avLst/>
          </a:prstGeom>
          <a:noFill/>
        </p:spPr>
        <p:txBody>
          <a:bodyPr wrap="square" lIns="0" rIns="0" tIns="0" bIns="0">
            <a:spAutoFit/>
          </a:bodyPr>
          <a:lstStyle/>
          <a:p>
            <a:pPr>
              <a:spcAft>
                <a:spcPts val="400"/>
              </a:spcAft>
              <a:defRPr sz="2100" b="0" i="0">
                <a:solidFill>
                  <a:srgbClr val="1D1D1F"/>
                </a:solidFill>
                <a:latin typeface="Segoe UI Semibold"/>
              </a:defRPr>
            </a:pPr>
            <a:r>
              <a:t>Robustness covers these stressors; broader tenant interference remains open.</a:t>
            </a:r>
          </a:p>
        </p:txBody>
      </p:sp>
    </p:spTree>
  </p:cSld>
  <p:clrMapOvr>
    <a:masterClrMapping/>
  </p:clrMapOvr>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x_0758"/>
          <p:cNvSpPr txBox="1"/>
          <p:nvPr/>
        </p:nvSpPr>
        <p:spPr>
          <a:xfrm>
            <a:off x="822960" y="502920"/>
            <a:ext cx="10546079" cy="274320"/>
          </a:xfrm>
          <a:prstGeom prst="rect">
            <a:avLst/>
          </a:prstGeom>
          <a:noFill/>
        </p:spPr>
        <p:txBody>
          <a:bodyPr wrap="square" lIns="0" rIns="0" tIns="0" bIns="0">
            <a:spAutoFit/>
          </a:bodyPr>
          <a:lstStyle/>
          <a:p>
            <a:pPr>
              <a:spcAft>
                <a:spcPts val="400"/>
              </a:spcAft>
              <a:defRPr sz="1200" b="0" i="0">
                <a:solidFill>
                  <a:srgbClr val="0071E3"/>
                </a:solidFill>
                <a:latin typeface="Segoe UI Semibold"/>
              </a:defRPr>
            </a:pPr>
            <a:r>
              <a:t>Does it hold up?</a:t>
            </a:r>
          </a:p>
        </p:txBody>
      </p:sp>
      <p:sp>
        <p:nvSpPr>
          <p:cNvPr id="3" name="tx_0759"/>
          <p:cNvSpPr txBox="1"/>
          <p:nvPr/>
        </p:nvSpPr>
        <p:spPr>
          <a:xfrm>
            <a:off x="822960" y="822960"/>
            <a:ext cx="10546079" cy="914400"/>
          </a:xfrm>
          <a:prstGeom prst="rect">
            <a:avLst/>
          </a:prstGeom>
          <a:noFill/>
        </p:spPr>
        <p:txBody>
          <a:bodyPr wrap="square" lIns="0" rIns="0" tIns="0" bIns="0">
            <a:spAutoFit/>
          </a:bodyPr>
          <a:lstStyle/>
          <a:p>
            <a:pPr>
              <a:lnSpc>
                <a:spcPct val="100000"/>
              </a:lnSpc>
              <a:spcAft>
                <a:spcPts val="400"/>
              </a:spcAft>
              <a:defRPr sz="3000" b="0" i="0">
                <a:solidFill>
                  <a:srgbClr val="1D1D1F"/>
                </a:solidFill>
                <a:latin typeface="Segoe UI Semibold"/>
              </a:defRPr>
            </a:pPr>
            <a:r>
              <a:t>Better on two axes — honestly, not all</a:t>
            </a:r>
          </a:p>
        </p:txBody>
      </p:sp>
      <p:sp>
        <p:nvSpPr>
          <p:cNvPr id="4" name="tx_0760"/>
          <p:cNvSpPr txBox="1"/>
          <p:nvPr/>
        </p:nvSpPr>
        <p:spPr>
          <a:xfrm>
            <a:off x="822960" y="6419088"/>
            <a:ext cx="9631679" cy="228600"/>
          </a:xfrm>
          <a:prstGeom prst="rect">
            <a:avLst/>
          </a:prstGeom>
          <a:noFill/>
        </p:spPr>
        <p:txBody>
          <a:bodyPr wrap="square" lIns="0" rIns="0" tIns="0" bIns="0">
            <a:spAutoFit/>
          </a:bodyPr>
          <a:lstStyle/>
          <a:p>
            <a:pPr>
              <a:spcAft>
                <a:spcPts val="400"/>
              </a:spcAft>
              <a:defRPr sz="1000" b="0" i="0">
                <a:solidFill>
                  <a:srgbClr val="86868B"/>
                </a:solidFill>
                <a:latin typeface="Segoe UI"/>
              </a:defRPr>
            </a:pPr>
            <a:r>
              <a:t>Paper § VI-F, Table IV · pp. 11–12 · cross-paper values, not matched re-runs</a:t>
            </a:r>
          </a:p>
        </p:txBody>
      </p:sp>
      <p:sp>
        <p:nvSpPr>
          <p:cNvPr id="5" name="tx_0761"/>
          <p:cNvSpPr txBox="1"/>
          <p:nvPr/>
        </p:nvSpPr>
        <p:spPr>
          <a:xfrm>
            <a:off x="10820399" y="6419088"/>
            <a:ext cx="548640" cy="228600"/>
          </a:xfrm>
          <a:prstGeom prst="rect">
            <a:avLst/>
          </a:prstGeom>
          <a:noFill/>
        </p:spPr>
        <p:txBody>
          <a:bodyPr wrap="square" lIns="0" rIns="0" tIns="0" bIns="0">
            <a:spAutoFit/>
          </a:bodyPr>
          <a:lstStyle/>
          <a:p>
            <a:pPr algn="r">
              <a:spcAft>
                <a:spcPts val="400"/>
              </a:spcAft>
              <a:defRPr sz="1000" b="0" i="0">
                <a:solidFill>
                  <a:srgbClr val="86868B"/>
                </a:solidFill>
                <a:latin typeface="Segoe UI"/>
              </a:defRPr>
            </a:pPr>
            <a:r>
              <a:t>42</a:t>
            </a:r>
          </a:p>
        </p:txBody>
      </p:sp>
      <p:sp>
        <p:nvSpPr>
          <p:cNvPr id="6" name="tx_0762"/>
          <p:cNvSpPr txBox="1"/>
          <p:nvPr/>
        </p:nvSpPr>
        <p:spPr>
          <a:xfrm>
            <a:off x="868680" y="1783080"/>
            <a:ext cx="2650540" cy="274320"/>
          </a:xfrm>
          <a:prstGeom prst="rect">
            <a:avLst/>
          </a:prstGeom>
          <a:noFill/>
        </p:spPr>
        <p:txBody>
          <a:bodyPr wrap="square" lIns="0" rIns="0" tIns="0" bIns="0">
            <a:spAutoFit/>
          </a:bodyPr>
          <a:lstStyle/>
          <a:p>
            <a:pPr>
              <a:spcAft>
                <a:spcPts val="400"/>
              </a:spcAft>
              <a:defRPr sz="1200" b="0" i="0">
                <a:solidFill>
                  <a:srgbClr val="86868B"/>
                </a:solidFill>
                <a:latin typeface="Segoe UI Semibold"/>
              </a:defRPr>
            </a:pPr>
            <a:r>
              <a:t>WORK / MECHANISM</a:t>
            </a:r>
          </a:p>
        </p:txBody>
      </p:sp>
      <p:sp>
        <p:nvSpPr>
          <p:cNvPr id="7" name="tx_0763"/>
          <p:cNvSpPr txBox="1"/>
          <p:nvPr/>
        </p:nvSpPr>
        <p:spPr>
          <a:xfrm>
            <a:off x="3610660" y="1783080"/>
            <a:ext cx="1490471" cy="274320"/>
          </a:xfrm>
          <a:prstGeom prst="rect">
            <a:avLst/>
          </a:prstGeom>
          <a:noFill/>
        </p:spPr>
        <p:txBody>
          <a:bodyPr wrap="square" lIns="0" rIns="0" tIns="0" bIns="0">
            <a:spAutoFit/>
          </a:bodyPr>
          <a:lstStyle/>
          <a:p>
            <a:pPr>
              <a:spcAft>
                <a:spcPts val="400"/>
              </a:spcAft>
              <a:defRPr sz="1200" b="0" i="0">
                <a:solidFill>
                  <a:srgbClr val="86868B"/>
                </a:solidFill>
                <a:latin typeface="Segoe UI Semibold"/>
              </a:defRPr>
            </a:pPr>
            <a:r>
              <a:t>CAPACITY</a:t>
            </a:r>
          </a:p>
        </p:txBody>
      </p:sp>
      <p:sp>
        <p:nvSpPr>
          <p:cNvPr id="8" name="tx_0764"/>
          <p:cNvSpPr txBox="1"/>
          <p:nvPr/>
        </p:nvSpPr>
        <p:spPr>
          <a:xfrm>
            <a:off x="5192572" y="1783080"/>
            <a:ext cx="1279550" cy="274320"/>
          </a:xfrm>
          <a:prstGeom prst="rect">
            <a:avLst/>
          </a:prstGeom>
          <a:noFill/>
        </p:spPr>
        <p:txBody>
          <a:bodyPr wrap="square" lIns="0" rIns="0" tIns="0" bIns="0">
            <a:spAutoFit/>
          </a:bodyPr>
          <a:lstStyle/>
          <a:p>
            <a:pPr>
              <a:spcAft>
                <a:spcPts val="400"/>
              </a:spcAft>
              <a:defRPr sz="1200" b="0" i="0">
                <a:solidFill>
                  <a:srgbClr val="86868B"/>
                </a:solidFill>
                <a:latin typeface="Segoe UI Semibold"/>
              </a:defRPr>
            </a:pPr>
            <a:r>
              <a:t>BIT ERROR</a:t>
            </a:r>
          </a:p>
        </p:txBody>
      </p:sp>
      <p:sp>
        <p:nvSpPr>
          <p:cNvPr id="9" name="tx_0765"/>
          <p:cNvSpPr txBox="1"/>
          <p:nvPr/>
        </p:nvSpPr>
        <p:spPr>
          <a:xfrm>
            <a:off x="6563563" y="1783080"/>
            <a:ext cx="1490471" cy="274320"/>
          </a:xfrm>
          <a:prstGeom prst="rect">
            <a:avLst/>
          </a:prstGeom>
          <a:noFill/>
        </p:spPr>
        <p:txBody>
          <a:bodyPr wrap="square" lIns="0" rIns="0" tIns="0" bIns="0">
            <a:spAutoFit/>
          </a:bodyPr>
          <a:lstStyle/>
          <a:p>
            <a:pPr>
              <a:spcAft>
                <a:spcPts val="400"/>
              </a:spcAft>
              <a:defRPr sz="1200" b="0" i="0">
                <a:solidFill>
                  <a:srgbClr val="86868B"/>
                </a:solidFill>
                <a:latin typeface="Segoe UI Semibold"/>
              </a:defRPr>
            </a:pPr>
            <a:r>
              <a:t>KEYSTROKE F1</a:t>
            </a:r>
          </a:p>
        </p:txBody>
      </p:sp>
      <p:sp>
        <p:nvSpPr>
          <p:cNvPr id="10" name="tx_0766"/>
          <p:cNvSpPr txBox="1"/>
          <p:nvPr/>
        </p:nvSpPr>
        <p:spPr>
          <a:xfrm>
            <a:off x="8145474" y="1783080"/>
            <a:ext cx="1490471" cy="274320"/>
          </a:xfrm>
          <a:prstGeom prst="rect">
            <a:avLst/>
          </a:prstGeom>
          <a:noFill/>
        </p:spPr>
        <p:txBody>
          <a:bodyPr wrap="square" lIns="0" rIns="0" tIns="0" bIns="0">
            <a:spAutoFit/>
          </a:bodyPr>
          <a:lstStyle/>
          <a:p>
            <a:pPr>
              <a:spcAft>
                <a:spcPts val="400"/>
              </a:spcAft>
              <a:defRPr sz="1200" b="0" i="0">
                <a:solidFill>
                  <a:srgbClr val="86868B"/>
                </a:solidFill>
                <a:latin typeface="Segoe UI Semibold"/>
              </a:defRPr>
            </a:pPr>
            <a:r>
              <a:t>KEYSTROKE Σ</a:t>
            </a:r>
          </a:p>
        </p:txBody>
      </p:sp>
      <p:sp>
        <p:nvSpPr>
          <p:cNvPr id="11" name="tx_0767"/>
          <p:cNvSpPr txBox="1"/>
          <p:nvPr/>
        </p:nvSpPr>
        <p:spPr>
          <a:xfrm>
            <a:off x="9727386" y="1783080"/>
            <a:ext cx="1595932" cy="274320"/>
          </a:xfrm>
          <a:prstGeom prst="rect">
            <a:avLst/>
          </a:prstGeom>
          <a:noFill/>
        </p:spPr>
        <p:txBody>
          <a:bodyPr wrap="square" lIns="0" rIns="0" tIns="0" bIns="0">
            <a:spAutoFit/>
          </a:bodyPr>
          <a:lstStyle/>
          <a:p>
            <a:pPr>
              <a:spcAft>
                <a:spcPts val="400"/>
              </a:spcAft>
              <a:defRPr sz="1200" b="0" i="0">
                <a:solidFill>
                  <a:srgbClr val="86868B"/>
                </a:solidFill>
                <a:latin typeface="Segoe UI Semibold"/>
              </a:defRPr>
            </a:pPr>
            <a:r>
              <a:t>WEBSITE ACC.</a:t>
            </a:r>
          </a:p>
        </p:txBody>
      </p:sp>
      <p:cxnSp>
        <p:nvCxnSpPr>
          <p:cNvPr id="12" name="hl_0768"/>
          <p:cNvCxnSpPr/>
          <p:nvPr/>
        </p:nvCxnSpPr>
        <p:spPr>
          <a:xfrm>
            <a:off x="822960" y="2148840"/>
            <a:ext cx="10546079" cy="0"/>
          </a:xfrm>
          <a:prstGeom prst="line">
            <a:avLst/>
          </a:prstGeom>
          <a:ln w="12700">
            <a:solidFill>
              <a:srgbClr val="1D1D1F"/>
            </a:solidFill>
          </a:ln>
        </p:spPr>
        <p:style>
          <a:lnRef idx="2">
            <a:schemeClr val="accent1"/>
          </a:lnRef>
          <a:fillRef idx="0">
            <a:schemeClr val="accent1"/>
          </a:fillRef>
          <a:effectRef idx="1">
            <a:schemeClr val="accent1"/>
          </a:effectRef>
          <a:fontRef idx="minor">
            <a:schemeClr val="tx1"/>
          </a:fontRef>
        </p:style>
      </p:cxnSp>
      <p:sp>
        <p:nvSpPr>
          <p:cNvPr id="13" name="tx_0769"/>
          <p:cNvSpPr txBox="1"/>
          <p:nvPr/>
        </p:nvSpPr>
        <p:spPr>
          <a:xfrm>
            <a:off x="868680" y="2240280"/>
            <a:ext cx="2650540"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Semibold"/>
              </a:defRPr>
            </a:pPr>
            <a:r>
              <a:t>IPI</a:t>
            </a:r>
          </a:p>
        </p:txBody>
      </p:sp>
      <p:sp>
        <p:nvSpPr>
          <p:cNvPr id="14" name="tx_0770"/>
          <p:cNvSpPr txBox="1"/>
          <p:nvPr/>
        </p:nvSpPr>
        <p:spPr>
          <a:xfrm>
            <a:off x="3610660" y="2240280"/>
            <a:ext cx="1490471"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a:defRPr>
            </a:pPr>
            <a:r>
              <a:t>3.45 kbps</a:t>
            </a:r>
          </a:p>
        </p:txBody>
      </p:sp>
      <p:sp>
        <p:nvSpPr>
          <p:cNvPr id="15" name="tx_0771"/>
          <p:cNvSpPr txBox="1"/>
          <p:nvPr/>
        </p:nvSpPr>
        <p:spPr>
          <a:xfrm>
            <a:off x="5192572" y="2240280"/>
            <a:ext cx="1279550"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a:defRPr>
            </a:pPr>
            <a:r>
              <a:t>18.9%</a:t>
            </a:r>
          </a:p>
        </p:txBody>
      </p:sp>
      <p:sp>
        <p:nvSpPr>
          <p:cNvPr id="16" name="tx_0772"/>
          <p:cNvSpPr txBox="1"/>
          <p:nvPr/>
        </p:nvSpPr>
        <p:spPr>
          <a:xfrm>
            <a:off x="6563563" y="2240280"/>
            <a:ext cx="1490471"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a:defRPr>
            </a:pPr>
            <a:r>
              <a:t>97.9%</a:t>
            </a:r>
          </a:p>
        </p:txBody>
      </p:sp>
      <p:sp>
        <p:nvSpPr>
          <p:cNvPr id="17" name="tx_0773"/>
          <p:cNvSpPr txBox="1"/>
          <p:nvPr/>
        </p:nvSpPr>
        <p:spPr>
          <a:xfrm>
            <a:off x="8145474" y="2240280"/>
            <a:ext cx="1490471"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a:defRPr>
            </a:pPr>
            <a:r>
              <a:t>6.15 ms</a:t>
            </a:r>
          </a:p>
        </p:txBody>
      </p:sp>
      <p:sp>
        <p:nvSpPr>
          <p:cNvPr id="18" name="tx_0774"/>
          <p:cNvSpPr txBox="1"/>
          <p:nvPr/>
        </p:nvSpPr>
        <p:spPr>
          <a:xfrm>
            <a:off x="9727386" y="2240280"/>
            <a:ext cx="1595932"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a:defRPr>
            </a:pPr>
            <a:r>
              <a:t>— (F1 80.4%)</a:t>
            </a:r>
          </a:p>
        </p:txBody>
      </p:sp>
      <p:cxnSp>
        <p:nvCxnSpPr>
          <p:cNvPr id="19" name="hl_0775"/>
          <p:cNvCxnSpPr/>
          <p:nvPr/>
        </p:nvCxnSpPr>
        <p:spPr>
          <a:xfrm>
            <a:off x="822960" y="2697480"/>
            <a:ext cx="10546079"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20" name="tx_0776"/>
          <p:cNvSpPr txBox="1"/>
          <p:nvPr/>
        </p:nvSpPr>
        <p:spPr>
          <a:xfrm>
            <a:off x="868680" y="2788920"/>
            <a:ext cx="2650540"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Semibold"/>
              </a:defRPr>
            </a:pPr>
            <a:r>
              <a:t>DEVIOUS / IOTLB</a:t>
            </a:r>
          </a:p>
        </p:txBody>
      </p:sp>
      <p:sp>
        <p:nvSpPr>
          <p:cNvPr id="21" name="tx_0777"/>
          <p:cNvSpPr txBox="1"/>
          <p:nvPr/>
        </p:nvSpPr>
        <p:spPr>
          <a:xfrm>
            <a:off x="3610660" y="2788920"/>
            <a:ext cx="1490471"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a:defRPr>
            </a:pPr>
            <a:r>
              <a:t>2.16 kbps</a:t>
            </a:r>
          </a:p>
        </p:txBody>
      </p:sp>
      <p:sp>
        <p:nvSpPr>
          <p:cNvPr id="22" name="tx_0778"/>
          <p:cNvSpPr txBox="1"/>
          <p:nvPr/>
        </p:nvSpPr>
        <p:spPr>
          <a:xfrm>
            <a:off x="5192572" y="2788920"/>
            <a:ext cx="1279550"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a:defRPr>
            </a:pPr>
            <a:r>
              <a:t>2.18%</a:t>
            </a:r>
          </a:p>
        </p:txBody>
      </p:sp>
      <p:sp>
        <p:nvSpPr>
          <p:cNvPr id="23" name="tx_0779"/>
          <p:cNvSpPr txBox="1"/>
          <p:nvPr/>
        </p:nvSpPr>
        <p:spPr>
          <a:xfrm>
            <a:off x="6563563" y="2788920"/>
            <a:ext cx="1490471"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a:defRPr>
            </a:pPr>
            <a:r>
              <a:t>—</a:t>
            </a:r>
          </a:p>
        </p:txBody>
      </p:sp>
      <p:sp>
        <p:nvSpPr>
          <p:cNvPr id="24" name="tx_0780"/>
          <p:cNvSpPr txBox="1"/>
          <p:nvPr/>
        </p:nvSpPr>
        <p:spPr>
          <a:xfrm>
            <a:off x="8145474" y="2788920"/>
            <a:ext cx="1490471"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a:defRPr>
            </a:pPr>
            <a:r>
              <a:t>10.08 ms</a:t>
            </a:r>
          </a:p>
        </p:txBody>
      </p:sp>
      <p:sp>
        <p:nvSpPr>
          <p:cNvPr id="25" name="tx_0781"/>
          <p:cNvSpPr txBox="1"/>
          <p:nvPr/>
        </p:nvSpPr>
        <p:spPr>
          <a:xfrm>
            <a:off x="9727386" y="2788920"/>
            <a:ext cx="1595932"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a:defRPr>
            </a:pPr>
            <a:r>
              <a:t>98.9% ¹</a:t>
            </a:r>
          </a:p>
        </p:txBody>
      </p:sp>
      <p:cxnSp>
        <p:nvCxnSpPr>
          <p:cNvPr id="26" name="hl_0782"/>
          <p:cNvCxnSpPr/>
          <p:nvPr/>
        </p:nvCxnSpPr>
        <p:spPr>
          <a:xfrm>
            <a:off x="822960" y="3246120"/>
            <a:ext cx="10546079"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27" name="tx_0783"/>
          <p:cNvSpPr txBox="1"/>
          <p:nvPr/>
        </p:nvSpPr>
        <p:spPr>
          <a:xfrm>
            <a:off x="868680" y="3337560"/>
            <a:ext cx="2650540" cy="365760"/>
          </a:xfrm>
          <a:prstGeom prst="rect">
            <a:avLst/>
          </a:prstGeom>
          <a:noFill/>
        </p:spPr>
        <p:txBody>
          <a:bodyPr wrap="square" lIns="0" rIns="0" tIns="0" bIns="0" anchor="ctr">
            <a:spAutoFit/>
          </a:bodyPr>
          <a:lstStyle/>
          <a:p>
            <a:pPr>
              <a:spcAft>
                <a:spcPts val="400"/>
              </a:spcAft>
              <a:defRPr sz="1600" b="0" i="0">
                <a:solidFill>
                  <a:srgbClr val="0071E3"/>
                </a:solidFill>
                <a:latin typeface="Segoe UI Semibold"/>
              </a:defRPr>
            </a:pPr>
            <a:r>
              <a:t>This work / DevTLB</a:t>
            </a:r>
          </a:p>
        </p:txBody>
      </p:sp>
      <p:sp>
        <p:nvSpPr>
          <p:cNvPr id="28" name="tx_0784"/>
          <p:cNvSpPr txBox="1"/>
          <p:nvPr/>
        </p:nvSpPr>
        <p:spPr>
          <a:xfrm>
            <a:off x="3610660" y="3337560"/>
            <a:ext cx="1490471" cy="365760"/>
          </a:xfrm>
          <a:prstGeom prst="rect">
            <a:avLst/>
          </a:prstGeom>
          <a:noFill/>
        </p:spPr>
        <p:txBody>
          <a:bodyPr wrap="square" lIns="0" rIns="0" tIns="0" bIns="0" anchor="ctr">
            <a:spAutoFit/>
          </a:bodyPr>
          <a:lstStyle/>
          <a:p>
            <a:pPr>
              <a:spcAft>
                <a:spcPts val="400"/>
              </a:spcAft>
              <a:defRPr sz="1600" b="0" i="0">
                <a:solidFill>
                  <a:srgbClr val="0071E3"/>
                </a:solidFill>
                <a:latin typeface="Segoe UI Semibold"/>
              </a:defRPr>
            </a:pPr>
            <a:r>
              <a:t>17.19 kbps</a:t>
            </a:r>
          </a:p>
        </p:txBody>
      </p:sp>
      <p:sp>
        <p:nvSpPr>
          <p:cNvPr id="29" name="tx_0785"/>
          <p:cNvSpPr txBox="1"/>
          <p:nvPr/>
        </p:nvSpPr>
        <p:spPr>
          <a:xfrm>
            <a:off x="5192572" y="3337560"/>
            <a:ext cx="1279550" cy="365760"/>
          </a:xfrm>
          <a:prstGeom prst="rect">
            <a:avLst/>
          </a:prstGeom>
          <a:noFill/>
        </p:spPr>
        <p:txBody>
          <a:bodyPr wrap="square" lIns="0" rIns="0" tIns="0" bIns="0" anchor="ctr">
            <a:spAutoFit/>
          </a:bodyPr>
          <a:lstStyle/>
          <a:p>
            <a:pPr>
              <a:spcAft>
                <a:spcPts val="400"/>
              </a:spcAft>
              <a:defRPr sz="1600" b="0" i="0">
                <a:solidFill>
                  <a:srgbClr val="0071E3"/>
                </a:solidFill>
                <a:latin typeface="Segoe UI Semibold"/>
              </a:defRPr>
            </a:pPr>
            <a:r>
              <a:t>4.63%</a:t>
            </a:r>
          </a:p>
        </p:txBody>
      </p:sp>
      <p:sp>
        <p:nvSpPr>
          <p:cNvPr id="30" name="tx_0786"/>
          <p:cNvSpPr txBox="1"/>
          <p:nvPr/>
        </p:nvSpPr>
        <p:spPr>
          <a:xfrm>
            <a:off x="6563563" y="3337560"/>
            <a:ext cx="1490471" cy="365760"/>
          </a:xfrm>
          <a:prstGeom prst="rect">
            <a:avLst/>
          </a:prstGeom>
          <a:noFill/>
        </p:spPr>
        <p:txBody>
          <a:bodyPr wrap="square" lIns="0" rIns="0" tIns="0" bIns="0" anchor="ctr">
            <a:spAutoFit/>
          </a:bodyPr>
          <a:lstStyle/>
          <a:p>
            <a:pPr>
              <a:spcAft>
                <a:spcPts val="400"/>
              </a:spcAft>
              <a:defRPr sz="1600" b="0" i="0">
                <a:solidFill>
                  <a:srgbClr val="0071E3"/>
                </a:solidFill>
                <a:latin typeface="Segoe UI Semibold"/>
              </a:defRPr>
            </a:pPr>
            <a:r>
              <a:t>92.0%</a:t>
            </a:r>
          </a:p>
        </p:txBody>
      </p:sp>
      <p:sp>
        <p:nvSpPr>
          <p:cNvPr id="31" name="tx_0787"/>
          <p:cNvSpPr txBox="1"/>
          <p:nvPr/>
        </p:nvSpPr>
        <p:spPr>
          <a:xfrm>
            <a:off x="8145474" y="3337560"/>
            <a:ext cx="1490471" cy="365760"/>
          </a:xfrm>
          <a:prstGeom prst="rect">
            <a:avLst/>
          </a:prstGeom>
          <a:noFill/>
        </p:spPr>
        <p:txBody>
          <a:bodyPr wrap="square" lIns="0" rIns="0" tIns="0" bIns="0" anchor="ctr">
            <a:spAutoFit/>
          </a:bodyPr>
          <a:lstStyle/>
          <a:p>
            <a:pPr>
              <a:spcAft>
                <a:spcPts val="400"/>
              </a:spcAft>
              <a:defRPr sz="1600" b="0" i="0">
                <a:solidFill>
                  <a:srgbClr val="0071E3"/>
                </a:solidFill>
                <a:latin typeface="Segoe UI Semibold"/>
              </a:defRPr>
            </a:pPr>
            <a:r>
              <a:t>5.29 ms</a:t>
            </a:r>
          </a:p>
        </p:txBody>
      </p:sp>
      <p:sp>
        <p:nvSpPr>
          <p:cNvPr id="32" name="tx_0788"/>
          <p:cNvSpPr txBox="1"/>
          <p:nvPr/>
        </p:nvSpPr>
        <p:spPr>
          <a:xfrm>
            <a:off x="9727386" y="3337560"/>
            <a:ext cx="1595932" cy="365760"/>
          </a:xfrm>
          <a:prstGeom prst="rect">
            <a:avLst/>
          </a:prstGeom>
          <a:noFill/>
        </p:spPr>
        <p:txBody>
          <a:bodyPr wrap="square" lIns="0" rIns="0" tIns="0" bIns="0" anchor="ctr">
            <a:spAutoFit/>
          </a:bodyPr>
          <a:lstStyle/>
          <a:p>
            <a:pPr>
              <a:spcAft>
                <a:spcPts val="400"/>
              </a:spcAft>
              <a:defRPr sz="1600" b="0" i="0">
                <a:solidFill>
                  <a:srgbClr val="0071E3"/>
                </a:solidFill>
                <a:latin typeface="Segoe UI Semibold"/>
              </a:defRPr>
            </a:pPr>
            <a:r>
              <a:t>85.7%</a:t>
            </a:r>
          </a:p>
        </p:txBody>
      </p:sp>
      <p:cxnSp>
        <p:nvCxnSpPr>
          <p:cNvPr id="33" name="hl_0789"/>
          <p:cNvCxnSpPr/>
          <p:nvPr/>
        </p:nvCxnSpPr>
        <p:spPr>
          <a:xfrm>
            <a:off x="822960" y="3794759"/>
            <a:ext cx="10546079"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34" name="tx_0790"/>
          <p:cNvSpPr txBox="1"/>
          <p:nvPr/>
        </p:nvSpPr>
        <p:spPr>
          <a:xfrm>
            <a:off x="868680" y="3886200"/>
            <a:ext cx="2650540" cy="365760"/>
          </a:xfrm>
          <a:prstGeom prst="rect">
            <a:avLst/>
          </a:prstGeom>
          <a:noFill/>
        </p:spPr>
        <p:txBody>
          <a:bodyPr wrap="square" lIns="0" rIns="0" tIns="0" bIns="0" anchor="ctr">
            <a:spAutoFit/>
          </a:bodyPr>
          <a:lstStyle/>
          <a:p>
            <a:pPr>
              <a:spcAft>
                <a:spcPts val="400"/>
              </a:spcAft>
              <a:defRPr sz="1600" b="0" i="0">
                <a:solidFill>
                  <a:srgbClr val="0071E3"/>
                </a:solidFill>
                <a:latin typeface="Segoe UI Semibold"/>
              </a:defRPr>
            </a:pPr>
            <a:r>
              <a:t>This work / SWQ</a:t>
            </a:r>
          </a:p>
        </p:txBody>
      </p:sp>
      <p:sp>
        <p:nvSpPr>
          <p:cNvPr id="35" name="tx_0791"/>
          <p:cNvSpPr txBox="1"/>
          <p:nvPr/>
        </p:nvSpPr>
        <p:spPr>
          <a:xfrm>
            <a:off x="3610660" y="3886200"/>
            <a:ext cx="1490471" cy="365760"/>
          </a:xfrm>
          <a:prstGeom prst="rect">
            <a:avLst/>
          </a:prstGeom>
          <a:noFill/>
        </p:spPr>
        <p:txBody>
          <a:bodyPr wrap="square" lIns="0" rIns="0" tIns="0" bIns="0" anchor="ctr">
            <a:spAutoFit/>
          </a:bodyPr>
          <a:lstStyle/>
          <a:p>
            <a:pPr>
              <a:spcAft>
                <a:spcPts val="400"/>
              </a:spcAft>
              <a:defRPr sz="1600" b="0" i="0">
                <a:solidFill>
                  <a:srgbClr val="0071E3"/>
                </a:solidFill>
                <a:latin typeface="Segoe UI Semibold"/>
              </a:defRPr>
            </a:pPr>
            <a:r>
              <a:t>4.02 kbps</a:t>
            </a:r>
          </a:p>
        </p:txBody>
      </p:sp>
      <p:sp>
        <p:nvSpPr>
          <p:cNvPr id="36" name="tx_0792"/>
          <p:cNvSpPr txBox="1"/>
          <p:nvPr/>
        </p:nvSpPr>
        <p:spPr>
          <a:xfrm>
            <a:off x="5192572" y="3886200"/>
            <a:ext cx="1279550" cy="365760"/>
          </a:xfrm>
          <a:prstGeom prst="rect">
            <a:avLst/>
          </a:prstGeom>
          <a:noFill/>
        </p:spPr>
        <p:txBody>
          <a:bodyPr wrap="square" lIns="0" rIns="0" tIns="0" bIns="0" anchor="ctr">
            <a:spAutoFit/>
          </a:bodyPr>
          <a:lstStyle/>
          <a:p>
            <a:pPr>
              <a:spcAft>
                <a:spcPts val="400"/>
              </a:spcAft>
              <a:defRPr sz="1600" b="0" i="0">
                <a:solidFill>
                  <a:srgbClr val="0071E3"/>
                </a:solidFill>
                <a:latin typeface="Segoe UI Semibold"/>
              </a:defRPr>
            </a:pPr>
            <a:r>
              <a:t>13.11%</a:t>
            </a:r>
          </a:p>
        </p:txBody>
      </p:sp>
      <p:sp>
        <p:nvSpPr>
          <p:cNvPr id="37" name="tx_0793"/>
          <p:cNvSpPr txBox="1"/>
          <p:nvPr/>
        </p:nvSpPr>
        <p:spPr>
          <a:xfrm>
            <a:off x="6563563" y="3886200"/>
            <a:ext cx="1490471" cy="365760"/>
          </a:xfrm>
          <a:prstGeom prst="rect">
            <a:avLst/>
          </a:prstGeom>
          <a:noFill/>
        </p:spPr>
        <p:txBody>
          <a:bodyPr wrap="square" lIns="0" rIns="0" tIns="0" bIns="0" anchor="ctr">
            <a:spAutoFit/>
          </a:bodyPr>
          <a:lstStyle/>
          <a:p>
            <a:pPr>
              <a:spcAft>
                <a:spcPts val="400"/>
              </a:spcAft>
              <a:defRPr sz="1600" b="0" i="0">
                <a:solidFill>
                  <a:srgbClr val="0071E3"/>
                </a:solidFill>
                <a:latin typeface="Segoe UI Semibold"/>
              </a:defRPr>
            </a:pPr>
            <a:r>
              <a:t>98.4%</a:t>
            </a:r>
          </a:p>
        </p:txBody>
      </p:sp>
      <p:sp>
        <p:nvSpPr>
          <p:cNvPr id="38" name="tx_0794"/>
          <p:cNvSpPr txBox="1"/>
          <p:nvPr/>
        </p:nvSpPr>
        <p:spPr>
          <a:xfrm>
            <a:off x="8145474" y="3886200"/>
            <a:ext cx="1490471" cy="365760"/>
          </a:xfrm>
          <a:prstGeom prst="rect">
            <a:avLst/>
          </a:prstGeom>
          <a:noFill/>
        </p:spPr>
        <p:txBody>
          <a:bodyPr wrap="square" lIns="0" rIns="0" tIns="0" bIns="0" anchor="ctr">
            <a:spAutoFit/>
          </a:bodyPr>
          <a:lstStyle/>
          <a:p>
            <a:pPr>
              <a:spcAft>
                <a:spcPts val="400"/>
              </a:spcAft>
              <a:defRPr sz="1600" b="0" i="0">
                <a:solidFill>
                  <a:srgbClr val="0071E3"/>
                </a:solidFill>
                <a:latin typeface="Segoe UI Semibold"/>
              </a:defRPr>
            </a:pPr>
            <a:r>
              <a:t>1.21 ms</a:t>
            </a:r>
          </a:p>
        </p:txBody>
      </p:sp>
      <p:sp>
        <p:nvSpPr>
          <p:cNvPr id="39" name="tx_0795"/>
          <p:cNvSpPr txBox="1"/>
          <p:nvPr/>
        </p:nvSpPr>
        <p:spPr>
          <a:xfrm>
            <a:off x="9727386" y="3886200"/>
            <a:ext cx="1595932" cy="365760"/>
          </a:xfrm>
          <a:prstGeom prst="rect">
            <a:avLst/>
          </a:prstGeom>
          <a:noFill/>
        </p:spPr>
        <p:txBody>
          <a:bodyPr wrap="square" lIns="0" rIns="0" tIns="0" bIns="0" anchor="ctr">
            <a:spAutoFit/>
          </a:bodyPr>
          <a:lstStyle/>
          <a:p>
            <a:pPr>
              <a:spcAft>
                <a:spcPts val="400"/>
              </a:spcAft>
              <a:defRPr sz="1600" b="0" i="0">
                <a:solidFill>
                  <a:srgbClr val="0071E3"/>
                </a:solidFill>
                <a:latin typeface="Segoe UI Semibold"/>
              </a:defRPr>
            </a:pPr>
            <a:r>
              <a:t>—</a:t>
            </a:r>
          </a:p>
        </p:txBody>
      </p:sp>
      <p:cxnSp>
        <p:nvCxnSpPr>
          <p:cNvPr id="40" name="hl_0796"/>
          <p:cNvCxnSpPr/>
          <p:nvPr/>
        </p:nvCxnSpPr>
        <p:spPr>
          <a:xfrm>
            <a:off x="822960" y="4343400"/>
            <a:ext cx="10546079"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41" name="tx_0797"/>
          <p:cNvSpPr txBox="1"/>
          <p:nvPr/>
        </p:nvSpPr>
        <p:spPr>
          <a:xfrm>
            <a:off x="822960" y="4709160"/>
            <a:ext cx="10546079" cy="365760"/>
          </a:xfrm>
          <a:prstGeom prst="rect">
            <a:avLst/>
          </a:prstGeom>
          <a:noFill/>
        </p:spPr>
        <p:txBody>
          <a:bodyPr wrap="square" lIns="0" rIns="0" tIns="0" bIns="0">
            <a:spAutoFit/>
          </a:bodyPr>
          <a:lstStyle/>
          <a:p>
            <a:pPr>
              <a:spcAft>
                <a:spcPts val="400"/>
              </a:spcAft>
              <a:defRPr sz="1400" b="0" i="1">
                <a:solidFill>
                  <a:srgbClr val="6E6E73"/>
                </a:solidFill>
                <a:latin typeface="Segoe UI"/>
              </a:defRPr>
            </a:pPr>
            <a:r>
              <a:t>¹ DEVIOUS traces include GPU fingerprints; its IOTLB channel is since mitigated by PASID.   IPI’s keystroke F1 beats DevTLB; DEVIOUS’s bit error beats both.</a:t>
            </a:r>
          </a:p>
        </p:txBody>
      </p:sp>
      <p:sp>
        <p:nvSpPr>
          <p:cNvPr id="42" name="rect_0798"/>
          <p:cNvSpPr/>
          <p:nvPr/>
        </p:nvSpPr>
        <p:spPr>
          <a:xfrm>
            <a:off x="822960" y="5623560"/>
            <a:ext cx="502920" cy="41148"/>
          </a:xfrm>
          <a:prstGeom prst="rect">
            <a:avLst/>
          </a:prstGeom>
          <a:solidFill>
            <a:srgbClr val="007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x_0799"/>
          <p:cNvSpPr txBox="1"/>
          <p:nvPr/>
        </p:nvSpPr>
        <p:spPr>
          <a:xfrm>
            <a:off x="822960" y="5779008"/>
            <a:ext cx="10546079" cy="548640"/>
          </a:xfrm>
          <a:prstGeom prst="rect">
            <a:avLst/>
          </a:prstGeom>
          <a:noFill/>
        </p:spPr>
        <p:txBody>
          <a:bodyPr wrap="square" lIns="0" rIns="0" tIns="0" bIns="0">
            <a:spAutoFit/>
          </a:bodyPr>
          <a:lstStyle/>
          <a:p>
            <a:pPr>
              <a:spcAft>
                <a:spcPts val="400"/>
              </a:spcAft>
              <a:defRPr sz="2100" b="0" i="0">
                <a:solidFill>
                  <a:srgbClr val="1D1D1F"/>
                </a:solidFill>
                <a:latin typeface="Segoe UI Semibold"/>
              </a:defRPr>
            </a:pPr>
            <a:r>
              <a:t>Best on capacity (DevTLB) and keystroke timing (SWQ) — not on every axis.</a:t>
            </a:r>
          </a:p>
        </p:txBody>
      </p:sp>
    </p:spTree>
  </p:cSld>
  <p:clrMapOvr>
    <a:masterClrMapping/>
  </p:clrMapOvr>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x_0800"/>
          <p:cNvSpPr txBox="1"/>
          <p:nvPr/>
        </p:nvSpPr>
        <p:spPr>
          <a:xfrm>
            <a:off x="822960" y="502920"/>
            <a:ext cx="10546079" cy="274320"/>
          </a:xfrm>
          <a:prstGeom prst="rect">
            <a:avLst/>
          </a:prstGeom>
          <a:noFill/>
        </p:spPr>
        <p:txBody>
          <a:bodyPr wrap="square" lIns="0" rIns="0" tIns="0" bIns="0">
            <a:spAutoFit/>
          </a:bodyPr>
          <a:lstStyle/>
          <a:p>
            <a:pPr>
              <a:spcAft>
                <a:spcPts val="400"/>
              </a:spcAft>
              <a:defRPr sz="1200" b="0" i="0">
                <a:solidFill>
                  <a:srgbClr val="0071E3"/>
                </a:solidFill>
                <a:latin typeface="Segoe UI Semibold"/>
              </a:defRPr>
            </a:pPr>
            <a:r>
              <a:t>Does it hold up?</a:t>
            </a:r>
          </a:p>
        </p:txBody>
      </p:sp>
      <p:sp>
        <p:nvSpPr>
          <p:cNvPr id="3" name="tx_0801"/>
          <p:cNvSpPr txBox="1"/>
          <p:nvPr/>
        </p:nvSpPr>
        <p:spPr>
          <a:xfrm>
            <a:off x="822960" y="822960"/>
            <a:ext cx="10546079" cy="914400"/>
          </a:xfrm>
          <a:prstGeom prst="rect">
            <a:avLst/>
          </a:prstGeom>
          <a:noFill/>
        </p:spPr>
        <p:txBody>
          <a:bodyPr wrap="square" lIns="0" rIns="0" tIns="0" bIns="0">
            <a:spAutoFit/>
          </a:bodyPr>
          <a:lstStyle/>
          <a:p>
            <a:pPr>
              <a:lnSpc>
                <a:spcPct val="100000"/>
              </a:lnSpc>
              <a:spcAft>
                <a:spcPts val="400"/>
              </a:spcAft>
              <a:defRPr sz="3000" b="0" i="0">
                <a:solidFill>
                  <a:srgbClr val="1D1D1F"/>
                </a:solidFill>
                <a:latin typeface="Segoe UI Semibold"/>
              </a:defRPr>
            </a:pPr>
            <a:r>
              <a:t>The clean hardware fix costs the thing DSA is for</a:t>
            </a:r>
          </a:p>
        </p:txBody>
      </p:sp>
      <p:sp>
        <p:nvSpPr>
          <p:cNvPr id="4" name="tx_0802"/>
          <p:cNvSpPr txBox="1"/>
          <p:nvPr/>
        </p:nvSpPr>
        <p:spPr>
          <a:xfrm>
            <a:off x="822960" y="6419088"/>
            <a:ext cx="9631679" cy="228600"/>
          </a:xfrm>
          <a:prstGeom prst="rect">
            <a:avLst/>
          </a:prstGeom>
          <a:noFill/>
        </p:spPr>
        <p:txBody>
          <a:bodyPr wrap="square" lIns="0" rIns="0" tIns="0" bIns="0">
            <a:spAutoFit/>
          </a:bodyPr>
          <a:lstStyle/>
          <a:p>
            <a:pPr>
              <a:spcAft>
                <a:spcPts val="400"/>
              </a:spcAft>
              <a:defRPr sz="1000" b="0" i="0">
                <a:solidFill>
                  <a:srgbClr val="86868B"/>
                </a:solidFill>
                <a:latin typeface="Segoe UI"/>
              </a:defRPr>
            </a:pPr>
            <a:r>
              <a:t>Paper § VII · pp. 11–12 · proposals, not shipped fixes</a:t>
            </a:r>
          </a:p>
        </p:txBody>
      </p:sp>
      <p:sp>
        <p:nvSpPr>
          <p:cNvPr id="5" name="tx_0803"/>
          <p:cNvSpPr txBox="1"/>
          <p:nvPr/>
        </p:nvSpPr>
        <p:spPr>
          <a:xfrm>
            <a:off x="10820399" y="6419088"/>
            <a:ext cx="548640" cy="228600"/>
          </a:xfrm>
          <a:prstGeom prst="rect">
            <a:avLst/>
          </a:prstGeom>
          <a:noFill/>
        </p:spPr>
        <p:txBody>
          <a:bodyPr wrap="square" lIns="0" rIns="0" tIns="0" bIns="0">
            <a:spAutoFit/>
          </a:bodyPr>
          <a:lstStyle/>
          <a:p>
            <a:pPr algn="r">
              <a:spcAft>
                <a:spcPts val="400"/>
              </a:spcAft>
              <a:defRPr sz="1000" b="0" i="0">
                <a:solidFill>
                  <a:srgbClr val="86868B"/>
                </a:solidFill>
                <a:latin typeface="Segoe UI"/>
              </a:defRPr>
            </a:pPr>
            <a:r>
              <a:t>43</a:t>
            </a:r>
          </a:p>
        </p:txBody>
      </p:sp>
      <p:sp>
        <p:nvSpPr>
          <p:cNvPr id="6" name="rect_0804"/>
          <p:cNvSpPr/>
          <p:nvPr/>
        </p:nvSpPr>
        <p:spPr>
          <a:xfrm>
            <a:off x="822960" y="1783080"/>
            <a:ext cx="5212080" cy="2743200"/>
          </a:xfrm>
          <a:prstGeom prst="roundRect">
            <a:avLst>
              <a:gd name="adj" fmla="val 7333"/>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x_0805"/>
          <p:cNvSpPr txBox="1"/>
          <p:nvPr/>
        </p:nvSpPr>
        <p:spPr>
          <a:xfrm>
            <a:off x="1143000" y="2075688"/>
            <a:ext cx="4572000" cy="548640"/>
          </a:xfrm>
          <a:prstGeom prst="rect">
            <a:avLst/>
          </a:prstGeom>
          <a:noFill/>
        </p:spPr>
        <p:txBody>
          <a:bodyPr wrap="square" lIns="0" rIns="0" tIns="0" bIns="0">
            <a:spAutoFit/>
          </a:bodyPr>
          <a:lstStyle/>
          <a:p>
            <a:pPr>
              <a:spcAft>
                <a:spcPts val="400"/>
              </a:spcAft>
              <a:defRPr sz="2200" b="0" i="0">
                <a:solidFill>
                  <a:srgbClr val="0071E3"/>
                </a:solidFill>
                <a:latin typeface="Segoe UI Semibold"/>
              </a:defRPr>
            </a:pPr>
            <a:r>
              <a:t>DevTLB</a:t>
            </a:r>
          </a:p>
        </p:txBody>
      </p:sp>
      <p:sp>
        <p:nvSpPr>
          <p:cNvPr id="8" name="tx_0806"/>
          <p:cNvSpPr txBox="1"/>
          <p:nvPr/>
        </p:nvSpPr>
        <p:spPr>
          <a:xfrm>
            <a:off x="1143000" y="2697480"/>
            <a:ext cx="4572000" cy="1645920"/>
          </a:xfrm>
          <a:prstGeom prst="rect">
            <a:avLst/>
          </a:prstGeom>
          <a:noFill/>
        </p:spPr>
        <p:txBody>
          <a:bodyPr wrap="square" lIns="0" rIns="0" tIns="0" bIns="0">
            <a:spAutoFit/>
          </a:bodyPr>
          <a:lstStyle/>
          <a:p>
            <a:pPr>
              <a:lnSpc>
                <a:spcPct val="110000"/>
              </a:lnSpc>
              <a:spcAft>
                <a:spcPts val="600"/>
              </a:spcAft>
              <a:defRPr sz="1800" b="0" i="0">
                <a:solidFill>
                  <a:srgbClr val="6E6E73"/>
                </a:solidFill>
                <a:latin typeface="Segoe UI"/>
              </a:defRPr>
            </a:pPr>
            <a:r>
              <a:t>Partition replacement state by PASID</a:t>
            </a:r>
          </a:p>
          <a:p>
            <a:pPr>
              <a:lnSpc>
                <a:spcPct val="110000"/>
              </a:lnSpc>
              <a:spcAft>
                <a:spcPts val="600"/>
              </a:spcAft>
              <a:defRPr sz="1800" b="0" i="0">
                <a:solidFill>
                  <a:srgbClr val="6E6E73"/>
                </a:solidFill>
                <a:latin typeface="Segoe UI"/>
              </a:defRPr>
            </a:pPr>
          </a:p>
          <a:p>
            <a:pPr>
              <a:lnSpc>
                <a:spcPct val="110000"/>
              </a:lnSpc>
              <a:spcAft>
                <a:spcPts val="600"/>
              </a:spcAft>
              <a:defRPr sz="1800" b="0" i="0">
                <a:solidFill>
                  <a:srgbClr val="6E6E73"/>
                </a:solidFill>
                <a:latin typeface="Segoe UI"/>
              </a:defRPr>
            </a:pPr>
            <a:r>
              <a:t>Cost: capacity · area · utilization</a:t>
            </a:r>
          </a:p>
          <a:p>
            <a:pPr>
              <a:lnSpc>
                <a:spcPct val="110000"/>
              </a:lnSpc>
              <a:spcAft>
                <a:spcPts val="600"/>
              </a:spcAft>
              <a:defRPr sz="1800" b="0" i="0">
                <a:solidFill>
                  <a:srgbClr val="6E6E73"/>
                </a:solidFill>
                <a:latin typeface="Segoe UI"/>
              </a:defRPr>
            </a:pPr>
            <a:r>
              <a:t>Goal: block cross-tenant eviction</a:t>
            </a:r>
          </a:p>
        </p:txBody>
      </p:sp>
      <p:sp>
        <p:nvSpPr>
          <p:cNvPr id="9" name="rect_0807"/>
          <p:cNvSpPr/>
          <p:nvPr/>
        </p:nvSpPr>
        <p:spPr>
          <a:xfrm>
            <a:off x="6156959" y="1783080"/>
            <a:ext cx="5212080" cy="2743200"/>
          </a:xfrm>
          <a:prstGeom prst="roundRect">
            <a:avLst>
              <a:gd name="adj" fmla="val 7333"/>
            </a:avLst>
          </a:prstGeom>
          <a:solidFill>
            <a:srgbClr val="F5F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x_0808"/>
          <p:cNvSpPr txBox="1"/>
          <p:nvPr/>
        </p:nvSpPr>
        <p:spPr>
          <a:xfrm>
            <a:off x="6476999" y="2075688"/>
            <a:ext cx="4572000" cy="548640"/>
          </a:xfrm>
          <a:prstGeom prst="rect">
            <a:avLst/>
          </a:prstGeom>
          <a:noFill/>
        </p:spPr>
        <p:txBody>
          <a:bodyPr wrap="square" lIns="0" rIns="0" tIns="0" bIns="0">
            <a:spAutoFit/>
          </a:bodyPr>
          <a:lstStyle/>
          <a:p>
            <a:pPr>
              <a:spcAft>
                <a:spcPts val="400"/>
              </a:spcAft>
              <a:defRPr sz="2200" b="0" i="0">
                <a:solidFill>
                  <a:srgbClr val="D70015"/>
                </a:solidFill>
                <a:latin typeface="Segoe UI Semibold"/>
              </a:defRPr>
            </a:pPr>
            <a:r>
              <a:t>SWQ</a:t>
            </a:r>
          </a:p>
        </p:txBody>
      </p:sp>
      <p:sp>
        <p:nvSpPr>
          <p:cNvPr id="11" name="tx_0809"/>
          <p:cNvSpPr txBox="1"/>
          <p:nvPr/>
        </p:nvSpPr>
        <p:spPr>
          <a:xfrm>
            <a:off x="6476999" y="2697480"/>
            <a:ext cx="4572000" cy="1645920"/>
          </a:xfrm>
          <a:prstGeom prst="rect">
            <a:avLst/>
          </a:prstGeom>
          <a:noFill/>
        </p:spPr>
        <p:txBody>
          <a:bodyPr wrap="square" lIns="0" rIns="0" tIns="0" bIns="0">
            <a:spAutoFit/>
          </a:bodyPr>
          <a:lstStyle/>
          <a:p>
            <a:pPr>
              <a:lnSpc>
                <a:spcPct val="110000"/>
              </a:lnSpc>
              <a:spcAft>
                <a:spcPts val="600"/>
              </a:spcAft>
              <a:defRPr sz="1800" b="0" i="0">
                <a:solidFill>
                  <a:srgbClr val="6E6E73"/>
                </a:solidFill>
                <a:latin typeface="Segoe UI"/>
              </a:defRPr>
            </a:pPr>
            <a:r>
              <a:t>Make queue-state feedback privileged</a:t>
            </a:r>
          </a:p>
          <a:p>
            <a:pPr>
              <a:lnSpc>
                <a:spcPct val="110000"/>
              </a:lnSpc>
              <a:spcAft>
                <a:spcPts val="600"/>
              </a:spcAft>
              <a:defRPr sz="1800" b="0" i="0">
                <a:solidFill>
                  <a:srgbClr val="6E6E73"/>
                </a:solidFill>
                <a:latin typeface="Segoe UI"/>
              </a:defRPr>
            </a:pPr>
          </a:p>
          <a:p>
            <a:pPr>
              <a:lnSpc>
                <a:spcPct val="110000"/>
              </a:lnSpc>
              <a:spcAft>
                <a:spcPts val="600"/>
              </a:spcAft>
              <a:defRPr sz="1800" b="0" i="0">
                <a:solidFill>
                  <a:srgbClr val="6E6E73"/>
                </a:solidFill>
                <a:latin typeface="Segoe UI"/>
              </a:defRPr>
            </a:pPr>
            <a:r>
              <a:t>Challenge: legit submission retries</a:t>
            </a:r>
          </a:p>
          <a:p>
            <a:pPr>
              <a:lnSpc>
                <a:spcPct val="110000"/>
              </a:lnSpc>
              <a:spcAft>
                <a:spcPts val="600"/>
              </a:spcAft>
              <a:defRPr sz="1800" b="0" i="0">
                <a:solidFill>
                  <a:srgbClr val="6E6E73"/>
                </a:solidFill>
                <a:latin typeface="Segoe UI"/>
              </a:defRPr>
            </a:pPr>
            <a:r>
              <a:t>Goal: block occupancy inference</a:t>
            </a:r>
          </a:p>
        </p:txBody>
      </p:sp>
      <p:sp>
        <p:nvSpPr>
          <p:cNvPr id="12" name="rect_0810"/>
          <p:cNvSpPr/>
          <p:nvPr/>
        </p:nvSpPr>
        <p:spPr>
          <a:xfrm>
            <a:off x="822960" y="5120640"/>
            <a:ext cx="502920" cy="41148"/>
          </a:xfrm>
          <a:prstGeom prst="rect">
            <a:avLst/>
          </a:prstGeom>
          <a:solidFill>
            <a:srgbClr val="007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x_0811"/>
          <p:cNvSpPr txBox="1"/>
          <p:nvPr/>
        </p:nvSpPr>
        <p:spPr>
          <a:xfrm>
            <a:off x="822960" y="5276088"/>
            <a:ext cx="10546079" cy="548640"/>
          </a:xfrm>
          <a:prstGeom prst="rect">
            <a:avLst/>
          </a:prstGeom>
          <a:noFill/>
        </p:spPr>
        <p:txBody>
          <a:bodyPr wrap="square" lIns="0" rIns="0" tIns="0" bIns="0">
            <a:spAutoFit/>
          </a:bodyPr>
          <a:lstStyle/>
          <a:p>
            <a:pPr>
              <a:spcAft>
                <a:spcPts val="400"/>
              </a:spcAft>
              <a:defRPr sz="2100" b="0" i="0">
                <a:solidFill>
                  <a:srgbClr val="1D1D1F"/>
                </a:solidFill>
                <a:latin typeface="Segoe UI Semibold"/>
              </a:defRPr>
            </a:pPr>
            <a:r>
              <a:t>A defense must constrain interference and feedback, not just permissions.</a:t>
            </a:r>
          </a:p>
        </p:txBody>
      </p:sp>
    </p:spTree>
  </p:cSld>
  <p:clrMapOvr>
    <a:masterClrMapping/>
  </p:clrMapOvr>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x_0812"/>
          <p:cNvSpPr txBox="1"/>
          <p:nvPr/>
        </p:nvSpPr>
        <p:spPr>
          <a:xfrm>
            <a:off x="822960" y="502920"/>
            <a:ext cx="10546079" cy="274320"/>
          </a:xfrm>
          <a:prstGeom prst="rect">
            <a:avLst/>
          </a:prstGeom>
          <a:noFill/>
        </p:spPr>
        <p:txBody>
          <a:bodyPr wrap="square" lIns="0" rIns="0" tIns="0" bIns="0">
            <a:spAutoFit/>
          </a:bodyPr>
          <a:lstStyle/>
          <a:p>
            <a:pPr>
              <a:spcAft>
                <a:spcPts val="400"/>
              </a:spcAft>
              <a:defRPr sz="1200" b="0" i="0">
                <a:solidFill>
                  <a:srgbClr val="0071E3"/>
                </a:solidFill>
                <a:latin typeface="Segoe UI Semibold"/>
              </a:defRPr>
            </a:pPr>
            <a:r>
              <a:t>Does it hold up?</a:t>
            </a:r>
          </a:p>
        </p:txBody>
      </p:sp>
      <p:sp>
        <p:nvSpPr>
          <p:cNvPr id="3" name="tx_0813"/>
          <p:cNvSpPr txBox="1"/>
          <p:nvPr/>
        </p:nvSpPr>
        <p:spPr>
          <a:xfrm>
            <a:off x="822960" y="822960"/>
            <a:ext cx="10546079" cy="914400"/>
          </a:xfrm>
          <a:prstGeom prst="rect">
            <a:avLst/>
          </a:prstGeom>
          <a:noFill/>
        </p:spPr>
        <p:txBody>
          <a:bodyPr wrap="square" lIns="0" rIns="0" tIns="0" bIns="0">
            <a:spAutoFit/>
          </a:bodyPr>
          <a:lstStyle/>
          <a:p>
            <a:pPr>
              <a:lnSpc>
                <a:spcPct val="100000"/>
              </a:lnSpc>
              <a:spcAft>
                <a:spcPts val="400"/>
              </a:spcAft>
              <a:defRPr sz="3000" b="0" i="0">
                <a:solidFill>
                  <a:srgbClr val="1D1D1F"/>
                </a:solidFill>
                <a:latin typeface="Segoe UI Semibold"/>
              </a:defRPr>
            </a:pPr>
            <a:r>
              <a:t>What an operator can do right now</a:t>
            </a:r>
          </a:p>
        </p:txBody>
      </p:sp>
      <p:sp>
        <p:nvSpPr>
          <p:cNvPr id="4" name="tx_0814"/>
          <p:cNvSpPr txBox="1"/>
          <p:nvPr/>
        </p:nvSpPr>
        <p:spPr>
          <a:xfrm>
            <a:off x="822960" y="6419088"/>
            <a:ext cx="9631679" cy="228600"/>
          </a:xfrm>
          <a:prstGeom prst="rect">
            <a:avLst/>
          </a:prstGeom>
          <a:noFill/>
        </p:spPr>
        <p:txBody>
          <a:bodyPr wrap="square" lIns="0" rIns="0" tIns="0" bIns="0">
            <a:spAutoFit/>
          </a:bodyPr>
          <a:lstStyle/>
          <a:p>
            <a:pPr>
              <a:spcAft>
                <a:spcPts val="400"/>
              </a:spcAft>
              <a:defRPr sz="1000" b="0" i="0">
                <a:solidFill>
                  <a:srgbClr val="86868B"/>
                </a:solidFill>
                <a:latin typeface="Segoe UI"/>
              </a:defRPr>
            </a:pPr>
            <a:r>
              <a:t>Paper § VII · p. 12 · deployment guidance</a:t>
            </a:r>
          </a:p>
        </p:txBody>
      </p:sp>
      <p:sp>
        <p:nvSpPr>
          <p:cNvPr id="5" name="tx_0815"/>
          <p:cNvSpPr txBox="1"/>
          <p:nvPr/>
        </p:nvSpPr>
        <p:spPr>
          <a:xfrm>
            <a:off x="10820399" y="6419088"/>
            <a:ext cx="548640" cy="228600"/>
          </a:xfrm>
          <a:prstGeom prst="rect">
            <a:avLst/>
          </a:prstGeom>
          <a:noFill/>
        </p:spPr>
        <p:txBody>
          <a:bodyPr wrap="square" lIns="0" rIns="0" tIns="0" bIns="0">
            <a:spAutoFit/>
          </a:bodyPr>
          <a:lstStyle/>
          <a:p>
            <a:pPr algn="r">
              <a:spcAft>
                <a:spcPts val="400"/>
              </a:spcAft>
              <a:defRPr sz="1000" b="0" i="0">
                <a:solidFill>
                  <a:srgbClr val="86868B"/>
                </a:solidFill>
                <a:latin typeface="Segoe UI"/>
              </a:defRPr>
            </a:pPr>
            <a:r>
              <a:t>44</a:t>
            </a:r>
          </a:p>
        </p:txBody>
      </p:sp>
      <p:sp>
        <p:nvSpPr>
          <p:cNvPr id="6" name="tx_0816"/>
          <p:cNvSpPr txBox="1"/>
          <p:nvPr/>
        </p:nvSpPr>
        <p:spPr>
          <a:xfrm>
            <a:off x="868680" y="1783080"/>
            <a:ext cx="3072383" cy="274320"/>
          </a:xfrm>
          <a:prstGeom prst="rect">
            <a:avLst/>
          </a:prstGeom>
          <a:noFill/>
        </p:spPr>
        <p:txBody>
          <a:bodyPr wrap="square" lIns="0" rIns="0" tIns="0" bIns="0">
            <a:spAutoFit/>
          </a:bodyPr>
          <a:lstStyle/>
          <a:p>
            <a:pPr>
              <a:spcAft>
                <a:spcPts val="400"/>
              </a:spcAft>
              <a:defRPr sz="1200" b="0" i="0">
                <a:solidFill>
                  <a:srgbClr val="86868B"/>
                </a:solidFill>
                <a:latin typeface="Segoe UI Semibold"/>
              </a:defRPr>
            </a:pPr>
            <a:r>
              <a:t>EXPOSURE</a:t>
            </a:r>
          </a:p>
        </p:txBody>
      </p:sp>
      <p:sp>
        <p:nvSpPr>
          <p:cNvPr id="7" name="tx_0817"/>
          <p:cNvSpPr txBox="1"/>
          <p:nvPr/>
        </p:nvSpPr>
        <p:spPr>
          <a:xfrm>
            <a:off x="4032503" y="1783080"/>
            <a:ext cx="2861462" cy="274320"/>
          </a:xfrm>
          <a:prstGeom prst="rect">
            <a:avLst/>
          </a:prstGeom>
          <a:noFill/>
        </p:spPr>
        <p:txBody>
          <a:bodyPr wrap="square" lIns="0" rIns="0" tIns="0" bIns="0">
            <a:spAutoFit/>
          </a:bodyPr>
          <a:lstStyle/>
          <a:p>
            <a:pPr>
              <a:spcAft>
                <a:spcPts val="400"/>
              </a:spcAft>
              <a:defRPr sz="1200" b="0" i="0">
                <a:solidFill>
                  <a:srgbClr val="86868B"/>
                </a:solidFill>
                <a:latin typeface="Segoe UI Semibold"/>
              </a:defRPr>
            </a:pPr>
            <a:r>
              <a:t>BOUNDARY</a:t>
            </a:r>
          </a:p>
        </p:txBody>
      </p:sp>
      <p:sp>
        <p:nvSpPr>
          <p:cNvPr id="8" name="tx_0818"/>
          <p:cNvSpPr txBox="1"/>
          <p:nvPr/>
        </p:nvSpPr>
        <p:spPr>
          <a:xfrm>
            <a:off x="6985406" y="1783080"/>
            <a:ext cx="4337913" cy="274320"/>
          </a:xfrm>
          <a:prstGeom prst="rect">
            <a:avLst/>
          </a:prstGeom>
          <a:noFill/>
        </p:spPr>
        <p:txBody>
          <a:bodyPr wrap="square" lIns="0" rIns="0" tIns="0" bIns="0">
            <a:spAutoFit/>
          </a:bodyPr>
          <a:lstStyle/>
          <a:p>
            <a:pPr>
              <a:spcAft>
                <a:spcPts val="400"/>
              </a:spcAft>
              <a:defRPr sz="1200" b="0" i="0">
                <a:solidFill>
                  <a:srgbClr val="86868B"/>
                </a:solidFill>
                <a:latin typeface="Segoe UI Semibold"/>
              </a:defRPr>
            </a:pPr>
            <a:r>
              <a:t>SOFTWARE RESPONSE</a:t>
            </a:r>
          </a:p>
        </p:txBody>
      </p:sp>
      <p:cxnSp>
        <p:nvCxnSpPr>
          <p:cNvPr id="9" name="hl_0819"/>
          <p:cNvCxnSpPr/>
          <p:nvPr/>
        </p:nvCxnSpPr>
        <p:spPr>
          <a:xfrm>
            <a:off x="822960" y="2148840"/>
            <a:ext cx="10546079" cy="0"/>
          </a:xfrm>
          <a:prstGeom prst="line">
            <a:avLst/>
          </a:prstGeom>
          <a:ln w="12700">
            <a:solidFill>
              <a:srgbClr val="1D1D1F"/>
            </a:solidFill>
          </a:ln>
        </p:spPr>
        <p:style>
          <a:lnRef idx="2">
            <a:schemeClr val="accent1"/>
          </a:lnRef>
          <a:fillRef idx="0">
            <a:schemeClr val="accent1"/>
          </a:fillRef>
          <a:effectRef idx="1">
            <a:schemeClr val="accent1"/>
          </a:effectRef>
          <a:fontRef idx="minor">
            <a:schemeClr val="tx1"/>
          </a:fontRef>
        </p:style>
      </p:cxnSp>
      <p:sp>
        <p:nvSpPr>
          <p:cNvPr id="10" name="tx_0820"/>
          <p:cNvSpPr txBox="1"/>
          <p:nvPr/>
        </p:nvSpPr>
        <p:spPr>
          <a:xfrm>
            <a:off x="868680" y="2295144"/>
            <a:ext cx="3072383" cy="365760"/>
          </a:xfrm>
          <a:prstGeom prst="rect">
            <a:avLst/>
          </a:prstGeom>
          <a:noFill/>
        </p:spPr>
        <p:txBody>
          <a:bodyPr wrap="square" lIns="0" rIns="0" tIns="0" bIns="0" anchor="ctr">
            <a:spAutoFit/>
          </a:bodyPr>
          <a:lstStyle/>
          <a:p>
            <a:pPr>
              <a:spcAft>
                <a:spcPts val="400"/>
              </a:spcAft>
              <a:defRPr sz="1800" b="0" i="0">
                <a:solidFill>
                  <a:srgbClr val="1D1D1F"/>
                </a:solidFill>
                <a:latin typeface="Segoe UI Semibold"/>
              </a:defRPr>
            </a:pPr>
            <a:r>
              <a:t>DevTLB eviction</a:t>
            </a:r>
          </a:p>
        </p:txBody>
      </p:sp>
      <p:sp>
        <p:nvSpPr>
          <p:cNvPr id="11" name="tx_0821"/>
          <p:cNvSpPr txBox="1"/>
          <p:nvPr/>
        </p:nvSpPr>
        <p:spPr>
          <a:xfrm>
            <a:off x="4032503" y="2295144"/>
            <a:ext cx="2861462" cy="365760"/>
          </a:xfrm>
          <a:prstGeom prst="rect">
            <a:avLst/>
          </a:prstGeom>
          <a:noFill/>
        </p:spPr>
        <p:txBody>
          <a:bodyPr wrap="square" lIns="0" rIns="0" tIns="0" bIns="0" anchor="ctr">
            <a:spAutoFit/>
          </a:bodyPr>
          <a:lstStyle/>
          <a:p>
            <a:pPr>
              <a:spcAft>
                <a:spcPts val="400"/>
              </a:spcAft>
              <a:defRPr sz="1800" b="0" i="0">
                <a:solidFill>
                  <a:srgbClr val="6E6E73"/>
                </a:solidFill>
                <a:latin typeface="Segoe UI"/>
              </a:defRPr>
            </a:pPr>
            <a:r>
              <a:t>DSA engine</a:t>
            </a:r>
          </a:p>
        </p:txBody>
      </p:sp>
      <p:sp>
        <p:nvSpPr>
          <p:cNvPr id="12" name="tx_0822"/>
          <p:cNvSpPr txBox="1"/>
          <p:nvPr/>
        </p:nvSpPr>
        <p:spPr>
          <a:xfrm>
            <a:off x="6985406" y="2295144"/>
            <a:ext cx="4337913" cy="365760"/>
          </a:xfrm>
          <a:prstGeom prst="rect">
            <a:avLst/>
          </a:prstGeom>
          <a:noFill/>
        </p:spPr>
        <p:txBody>
          <a:bodyPr wrap="square" lIns="0" rIns="0" tIns="0" bIns="0" anchor="ctr">
            <a:spAutoFit/>
          </a:bodyPr>
          <a:lstStyle/>
          <a:p>
            <a:pPr>
              <a:spcAft>
                <a:spcPts val="400"/>
              </a:spcAft>
              <a:defRPr sz="1800" b="0" i="0">
                <a:solidFill>
                  <a:srgbClr val="1D1D1F"/>
                </a:solidFill>
                <a:latin typeface="Segoe UI"/>
              </a:defRPr>
            </a:pPr>
            <a:r>
              <a:t>Allocate engines by trust domain</a:t>
            </a:r>
          </a:p>
        </p:txBody>
      </p:sp>
      <p:cxnSp>
        <p:nvCxnSpPr>
          <p:cNvPr id="13" name="hl_0823"/>
          <p:cNvCxnSpPr/>
          <p:nvPr/>
        </p:nvCxnSpPr>
        <p:spPr>
          <a:xfrm>
            <a:off x="822960" y="2807208"/>
            <a:ext cx="10546079"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14" name="tx_0824"/>
          <p:cNvSpPr txBox="1"/>
          <p:nvPr/>
        </p:nvSpPr>
        <p:spPr>
          <a:xfrm>
            <a:off x="868680" y="2953512"/>
            <a:ext cx="3072383" cy="365760"/>
          </a:xfrm>
          <a:prstGeom prst="rect">
            <a:avLst/>
          </a:prstGeom>
          <a:noFill/>
        </p:spPr>
        <p:txBody>
          <a:bodyPr wrap="square" lIns="0" rIns="0" tIns="0" bIns="0" anchor="ctr">
            <a:spAutoFit/>
          </a:bodyPr>
          <a:lstStyle/>
          <a:p>
            <a:pPr>
              <a:spcAft>
                <a:spcPts val="400"/>
              </a:spcAft>
              <a:defRPr sz="1800" b="0" i="0">
                <a:solidFill>
                  <a:srgbClr val="1D1D1F"/>
                </a:solidFill>
                <a:latin typeface="Segoe UI Semibold"/>
              </a:defRPr>
            </a:pPr>
            <a:r>
              <a:t>SWQ admission feedback</a:t>
            </a:r>
          </a:p>
        </p:txBody>
      </p:sp>
      <p:sp>
        <p:nvSpPr>
          <p:cNvPr id="15" name="tx_0825"/>
          <p:cNvSpPr txBox="1"/>
          <p:nvPr/>
        </p:nvSpPr>
        <p:spPr>
          <a:xfrm>
            <a:off x="4032503" y="2953512"/>
            <a:ext cx="2861462" cy="365760"/>
          </a:xfrm>
          <a:prstGeom prst="rect">
            <a:avLst/>
          </a:prstGeom>
          <a:noFill/>
        </p:spPr>
        <p:txBody>
          <a:bodyPr wrap="square" lIns="0" rIns="0" tIns="0" bIns="0" anchor="ctr">
            <a:spAutoFit/>
          </a:bodyPr>
          <a:lstStyle/>
          <a:p>
            <a:pPr>
              <a:spcAft>
                <a:spcPts val="400"/>
              </a:spcAft>
              <a:defRPr sz="1800" b="0" i="0">
                <a:solidFill>
                  <a:srgbClr val="6E6E73"/>
                </a:solidFill>
                <a:latin typeface="Segoe UI"/>
              </a:defRPr>
            </a:pPr>
            <a:r>
              <a:t>shared work queue</a:t>
            </a:r>
          </a:p>
        </p:txBody>
      </p:sp>
      <p:sp>
        <p:nvSpPr>
          <p:cNvPr id="16" name="tx_0826"/>
          <p:cNvSpPr txBox="1"/>
          <p:nvPr/>
        </p:nvSpPr>
        <p:spPr>
          <a:xfrm>
            <a:off x="6985406" y="2953512"/>
            <a:ext cx="4337913" cy="365760"/>
          </a:xfrm>
          <a:prstGeom prst="rect">
            <a:avLst/>
          </a:prstGeom>
          <a:noFill/>
        </p:spPr>
        <p:txBody>
          <a:bodyPr wrap="square" lIns="0" rIns="0" tIns="0" bIns="0" anchor="ctr">
            <a:spAutoFit/>
          </a:bodyPr>
          <a:lstStyle/>
          <a:p>
            <a:pPr>
              <a:spcAft>
                <a:spcPts val="400"/>
              </a:spcAft>
              <a:defRPr sz="1800" b="0" i="0">
                <a:solidFill>
                  <a:srgbClr val="1D1D1F"/>
                </a:solidFill>
                <a:latin typeface="Segoe UI"/>
              </a:defRPr>
            </a:pPr>
            <a:r>
              <a:t>Avoid cross-tenant SWQ sharing</a:t>
            </a:r>
          </a:p>
        </p:txBody>
      </p:sp>
      <p:cxnSp>
        <p:nvCxnSpPr>
          <p:cNvPr id="17" name="hl_0827"/>
          <p:cNvCxnSpPr/>
          <p:nvPr/>
        </p:nvCxnSpPr>
        <p:spPr>
          <a:xfrm>
            <a:off x="822960" y="3465576"/>
            <a:ext cx="10546079"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18" name="tx_0828"/>
          <p:cNvSpPr txBox="1"/>
          <p:nvPr/>
        </p:nvSpPr>
        <p:spPr>
          <a:xfrm>
            <a:off x="868680" y="3611880"/>
            <a:ext cx="3072383" cy="365760"/>
          </a:xfrm>
          <a:prstGeom prst="rect">
            <a:avLst/>
          </a:prstGeom>
          <a:noFill/>
        </p:spPr>
        <p:txBody>
          <a:bodyPr wrap="square" lIns="0" rIns="0" tIns="0" bIns="0" anchor="ctr">
            <a:spAutoFit/>
          </a:bodyPr>
          <a:lstStyle/>
          <a:p>
            <a:pPr>
              <a:spcAft>
                <a:spcPts val="400"/>
              </a:spcAft>
              <a:defRPr sz="1800" b="0" i="0">
                <a:solidFill>
                  <a:srgbClr val="1D1D1F"/>
                </a:solidFill>
                <a:latin typeface="Segoe UI Semibold"/>
              </a:defRPr>
            </a:pPr>
            <a:r>
              <a:t>Sensitive-op offload</a:t>
            </a:r>
          </a:p>
        </p:txBody>
      </p:sp>
      <p:sp>
        <p:nvSpPr>
          <p:cNvPr id="19" name="tx_0829"/>
          <p:cNvSpPr txBox="1"/>
          <p:nvPr/>
        </p:nvSpPr>
        <p:spPr>
          <a:xfrm>
            <a:off x="4032503" y="3611880"/>
            <a:ext cx="2861462" cy="365760"/>
          </a:xfrm>
          <a:prstGeom prst="rect">
            <a:avLst/>
          </a:prstGeom>
          <a:noFill/>
        </p:spPr>
        <p:txBody>
          <a:bodyPr wrap="square" lIns="0" rIns="0" tIns="0" bIns="0" anchor="ctr">
            <a:spAutoFit/>
          </a:bodyPr>
          <a:lstStyle/>
          <a:p>
            <a:pPr>
              <a:spcAft>
                <a:spcPts val="400"/>
              </a:spcAft>
              <a:defRPr sz="1800" b="0" i="0">
                <a:solidFill>
                  <a:srgbClr val="6E6E73"/>
                </a:solidFill>
                <a:latin typeface="Segoe UI"/>
              </a:defRPr>
            </a:pPr>
            <a:r>
              <a:t>application path</a:t>
            </a:r>
          </a:p>
        </p:txBody>
      </p:sp>
      <p:sp>
        <p:nvSpPr>
          <p:cNvPr id="20" name="tx_0830"/>
          <p:cNvSpPr txBox="1"/>
          <p:nvPr/>
        </p:nvSpPr>
        <p:spPr>
          <a:xfrm>
            <a:off x="6985406" y="3611880"/>
            <a:ext cx="4337913" cy="365760"/>
          </a:xfrm>
          <a:prstGeom prst="rect">
            <a:avLst/>
          </a:prstGeom>
          <a:noFill/>
        </p:spPr>
        <p:txBody>
          <a:bodyPr wrap="square" lIns="0" rIns="0" tIns="0" bIns="0" anchor="ctr">
            <a:spAutoFit/>
          </a:bodyPr>
          <a:lstStyle/>
          <a:p>
            <a:pPr>
              <a:spcAft>
                <a:spcPts val="400"/>
              </a:spcAft>
              <a:defRPr sz="1800" b="0" i="0">
                <a:solidFill>
                  <a:srgbClr val="1D1D1F"/>
                </a:solidFill>
                <a:latin typeface="Segoe UI"/>
              </a:defRPr>
            </a:pPr>
            <a:r>
              <a:t>Disable DSA on critical paths if needed</a:t>
            </a:r>
          </a:p>
        </p:txBody>
      </p:sp>
      <p:cxnSp>
        <p:nvCxnSpPr>
          <p:cNvPr id="21" name="hl_0831"/>
          <p:cNvCxnSpPr/>
          <p:nvPr/>
        </p:nvCxnSpPr>
        <p:spPr>
          <a:xfrm>
            <a:off x="822960" y="4123944"/>
            <a:ext cx="10546079"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22" name="rect_0832"/>
          <p:cNvSpPr/>
          <p:nvPr/>
        </p:nvSpPr>
        <p:spPr>
          <a:xfrm>
            <a:off x="822960" y="5486400"/>
            <a:ext cx="502920" cy="41148"/>
          </a:xfrm>
          <a:prstGeom prst="rect">
            <a:avLst/>
          </a:prstGeom>
          <a:solidFill>
            <a:srgbClr val="D700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x_0833"/>
          <p:cNvSpPr txBox="1"/>
          <p:nvPr/>
        </p:nvSpPr>
        <p:spPr>
          <a:xfrm>
            <a:off x="822960" y="5641848"/>
            <a:ext cx="10546079" cy="548640"/>
          </a:xfrm>
          <a:prstGeom prst="rect">
            <a:avLst/>
          </a:prstGeom>
          <a:noFill/>
        </p:spPr>
        <p:txBody>
          <a:bodyPr wrap="square" lIns="0" rIns="0" tIns="0" bIns="0">
            <a:spAutoFit/>
          </a:bodyPr>
          <a:lstStyle/>
          <a:p>
            <a:pPr>
              <a:spcAft>
                <a:spcPts val="400"/>
              </a:spcAft>
              <a:defRPr sz="2100" b="0" i="0">
                <a:solidFill>
                  <a:srgbClr val="D70015"/>
                </a:solidFill>
                <a:latin typeface="Segoe UI Semibold"/>
              </a:defRPr>
            </a:pPr>
            <a:r>
              <a:t>Separate queues do not close the shared-engine DevTLB channel.</a:t>
            </a:r>
          </a:p>
        </p:txBody>
      </p:sp>
    </p:spTree>
  </p:cSld>
  <p:clrMapOvr>
    <a:masterClrMapping/>
  </p:clrMapOvr>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x_0834"/>
          <p:cNvSpPr txBox="1"/>
          <p:nvPr/>
        </p:nvSpPr>
        <p:spPr>
          <a:xfrm>
            <a:off x="822960" y="502920"/>
            <a:ext cx="10546079" cy="274320"/>
          </a:xfrm>
          <a:prstGeom prst="rect">
            <a:avLst/>
          </a:prstGeom>
          <a:noFill/>
        </p:spPr>
        <p:txBody>
          <a:bodyPr wrap="square" lIns="0" rIns="0" tIns="0" bIns="0">
            <a:spAutoFit/>
          </a:bodyPr>
          <a:lstStyle/>
          <a:p>
            <a:pPr>
              <a:spcAft>
                <a:spcPts val="400"/>
              </a:spcAft>
              <a:defRPr sz="1200" b="0" i="0">
                <a:solidFill>
                  <a:srgbClr val="0071E3"/>
                </a:solidFill>
                <a:latin typeface="Segoe UI Semibold"/>
              </a:defRPr>
            </a:pPr>
            <a:r>
              <a:t>Does it hold up?</a:t>
            </a:r>
          </a:p>
        </p:txBody>
      </p:sp>
      <p:sp>
        <p:nvSpPr>
          <p:cNvPr id="3" name="tx_0835"/>
          <p:cNvSpPr txBox="1"/>
          <p:nvPr/>
        </p:nvSpPr>
        <p:spPr>
          <a:xfrm>
            <a:off x="822960" y="822960"/>
            <a:ext cx="10546079" cy="914400"/>
          </a:xfrm>
          <a:prstGeom prst="rect">
            <a:avLst/>
          </a:prstGeom>
          <a:noFill/>
        </p:spPr>
        <p:txBody>
          <a:bodyPr wrap="square" lIns="0" rIns="0" tIns="0" bIns="0">
            <a:spAutoFit/>
          </a:bodyPr>
          <a:lstStyle/>
          <a:p>
            <a:pPr>
              <a:lnSpc>
                <a:spcPct val="100000"/>
              </a:lnSpc>
              <a:spcAft>
                <a:spcPts val="400"/>
              </a:spcAft>
              <a:defRPr sz="3000" b="0" i="0">
                <a:solidFill>
                  <a:srgbClr val="1D1D1F"/>
                </a:solidFill>
                <a:latin typeface="Segoe UI Semibold"/>
              </a:defRPr>
            </a:pPr>
            <a:r>
              <a:t>They measured the cost — not the leftover leak</a:t>
            </a:r>
          </a:p>
        </p:txBody>
      </p:sp>
      <p:sp>
        <p:nvSpPr>
          <p:cNvPr id="4" name="tx_0836"/>
          <p:cNvSpPr txBox="1"/>
          <p:nvPr/>
        </p:nvSpPr>
        <p:spPr>
          <a:xfrm>
            <a:off x="822960" y="6419088"/>
            <a:ext cx="9631679" cy="228600"/>
          </a:xfrm>
          <a:prstGeom prst="rect">
            <a:avLst/>
          </a:prstGeom>
          <a:noFill/>
        </p:spPr>
        <p:txBody>
          <a:bodyPr wrap="square" lIns="0" rIns="0" tIns="0" bIns="0">
            <a:spAutoFit/>
          </a:bodyPr>
          <a:lstStyle/>
          <a:p>
            <a:pPr>
              <a:spcAft>
                <a:spcPts val="400"/>
              </a:spcAft>
              <a:defRPr sz="1000" b="0" i="0">
                <a:solidFill>
                  <a:srgbClr val="86868B"/>
                </a:solidFill>
                <a:latin typeface="Segoe UI"/>
              </a:defRPr>
            </a:pPr>
            <a:r>
              <a:t>Paper § VII, Fig. 14 · p. 12 · original throughput chart</a:t>
            </a:r>
          </a:p>
        </p:txBody>
      </p:sp>
      <p:sp>
        <p:nvSpPr>
          <p:cNvPr id="5" name="tx_0837"/>
          <p:cNvSpPr txBox="1"/>
          <p:nvPr/>
        </p:nvSpPr>
        <p:spPr>
          <a:xfrm>
            <a:off x="10820399" y="6419088"/>
            <a:ext cx="548640" cy="228600"/>
          </a:xfrm>
          <a:prstGeom prst="rect">
            <a:avLst/>
          </a:prstGeom>
          <a:noFill/>
        </p:spPr>
        <p:txBody>
          <a:bodyPr wrap="square" lIns="0" rIns="0" tIns="0" bIns="0">
            <a:spAutoFit/>
          </a:bodyPr>
          <a:lstStyle/>
          <a:p>
            <a:pPr algn="r">
              <a:spcAft>
                <a:spcPts val="400"/>
              </a:spcAft>
              <a:defRPr sz="1000" b="0" i="0">
                <a:solidFill>
                  <a:srgbClr val="86868B"/>
                </a:solidFill>
                <a:latin typeface="Segoe UI"/>
              </a:defRPr>
            </a:pPr>
            <a:r>
              <a:t>45</a:t>
            </a:r>
          </a:p>
        </p:txBody>
      </p:sp>
      <p:pic>
        <p:nvPicPr>
          <p:cNvPr id="6" name="pic_0838" descr="mitigation.png"/>
          <p:cNvPicPr>
            <a:picLocks noChangeAspect="1"/>
          </p:cNvPicPr>
          <p:nvPr/>
        </p:nvPicPr>
        <p:blipFill>
          <a:blip r:embed="rId3"/>
          <a:stretch>
            <a:fillRect/>
          </a:stretch>
        </p:blipFill>
        <p:spPr>
          <a:xfrm>
            <a:off x="822960" y="1873244"/>
            <a:ext cx="7223760" cy="3568710"/>
          </a:xfrm>
          <a:prstGeom prst="rect">
            <a:avLst/>
          </a:prstGeom>
        </p:spPr>
      </p:pic>
      <p:sp>
        <p:nvSpPr>
          <p:cNvPr id="7" name="tx_0839"/>
          <p:cNvSpPr txBox="1"/>
          <p:nvPr/>
        </p:nvSpPr>
        <p:spPr>
          <a:xfrm>
            <a:off x="8412480" y="1965960"/>
            <a:ext cx="2926080" cy="365760"/>
          </a:xfrm>
          <a:prstGeom prst="rect">
            <a:avLst/>
          </a:prstGeom>
          <a:noFill/>
        </p:spPr>
        <p:txBody>
          <a:bodyPr wrap="square" lIns="0" rIns="0" tIns="0" bIns="0">
            <a:spAutoFit/>
          </a:bodyPr>
          <a:lstStyle/>
          <a:p>
            <a:pPr>
              <a:spcAft>
                <a:spcPts val="400"/>
              </a:spcAft>
              <a:defRPr sz="1600" b="0" i="0">
                <a:solidFill>
                  <a:srgbClr val="D70015"/>
                </a:solidFill>
                <a:latin typeface="Segoe UI Semibold"/>
              </a:defRPr>
            </a:pPr>
            <a:r>
              <a:t>Maximum reported loss</a:t>
            </a:r>
          </a:p>
        </p:txBody>
      </p:sp>
      <p:cxnSp>
        <p:nvCxnSpPr>
          <p:cNvPr id="8" name="hl_0840"/>
          <p:cNvCxnSpPr/>
          <p:nvPr/>
        </p:nvCxnSpPr>
        <p:spPr>
          <a:xfrm>
            <a:off x="8412480" y="2350008"/>
            <a:ext cx="2926080"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9" name="tx_0841"/>
          <p:cNvSpPr txBox="1"/>
          <p:nvPr/>
        </p:nvSpPr>
        <p:spPr>
          <a:xfrm>
            <a:off x="8412480" y="2560320"/>
            <a:ext cx="1463040" cy="365760"/>
          </a:xfrm>
          <a:prstGeom prst="rect">
            <a:avLst/>
          </a:prstGeom>
          <a:noFill/>
        </p:spPr>
        <p:txBody>
          <a:bodyPr wrap="square" lIns="0" rIns="0" tIns="0" bIns="0">
            <a:spAutoFit/>
          </a:bodyPr>
          <a:lstStyle/>
          <a:p>
            <a:pPr>
              <a:spcAft>
                <a:spcPts val="400"/>
              </a:spcAft>
              <a:defRPr sz="1800" b="0" i="0">
                <a:solidFill>
                  <a:srgbClr val="1D1D1F"/>
                </a:solidFill>
                <a:latin typeface="Segoe UI Semibold"/>
              </a:defRPr>
            </a:pPr>
            <a:r>
              <a:t>Native DSA</a:t>
            </a:r>
          </a:p>
        </p:txBody>
      </p:sp>
      <p:sp>
        <p:nvSpPr>
          <p:cNvPr id="10" name="tx_0842"/>
          <p:cNvSpPr txBox="1"/>
          <p:nvPr/>
        </p:nvSpPr>
        <p:spPr>
          <a:xfrm>
            <a:off x="9784080" y="2560320"/>
            <a:ext cx="1554480" cy="365760"/>
          </a:xfrm>
          <a:prstGeom prst="rect">
            <a:avLst/>
          </a:prstGeom>
          <a:noFill/>
        </p:spPr>
        <p:txBody>
          <a:bodyPr wrap="square" lIns="0" rIns="0" tIns="0" bIns="0">
            <a:spAutoFit/>
          </a:bodyPr>
          <a:lstStyle/>
          <a:p>
            <a:pPr>
              <a:spcAft>
                <a:spcPts val="400"/>
              </a:spcAft>
              <a:defRPr sz="1800" b="0" i="0">
                <a:solidFill>
                  <a:srgbClr val="6E6E73"/>
                </a:solidFill>
                <a:latin typeface="Segoe UI"/>
              </a:defRPr>
            </a:pPr>
            <a:r>
              <a:t>15.7%</a:t>
            </a:r>
          </a:p>
        </p:txBody>
      </p:sp>
      <p:sp>
        <p:nvSpPr>
          <p:cNvPr id="11" name="tx_0843"/>
          <p:cNvSpPr txBox="1"/>
          <p:nvPr/>
        </p:nvSpPr>
        <p:spPr>
          <a:xfrm>
            <a:off x="8412480" y="3127248"/>
            <a:ext cx="1463040" cy="365760"/>
          </a:xfrm>
          <a:prstGeom prst="rect">
            <a:avLst/>
          </a:prstGeom>
          <a:noFill/>
        </p:spPr>
        <p:txBody>
          <a:bodyPr wrap="square" lIns="0" rIns="0" tIns="0" bIns="0">
            <a:spAutoFit/>
          </a:bodyPr>
          <a:lstStyle/>
          <a:p>
            <a:pPr>
              <a:spcAft>
                <a:spcPts val="400"/>
              </a:spcAft>
              <a:defRPr sz="1800" b="0" i="0">
                <a:solidFill>
                  <a:srgbClr val="1D1D1F"/>
                </a:solidFill>
                <a:latin typeface="Segoe UI Semibold"/>
              </a:defRPr>
            </a:pPr>
            <a:r>
              <a:t>DTO</a:t>
            </a:r>
          </a:p>
        </p:txBody>
      </p:sp>
      <p:sp>
        <p:nvSpPr>
          <p:cNvPr id="12" name="tx_0844"/>
          <p:cNvSpPr txBox="1"/>
          <p:nvPr/>
        </p:nvSpPr>
        <p:spPr>
          <a:xfrm>
            <a:off x="9784080" y="3127248"/>
            <a:ext cx="1554480" cy="365760"/>
          </a:xfrm>
          <a:prstGeom prst="rect">
            <a:avLst/>
          </a:prstGeom>
          <a:noFill/>
        </p:spPr>
        <p:txBody>
          <a:bodyPr wrap="square" lIns="0" rIns="0" tIns="0" bIns="0">
            <a:spAutoFit/>
          </a:bodyPr>
          <a:lstStyle/>
          <a:p>
            <a:pPr>
              <a:spcAft>
                <a:spcPts val="400"/>
              </a:spcAft>
              <a:defRPr sz="1800" b="0" i="0">
                <a:solidFill>
                  <a:srgbClr val="6E6E73"/>
                </a:solidFill>
                <a:latin typeface="Segoe UI"/>
              </a:defRPr>
            </a:pPr>
            <a:r>
              <a:t>17.9%</a:t>
            </a:r>
          </a:p>
        </p:txBody>
      </p:sp>
      <p:sp>
        <p:nvSpPr>
          <p:cNvPr id="13" name="tx_0845"/>
          <p:cNvSpPr txBox="1"/>
          <p:nvPr/>
        </p:nvSpPr>
        <p:spPr>
          <a:xfrm>
            <a:off x="8412480" y="3694176"/>
            <a:ext cx="1463040" cy="365760"/>
          </a:xfrm>
          <a:prstGeom prst="rect">
            <a:avLst/>
          </a:prstGeom>
          <a:noFill/>
        </p:spPr>
        <p:txBody>
          <a:bodyPr wrap="square" lIns="0" rIns="0" tIns="0" bIns="0">
            <a:spAutoFit/>
          </a:bodyPr>
          <a:lstStyle/>
          <a:p>
            <a:pPr>
              <a:spcAft>
                <a:spcPts val="400"/>
              </a:spcAft>
              <a:defRPr sz="1800" b="0" i="0">
                <a:solidFill>
                  <a:srgbClr val="1D1D1F"/>
                </a:solidFill>
                <a:latin typeface="Segoe UI Semibold"/>
              </a:defRPr>
            </a:pPr>
            <a:r>
              <a:t>At</a:t>
            </a:r>
          </a:p>
        </p:txBody>
      </p:sp>
      <p:sp>
        <p:nvSpPr>
          <p:cNvPr id="14" name="tx_0846"/>
          <p:cNvSpPr txBox="1"/>
          <p:nvPr/>
        </p:nvSpPr>
        <p:spPr>
          <a:xfrm>
            <a:off x="9784080" y="3694176"/>
            <a:ext cx="1554480" cy="365760"/>
          </a:xfrm>
          <a:prstGeom prst="rect">
            <a:avLst/>
          </a:prstGeom>
          <a:noFill/>
        </p:spPr>
        <p:txBody>
          <a:bodyPr wrap="square" lIns="0" rIns="0" tIns="0" bIns="0">
            <a:spAutoFit/>
          </a:bodyPr>
          <a:lstStyle/>
          <a:p>
            <a:pPr>
              <a:spcAft>
                <a:spcPts val="400"/>
              </a:spcAft>
              <a:defRPr sz="1800" b="0" i="0">
                <a:solidFill>
                  <a:srgbClr val="6E6E73"/>
                </a:solidFill>
                <a:latin typeface="Segoe UI"/>
              </a:defRPr>
            </a:pPr>
            <a:r>
              <a:t>256-byte transfers</a:t>
            </a:r>
          </a:p>
        </p:txBody>
      </p:sp>
      <p:sp>
        <p:nvSpPr>
          <p:cNvPr id="15" name="rect_0847"/>
          <p:cNvSpPr/>
          <p:nvPr/>
        </p:nvSpPr>
        <p:spPr>
          <a:xfrm>
            <a:off x="822960" y="5760720"/>
            <a:ext cx="502920" cy="41148"/>
          </a:xfrm>
          <a:prstGeom prst="rect">
            <a:avLst/>
          </a:prstGeom>
          <a:solidFill>
            <a:srgbClr val="007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x_0848"/>
          <p:cNvSpPr txBox="1"/>
          <p:nvPr/>
        </p:nvSpPr>
        <p:spPr>
          <a:xfrm>
            <a:off x="822960" y="5916168"/>
            <a:ext cx="10546079" cy="548640"/>
          </a:xfrm>
          <a:prstGeom prst="rect">
            <a:avLst/>
          </a:prstGeom>
          <a:noFill/>
        </p:spPr>
        <p:txBody>
          <a:bodyPr wrap="square" lIns="0" rIns="0" tIns="0" bIns="0">
            <a:spAutoFit/>
          </a:bodyPr>
          <a:lstStyle/>
          <a:p>
            <a:pPr>
              <a:spcAft>
                <a:spcPts val="400"/>
              </a:spcAft>
              <a:defRPr sz="2100" b="0" i="0">
                <a:solidFill>
                  <a:srgbClr val="1D1D1F"/>
                </a:solidFill>
                <a:latin typeface="Segoe UI Semibold"/>
              </a:defRPr>
            </a:pPr>
            <a:r>
              <a:t>The plot measures throughput overhead; residual leakage is not quantified.</a:t>
            </a:r>
          </a:p>
        </p:txBody>
      </p:sp>
    </p:spTree>
  </p:cSld>
  <p:clrMapOvr>
    <a:masterClrMapping/>
  </p:clrMapOvr>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x_0849"/>
          <p:cNvSpPr txBox="1"/>
          <p:nvPr/>
        </p:nvSpPr>
        <p:spPr>
          <a:xfrm>
            <a:off x="822960" y="1097280"/>
            <a:ext cx="5486400" cy="320040"/>
          </a:xfrm>
          <a:prstGeom prst="rect">
            <a:avLst/>
          </a:prstGeom>
          <a:noFill/>
        </p:spPr>
        <p:txBody>
          <a:bodyPr wrap="square" lIns="0" rIns="0" tIns="0" bIns="0">
            <a:spAutoFit/>
          </a:bodyPr>
          <a:lstStyle/>
          <a:p>
            <a:pPr>
              <a:spcAft>
                <a:spcPts val="400"/>
              </a:spcAft>
              <a:defRPr sz="1400" b="0" i="0">
                <a:solidFill>
                  <a:srgbClr val="A1A1A6"/>
                </a:solidFill>
                <a:latin typeface="Segoe UI Semibold"/>
              </a:defRPr>
            </a:pPr>
            <a:r>
              <a:t>Act 6 of 6</a:t>
            </a:r>
          </a:p>
        </p:txBody>
      </p:sp>
      <p:sp>
        <p:nvSpPr>
          <p:cNvPr id="3" name="tx_0850"/>
          <p:cNvSpPr txBox="1"/>
          <p:nvPr/>
        </p:nvSpPr>
        <p:spPr>
          <a:xfrm>
            <a:off x="777240" y="1371600"/>
            <a:ext cx="5486400" cy="2377440"/>
          </a:xfrm>
          <a:prstGeom prst="rect">
            <a:avLst/>
          </a:prstGeom>
          <a:noFill/>
        </p:spPr>
        <p:txBody>
          <a:bodyPr wrap="square" lIns="0" rIns="0" tIns="0" bIns="0">
            <a:spAutoFit/>
          </a:bodyPr>
          <a:lstStyle/>
          <a:p>
            <a:pPr>
              <a:spcAft>
                <a:spcPts val="400"/>
              </a:spcAft>
              <a:defRPr sz="16000" b="0" i="0">
                <a:solidFill>
                  <a:srgbClr val="2C2C2E"/>
                </a:solidFill>
                <a:latin typeface="Segoe UI Semibold"/>
              </a:defRPr>
            </a:pPr>
            <a:r>
              <a:t>06</a:t>
            </a:r>
          </a:p>
        </p:txBody>
      </p:sp>
      <p:sp>
        <p:nvSpPr>
          <p:cNvPr id="4" name="tx_0851"/>
          <p:cNvSpPr txBox="1"/>
          <p:nvPr/>
        </p:nvSpPr>
        <p:spPr>
          <a:xfrm>
            <a:off x="822960" y="3703320"/>
            <a:ext cx="10546079" cy="914400"/>
          </a:xfrm>
          <a:prstGeom prst="rect">
            <a:avLst/>
          </a:prstGeom>
          <a:noFill/>
        </p:spPr>
        <p:txBody>
          <a:bodyPr wrap="square" lIns="0" rIns="0" tIns="0" bIns="0">
            <a:spAutoFit/>
          </a:bodyPr>
          <a:lstStyle/>
          <a:p>
            <a:pPr>
              <a:spcAft>
                <a:spcPts val="400"/>
              </a:spcAft>
              <a:defRPr sz="4800" b="0" i="0">
                <a:solidFill>
                  <a:srgbClr val="FFFFFF"/>
                </a:solidFill>
                <a:latin typeface="Segoe UI Semibold"/>
              </a:defRPr>
            </a:pPr>
            <a:r>
              <a:t>My verdict</a:t>
            </a:r>
          </a:p>
        </p:txBody>
      </p:sp>
      <p:sp>
        <p:nvSpPr>
          <p:cNvPr id="5" name="tx_0852"/>
          <p:cNvSpPr txBox="1"/>
          <p:nvPr/>
        </p:nvSpPr>
        <p:spPr>
          <a:xfrm>
            <a:off x="822960" y="4846320"/>
            <a:ext cx="10546079" cy="438912"/>
          </a:xfrm>
          <a:prstGeom prst="rect">
            <a:avLst/>
          </a:prstGeom>
          <a:noFill/>
        </p:spPr>
        <p:txBody>
          <a:bodyPr wrap="square" lIns="0" rIns="0" tIns="0" bIns="0">
            <a:spAutoFit/>
          </a:bodyPr>
          <a:lstStyle/>
          <a:p>
            <a:pPr>
              <a:spcAft>
                <a:spcPts val="400"/>
              </a:spcAft>
              <a:defRPr sz="1900" b="0" i="0">
                <a:solidFill>
                  <a:srgbClr val="A1A1A6"/>
                </a:solidFill>
                <a:latin typeface="Segoe UI"/>
              </a:defRPr>
            </a:pPr>
            <a:r>
              <a:t>The lasting contribution is the causal hardware analysis</a:t>
            </a:r>
          </a:p>
        </p:txBody>
      </p:sp>
      <p:sp>
        <p:nvSpPr>
          <p:cNvPr id="6" name="tx_0853"/>
          <p:cNvSpPr txBox="1"/>
          <p:nvPr/>
        </p:nvSpPr>
        <p:spPr>
          <a:xfrm>
            <a:off x="822960" y="5285231"/>
            <a:ext cx="10546079" cy="438912"/>
          </a:xfrm>
          <a:prstGeom prst="rect">
            <a:avLst/>
          </a:prstGeom>
          <a:noFill/>
        </p:spPr>
        <p:txBody>
          <a:bodyPr wrap="square" lIns="0" rIns="0" tIns="0" bIns="0">
            <a:spAutoFit/>
          </a:bodyPr>
          <a:lstStyle/>
          <a:p>
            <a:pPr>
              <a:spcAft>
                <a:spcPts val="400"/>
              </a:spcAft>
              <a:defRPr sz="1900" b="0" i="0">
                <a:solidFill>
                  <a:srgbClr val="A1A1A6"/>
                </a:solidFill>
                <a:latin typeface="Segoe UI"/>
              </a:defRPr>
            </a:pPr>
            <a:r>
              <a:t>Scope and reporting gaps qualify the headline claims</a:t>
            </a:r>
          </a:p>
        </p:txBody>
      </p:sp>
      <p:sp>
        <p:nvSpPr>
          <p:cNvPr id="7" name="tx_0854"/>
          <p:cNvSpPr txBox="1"/>
          <p:nvPr/>
        </p:nvSpPr>
        <p:spPr>
          <a:xfrm>
            <a:off x="822960" y="5724144"/>
            <a:ext cx="10546079" cy="438912"/>
          </a:xfrm>
          <a:prstGeom prst="rect">
            <a:avLst/>
          </a:prstGeom>
          <a:noFill/>
        </p:spPr>
        <p:txBody>
          <a:bodyPr wrap="square" lIns="0" rIns="0" tIns="0" bIns="0">
            <a:spAutoFit/>
          </a:bodyPr>
          <a:lstStyle/>
          <a:p>
            <a:pPr>
              <a:spcAft>
                <a:spcPts val="400"/>
              </a:spcAft>
              <a:defRPr sz="1900" b="0" i="0">
                <a:solidFill>
                  <a:srgbClr val="A1A1A6"/>
                </a:solidFill>
                <a:latin typeface="Segoe UI"/>
              </a:defRPr>
            </a:pPr>
            <a:r>
              <a:t>An isolation contract for shared accelerator state</a:t>
            </a:r>
          </a:p>
        </p:txBody>
      </p:sp>
      <p:sp>
        <p:nvSpPr>
          <p:cNvPr id="8" name="tx_0855"/>
          <p:cNvSpPr txBox="1"/>
          <p:nvPr/>
        </p:nvSpPr>
        <p:spPr>
          <a:xfrm>
            <a:off x="10820399" y="6419088"/>
            <a:ext cx="548640" cy="228600"/>
          </a:xfrm>
          <a:prstGeom prst="rect">
            <a:avLst/>
          </a:prstGeom>
          <a:noFill/>
        </p:spPr>
        <p:txBody>
          <a:bodyPr wrap="square" lIns="0" rIns="0" tIns="0" bIns="0">
            <a:spAutoFit/>
          </a:bodyPr>
          <a:lstStyle/>
          <a:p>
            <a:pPr algn="r">
              <a:spcAft>
                <a:spcPts val="400"/>
              </a:spcAft>
              <a:defRPr sz="1000" b="0" i="0">
                <a:solidFill>
                  <a:srgbClr val="A1A1A6"/>
                </a:solidFill>
                <a:latin typeface="Segoe UI"/>
              </a:defRPr>
            </a:pPr>
            <a:r>
              <a:t>46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x_0856"/>
          <p:cNvSpPr txBox="1"/>
          <p:nvPr/>
        </p:nvSpPr>
        <p:spPr>
          <a:xfrm>
            <a:off x="822960" y="502920"/>
            <a:ext cx="10546079" cy="274320"/>
          </a:xfrm>
          <a:prstGeom prst="rect">
            <a:avLst/>
          </a:prstGeom>
          <a:noFill/>
        </p:spPr>
        <p:txBody>
          <a:bodyPr wrap="square" lIns="0" rIns="0" tIns="0" bIns="0">
            <a:spAutoFit/>
          </a:bodyPr>
          <a:lstStyle/>
          <a:p>
            <a:pPr>
              <a:spcAft>
                <a:spcPts val="400"/>
              </a:spcAft>
              <a:defRPr sz="1200" b="0" i="0">
                <a:solidFill>
                  <a:srgbClr val="0071E3"/>
                </a:solidFill>
                <a:latin typeface="Segoe UI Semibold"/>
              </a:defRPr>
            </a:pPr>
            <a:r>
              <a:t>My verdict</a:t>
            </a:r>
          </a:p>
        </p:txBody>
      </p:sp>
      <p:sp>
        <p:nvSpPr>
          <p:cNvPr id="3" name="tx_0857"/>
          <p:cNvSpPr txBox="1"/>
          <p:nvPr/>
        </p:nvSpPr>
        <p:spPr>
          <a:xfrm>
            <a:off x="822960" y="822960"/>
            <a:ext cx="10546079" cy="914400"/>
          </a:xfrm>
          <a:prstGeom prst="rect">
            <a:avLst/>
          </a:prstGeom>
          <a:noFill/>
        </p:spPr>
        <p:txBody>
          <a:bodyPr wrap="square" lIns="0" rIns="0" tIns="0" bIns="0">
            <a:spAutoFit/>
          </a:bodyPr>
          <a:lstStyle/>
          <a:p>
            <a:pPr>
              <a:lnSpc>
                <a:spcPct val="100000"/>
              </a:lnSpc>
              <a:spcAft>
                <a:spcPts val="400"/>
              </a:spcAft>
              <a:defRPr sz="3000" b="0" i="0">
                <a:solidFill>
                  <a:srgbClr val="1D1D1F"/>
                </a:solidFill>
                <a:latin typeface="Segoe UI Semibold"/>
              </a:defRPr>
            </a:pPr>
            <a:r>
              <a:t>What’s genuinely excellent</a:t>
            </a:r>
          </a:p>
        </p:txBody>
      </p:sp>
      <p:sp>
        <p:nvSpPr>
          <p:cNvPr id="4" name="tx_0858"/>
          <p:cNvSpPr txBox="1"/>
          <p:nvPr/>
        </p:nvSpPr>
        <p:spPr>
          <a:xfrm>
            <a:off x="822960" y="6419088"/>
            <a:ext cx="9631679" cy="228600"/>
          </a:xfrm>
          <a:prstGeom prst="rect">
            <a:avLst/>
          </a:prstGeom>
          <a:noFill/>
        </p:spPr>
        <p:txBody>
          <a:bodyPr wrap="square" lIns="0" rIns="0" tIns="0" bIns="0">
            <a:spAutoFit/>
          </a:bodyPr>
          <a:lstStyle/>
          <a:p>
            <a:pPr>
              <a:spcAft>
                <a:spcPts val="400"/>
              </a:spcAft>
              <a:defRPr sz="1000" b="0" i="0">
                <a:solidFill>
                  <a:srgbClr val="86868B"/>
                </a:solidFill>
                <a:latin typeface="Segoe UI"/>
              </a:defRPr>
            </a:pPr>
            <a:r>
              <a:t>Presenter assessment · paper §§ IV–VI</a:t>
            </a:r>
          </a:p>
        </p:txBody>
      </p:sp>
      <p:sp>
        <p:nvSpPr>
          <p:cNvPr id="5" name="tx_0859"/>
          <p:cNvSpPr txBox="1"/>
          <p:nvPr/>
        </p:nvSpPr>
        <p:spPr>
          <a:xfrm>
            <a:off x="10820399" y="6419088"/>
            <a:ext cx="548640" cy="228600"/>
          </a:xfrm>
          <a:prstGeom prst="rect">
            <a:avLst/>
          </a:prstGeom>
          <a:noFill/>
        </p:spPr>
        <p:txBody>
          <a:bodyPr wrap="square" lIns="0" rIns="0" tIns="0" bIns="0">
            <a:spAutoFit/>
          </a:bodyPr>
          <a:lstStyle/>
          <a:p>
            <a:pPr algn="r">
              <a:spcAft>
                <a:spcPts val="400"/>
              </a:spcAft>
              <a:defRPr sz="1000" b="0" i="0">
                <a:solidFill>
                  <a:srgbClr val="86868B"/>
                </a:solidFill>
                <a:latin typeface="Segoe UI"/>
              </a:defRPr>
            </a:pPr>
            <a:r>
              <a:t>47</a:t>
            </a:r>
          </a:p>
        </p:txBody>
      </p:sp>
      <p:sp>
        <p:nvSpPr>
          <p:cNvPr id="6" name="rect_0860"/>
          <p:cNvSpPr/>
          <p:nvPr/>
        </p:nvSpPr>
        <p:spPr>
          <a:xfrm>
            <a:off x="822960" y="2194560"/>
            <a:ext cx="109728" cy="109728"/>
          </a:xfrm>
          <a:prstGeom prst="ellipse">
            <a:avLst/>
          </a:prstGeom>
          <a:solidFill>
            <a:srgbClr val="007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x_0861"/>
          <p:cNvSpPr txBox="1"/>
          <p:nvPr/>
        </p:nvSpPr>
        <p:spPr>
          <a:xfrm>
            <a:off x="1188720" y="2057400"/>
            <a:ext cx="10180319" cy="457200"/>
          </a:xfrm>
          <a:prstGeom prst="rect">
            <a:avLst/>
          </a:prstGeom>
          <a:noFill/>
        </p:spPr>
        <p:txBody>
          <a:bodyPr wrap="square" lIns="0" rIns="0" tIns="0" bIns="0">
            <a:spAutoFit/>
          </a:bodyPr>
          <a:lstStyle/>
          <a:p>
            <a:pPr>
              <a:spcAft>
                <a:spcPts val="400"/>
              </a:spcAft>
              <a:defRPr sz="2400" b="0" i="0">
                <a:solidFill>
                  <a:srgbClr val="1D1D1F"/>
                </a:solidFill>
                <a:latin typeface="Segoe UI Semibold"/>
              </a:defRPr>
            </a:pPr>
            <a:r>
              <a:t>Controlled reconstruction</a:t>
            </a:r>
          </a:p>
        </p:txBody>
      </p:sp>
      <p:sp>
        <p:nvSpPr>
          <p:cNvPr id="8" name="tx_0862"/>
          <p:cNvSpPr txBox="1"/>
          <p:nvPr/>
        </p:nvSpPr>
        <p:spPr>
          <a:xfrm>
            <a:off x="1188720" y="2514600"/>
            <a:ext cx="10180319" cy="685800"/>
          </a:xfrm>
          <a:prstGeom prst="rect">
            <a:avLst/>
          </a:prstGeom>
          <a:noFill/>
        </p:spPr>
        <p:txBody>
          <a:bodyPr wrap="square" lIns="0" rIns="0" tIns="0" bIns="0">
            <a:spAutoFit/>
          </a:bodyPr>
          <a:lstStyle/>
          <a:p>
            <a:pPr>
              <a:spcAft>
                <a:spcPts val="400"/>
              </a:spcAft>
              <a:defRPr sz="1800" b="0" i="0">
                <a:solidFill>
                  <a:srgbClr val="6E6E73"/>
                </a:solidFill>
                <a:latin typeface="Segoe UI"/>
              </a:defRPr>
            </a:pPr>
            <a:r>
              <a:t>page, field, queue, engine — each test is falsifiable</a:t>
            </a:r>
          </a:p>
        </p:txBody>
      </p:sp>
      <p:sp>
        <p:nvSpPr>
          <p:cNvPr id="9" name="rect_0863"/>
          <p:cNvSpPr/>
          <p:nvPr/>
        </p:nvSpPr>
        <p:spPr>
          <a:xfrm>
            <a:off x="822960" y="3337560"/>
            <a:ext cx="109728" cy="109728"/>
          </a:xfrm>
          <a:prstGeom prst="ellipse">
            <a:avLst/>
          </a:prstGeom>
          <a:solidFill>
            <a:srgbClr val="007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x_0864"/>
          <p:cNvSpPr txBox="1"/>
          <p:nvPr/>
        </p:nvSpPr>
        <p:spPr>
          <a:xfrm>
            <a:off x="1188720" y="3200400"/>
            <a:ext cx="10180319" cy="457200"/>
          </a:xfrm>
          <a:prstGeom prst="rect">
            <a:avLst/>
          </a:prstGeom>
          <a:noFill/>
        </p:spPr>
        <p:txBody>
          <a:bodyPr wrap="square" lIns="0" rIns="0" tIns="0" bIns="0">
            <a:spAutoFit/>
          </a:bodyPr>
          <a:lstStyle/>
          <a:p>
            <a:pPr>
              <a:spcAft>
                <a:spcPts val="400"/>
              </a:spcAft>
              <a:defRPr sz="2400" b="0" i="0">
                <a:solidFill>
                  <a:srgbClr val="1D1D1F"/>
                </a:solidFill>
                <a:latin typeface="Segoe UI Semibold"/>
              </a:defRPr>
            </a:pPr>
            <a:r>
              <a:t>A real negative control</a:t>
            </a:r>
          </a:p>
        </p:txBody>
      </p:sp>
      <p:sp>
        <p:nvSpPr>
          <p:cNvPr id="11" name="tx_0865"/>
          <p:cNvSpPr txBox="1"/>
          <p:nvPr/>
        </p:nvSpPr>
        <p:spPr>
          <a:xfrm>
            <a:off x="1188720" y="3657600"/>
            <a:ext cx="10180319" cy="685800"/>
          </a:xfrm>
          <a:prstGeom prst="rect">
            <a:avLst/>
          </a:prstGeom>
          <a:noFill/>
        </p:spPr>
        <p:txBody>
          <a:bodyPr wrap="square" lIns="0" rIns="0" tIns="0" bIns="0">
            <a:spAutoFit/>
          </a:bodyPr>
          <a:lstStyle/>
          <a:p>
            <a:pPr>
              <a:spcAft>
                <a:spcPts val="400"/>
              </a:spcAft>
              <a:defRPr sz="1800" b="0" i="0">
                <a:solidFill>
                  <a:srgbClr val="6E6E73"/>
                </a:solidFill>
                <a:latin typeface="Segoe UI"/>
              </a:defRPr>
            </a:pPr>
            <a:r>
              <a:t>E2: separate engines eliminate the cross-VM DevTLB eviction</a:t>
            </a:r>
          </a:p>
        </p:txBody>
      </p:sp>
      <p:sp>
        <p:nvSpPr>
          <p:cNvPr id="12" name="rect_0866"/>
          <p:cNvSpPr/>
          <p:nvPr/>
        </p:nvSpPr>
        <p:spPr>
          <a:xfrm>
            <a:off x="822960" y="4480560"/>
            <a:ext cx="109728" cy="109728"/>
          </a:xfrm>
          <a:prstGeom prst="ellipse">
            <a:avLst/>
          </a:prstGeom>
          <a:solidFill>
            <a:srgbClr val="007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x_0867"/>
          <p:cNvSpPr txBox="1"/>
          <p:nvPr/>
        </p:nvSpPr>
        <p:spPr>
          <a:xfrm>
            <a:off x="1188720" y="4343400"/>
            <a:ext cx="10180319" cy="457200"/>
          </a:xfrm>
          <a:prstGeom prst="rect">
            <a:avLst/>
          </a:prstGeom>
          <a:noFill/>
        </p:spPr>
        <p:txBody>
          <a:bodyPr wrap="square" lIns="0" rIns="0" tIns="0" bIns="0">
            <a:spAutoFit/>
          </a:bodyPr>
          <a:lstStyle/>
          <a:p>
            <a:pPr>
              <a:spcAft>
                <a:spcPts val="400"/>
              </a:spcAft>
              <a:defRPr sz="2400" b="0" i="0">
                <a:solidFill>
                  <a:srgbClr val="1D1D1F"/>
                </a:solidFill>
                <a:latin typeface="Segoe UI Semibold"/>
              </a:defRPr>
            </a:pPr>
            <a:r>
              <a:t>Two complementary interfaces</a:t>
            </a:r>
          </a:p>
        </p:txBody>
      </p:sp>
      <p:sp>
        <p:nvSpPr>
          <p:cNvPr id="14" name="tx_0868"/>
          <p:cNvSpPr txBox="1"/>
          <p:nvPr/>
        </p:nvSpPr>
        <p:spPr>
          <a:xfrm>
            <a:off x="1188720" y="4800600"/>
            <a:ext cx="10180319" cy="685800"/>
          </a:xfrm>
          <a:prstGeom prst="rect">
            <a:avLst/>
          </a:prstGeom>
          <a:noFill/>
        </p:spPr>
        <p:txBody>
          <a:bodyPr wrap="square" lIns="0" rIns="0" tIns="0" bIns="0">
            <a:spAutoFit/>
          </a:bodyPr>
          <a:lstStyle/>
          <a:p>
            <a:pPr>
              <a:spcAft>
                <a:spcPts val="400"/>
              </a:spcAft>
              <a:defRPr sz="1800" b="0" i="0">
                <a:solidFill>
                  <a:srgbClr val="6E6E73"/>
                </a:solidFill>
                <a:latin typeface="Segoe UI"/>
              </a:defRPr>
            </a:pPr>
            <a:r>
              <a:t>completion latency + admission feedback → distinct channels</a:t>
            </a:r>
          </a:p>
        </p:txBody>
      </p:sp>
      <p:sp>
        <p:nvSpPr>
          <p:cNvPr id="15" name="rect_0869"/>
          <p:cNvSpPr/>
          <p:nvPr/>
        </p:nvSpPr>
        <p:spPr>
          <a:xfrm>
            <a:off x="822960" y="5623560"/>
            <a:ext cx="502920" cy="41148"/>
          </a:xfrm>
          <a:prstGeom prst="rect">
            <a:avLst/>
          </a:prstGeom>
          <a:solidFill>
            <a:srgbClr val="007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x_0870"/>
          <p:cNvSpPr txBox="1"/>
          <p:nvPr/>
        </p:nvSpPr>
        <p:spPr>
          <a:xfrm>
            <a:off x="822960" y="5779008"/>
            <a:ext cx="10546079" cy="548640"/>
          </a:xfrm>
          <a:prstGeom prst="rect">
            <a:avLst/>
          </a:prstGeom>
          <a:noFill/>
        </p:spPr>
        <p:txBody>
          <a:bodyPr wrap="square" lIns="0" rIns="0" tIns="0" bIns="0">
            <a:spAutoFit/>
          </a:bodyPr>
          <a:lstStyle/>
          <a:p>
            <a:pPr>
              <a:spcAft>
                <a:spcPts val="400"/>
              </a:spcAft>
              <a:defRPr sz="2100" b="0" i="0">
                <a:solidFill>
                  <a:srgbClr val="1D1D1F"/>
                </a:solidFill>
                <a:latin typeface="Segoe UI Semibold"/>
              </a:defRPr>
            </a:pPr>
            <a:r>
              <a:t>The work turns an implementation detail into an isolation question.</a:t>
            </a:r>
          </a:p>
        </p:txBody>
      </p:sp>
    </p:spTree>
  </p:cSld>
  <p:clrMapOvr>
    <a:masterClrMapping/>
  </p:clrMapOvr>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x_0871"/>
          <p:cNvSpPr txBox="1"/>
          <p:nvPr/>
        </p:nvSpPr>
        <p:spPr>
          <a:xfrm>
            <a:off x="822960" y="502920"/>
            <a:ext cx="10546079" cy="274320"/>
          </a:xfrm>
          <a:prstGeom prst="rect">
            <a:avLst/>
          </a:prstGeom>
          <a:noFill/>
        </p:spPr>
        <p:txBody>
          <a:bodyPr wrap="square" lIns="0" rIns="0" tIns="0" bIns="0">
            <a:spAutoFit/>
          </a:bodyPr>
          <a:lstStyle/>
          <a:p>
            <a:pPr>
              <a:spcAft>
                <a:spcPts val="400"/>
              </a:spcAft>
              <a:defRPr sz="1200" b="0" i="0">
                <a:solidFill>
                  <a:srgbClr val="0071E3"/>
                </a:solidFill>
                <a:latin typeface="Segoe UI Semibold"/>
              </a:defRPr>
            </a:pPr>
            <a:r>
              <a:t>My verdict</a:t>
            </a:r>
          </a:p>
        </p:txBody>
      </p:sp>
      <p:sp>
        <p:nvSpPr>
          <p:cNvPr id="3" name="tx_0872"/>
          <p:cNvSpPr txBox="1"/>
          <p:nvPr/>
        </p:nvSpPr>
        <p:spPr>
          <a:xfrm>
            <a:off x="822960" y="822960"/>
            <a:ext cx="10546079" cy="914400"/>
          </a:xfrm>
          <a:prstGeom prst="rect">
            <a:avLst/>
          </a:prstGeom>
          <a:noFill/>
        </p:spPr>
        <p:txBody>
          <a:bodyPr wrap="square" lIns="0" rIns="0" tIns="0" bIns="0">
            <a:spAutoFit/>
          </a:bodyPr>
          <a:lstStyle/>
          <a:p>
            <a:pPr>
              <a:lnSpc>
                <a:spcPct val="100000"/>
              </a:lnSpc>
              <a:spcAft>
                <a:spcPts val="400"/>
              </a:spcAft>
              <a:defRPr sz="3000" b="0" i="0">
                <a:solidFill>
                  <a:srgbClr val="1D1D1F"/>
                </a:solidFill>
                <a:latin typeface="Segoe UI Semibold"/>
              </a:defRPr>
            </a:pPr>
            <a:r>
              <a:t>What I’d push back on</a:t>
            </a:r>
          </a:p>
        </p:txBody>
      </p:sp>
      <p:sp>
        <p:nvSpPr>
          <p:cNvPr id="4" name="tx_0873"/>
          <p:cNvSpPr txBox="1"/>
          <p:nvPr/>
        </p:nvSpPr>
        <p:spPr>
          <a:xfrm>
            <a:off x="822960" y="6419088"/>
            <a:ext cx="9631679" cy="228600"/>
          </a:xfrm>
          <a:prstGeom prst="rect">
            <a:avLst/>
          </a:prstGeom>
          <a:noFill/>
        </p:spPr>
        <p:txBody>
          <a:bodyPr wrap="square" lIns="0" rIns="0" tIns="0" bIns="0">
            <a:spAutoFit/>
          </a:bodyPr>
          <a:lstStyle/>
          <a:p>
            <a:pPr>
              <a:spcAft>
                <a:spcPts val="400"/>
              </a:spcAft>
              <a:defRPr sz="1000" b="0" i="0">
                <a:solidFill>
                  <a:srgbClr val="86868B"/>
                </a:solidFill>
                <a:latin typeface="Segoe UI"/>
              </a:defRPr>
            </a:pPr>
            <a:r>
              <a:t>Presenter assessment · paper §§ V–VII, esp. § VI-C</a:t>
            </a:r>
          </a:p>
        </p:txBody>
      </p:sp>
      <p:sp>
        <p:nvSpPr>
          <p:cNvPr id="5" name="tx_0874"/>
          <p:cNvSpPr txBox="1"/>
          <p:nvPr/>
        </p:nvSpPr>
        <p:spPr>
          <a:xfrm>
            <a:off x="10820399" y="6419088"/>
            <a:ext cx="548640" cy="228600"/>
          </a:xfrm>
          <a:prstGeom prst="rect">
            <a:avLst/>
          </a:prstGeom>
          <a:noFill/>
        </p:spPr>
        <p:txBody>
          <a:bodyPr wrap="square" lIns="0" rIns="0" tIns="0" bIns="0">
            <a:spAutoFit/>
          </a:bodyPr>
          <a:lstStyle/>
          <a:p>
            <a:pPr algn="r">
              <a:spcAft>
                <a:spcPts val="400"/>
              </a:spcAft>
              <a:defRPr sz="1000" b="0" i="0">
                <a:solidFill>
                  <a:srgbClr val="86868B"/>
                </a:solidFill>
                <a:latin typeface="Segoe UI"/>
              </a:defRPr>
            </a:pPr>
            <a:r>
              <a:t>48</a:t>
            </a:r>
          </a:p>
        </p:txBody>
      </p:sp>
      <p:sp>
        <p:nvSpPr>
          <p:cNvPr id="6" name="tx_0875"/>
          <p:cNvSpPr txBox="1"/>
          <p:nvPr/>
        </p:nvSpPr>
        <p:spPr>
          <a:xfrm>
            <a:off x="868680" y="1783080"/>
            <a:ext cx="4126991" cy="274320"/>
          </a:xfrm>
          <a:prstGeom prst="rect">
            <a:avLst/>
          </a:prstGeom>
          <a:noFill/>
        </p:spPr>
        <p:txBody>
          <a:bodyPr wrap="square" lIns="0" rIns="0" tIns="0" bIns="0">
            <a:spAutoFit/>
          </a:bodyPr>
          <a:lstStyle/>
          <a:p>
            <a:pPr>
              <a:spcAft>
                <a:spcPts val="400"/>
              </a:spcAft>
              <a:defRPr sz="1200" b="0" i="0">
                <a:solidFill>
                  <a:srgbClr val="86868B"/>
                </a:solidFill>
                <a:latin typeface="Segoe UI Semibold"/>
              </a:defRPr>
            </a:pPr>
            <a:r>
              <a:t>LIMIT</a:t>
            </a:r>
          </a:p>
        </p:txBody>
      </p:sp>
      <p:sp>
        <p:nvSpPr>
          <p:cNvPr id="7" name="tx_0876"/>
          <p:cNvSpPr txBox="1"/>
          <p:nvPr/>
        </p:nvSpPr>
        <p:spPr>
          <a:xfrm>
            <a:off x="5087111" y="1783080"/>
            <a:ext cx="6236207" cy="274320"/>
          </a:xfrm>
          <a:prstGeom prst="rect">
            <a:avLst/>
          </a:prstGeom>
          <a:noFill/>
        </p:spPr>
        <p:txBody>
          <a:bodyPr wrap="square" lIns="0" rIns="0" tIns="0" bIns="0">
            <a:spAutoFit/>
          </a:bodyPr>
          <a:lstStyle/>
          <a:p>
            <a:pPr>
              <a:spcAft>
                <a:spcPts val="400"/>
              </a:spcAft>
              <a:defRPr sz="1200" b="0" i="0">
                <a:solidFill>
                  <a:srgbClr val="86868B"/>
                </a:solidFill>
                <a:latin typeface="Segoe UI Semibold"/>
              </a:defRPr>
            </a:pPr>
            <a:r>
              <a:t>WHAT IT CHANGES</a:t>
            </a:r>
          </a:p>
        </p:txBody>
      </p:sp>
      <p:cxnSp>
        <p:nvCxnSpPr>
          <p:cNvPr id="8" name="hl_0877"/>
          <p:cNvCxnSpPr/>
          <p:nvPr/>
        </p:nvCxnSpPr>
        <p:spPr>
          <a:xfrm>
            <a:off x="822960" y="2148840"/>
            <a:ext cx="10546079" cy="0"/>
          </a:xfrm>
          <a:prstGeom prst="line">
            <a:avLst/>
          </a:prstGeom>
          <a:ln w="12700">
            <a:solidFill>
              <a:srgbClr val="1D1D1F"/>
            </a:solidFill>
          </a:ln>
        </p:spPr>
        <p:style>
          <a:lnRef idx="2">
            <a:schemeClr val="accent1"/>
          </a:lnRef>
          <a:fillRef idx="0">
            <a:schemeClr val="accent1"/>
          </a:fillRef>
          <a:effectRef idx="1">
            <a:schemeClr val="accent1"/>
          </a:effectRef>
          <a:fontRef idx="minor">
            <a:schemeClr val="tx1"/>
          </a:fontRef>
        </p:style>
      </p:cxnSp>
      <p:sp>
        <p:nvSpPr>
          <p:cNvPr id="9" name="tx_0878"/>
          <p:cNvSpPr txBox="1"/>
          <p:nvPr/>
        </p:nvSpPr>
        <p:spPr>
          <a:xfrm>
            <a:off x="868680" y="2304288"/>
            <a:ext cx="4126991" cy="365760"/>
          </a:xfrm>
          <a:prstGeom prst="rect">
            <a:avLst/>
          </a:prstGeom>
          <a:noFill/>
        </p:spPr>
        <p:txBody>
          <a:bodyPr wrap="square" lIns="0" rIns="0" tIns="0" bIns="0" anchor="ctr">
            <a:spAutoFit/>
          </a:bodyPr>
          <a:lstStyle/>
          <a:p>
            <a:pPr>
              <a:spcAft>
                <a:spcPts val="400"/>
              </a:spcAft>
              <a:defRPr sz="1700" b="0" i="0">
                <a:solidFill>
                  <a:srgbClr val="1D1D1F"/>
                </a:solidFill>
                <a:latin typeface="Segoe UI Semibold"/>
              </a:defRPr>
            </a:pPr>
            <a:r>
              <a:t>Provisioning and co-location</a:t>
            </a:r>
          </a:p>
        </p:txBody>
      </p:sp>
      <p:sp>
        <p:nvSpPr>
          <p:cNvPr id="10" name="tx_0879"/>
          <p:cNvSpPr txBox="1"/>
          <p:nvPr/>
        </p:nvSpPr>
        <p:spPr>
          <a:xfrm>
            <a:off x="5087111" y="2304288"/>
            <a:ext cx="6236207" cy="365760"/>
          </a:xfrm>
          <a:prstGeom prst="rect">
            <a:avLst/>
          </a:prstGeom>
          <a:noFill/>
        </p:spPr>
        <p:txBody>
          <a:bodyPr wrap="square" lIns="0" rIns="0" tIns="0" bIns="0" anchor="ctr">
            <a:spAutoFit/>
          </a:bodyPr>
          <a:lstStyle/>
          <a:p>
            <a:pPr>
              <a:spcAft>
                <a:spcPts val="400"/>
              </a:spcAft>
              <a:defRPr sz="1700" b="0" i="0">
                <a:solidFill>
                  <a:srgbClr val="6E6E73"/>
                </a:solidFill>
                <a:latin typeface="Segoe UI"/>
              </a:defRPr>
            </a:pPr>
            <a:r>
              <a:t>who can reach the target — SWQ discovery is sketched; engine binding is assumed</a:t>
            </a:r>
          </a:p>
        </p:txBody>
      </p:sp>
      <p:cxnSp>
        <p:nvCxnSpPr>
          <p:cNvPr id="11" name="hl_0880"/>
          <p:cNvCxnSpPr/>
          <p:nvPr/>
        </p:nvCxnSpPr>
        <p:spPr>
          <a:xfrm>
            <a:off x="822960" y="2825496"/>
            <a:ext cx="10546079"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12" name="tx_0881"/>
          <p:cNvSpPr txBox="1"/>
          <p:nvPr/>
        </p:nvSpPr>
        <p:spPr>
          <a:xfrm>
            <a:off x="868680" y="2980944"/>
            <a:ext cx="4126991" cy="365760"/>
          </a:xfrm>
          <a:prstGeom prst="rect">
            <a:avLst/>
          </a:prstGeom>
          <a:noFill/>
        </p:spPr>
        <p:txBody>
          <a:bodyPr wrap="square" lIns="0" rIns="0" tIns="0" bIns="0" anchor="ctr">
            <a:spAutoFit/>
          </a:bodyPr>
          <a:lstStyle/>
          <a:p>
            <a:pPr>
              <a:spcAft>
                <a:spcPts val="400"/>
              </a:spcAft>
              <a:defRPr sz="1700" b="0" i="0">
                <a:solidFill>
                  <a:srgbClr val="1D1D1F"/>
                </a:solidFill>
                <a:latin typeface="Segoe UI Semibold"/>
              </a:defRPr>
            </a:pPr>
            <a:r>
              <a:t>Closed-world / fixed-prompt datasets</a:t>
            </a:r>
          </a:p>
        </p:txBody>
      </p:sp>
      <p:sp>
        <p:nvSpPr>
          <p:cNvPr id="13" name="tx_0882"/>
          <p:cNvSpPr txBox="1"/>
          <p:nvPr/>
        </p:nvSpPr>
        <p:spPr>
          <a:xfrm>
            <a:off x="5087111" y="2980944"/>
            <a:ext cx="6236207" cy="365760"/>
          </a:xfrm>
          <a:prstGeom prst="rect">
            <a:avLst/>
          </a:prstGeom>
          <a:noFill/>
        </p:spPr>
        <p:txBody>
          <a:bodyPr wrap="square" lIns="0" rIns="0" tIns="0" bIns="0" anchor="ctr">
            <a:spAutoFit/>
          </a:bodyPr>
          <a:lstStyle/>
          <a:p>
            <a:pPr>
              <a:spcAft>
                <a:spcPts val="400"/>
              </a:spcAft>
              <a:defRPr sz="1700" b="0" i="0">
                <a:solidFill>
                  <a:srgbClr val="6E6E73"/>
                </a:solidFill>
                <a:latin typeface="Segoe UI"/>
              </a:defRPr>
            </a:pPr>
            <a:r>
              <a:t>how far classification accuracy generalizes</a:t>
            </a:r>
          </a:p>
        </p:txBody>
      </p:sp>
      <p:cxnSp>
        <p:nvCxnSpPr>
          <p:cNvPr id="14" name="hl_0883"/>
          <p:cNvCxnSpPr/>
          <p:nvPr/>
        </p:nvCxnSpPr>
        <p:spPr>
          <a:xfrm>
            <a:off x="822960" y="3502152"/>
            <a:ext cx="10546079"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15" name="tx_0884"/>
          <p:cNvSpPr txBox="1"/>
          <p:nvPr/>
        </p:nvSpPr>
        <p:spPr>
          <a:xfrm>
            <a:off x="868680" y="3657600"/>
            <a:ext cx="4126991" cy="365760"/>
          </a:xfrm>
          <a:prstGeom prst="rect">
            <a:avLst/>
          </a:prstGeom>
          <a:noFill/>
        </p:spPr>
        <p:txBody>
          <a:bodyPr wrap="square" lIns="0" rIns="0" tIns="0" bIns="0" anchor="ctr">
            <a:spAutoFit/>
          </a:bodyPr>
          <a:lstStyle/>
          <a:p>
            <a:pPr>
              <a:spcAft>
                <a:spcPts val="400"/>
              </a:spcAft>
              <a:defRPr sz="1700" b="0" i="0">
                <a:solidFill>
                  <a:srgbClr val="1D1D1F"/>
                </a:solidFill>
                <a:latin typeface="Segoe UI Semibold"/>
              </a:defRPr>
            </a:pPr>
            <a:r>
              <a:t>Active congestion and probing</a:t>
            </a:r>
          </a:p>
        </p:txBody>
      </p:sp>
      <p:sp>
        <p:nvSpPr>
          <p:cNvPr id="16" name="tx_0885"/>
          <p:cNvSpPr txBox="1"/>
          <p:nvPr/>
        </p:nvSpPr>
        <p:spPr>
          <a:xfrm>
            <a:off x="5087111" y="3657600"/>
            <a:ext cx="6236207" cy="365760"/>
          </a:xfrm>
          <a:prstGeom prst="rect">
            <a:avLst/>
          </a:prstGeom>
          <a:noFill/>
        </p:spPr>
        <p:txBody>
          <a:bodyPr wrap="square" lIns="0" rIns="0" tIns="0" bIns="0" anchor="ctr">
            <a:spAutoFit/>
          </a:bodyPr>
          <a:lstStyle/>
          <a:p>
            <a:pPr>
              <a:spcAft>
                <a:spcPts val="400"/>
              </a:spcAft>
              <a:defRPr sz="1700" b="0" i="0">
                <a:solidFill>
                  <a:srgbClr val="6E6E73"/>
                </a:solidFill>
                <a:latin typeface="Segoe UI"/>
              </a:defRPr>
            </a:pPr>
            <a:r>
              <a:t>victim impact and possible detectability</a:t>
            </a:r>
          </a:p>
        </p:txBody>
      </p:sp>
      <p:cxnSp>
        <p:nvCxnSpPr>
          <p:cNvPr id="17" name="hl_0886"/>
          <p:cNvCxnSpPr/>
          <p:nvPr/>
        </p:nvCxnSpPr>
        <p:spPr>
          <a:xfrm>
            <a:off x="822960" y="4178808"/>
            <a:ext cx="10546079"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18" name="tx_0887"/>
          <p:cNvSpPr txBox="1"/>
          <p:nvPr/>
        </p:nvSpPr>
        <p:spPr>
          <a:xfrm>
            <a:off x="868680" y="4334256"/>
            <a:ext cx="4126991" cy="365760"/>
          </a:xfrm>
          <a:prstGeom prst="rect">
            <a:avLst/>
          </a:prstGeom>
          <a:noFill/>
        </p:spPr>
        <p:txBody>
          <a:bodyPr wrap="square" lIns="0" rIns="0" tIns="0" bIns="0" anchor="ctr">
            <a:spAutoFit/>
          </a:bodyPr>
          <a:lstStyle/>
          <a:p>
            <a:pPr>
              <a:spcAft>
                <a:spcPts val="400"/>
              </a:spcAft>
              <a:defRPr sz="1700" b="0" i="0">
                <a:solidFill>
                  <a:srgbClr val="1D1D1F"/>
                </a:solidFill>
                <a:latin typeface="Segoe UI Semibold"/>
              </a:defRPr>
            </a:pPr>
            <a:r>
              <a:t>Metric inconsistencies / missing detail</a:t>
            </a:r>
          </a:p>
        </p:txBody>
      </p:sp>
      <p:sp>
        <p:nvSpPr>
          <p:cNvPr id="19" name="tx_0888"/>
          <p:cNvSpPr txBox="1"/>
          <p:nvPr/>
        </p:nvSpPr>
        <p:spPr>
          <a:xfrm>
            <a:off x="5087111" y="4334256"/>
            <a:ext cx="6236207" cy="365760"/>
          </a:xfrm>
          <a:prstGeom prst="rect">
            <a:avLst/>
          </a:prstGeom>
          <a:noFill/>
        </p:spPr>
        <p:txBody>
          <a:bodyPr wrap="square" lIns="0" rIns="0" tIns="0" bIns="0" anchor="ctr">
            <a:spAutoFit/>
          </a:bodyPr>
          <a:lstStyle/>
          <a:p>
            <a:pPr>
              <a:spcAft>
                <a:spcPts val="400"/>
              </a:spcAft>
              <a:defRPr sz="1700" b="0" i="0">
                <a:solidFill>
                  <a:srgbClr val="6E6E73"/>
                </a:solidFill>
                <a:latin typeface="Segoe UI"/>
              </a:defRPr>
            </a:pPr>
            <a:r>
              <a:t>confidence in exact quantitative claims</a:t>
            </a:r>
          </a:p>
        </p:txBody>
      </p:sp>
      <p:cxnSp>
        <p:nvCxnSpPr>
          <p:cNvPr id="20" name="hl_0889"/>
          <p:cNvCxnSpPr/>
          <p:nvPr/>
        </p:nvCxnSpPr>
        <p:spPr>
          <a:xfrm>
            <a:off x="822960" y="4855464"/>
            <a:ext cx="10546079"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21" name="rect_0890"/>
          <p:cNvSpPr/>
          <p:nvPr/>
        </p:nvSpPr>
        <p:spPr>
          <a:xfrm>
            <a:off x="822960" y="5623560"/>
            <a:ext cx="502920" cy="41148"/>
          </a:xfrm>
          <a:prstGeom prst="rect">
            <a:avLst/>
          </a:prstGeom>
          <a:solidFill>
            <a:srgbClr val="007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x_0891"/>
          <p:cNvSpPr txBox="1"/>
          <p:nvPr/>
        </p:nvSpPr>
        <p:spPr>
          <a:xfrm>
            <a:off x="822960" y="5779008"/>
            <a:ext cx="10546079" cy="548640"/>
          </a:xfrm>
          <a:prstGeom prst="rect">
            <a:avLst/>
          </a:prstGeom>
          <a:noFill/>
        </p:spPr>
        <p:txBody>
          <a:bodyPr wrap="square" lIns="0" rIns="0" tIns="0" bIns="0">
            <a:spAutoFit/>
          </a:bodyPr>
          <a:lstStyle/>
          <a:p>
            <a:pPr>
              <a:spcAft>
                <a:spcPts val="400"/>
              </a:spcAft>
              <a:defRPr sz="2100" b="0" i="0">
                <a:solidFill>
                  <a:srgbClr val="1D1D1F"/>
                </a:solidFill>
                <a:latin typeface="Segoe UI Semibold"/>
              </a:defRPr>
            </a:pPr>
            <a:r>
              <a:t>The shared-state leakage is well-supported; deployment reach needs more evidence.</a:t>
            </a:r>
          </a:p>
        </p:txBody>
      </p:sp>
    </p:spTree>
  </p:cSld>
  <p:clrMapOvr>
    <a:masterClrMapping/>
  </p:clrMapOvr>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x_0892"/>
          <p:cNvSpPr txBox="1"/>
          <p:nvPr/>
        </p:nvSpPr>
        <p:spPr>
          <a:xfrm>
            <a:off x="822960" y="502920"/>
            <a:ext cx="10546079" cy="274320"/>
          </a:xfrm>
          <a:prstGeom prst="rect">
            <a:avLst/>
          </a:prstGeom>
          <a:noFill/>
        </p:spPr>
        <p:txBody>
          <a:bodyPr wrap="square" lIns="0" rIns="0" tIns="0" bIns="0">
            <a:spAutoFit/>
          </a:bodyPr>
          <a:lstStyle/>
          <a:p>
            <a:pPr>
              <a:spcAft>
                <a:spcPts val="400"/>
              </a:spcAft>
              <a:defRPr sz="1200" b="0" i="0">
                <a:solidFill>
                  <a:srgbClr val="0071E3"/>
                </a:solidFill>
                <a:latin typeface="Segoe UI Semibold"/>
              </a:defRPr>
            </a:pPr>
            <a:r>
              <a:t>My verdict</a:t>
            </a:r>
          </a:p>
        </p:txBody>
      </p:sp>
      <p:sp>
        <p:nvSpPr>
          <p:cNvPr id="3" name="tx_0893"/>
          <p:cNvSpPr txBox="1"/>
          <p:nvPr/>
        </p:nvSpPr>
        <p:spPr>
          <a:xfrm>
            <a:off x="822960" y="822960"/>
            <a:ext cx="10546079" cy="914400"/>
          </a:xfrm>
          <a:prstGeom prst="rect">
            <a:avLst/>
          </a:prstGeom>
          <a:noFill/>
        </p:spPr>
        <p:txBody>
          <a:bodyPr wrap="square" lIns="0" rIns="0" tIns="0" bIns="0">
            <a:spAutoFit/>
          </a:bodyPr>
          <a:lstStyle/>
          <a:p>
            <a:pPr>
              <a:lnSpc>
                <a:spcPct val="100000"/>
              </a:lnSpc>
              <a:spcAft>
                <a:spcPts val="400"/>
              </a:spcAft>
              <a:defRPr sz="3000" b="0" i="0">
                <a:solidFill>
                  <a:srgbClr val="1D1D1F"/>
                </a:solidFill>
                <a:latin typeface="Segoe UI Semibold"/>
              </a:defRPr>
            </a:pPr>
            <a:r>
              <a:t>The experiments I’d want to see</a:t>
            </a:r>
          </a:p>
        </p:txBody>
      </p:sp>
      <p:sp>
        <p:nvSpPr>
          <p:cNvPr id="4" name="tx_0894"/>
          <p:cNvSpPr txBox="1"/>
          <p:nvPr/>
        </p:nvSpPr>
        <p:spPr>
          <a:xfrm>
            <a:off x="822960" y="6419088"/>
            <a:ext cx="9631679" cy="228600"/>
          </a:xfrm>
          <a:prstGeom prst="rect">
            <a:avLst/>
          </a:prstGeom>
          <a:noFill/>
        </p:spPr>
        <p:txBody>
          <a:bodyPr wrap="square" lIns="0" rIns="0" tIns="0" bIns="0">
            <a:spAutoFit/>
          </a:bodyPr>
          <a:lstStyle/>
          <a:p>
            <a:pPr>
              <a:spcAft>
                <a:spcPts val="400"/>
              </a:spcAft>
              <a:defRPr sz="1000" b="0" i="0">
                <a:solidFill>
                  <a:srgbClr val="86868B"/>
                </a:solidFill>
                <a:latin typeface="Segoe UI"/>
              </a:defRPr>
            </a:pPr>
            <a:r>
              <a:t>Presenter-proposed · not reported in the paper</a:t>
            </a:r>
          </a:p>
        </p:txBody>
      </p:sp>
      <p:sp>
        <p:nvSpPr>
          <p:cNvPr id="5" name="tx_0895"/>
          <p:cNvSpPr txBox="1"/>
          <p:nvPr/>
        </p:nvSpPr>
        <p:spPr>
          <a:xfrm>
            <a:off x="10820399" y="6419088"/>
            <a:ext cx="548640" cy="228600"/>
          </a:xfrm>
          <a:prstGeom prst="rect">
            <a:avLst/>
          </a:prstGeom>
          <a:noFill/>
        </p:spPr>
        <p:txBody>
          <a:bodyPr wrap="square" lIns="0" rIns="0" tIns="0" bIns="0">
            <a:spAutoFit/>
          </a:bodyPr>
          <a:lstStyle/>
          <a:p>
            <a:pPr algn="r">
              <a:spcAft>
                <a:spcPts val="400"/>
              </a:spcAft>
              <a:defRPr sz="1000" b="0" i="0">
                <a:solidFill>
                  <a:srgbClr val="86868B"/>
                </a:solidFill>
                <a:latin typeface="Segoe UI"/>
              </a:defRPr>
            </a:pPr>
            <a:r>
              <a:t>49</a:t>
            </a:r>
          </a:p>
        </p:txBody>
      </p:sp>
      <p:cxnSp>
        <p:nvCxnSpPr>
          <p:cNvPr id="6" name="hl_0896"/>
          <p:cNvCxnSpPr/>
          <p:nvPr/>
        </p:nvCxnSpPr>
        <p:spPr>
          <a:xfrm>
            <a:off x="822960" y="1965960"/>
            <a:ext cx="3210559"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7" name="tx_0897"/>
          <p:cNvSpPr txBox="1"/>
          <p:nvPr/>
        </p:nvSpPr>
        <p:spPr>
          <a:xfrm>
            <a:off x="822960" y="2240279"/>
            <a:ext cx="3210559" cy="640080"/>
          </a:xfrm>
          <a:prstGeom prst="rect">
            <a:avLst/>
          </a:prstGeom>
          <a:noFill/>
        </p:spPr>
        <p:txBody>
          <a:bodyPr wrap="square" lIns="0" rIns="0" tIns="0" bIns="0">
            <a:spAutoFit/>
          </a:bodyPr>
          <a:lstStyle/>
          <a:p>
            <a:pPr>
              <a:spcAft>
                <a:spcPts val="400"/>
              </a:spcAft>
              <a:defRPr sz="2400" b="0" i="0">
                <a:solidFill>
                  <a:srgbClr val="0071E3"/>
                </a:solidFill>
                <a:latin typeface="Segoe UI Semibold"/>
              </a:defRPr>
            </a:pPr>
            <a:r>
              <a:t>Isolation study</a:t>
            </a:r>
          </a:p>
        </p:txBody>
      </p:sp>
      <p:sp>
        <p:nvSpPr>
          <p:cNvPr id="8" name="tx_0898"/>
          <p:cNvSpPr txBox="1"/>
          <p:nvPr/>
        </p:nvSpPr>
        <p:spPr>
          <a:xfrm>
            <a:off x="822960" y="2971800"/>
            <a:ext cx="3210559" cy="2103120"/>
          </a:xfrm>
          <a:prstGeom prst="rect">
            <a:avLst/>
          </a:prstGeom>
          <a:noFill/>
        </p:spPr>
        <p:txBody>
          <a:bodyPr wrap="square" lIns="0" rIns="0" tIns="0" bIns="0">
            <a:spAutoFit/>
          </a:bodyPr>
          <a:lstStyle/>
          <a:p>
            <a:pPr>
              <a:lnSpc>
                <a:spcPct val="112000"/>
              </a:lnSpc>
              <a:spcAft>
                <a:spcPts val="600"/>
              </a:spcAft>
              <a:defRPr sz="1800" b="0" i="0">
                <a:solidFill>
                  <a:srgbClr val="6E6E73"/>
                </a:solidFill>
                <a:latin typeface="Segoe UI"/>
              </a:defRPr>
            </a:pPr>
            <a:r>
              <a:t>Residual leakage +</a:t>
            </a:r>
          </a:p>
          <a:p>
            <a:pPr>
              <a:lnSpc>
                <a:spcPct val="112000"/>
              </a:lnSpc>
              <a:spcAft>
                <a:spcPts val="600"/>
              </a:spcAft>
              <a:defRPr sz="1800" b="0" i="0">
                <a:solidFill>
                  <a:srgbClr val="6E6E73"/>
                </a:solidFill>
                <a:latin typeface="Segoe UI"/>
              </a:defRPr>
            </a:pPr>
            <a:r>
              <a:t>throughput</a:t>
            </a:r>
          </a:p>
          <a:p>
            <a:pPr>
              <a:lnSpc>
                <a:spcPct val="112000"/>
              </a:lnSpc>
              <a:spcAft>
                <a:spcPts val="600"/>
              </a:spcAft>
              <a:defRPr sz="1800" b="0" i="0">
                <a:solidFill>
                  <a:srgbClr val="6E6E73"/>
                </a:solidFill>
                <a:latin typeface="Segoe UI"/>
              </a:defRPr>
            </a:pPr>
            <a:r>
              <a:t>PASID-aware replacement</a:t>
            </a:r>
          </a:p>
        </p:txBody>
      </p:sp>
      <p:cxnSp>
        <p:nvCxnSpPr>
          <p:cNvPr id="9" name="hl_0899"/>
          <p:cNvCxnSpPr/>
          <p:nvPr/>
        </p:nvCxnSpPr>
        <p:spPr>
          <a:xfrm>
            <a:off x="4490719" y="1965960"/>
            <a:ext cx="3210560"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10" name="tx_0900"/>
          <p:cNvSpPr txBox="1"/>
          <p:nvPr/>
        </p:nvSpPr>
        <p:spPr>
          <a:xfrm>
            <a:off x="4490719" y="2240279"/>
            <a:ext cx="3210559" cy="640080"/>
          </a:xfrm>
          <a:prstGeom prst="rect">
            <a:avLst/>
          </a:prstGeom>
          <a:noFill/>
        </p:spPr>
        <p:txBody>
          <a:bodyPr wrap="square" lIns="0" rIns="0" tIns="0" bIns="0">
            <a:spAutoFit/>
          </a:bodyPr>
          <a:lstStyle/>
          <a:p>
            <a:pPr>
              <a:spcAft>
                <a:spcPts val="400"/>
              </a:spcAft>
              <a:defRPr sz="2400" b="0" i="0">
                <a:solidFill>
                  <a:srgbClr val="1D1D1F"/>
                </a:solidFill>
                <a:latin typeface="Segoe UI Semibold"/>
              </a:defRPr>
            </a:pPr>
            <a:r>
              <a:t>Generality study</a:t>
            </a:r>
          </a:p>
        </p:txBody>
      </p:sp>
      <p:sp>
        <p:nvSpPr>
          <p:cNvPr id="11" name="tx_0901"/>
          <p:cNvSpPr txBox="1"/>
          <p:nvPr/>
        </p:nvSpPr>
        <p:spPr>
          <a:xfrm>
            <a:off x="4490719" y="2971800"/>
            <a:ext cx="3210559" cy="2103120"/>
          </a:xfrm>
          <a:prstGeom prst="rect">
            <a:avLst/>
          </a:prstGeom>
          <a:noFill/>
        </p:spPr>
        <p:txBody>
          <a:bodyPr wrap="square" lIns="0" rIns="0" tIns="0" bIns="0">
            <a:spAutoFit/>
          </a:bodyPr>
          <a:lstStyle/>
          <a:p>
            <a:pPr>
              <a:lnSpc>
                <a:spcPct val="112000"/>
              </a:lnSpc>
              <a:spcAft>
                <a:spcPts val="600"/>
              </a:spcAft>
              <a:defRPr sz="1800" b="0" i="0">
                <a:solidFill>
                  <a:srgbClr val="6E6E73"/>
                </a:solidFill>
                <a:latin typeface="Segoe UI"/>
              </a:defRPr>
            </a:pPr>
            <a:r>
              <a:t>Cross-day / cross-host</a:t>
            </a:r>
          </a:p>
          <a:p>
            <a:pPr>
              <a:lnSpc>
                <a:spcPct val="112000"/>
              </a:lnSpc>
              <a:spcAft>
                <a:spcPts val="600"/>
              </a:spcAft>
              <a:defRPr sz="1800" b="0" i="0">
                <a:solidFill>
                  <a:srgbClr val="6E6E73"/>
                </a:solidFill>
                <a:latin typeface="Segoe UI"/>
              </a:defRPr>
            </a:pPr>
            <a:r>
              <a:t>Unseen sites / prompts</a:t>
            </a:r>
          </a:p>
          <a:p>
            <a:pPr>
              <a:lnSpc>
                <a:spcPct val="112000"/>
              </a:lnSpc>
              <a:spcAft>
                <a:spcPts val="600"/>
              </a:spcAft>
              <a:defRPr sz="1800" b="0" i="0">
                <a:solidFill>
                  <a:srgbClr val="6E6E73"/>
                </a:solidFill>
                <a:latin typeface="Segoe UI"/>
              </a:defRPr>
            </a:pPr>
            <a:r>
              <a:t>Matched runtimes</a:t>
            </a:r>
          </a:p>
        </p:txBody>
      </p:sp>
      <p:cxnSp>
        <p:nvCxnSpPr>
          <p:cNvPr id="12" name="hl_0902"/>
          <p:cNvCxnSpPr/>
          <p:nvPr/>
        </p:nvCxnSpPr>
        <p:spPr>
          <a:xfrm>
            <a:off x="8158479" y="1965960"/>
            <a:ext cx="3210560"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13" name="tx_0903"/>
          <p:cNvSpPr txBox="1"/>
          <p:nvPr/>
        </p:nvSpPr>
        <p:spPr>
          <a:xfrm>
            <a:off x="8158479" y="2240279"/>
            <a:ext cx="3210559" cy="640080"/>
          </a:xfrm>
          <a:prstGeom prst="rect">
            <a:avLst/>
          </a:prstGeom>
          <a:noFill/>
        </p:spPr>
        <p:txBody>
          <a:bodyPr wrap="square" lIns="0" rIns="0" tIns="0" bIns="0">
            <a:spAutoFit/>
          </a:bodyPr>
          <a:lstStyle/>
          <a:p>
            <a:pPr>
              <a:spcAft>
                <a:spcPts val="400"/>
              </a:spcAft>
              <a:defRPr sz="2400" b="0" i="0">
                <a:solidFill>
                  <a:srgbClr val="D70015"/>
                </a:solidFill>
                <a:latin typeface="Segoe UI Semibold"/>
              </a:defRPr>
            </a:pPr>
            <a:r>
              <a:t>Deployment study</a:t>
            </a:r>
          </a:p>
        </p:txBody>
      </p:sp>
      <p:sp>
        <p:nvSpPr>
          <p:cNvPr id="14" name="tx_0904"/>
          <p:cNvSpPr txBox="1"/>
          <p:nvPr/>
        </p:nvSpPr>
        <p:spPr>
          <a:xfrm>
            <a:off x="8158479" y="2971800"/>
            <a:ext cx="3210559" cy="2103120"/>
          </a:xfrm>
          <a:prstGeom prst="rect">
            <a:avLst/>
          </a:prstGeom>
          <a:noFill/>
        </p:spPr>
        <p:txBody>
          <a:bodyPr wrap="square" lIns="0" rIns="0" tIns="0" bIns="0">
            <a:spAutoFit/>
          </a:bodyPr>
          <a:lstStyle/>
          <a:p>
            <a:pPr>
              <a:lnSpc>
                <a:spcPct val="112000"/>
              </a:lnSpc>
              <a:spcAft>
                <a:spcPts val="600"/>
              </a:spcAft>
              <a:defRPr sz="1800" b="0" i="0">
                <a:solidFill>
                  <a:srgbClr val="6E6E73"/>
                </a:solidFill>
                <a:latin typeface="Segoe UI"/>
              </a:defRPr>
            </a:pPr>
            <a:r>
              <a:t>Many concurrent tenants</a:t>
            </a:r>
          </a:p>
          <a:p>
            <a:pPr>
              <a:lnSpc>
                <a:spcPct val="112000"/>
              </a:lnSpc>
              <a:spcAft>
                <a:spcPts val="600"/>
              </a:spcAft>
              <a:defRPr sz="1800" b="0" i="0">
                <a:solidFill>
                  <a:srgbClr val="6E6E73"/>
                </a:solidFill>
                <a:latin typeface="Segoe UI"/>
              </a:defRPr>
            </a:pPr>
            <a:r>
              <a:t>Victim latency / retries</a:t>
            </a:r>
          </a:p>
          <a:p>
            <a:pPr>
              <a:lnSpc>
                <a:spcPct val="112000"/>
              </a:lnSpc>
              <a:spcAft>
                <a:spcPts val="600"/>
              </a:spcAft>
              <a:defRPr sz="1800" b="0" i="0">
                <a:solidFill>
                  <a:srgbClr val="6E6E73"/>
                </a:solidFill>
                <a:latin typeface="Segoe UI"/>
              </a:defRPr>
            </a:pPr>
            <a:r>
              <a:t>Probe detectability</a:t>
            </a:r>
          </a:p>
        </p:txBody>
      </p:sp>
      <p:sp>
        <p:nvSpPr>
          <p:cNvPr id="15" name="rect_0905"/>
          <p:cNvSpPr/>
          <p:nvPr/>
        </p:nvSpPr>
        <p:spPr>
          <a:xfrm>
            <a:off x="822960" y="5623560"/>
            <a:ext cx="502920" cy="41148"/>
          </a:xfrm>
          <a:prstGeom prst="rect">
            <a:avLst/>
          </a:prstGeom>
          <a:solidFill>
            <a:srgbClr val="007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x_0906"/>
          <p:cNvSpPr txBox="1"/>
          <p:nvPr/>
        </p:nvSpPr>
        <p:spPr>
          <a:xfrm>
            <a:off x="822960" y="5779008"/>
            <a:ext cx="10546079" cy="548640"/>
          </a:xfrm>
          <a:prstGeom prst="rect">
            <a:avLst/>
          </a:prstGeom>
          <a:noFill/>
        </p:spPr>
        <p:txBody>
          <a:bodyPr wrap="square" lIns="0" rIns="0" tIns="0" bIns="0">
            <a:spAutoFit/>
          </a:bodyPr>
          <a:lstStyle/>
          <a:p>
            <a:pPr>
              <a:spcAft>
                <a:spcPts val="400"/>
              </a:spcAft>
              <a:defRPr sz="2100" b="0" i="0">
                <a:solidFill>
                  <a:srgbClr val="1D1D1F"/>
                </a:solidFill>
                <a:latin typeface="Segoe UI Semibold"/>
              </a:defRPr>
            </a:pPr>
            <a:r>
              <a:t>Measure security and performance together, under the same configuration.</a:t>
            </a:r>
          </a:p>
        </p:txBody>
      </p:sp>
    </p:spTree>
  </p:cSld>
  <p:clrMapOvr>
    <a:masterClrMapping/>
  </p:clrMapOvr>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x_0907"/>
          <p:cNvSpPr txBox="1"/>
          <p:nvPr/>
        </p:nvSpPr>
        <p:spPr>
          <a:xfrm>
            <a:off x="822960" y="502920"/>
            <a:ext cx="10546079" cy="274320"/>
          </a:xfrm>
          <a:prstGeom prst="rect">
            <a:avLst/>
          </a:prstGeom>
          <a:noFill/>
        </p:spPr>
        <p:txBody>
          <a:bodyPr wrap="square" lIns="0" rIns="0" tIns="0" bIns="0">
            <a:spAutoFit/>
          </a:bodyPr>
          <a:lstStyle/>
          <a:p>
            <a:pPr>
              <a:spcAft>
                <a:spcPts val="400"/>
              </a:spcAft>
              <a:defRPr sz="1200" b="0" i="0">
                <a:solidFill>
                  <a:srgbClr val="A1A1A6"/>
                </a:solidFill>
                <a:latin typeface="Segoe UI Semibold"/>
              </a:defRPr>
            </a:pPr>
            <a:r>
              <a:t>My verdict</a:t>
            </a:r>
          </a:p>
        </p:txBody>
      </p:sp>
      <p:sp>
        <p:nvSpPr>
          <p:cNvPr id="3" name="tx_0908"/>
          <p:cNvSpPr txBox="1"/>
          <p:nvPr/>
        </p:nvSpPr>
        <p:spPr>
          <a:xfrm>
            <a:off x="822960" y="822960"/>
            <a:ext cx="10546079" cy="914400"/>
          </a:xfrm>
          <a:prstGeom prst="rect">
            <a:avLst/>
          </a:prstGeom>
          <a:noFill/>
        </p:spPr>
        <p:txBody>
          <a:bodyPr wrap="square" lIns="0" rIns="0" tIns="0" bIns="0">
            <a:spAutoFit/>
          </a:bodyPr>
          <a:lstStyle/>
          <a:p>
            <a:pPr>
              <a:lnSpc>
                <a:spcPct val="100000"/>
              </a:lnSpc>
              <a:spcAft>
                <a:spcPts val="400"/>
              </a:spcAft>
              <a:defRPr sz="3000" b="0" i="0">
                <a:solidFill>
                  <a:srgbClr val="FFFFFF"/>
                </a:solidFill>
                <a:latin typeface="Segoe UI Semibold"/>
              </a:defRPr>
            </a:pPr>
            <a:r>
              <a:t>Shared accelerator state belongs in the isolation model</a:t>
            </a:r>
          </a:p>
        </p:txBody>
      </p:sp>
      <p:sp>
        <p:nvSpPr>
          <p:cNvPr id="4" name="tx_0909"/>
          <p:cNvSpPr txBox="1"/>
          <p:nvPr/>
        </p:nvSpPr>
        <p:spPr>
          <a:xfrm>
            <a:off x="822960" y="6419088"/>
            <a:ext cx="9631679" cy="228600"/>
          </a:xfrm>
          <a:prstGeom prst="rect">
            <a:avLst/>
          </a:prstGeom>
          <a:noFill/>
        </p:spPr>
        <p:txBody>
          <a:bodyPr wrap="square" lIns="0" rIns="0" tIns="0" bIns="0">
            <a:spAutoFit/>
          </a:bodyPr>
          <a:lstStyle/>
          <a:p>
            <a:pPr>
              <a:spcAft>
                <a:spcPts val="400"/>
              </a:spcAft>
              <a:defRPr sz="1000" b="0" i="0">
                <a:solidFill>
                  <a:srgbClr val="A1A1A6"/>
                </a:solidFill>
                <a:latin typeface="Segoe UI"/>
              </a:defRPr>
            </a:pPr>
            <a:r>
              <a:t>Based on Chen et al., HPCA 2026 · main talk ends here</a:t>
            </a:r>
          </a:p>
        </p:txBody>
      </p:sp>
      <p:sp>
        <p:nvSpPr>
          <p:cNvPr id="5" name="tx_0910"/>
          <p:cNvSpPr txBox="1"/>
          <p:nvPr/>
        </p:nvSpPr>
        <p:spPr>
          <a:xfrm>
            <a:off x="10820399" y="6419088"/>
            <a:ext cx="548640" cy="228600"/>
          </a:xfrm>
          <a:prstGeom prst="rect">
            <a:avLst/>
          </a:prstGeom>
          <a:noFill/>
        </p:spPr>
        <p:txBody>
          <a:bodyPr wrap="square" lIns="0" rIns="0" tIns="0" bIns="0">
            <a:spAutoFit/>
          </a:bodyPr>
          <a:lstStyle/>
          <a:p>
            <a:pPr algn="r">
              <a:spcAft>
                <a:spcPts val="400"/>
              </a:spcAft>
              <a:defRPr sz="1000" b="0" i="0">
                <a:solidFill>
                  <a:srgbClr val="A1A1A6"/>
                </a:solidFill>
                <a:latin typeface="Segoe UI"/>
              </a:defRPr>
            </a:pPr>
            <a:r>
              <a:t>50</a:t>
            </a:r>
          </a:p>
        </p:txBody>
      </p:sp>
      <p:sp>
        <p:nvSpPr>
          <p:cNvPr id="6" name="tx_0911"/>
          <p:cNvSpPr txBox="1"/>
          <p:nvPr/>
        </p:nvSpPr>
        <p:spPr>
          <a:xfrm>
            <a:off x="822960" y="1920240"/>
            <a:ext cx="914400" cy="548640"/>
          </a:xfrm>
          <a:prstGeom prst="rect">
            <a:avLst/>
          </a:prstGeom>
          <a:noFill/>
        </p:spPr>
        <p:txBody>
          <a:bodyPr wrap="square" lIns="0" rIns="0" tIns="0" bIns="0">
            <a:spAutoFit/>
          </a:bodyPr>
          <a:lstStyle/>
          <a:p>
            <a:pPr>
              <a:spcAft>
                <a:spcPts val="400"/>
              </a:spcAft>
              <a:defRPr sz="2200" b="0" i="0">
                <a:solidFill>
                  <a:srgbClr val="A1A1A6"/>
                </a:solidFill>
                <a:latin typeface="Segoe UI Semibold"/>
              </a:defRPr>
            </a:pPr>
            <a:r>
              <a:t>01</a:t>
            </a:r>
          </a:p>
        </p:txBody>
      </p:sp>
      <p:sp>
        <p:nvSpPr>
          <p:cNvPr id="7" name="tx_0912"/>
          <p:cNvSpPr txBox="1"/>
          <p:nvPr/>
        </p:nvSpPr>
        <p:spPr>
          <a:xfrm>
            <a:off x="1828800" y="1874519"/>
            <a:ext cx="9540239" cy="548640"/>
          </a:xfrm>
          <a:prstGeom prst="rect">
            <a:avLst/>
          </a:prstGeom>
          <a:noFill/>
        </p:spPr>
        <p:txBody>
          <a:bodyPr wrap="square" lIns="0" rIns="0" tIns="0" bIns="0">
            <a:spAutoFit/>
          </a:bodyPr>
          <a:lstStyle/>
          <a:p>
            <a:pPr>
              <a:spcAft>
                <a:spcPts val="400"/>
              </a:spcAft>
              <a:defRPr sz="2600" b="0" i="0">
                <a:solidFill>
                  <a:srgbClr val="FFFFFF"/>
                </a:solidFill>
                <a:latin typeface="Segoe UI Semibold"/>
              </a:defRPr>
            </a:pPr>
            <a:r>
              <a:t>Engine sharing exposes DevTLB replacement.</a:t>
            </a:r>
          </a:p>
        </p:txBody>
      </p:sp>
      <p:sp>
        <p:nvSpPr>
          <p:cNvPr id="8" name="tx_0913"/>
          <p:cNvSpPr txBox="1"/>
          <p:nvPr/>
        </p:nvSpPr>
        <p:spPr>
          <a:xfrm>
            <a:off x="822960" y="2788920"/>
            <a:ext cx="914400" cy="548640"/>
          </a:xfrm>
          <a:prstGeom prst="rect">
            <a:avLst/>
          </a:prstGeom>
          <a:noFill/>
        </p:spPr>
        <p:txBody>
          <a:bodyPr wrap="square" lIns="0" rIns="0" tIns="0" bIns="0">
            <a:spAutoFit/>
          </a:bodyPr>
          <a:lstStyle/>
          <a:p>
            <a:pPr>
              <a:spcAft>
                <a:spcPts val="400"/>
              </a:spcAft>
              <a:defRPr sz="2200" b="0" i="0">
                <a:solidFill>
                  <a:srgbClr val="A1A1A6"/>
                </a:solidFill>
                <a:latin typeface="Segoe UI Semibold"/>
              </a:defRPr>
            </a:pPr>
            <a:r>
              <a:t>02</a:t>
            </a:r>
          </a:p>
        </p:txBody>
      </p:sp>
      <p:sp>
        <p:nvSpPr>
          <p:cNvPr id="9" name="tx_0914"/>
          <p:cNvSpPr txBox="1"/>
          <p:nvPr/>
        </p:nvSpPr>
        <p:spPr>
          <a:xfrm>
            <a:off x="1828800" y="2743200"/>
            <a:ext cx="9540239" cy="548640"/>
          </a:xfrm>
          <a:prstGeom prst="rect">
            <a:avLst/>
          </a:prstGeom>
          <a:noFill/>
        </p:spPr>
        <p:txBody>
          <a:bodyPr wrap="square" lIns="0" rIns="0" tIns="0" bIns="0">
            <a:spAutoFit/>
          </a:bodyPr>
          <a:lstStyle/>
          <a:p>
            <a:pPr>
              <a:spcAft>
                <a:spcPts val="400"/>
              </a:spcAft>
              <a:defRPr sz="2600" b="0" i="0">
                <a:solidFill>
                  <a:srgbClr val="FFFFFF"/>
                </a:solidFill>
                <a:latin typeface="Segoe UI Semibold"/>
              </a:defRPr>
            </a:pPr>
            <a:r>
              <a:t>Queue sharing exposes admission feedback.</a:t>
            </a:r>
          </a:p>
        </p:txBody>
      </p:sp>
      <p:sp>
        <p:nvSpPr>
          <p:cNvPr id="10" name="tx_0915"/>
          <p:cNvSpPr txBox="1"/>
          <p:nvPr/>
        </p:nvSpPr>
        <p:spPr>
          <a:xfrm>
            <a:off x="822960" y="3657600"/>
            <a:ext cx="914400" cy="548640"/>
          </a:xfrm>
          <a:prstGeom prst="rect">
            <a:avLst/>
          </a:prstGeom>
          <a:noFill/>
        </p:spPr>
        <p:txBody>
          <a:bodyPr wrap="square" lIns="0" rIns="0" tIns="0" bIns="0">
            <a:spAutoFit/>
          </a:bodyPr>
          <a:lstStyle/>
          <a:p>
            <a:pPr>
              <a:spcAft>
                <a:spcPts val="400"/>
              </a:spcAft>
              <a:defRPr sz="2200" b="0" i="0">
                <a:solidFill>
                  <a:srgbClr val="A1A1A6"/>
                </a:solidFill>
                <a:latin typeface="Segoe UI Semibold"/>
              </a:defRPr>
            </a:pPr>
            <a:r>
              <a:t>03</a:t>
            </a:r>
          </a:p>
        </p:txBody>
      </p:sp>
      <p:sp>
        <p:nvSpPr>
          <p:cNvPr id="11" name="tx_0916"/>
          <p:cNvSpPr txBox="1"/>
          <p:nvPr/>
        </p:nvSpPr>
        <p:spPr>
          <a:xfrm>
            <a:off x="1828800" y="3611879"/>
            <a:ext cx="9540239" cy="548640"/>
          </a:xfrm>
          <a:prstGeom prst="rect">
            <a:avLst/>
          </a:prstGeom>
          <a:noFill/>
        </p:spPr>
        <p:txBody>
          <a:bodyPr wrap="square" lIns="0" rIns="0" tIns="0" bIns="0">
            <a:spAutoFit/>
          </a:bodyPr>
          <a:lstStyle/>
          <a:p>
            <a:pPr>
              <a:spcAft>
                <a:spcPts val="400"/>
              </a:spcAft>
              <a:defRPr sz="2600" b="0" i="0">
                <a:solidFill>
                  <a:srgbClr val="FFFFFF"/>
                </a:solidFill>
                <a:latin typeface="Segoe UI Semibold"/>
              </a:defRPr>
            </a:pPr>
            <a:r>
              <a:t>Application offload gives those signals meaning.</a:t>
            </a:r>
          </a:p>
        </p:txBody>
      </p:sp>
      <p:sp>
        <p:nvSpPr>
          <p:cNvPr id="12" name="rect_0917"/>
          <p:cNvSpPr/>
          <p:nvPr/>
        </p:nvSpPr>
        <p:spPr>
          <a:xfrm>
            <a:off x="822960" y="4846320"/>
            <a:ext cx="502920" cy="41148"/>
          </a:xfrm>
          <a:prstGeom prst="rect">
            <a:avLst/>
          </a:prstGeom>
          <a:solidFill>
            <a:srgbClr val="007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x_0918"/>
          <p:cNvSpPr txBox="1"/>
          <p:nvPr/>
        </p:nvSpPr>
        <p:spPr>
          <a:xfrm>
            <a:off x="822960" y="5029200"/>
            <a:ext cx="10546079" cy="548640"/>
          </a:xfrm>
          <a:prstGeom prst="rect">
            <a:avLst/>
          </a:prstGeom>
          <a:noFill/>
        </p:spPr>
        <p:txBody>
          <a:bodyPr wrap="square" lIns="0" rIns="0" tIns="0" bIns="0">
            <a:spAutoFit/>
          </a:bodyPr>
          <a:lstStyle/>
          <a:p>
            <a:pPr>
              <a:spcAft>
                <a:spcPts val="400"/>
              </a:spcAft>
              <a:defRPr sz="2200" b="0" i="0">
                <a:solidFill>
                  <a:srgbClr val="A1A1A6"/>
                </a:solidFill>
                <a:latin typeface="Segoe UI Semibold"/>
              </a:defRPr>
            </a:pPr>
            <a:r>
              <a:t>Discussion: what should an accelerator isolation contract guarantee?</a:t>
            </a:r>
          </a:p>
        </p:txBody>
      </p:sp>
    </p:spTree>
  </p:cSld>
  <p:clrMapOvr>
    <a:masterClrMapping/>
  </p:clrMapOvr>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x_0919"/>
          <p:cNvSpPr txBox="1"/>
          <p:nvPr/>
        </p:nvSpPr>
        <p:spPr>
          <a:xfrm>
            <a:off x="822960" y="502920"/>
            <a:ext cx="10546079" cy="274320"/>
          </a:xfrm>
          <a:prstGeom prst="rect">
            <a:avLst/>
          </a:prstGeom>
          <a:noFill/>
        </p:spPr>
        <p:txBody>
          <a:bodyPr wrap="square" lIns="0" rIns="0" tIns="0" bIns="0">
            <a:spAutoFit/>
          </a:bodyPr>
          <a:lstStyle/>
          <a:p>
            <a:pPr>
              <a:spcAft>
                <a:spcPts val="400"/>
              </a:spcAft>
              <a:defRPr sz="1200" b="0" i="0">
                <a:solidFill>
                  <a:srgbClr val="0071E3"/>
                </a:solidFill>
                <a:latin typeface="Segoe UI Semibold"/>
              </a:defRPr>
            </a:pPr>
            <a:r>
              <a:t>Backup · Glossary</a:t>
            </a:r>
          </a:p>
        </p:txBody>
      </p:sp>
      <p:sp>
        <p:nvSpPr>
          <p:cNvPr id="3" name="tx_0920"/>
          <p:cNvSpPr txBox="1"/>
          <p:nvPr/>
        </p:nvSpPr>
        <p:spPr>
          <a:xfrm>
            <a:off x="822960" y="822960"/>
            <a:ext cx="10546079" cy="914400"/>
          </a:xfrm>
          <a:prstGeom prst="rect">
            <a:avLst/>
          </a:prstGeom>
          <a:noFill/>
        </p:spPr>
        <p:txBody>
          <a:bodyPr wrap="square" lIns="0" rIns="0" tIns="0" bIns="0">
            <a:spAutoFit/>
          </a:bodyPr>
          <a:lstStyle/>
          <a:p>
            <a:pPr>
              <a:lnSpc>
                <a:spcPct val="100000"/>
              </a:lnSpc>
              <a:spcAft>
                <a:spcPts val="400"/>
              </a:spcAft>
              <a:defRPr sz="3000" b="0" i="0">
                <a:solidFill>
                  <a:srgbClr val="1D1D1F"/>
                </a:solidFill>
                <a:latin typeface="Segoe UI Semibold"/>
              </a:defRPr>
            </a:pPr>
            <a:r>
              <a:t>Glossary</a:t>
            </a:r>
          </a:p>
        </p:txBody>
      </p:sp>
      <p:sp>
        <p:nvSpPr>
          <p:cNvPr id="4" name="tx_0921"/>
          <p:cNvSpPr txBox="1"/>
          <p:nvPr/>
        </p:nvSpPr>
        <p:spPr>
          <a:xfrm>
            <a:off x="822960" y="6419088"/>
            <a:ext cx="9631679" cy="228600"/>
          </a:xfrm>
          <a:prstGeom prst="rect">
            <a:avLst/>
          </a:prstGeom>
          <a:noFill/>
        </p:spPr>
        <p:txBody>
          <a:bodyPr wrap="square" lIns="0" rIns="0" tIns="0" bIns="0">
            <a:spAutoFit/>
          </a:bodyPr>
          <a:lstStyle/>
          <a:p>
            <a:pPr>
              <a:spcAft>
                <a:spcPts val="400"/>
              </a:spcAft>
              <a:defRPr sz="1000" b="0" i="0">
                <a:solidFill>
                  <a:srgbClr val="86868B"/>
                </a:solidFill>
                <a:latin typeface="Segoe UI"/>
              </a:defRPr>
            </a:pPr>
            <a:r>
              <a:t>Paper §§ II–V · pp. 2–8</a:t>
            </a:r>
          </a:p>
        </p:txBody>
      </p:sp>
      <p:sp>
        <p:nvSpPr>
          <p:cNvPr id="5" name="tx_0922"/>
          <p:cNvSpPr txBox="1"/>
          <p:nvPr/>
        </p:nvSpPr>
        <p:spPr>
          <a:xfrm>
            <a:off x="10820399" y="6419088"/>
            <a:ext cx="548640" cy="228600"/>
          </a:xfrm>
          <a:prstGeom prst="rect">
            <a:avLst/>
          </a:prstGeom>
          <a:noFill/>
        </p:spPr>
        <p:txBody>
          <a:bodyPr wrap="square" lIns="0" rIns="0" tIns="0" bIns="0">
            <a:spAutoFit/>
          </a:bodyPr>
          <a:lstStyle/>
          <a:p>
            <a:pPr algn="r">
              <a:spcAft>
                <a:spcPts val="400"/>
              </a:spcAft>
              <a:defRPr sz="1000" b="0" i="0">
                <a:solidFill>
                  <a:srgbClr val="86868B"/>
                </a:solidFill>
                <a:latin typeface="Segoe UI"/>
              </a:defRPr>
            </a:pPr>
            <a:r>
              <a:t>51</a:t>
            </a:r>
          </a:p>
        </p:txBody>
      </p:sp>
      <p:sp>
        <p:nvSpPr>
          <p:cNvPr id="6" name="tx_0923"/>
          <p:cNvSpPr txBox="1"/>
          <p:nvPr/>
        </p:nvSpPr>
        <p:spPr>
          <a:xfrm>
            <a:off x="868680" y="1783080"/>
            <a:ext cx="2545079" cy="274320"/>
          </a:xfrm>
          <a:prstGeom prst="rect">
            <a:avLst/>
          </a:prstGeom>
          <a:noFill/>
        </p:spPr>
        <p:txBody>
          <a:bodyPr wrap="square" lIns="0" rIns="0" tIns="0" bIns="0">
            <a:spAutoFit/>
          </a:bodyPr>
          <a:lstStyle/>
          <a:p>
            <a:pPr>
              <a:spcAft>
                <a:spcPts val="400"/>
              </a:spcAft>
              <a:defRPr sz="1200" b="0" i="0">
                <a:solidFill>
                  <a:srgbClr val="86868B"/>
                </a:solidFill>
                <a:latin typeface="Segoe UI Semibold"/>
              </a:defRPr>
            </a:pPr>
            <a:r>
              <a:t>TERM</a:t>
            </a:r>
          </a:p>
        </p:txBody>
      </p:sp>
      <p:sp>
        <p:nvSpPr>
          <p:cNvPr id="7" name="tx_0924"/>
          <p:cNvSpPr txBox="1"/>
          <p:nvPr/>
        </p:nvSpPr>
        <p:spPr>
          <a:xfrm>
            <a:off x="3505199" y="1783080"/>
            <a:ext cx="7818119" cy="274320"/>
          </a:xfrm>
          <a:prstGeom prst="rect">
            <a:avLst/>
          </a:prstGeom>
          <a:noFill/>
        </p:spPr>
        <p:txBody>
          <a:bodyPr wrap="square" lIns="0" rIns="0" tIns="0" bIns="0">
            <a:spAutoFit/>
          </a:bodyPr>
          <a:lstStyle/>
          <a:p>
            <a:pPr>
              <a:spcAft>
                <a:spcPts val="400"/>
              </a:spcAft>
              <a:defRPr sz="1200" b="0" i="0">
                <a:solidFill>
                  <a:srgbClr val="86868B"/>
                </a:solidFill>
                <a:latin typeface="Segoe UI Semibold"/>
              </a:defRPr>
            </a:pPr>
            <a:r>
              <a:t>MEANING IN THIS PAPER</a:t>
            </a:r>
          </a:p>
        </p:txBody>
      </p:sp>
      <p:cxnSp>
        <p:nvCxnSpPr>
          <p:cNvPr id="8" name="hl_0925"/>
          <p:cNvCxnSpPr/>
          <p:nvPr/>
        </p:nvCxnSpPr>
        <p:spPr>
          <a:xfrm>
            <a:off x="822960" y="2148840"/>
            <a:ext cx="10546079" cy="0"/>
          </a:xfrm>
          <a:prstGeom prst="line">
            <a:avLst/>
          </a:prstGeom>
          <a:ln w="12700">
            <a:solidFill>
              <a:srgbClr val="1D1D1F"/>
            </a:solidFill>
          </a:ln>
        </p:spPr>
        <p:style>
          <a:lnRef idx="2">
            <a:schemeClr val="accent1"/>
          </a:lnRef>
          <a:fillRef idx="0">
            <a:schemeClr val="accent1"/>
          </a:fillRef>
          <a:effectRef idx="1">
            <a:schemeClr val="accent1"/>
          </a:effectRef>
          <a:fontRef idx="minor">
            <a:schemeClr val="tx1"/>
          </a:fontRef>
        </p:style>
      </p:cxnSp>
      <p:sp>
        <p:nvSpPr>
          <p:cNvPr id="9" name="tx_0926"/>
          <p:cNvSpPr txBox="1"/>
          <p:nvPr/>
        </p:nvSpPr>
        <p:spPr>
          <a:xfrm>
            <a:off x="868680" y="2212848"/>
            <a:ext cx="2545079"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Semibold"/>
              </a:defRPr>
            </a:pPr>
            <a:r>
              <a:t>DSA</a:t>
            </a:r>
          </a:p>
        </p:txBody>
      </p:sp>
      <p:sp>
        <p:nvSpPr>
          <p:cNvPr id="10" name="tx_0927"/>
          <p:cNvSpPr txBox="1"/>
          <p:nvPr/>
        </p:nvSpPr>
        <p:spPr>
          <a:xfrm>
            <a:off x="3505199" y="2212848"/>
            <a:ext cx="7818119" cy="365760"/>
          </a:xfrm>
          <a:prstGeom prst="rect">
            <a:avLst/>
          </a:prstGeom>
          <a:noFill/>
        </p:spPr>
        <p:txBody>
          <a:bodyPr wrap="square" lIns="0" rIns="0" tIns="0" bIns="0" anchor="ctr">
            <a:spAutoFit/>
          </a:bodyPr>
          <a:lstStyle/>
          <a:p>
            <a:pPr>
              <a:spcAft>
                <a:spcPts val="400"/>
              </a:spcAft>
              <a:defRPr sz="1600" b="0" i="0">
                <a:solidFill>
                  <a:srgbClr val="6E6E73"/>
                </a:solidFill>
                <a:latin typeface="Segoe UI"/>
              </a:defRPr>
            </a:pPr>
            <a:r>
              <a:t>Intel Data Streaming Accelerator</a:t>
            </a:r>
          </a:p>
        </p:txBody>
      </p:sp>
      <p:cxnSp>
        <p:nvCxnSpPr>
          <p:cNvPr id="11" name="hl_0928"/>
          <p:cNvCxnSpPr/>
          <p:nvPr/>
        </p:nvCxnSpPr>
        <p:spPr>
          <a:xfrm>
            <a:off x="822960" y="2642616"/>
            <a:ext cx="10546079"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12" name="tx_0929"/>
          <p:cNvSpPr txBox="1"/>
          <p:nvPr/>
        </p:nvSpPr>
        <p:spPr>
          <a:xfrm>
            <a:off x="868680" y="2706624"/>
            <a:ext cx="2545079"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Semibold"/>
              </a:defRPr>
            </a:pPr>
            <a:r>
              <a:t>ATS / TA</a:t>
            </a:r>
          </a:p>
        </p:txBody>
      </p:sp>
      <p:sp>
        <p:nvSpPr>
          <p:cNvPr id="13" name="tx_0930"/>
          <p:cNvSpPr txBox="1"/>
          <p:nvPr/>
        </p:nvSpPr>
        <p:spPr>
          <a:xfrm>
            <a:off x="3505199" y="2706624"/>
            <a:ext cx="7818119" cy="365760"/>
          </a:xfrm>
          <a:prstGeom prst="rect">
            <a:avLst/>
          </a:prstGeom>
          <a:noFill/>
        </p:spPr>
        <p:txBody>
          <a:bodyPr wrap="square" lIns="0" rIns="0" tIns="0" bIns="0" anchor="ctr">
            <a:spAutoFit/>
          </a:bodyPr>
          <a:lstStyle/>
          <a:p>
            <a:pPr>
              <a:spcAft>
                <a:spcPts val="400"/>
              </a:spcAft>
              <a:defRPr sz="1600" b="0" i="0">
                <a:solidFill>
                  <a:srgbClr val="6E6E73"/>
                </a:solidFill>
                <a:latin typeface="Segoe UI"/>
              </a:defRPr>
            </a:pPr>
            <a:r>
              <a:t>Address Translation Services / Translation Agent</a:t>
            </a:r>
          </a:p>
        </p:txBody>
      </p:sp>
      <p:cxnSp>
        <p:nvCxnSpPr>
          <p:cNvPr id="14" name="hl_0931"/>
          <p:cNvCxnSpPr/>
          <p:nvPr/>
        </p:nvCxnSpPr>
        <p:spPr>
          <a:xfrm>
            <a:off x="822960" y="3136392"/>
            <a:ext cx="10546079"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15" name="tx_0932"/>
          <p:cNvSpPr txBox="1"/>
          <p:nvPr/>
        </p:nvSpPr>
        <p:spPr>
          <a:xfrm>
            <a:off x="868680" y="3200400"/>
            <a:ext cx="2545079"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Semibold"/>
              </a:defRPr>
            </a:pPr>
            <a:r>
              <a:t>ATC / DevTLB</a:t>
            </a:r>
          </a:p>
        </p:txBody>
      </p:sp>
      <p:sp>
        <p:nvSpPr>
          <p:cNvPr id="16" name="tx_0933"/>
          <p:cNvSpPr txBox="1"/>
          <p:nvPr/>
        </p:nvSpPr>
        <p:spPr>
          <a:xfrm>
            <a:off x="3505199" y="3200400"/>
            <a:ext cx="7818119" cy="365760"/>
          </a:xfrm>
          <a:prstGeom prst="rect">
            <a:avLst/>
          </a:prstGeom>
          <a:noFill/>
        </p:spPr>
        <p:txBody>
          <a:bodyPr wrap="square" lIns="0" rIns="0" tIns="0" bIns="0" anchor="ctr">
            <a:spAutoFit/>
          </a:bodyPr>
          <a:lstStyle/>
          <a:p>
            <a:pPr>
              <a:spcAft>
                <a:spcPts val="400"/>
              </a:spcAft>
              <a:defRPr sz="1600" b="0" i="0">
                <a:solidFill>
                  <a:srgbClr val="6E6E73"/>
                </a:solidFill>
                <a:latin typeface="Segoe UI"/>
              </a:defRPr>
            </a:pPr>
            <a:r>
              <a:t>device-side cache of address translations</a:t>
            </a:r>
          </a:p>
        </p:txBody>
      </p:sp>
      <p:cxnSp>
        <p:nvCxnSpPr>
          <p:cNvPr id="17" name="hl_0934"/>
          <p:cNvCxnSpPr/>
          <p:nvPr/>
        </p:nvCxnSpPr>
        <p:spPr>
          <a:xfrm>
            <a:off x="822960" y="3630168"/>
            <a:ext cx="10546079"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18" name="tx_0935"/>
          <p:cNvSpPr txBox="1"/>
          <p:nvPr/>
        </p:nvSpPr>
        <p:spPr>
          <a:xfrm>
            <a:off x="868680" y="3694176"/>
            <a:ext cx="2545079"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Semibold"/>
              </a:defRPr>
            </a:pPr>
            <a:r>
              <a:t>PASID</a:t>
            </a:r>
          </a:p>
        </p:txBody>
      </p:sp>
      <p:sp>
        <p:nvSpPr>
          <p:cNvPr id="19" name="tx_0936"/>
          <p:cNvSpPr txBox="1"/>
          <p:nvPr/>
        </p:nvSpPr>
        <p:spPr>
          <a:xfrm>
            <a:off x="3505199" y="3694176"/>
            <a:ext cx="7818119" cy="365760"/>
          </a:xfrm>
          <a:prstGeom prst="rect">
            <a:avLst/>
          </a:prstGeom>
          <a:noFill/>
        </p:spPr>
        <p:txBody>
          <a:bodyPr wrap="square" lIns="0" rIns="0" tIns="0" bIns="0" anchor="ctr">
            <a:spAutoFit/>
          </a:bodyPr>
          <a:lstStyle/>
          <a:p>
            <a:pPr>
              <a:spcAft>
                <a:spcPts val="400"/>
              </a:spcAft>
              <a:defRPr sz="1600" b="0" i="0">
                <a:solidFill>
                  <a:srgbClr val="6E6E73"/>
                </a:solidFill>
                <a:latin typeface="Segoe UI"/>
              </a:defRPr>
            </a:pPr>
            <a:r>
              <a:t>process address-space ID; translation context</a:t>
            </a:r>
          </a:p>
        </p:txBody>
      </p:sp>
      <p:cxnSp>
        <p:nvCxnSpPr>
          <p:cNvPr id="20" name="hl_0937"/>
          <p:cNvCxnSpPr/>
          <p:nvPr/>
        </p:nvCxnSpPr>
        <p:spPr>
          <a:xfrm>
            <a:off x="822960" y="4123944"/>
            <a:ext cx="10546079"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21" name="tx_0938"/>
          <p:cNvSpPr txBox="1"/>
          <p:nvPr/>
        </p:nvSpPr>
        <p:spPr>
          <a:xfrm>
            <a:off x="868680" y="4187952"/>
            <a:ext cx="2545079"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Semibold"/>
              </a:defRPr>
            </a:pPr>
            <a:r>
              <a:t>WQ / SWQ / DWQ</a:t>
            </a:r>
          </a:p>
        </p:txBody>
      </p:sp>
      <p:sp>
        <p:nvSpPr>
          <p:cNvPr id="22" name="tx_0939"/>
          <p:cNvSpPr txBox="1"/>
          <p:nvPr/>
        </p:nvSpPr>
        <p:spPr>
          <a:xfrm>
            <a:off x="3505199" y="4187952"/>
            <a:ext cx="7818119" cy="365760"/>
          </a:xfrm>
          <a:prstGeom prst="rect">
            <a:avLst/>
          </a:prstGeom>
          <a:noFill/>
        </p:spPr>
        <p:txBody>
          <a:bodyPr wrap="square" lIns="0" rIns="0" tIns="0" bIns="0" anchor="ctr">
            <a:spAutoFit/>
          </a:bodyPr>
          <a:lstStyle/>
          <a:p>
            <a:pPr>
              <a:spcAft>
                <a:spcPts val="400"/>
              </a:spcAft>
              <a:defRPr sz="1600" b="0" i="0">
                <a:solidFill>
                  <a:srgbClr val="6E6E73"/>
                </a:solidFill>
                <a:latin typeface="Segoe UI"/>
              </a:defRPr>
            </a:pPr>
            <a:r>
              <a:t>work queue / shared / dedicated work queue</a:t>
            </a:r>
          </a:p>
        </p:txBody>
      </p:sp>
      <p:cxnSp>
        <p:nvCxnSpPr>
          <p:cNvPr id="23" name="hl_0940"/>
          <p:cNvCxnSpPr/>
          <p:nvPr/>
        </p:nvCxnSpPr>
        <p:spPr>
          <a:xfrm>
            <a:off x="822960" y="4617720"/>
            <a:ext cx="10546079"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24" name="tx_0941"/>
          <p:cNvSpPr txBox="1"/>
          <p:nvPr/>
        </p:nvSpPr>
        <p:spPr>
          <a:xfrm>
            <a:off x="868680" y="4681728"/>
            <a:ext cx="2545079"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Semibold"/>
              </a:defRPr>
            </a:pPr>
            <a:r>
              <a:t>DMWr / ENQCMD</a:t>
            </a:r>
          </a:p>
        </p:txBody>
      </p:sp>
      <p:sp>
        <p:nvSpPr>
          <p:cNvPr id="25" name="tx_0942"/>
          <p:cNvSpPr txBox="1"/>
          <p:nvPr/>
        </p:nvSpPr>
        <p:spPr>
          <a:xfrm>
            <a:off x="3505199" y="4681728"/>
            <a:ext cx="7818119" cy="365760"/>
          </a:xfrm>
          <a:prstGeom prst="rect">
            <a:avLst/>
          </a:prstGeom>
          <a:noFill/>
        </p:spPr>
        <p:txBody>
          <a:bodyPr wrap="square" lIns="0" rIns="0" tIns="0" bIns="0" anchor="ctr">
            <a:spAutoFit/>
          </a:bodyPr>
          <a:lstStyle/>
          <a:p>
            <a:pPr>
              <a:spcAft>
                <a:spcPts val="400"/>
              </a:spcAft>
              <a:defRPr sz="1600" b="0" i="0">
                <a:solidFill>
                  <a:srgbClr val="6E6E73"/>
                </a:solidFill>
                <a:latin typeface="Segoe UI"/>
              </a:defRPr>
            </a:pPr>
            <a:r>
              <a:t>deferrable memory write / descriptor submission</a:t>
            </a:r>
          </a:p>
        </p:txBody>
      </p:sp>
      <p:cxnSp>
        <p:nvCxnSpPr>
          <p:cNvPr id="26" name="hl_0943"/>
          <p:cNvCxnSpPr/>
          <p:nvPr/>
        </p:nvCxnSpPr>
        <p:spPr>
          <a:xfrm>
            <a:off x="822960" y="5111496"/>
            <a:ext cx="10546079"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27" name="tx_0944"/>
          <p:cNvSpPr txBox="1"/>
          <p:nvPr/>
        </p:nvSpPr>
        <p:spPr>
          <a:xfrm>
            <a:off x="868680" y="5175504"/>
            <a:ext cx="2545079"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Semibold"/>
              </a:defRPr>
            </a:pPr>
            <a:r>
              <a:t>DTO</a:t>
            </a:r>
          </a:p>
        </p:txBody>
      </p:sp>
      <p:sp>
        <p:nvSpPr>
          <p:cNvPr id="28" name="tx_0945"/>
          <p:cNvSpPr txBox="1"/>
          <p:nvPr/>
        </p:nvSpPr>
        <p:spPr>
          <a:xfrm>
            <a:off x="3505199" y="5175504"/>
            <a:ext cx="7818119" cy="365760"/>
          </a:xfrm>
          <a:prstGeom prst="rect">
            <a:avLst/>
          </a:prstGeom>
          <a:noFill/>
        </p:spPr>
        <p:txBody>
          <a:bodyPr wrap="square" lIns="0" rIns="0" tIns="0" bIns="0" anchor="ctr">
            <a:spAutoFit/>
          </a:bodyPr>
          <a:lstStyle/>
          <a:p>
            <a:pPr>
              <a:spcAft>
                <a:spcPts val="400"/>
              </a:spcAft>
              <a:defRPr sz="1600" b="0" i="0">
                <a:solidFill>
                  <a:srgbClr val="6E6E73"/>
                </a:solidFill>
                <a:latin typeface="Segoe UI"/>
              </a:defRPr>
            </a:pPr>
            <a:r>
              <a:t>DSA Transparent Offload library</a:t>
            </a:r>
          </a:p>
        </p:txBody>
      </p:sp>
      <p:cxnSp>
        <p:nvCxnSpPr>
          <p:cNvPr id="29" name="hl_0946"/>
          <p:cNvCxnSpPr/>
          <p:nvPr/>
        </p:nvCxnSpPr>
        <p:spPr>
          <a:xfrm>
            <a:off x="822960" y="5605272"/>
            <a:ext cx="10546079"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x_0947"/>
          <p:cNvSpPr txBox="1"/>
          <p:nvPr/>
        </p:nvSpPr>
        <p:spPr>
          <a:xfrm>
            <a:off x="822960" y="502920"/>
            <a:ext cx="10546079" cy="274320"/>
          </a:xfrm>
          <a:prstGeom prst="rect">
            <a:avLst/>
          </a:prstGeom>
          <a:noFill/>
        </p:spPr>
        <p:txBody>
          <a:bodyPr wrap="square" lIns="0" rIns="0" tIns="0" bIns="0">
            <a:spAutoFit/>
          </a:bodyPr>
          <a:lstStyle/>
          <a:p>
            <a:pPr>
              <a:spcAft>
                <a:spcPts val="400"/>
              </a:spcAft>
              <a:defRPr sz="1200" b="0" i="0">
                <a:solidFill>
                  <a:srgbClr val="0071E3"/>
                </a:solidFill>
                <a:latin typeface="Segoe UI Semibold"/>
              </a:defRPr>
            </a:pPr>
            <a:r>
              <a:t>Backup · Descriptor detail</a:t>
            </a:r>
          </a:p>
        </p:txBody>
      </p:sp>
      <p:sp>
        <p:nvSpPr>
          <p:cNvPr id="3" name="tx_0948"/>
          <p:cNvSpPr txBox="1"/>
          <p:nvPr/>
        </p:nvSpPr>
        <p:spPr>
          <a:xfrm>
            <a:off x="822960" y="822960"/>
            <a:ext cx="10546079" cy="914400"/>
          </a:xfrm>
          <a:prstGeom prst="rect">
            <a:avLst/>
          </a:prstGeom>
          <a:noFill/>
        </p:spPr>
        <p:txBody>
          <a:bodyPr wrap="square" lIns="0" rIns="0" tIns="0" bIns="0">
            <a:spAutoFit/>
          </a:bodyPr>
          <a:lstStyle/>
          <a:p>
            <a:pPr>
              <a:lnSpc>
                <a:spcPct val="100000"/>
              </a:lnSpc>
              <a:spcAft>
                <a:spcPts val="400"/>
              </a:spcAft>
              <a:defRPr sz="3000" b="0" i="0">
                <a:solidFill>
                  <a:srgbClr val="1D1D1F"/>
                </a:solidFill>
                <a:latin typeface="Segoe UI Semibold"/>
              </a:defRPr>
            </a:pPr>
            <a:r>
              <a:t>Descriptor layout — field meaning depends on opcode</a:t>
            </a:r>
          </a:p>
        </p:txBody>
      </p:sp>
      <p:sp>
        <p:nvSpPr>
          <p:cNvPr id="4" name="tx_0949"/>
          <p:cNvSpPr txBox="1"/>
          <p:nvPr/>
        </p:nvSpPr>
        <p:spPr>
          <a:xfrm>
            <a:off x="822960" y="6419088"/>
            <a:ext cx="9631679" cy="228600"/>
          </a:xfrm>
          <a:prstGeom prst="rect">
            <a:avLst/>
          </a:prstGeom>
          <a:noFill/>
        </p:spPr>
        <p:txBody>
          <a:bodyPr wrap="square" lIns="0" rIns="0" tIns="0" bIns="0">
            <a:spAutoFit/>
          </a:bodyPr>
          <a:lstStyle/>
          <a:p>
            <a:pPr>
              <a:spcAft>
                <a:spcPts val="400"/>
              </a:spcAft>
              <a:defRPr sz="1000" b="0" i="0">
                <a:solidFill>
                  <a:srgbClr val="86868B"/>
                </a:solidFill>
                <a:latin typeface="Segoe UI"/>
              </a:defRPr>
            </a:pPr>
            <a:r>
              <a:t>Paper Fig. 3 · p. 4</a:t>
            </a:r>
          </a:p>
        </p:txBody>
      </p:sp>
      <p:sp>
        <p:nvSpPr>
          <p:cNvPr id="5" name="tx_0950"/>
          <p:cNvSpPr txBox="1"/>
          <p:nvPr/>
        </p:nvSpPr>
        <p:spPr>
          <a:xfrm>
            <a:off x="10820399" y="6419088"/>
            <a:ext cx="548640" cy="228600"/>
          </a:xfrm>
          <a:prstGeom prst="rect">
            <a:avLst/>
          </a:prstGeom>
          <a:noFill/>
        </p:spPr>
        <p:txBody>
          <a:bodyPr wrap="square" lIns="0" rIns="0" tIns="0" bIns="0">
            <a:spAutoFit/>
          </a:bodyPr>
          <a:lstStyle/>
          <a:p>
            <a:pPr algn="r">
              <a:spcAft>
                <a:spcPts val="400"/>
              </a:spcAft>
              <a:defRPr sz="1000" b="0" i="0">
                <a:solidFill>
                  <a:srgbClr val="86868B"/>
                </a:solidFill>
                <a:latin typeface="Segoe UI"/>
              </a:defRPr>
            </a:pPr>
            <a:r>
              <a:t>52</a:t>
            </a:r>
          </a:p>
        </p:txBody>
      </p:sp>
      <p:pic>
        <p:nvPicPr>
          <p:cNvPr id="6" name="pic_0951" descr="descriptor.png"/>
          <p:cNvPicPr>
            <a:picLocks noChangeAspect="1"/>
          </p:cNvPicPr>
          <p:nvPr/>
        </p:nvPicPr>
        <p:blipFill>
          <a:blip r:embed="rId3"/>
          <a:stretch>
            <a:fillRect/>
          </a:stretch>
        </p:blipFill>
        <p:spPr>
          <a:xfrm>
            <a:off x="822960" y="1888454"/>
            <a:ext cx="6766560" cy="3538290"/>
          </a:xfrm>
          <a:prstGeom prst="rect">
            <a:avLst/>
          </a:prstGeom>
        </p:spPr>
      </p:pic>
      <p:sp>
        <p:nvSpPr>
          <p:cNvPr id="7" name="tx_0952"/>
          <p:cNvSpPr txBox="1"/>
          <p:nvPr/>
        </p:nvSpPr>
        <p:spPr>
          <a:xfrm>
            <a:off x="8001000" y="1783080"/>
            <a:ext cx="659587" cy="274320"/>
          </a:xfrm>
          <a:prstGeom prst="rect">
            <a:avLst/>
          </a:prstGeom>
          <a:noFill/>
        </p:spPr>
        <p:txBody>
          <a:bodyPr wrap="square" lIns="0" rIns="0" tIns="0" bIns="0">
            <a:spAutoFit/>
          </a:bodyPr>
          <a:lstStyle/>
          <a:p>
            <a:pPr>
              <a:spcAft>
                <a:spcPts val="400"/>
              </a:spcAft>
              <a:defRPr sz="1200" b="0" i="0">
                <a:solidFill>
                  <a:srgbClr val="86868B"/>
                </a:solidFill>
                <a:latin typeface="Segoe UI Semibold"/>
              </a:defRPr>
            </a:pPr>
            <a:r>
              <a:t>OFFSET</a:t>
            </a:r>
          </a:p>
        </p:txBody>
      </p:sp>
      <p:sp>
        <p:nvSpPr>
          <p:cNvPr id="8" name="tx_0953"/>
          <p:cNvSpPr txBox="1"/>
          <p:nvPr/>
        </p:nvSpPr>
        <p:spPr>
          <a:xfrm>
            <a:off x="8752027" y="1783080"/>
            <a:ext cx="1615439" cy="274320"/>
          </a:xfrm>
          <a:prstGeom prst="rect">
            <a:avLst/>
          </a:prstGeom>
          <a:noFill/>
        </p:spPr>
        <p:txBody>
          <a:bodyPr wrap="square" lIns="0" rIns="0" tIns="0" bIns="0">
            <a:spAutoFit/>
          </a:bodyPr>
          <a:lstStyle/>
          <a:p>
            <a:pPr>
              <a:spcAft>
                <a:spcPts val="400"/>
              </a:spcAft>
              <a:defRPr sz="1200" b="0" i="0">
                <a:solidFill>
                  <a:srgbClr val="86868B"/>
                </a:solidFill>
                <a:latin typeface="Segoe UI Semibold"/>
              </a:defRPr>
            </a:pPr>
            <a:r>
              <a:t>FIELD</a:t>
            </a:r>
          </a:p>
        </p:txBody>
      </p:sp>
      <p:sp>
        <p:nvSpPr>
          <p:cNvPr id="9" name="tx_0954"/>
          <p:cNvSpPr txBox="1"/>
          <p:nvPr/>
        </p:nvSpPr>
        <p:spPr>
          <a:xfrm>
            <a:off x="10458906" y="1783080"/>
            <a:ext cx="864412" cy="274320"/>
          </a:xfrm>
          <a:prstGeom prst="rect">
            <a:avLst/>
          </a:prstGeom>
          <a:noFill/>
        </p:spPr>
        <p:txBody>
          <a:bodyPr wrap="square" lIns="0" rIns="0" tIns="0" bIns="0">
            <a:spAutoFit/>
          </a:bodyPr>
          <a:lstStyle/>
          <a:p>
            <a:pPr>
              <a:spcAft>
                <a:spcPts val="400"/>
              </a:spcAft>
              <a:defRPr sz="1200" b="0" i="0">
                <a:solidFill>
                  <a:srgbClr val="86868B"/>
                </a:solidFill>
                <a:latin typeface="Segoe UI Semibold"/>
              </a:defRPr>
            </a:pPr>
            <a:r>
              <a:t>SLOT</a:t>
            </a:r>
          </a:p>
        </p:txBody>
      </p:sp>
      <p:cxnSp>
        <p:nvCxnSpPr>
          <p:cNvPr id="10" name="hl_0955"/>
          <p:cNvCxnSpPr/>
          <p:nvPr/>
        </p:nvCxnSpPr>
        <p:spPr>
          <a:xfrm>
            <a:off x="7955279" y="2148840"/>
            <a:ext cx="3413760" cy="0"/>
          </a:xfrm>
          <a:prstGeom prst="line">
            <a:avLst/>
          </a:prstGeom>
          <a:ln w="12700">
            <a:solidFill>
              <a:srgbClr val="1D1D1F"/>
            </a:solidFill>
          </a:ln>
        </p:spPr>
        <p:style>
          <a:lnRef idx="2">
            <a:schemeClr val="accent1"/>
          </a:lnRef>
          <a:fillRef idx="0">
            <a:schemeClr val="accent1"/>
          </a:fillRef>
          <a:effectRef idx="1">
            <a:schemeClr val="accent1"/>
          </a:effectRef>
          <a:fontRef idx="minor">
            <a:schemeClr val="tx1"/>
          </a:fontRef>
        </p:style>
      </p:cxnSp>
      <p:sp>
        <p:nvSpPr>
          <p:cNvPr id="11" name="tx_0956"/>
          <p:cNvSpPr txBox="1"/>
          <p:nvPr/>
        </p:nvSpPr>
        <p:spPr>
          <a:xfrm>
            <a:off x="8001000" y="2240280"/>
            <a:ext cx="659587" cy="365760"/>
          </a:xfrm>
          <a:prstGeom prst="rect">
            <a:avLst/>
          </a:prstGeom>
          <a:noFill/>
        </p:spPr>
        <p:txBody>
          <a:bodyPr wrap="square" lIns="0" rIns="0" tIns="0" bIns="0" anchor="ctr">
            <a:spAutoFit/>
          </a:bodyPr>
          <a:lstStyle/>
          <a:p>
            <a:pPr>
              <a:spcAft>
                <a:spcPts val="400"/>
              </a:spcAft>
              <a:defRPr sz="1500" b="0" i="0">
                <a:solidFill>
                  <a:srgbClr val="1D1D1F"/>
                </a:solidFill>
                <a:latin typeface="Segoe UI Semibold"/>
              </a:defRPr>
            </a:pPr>
            <a:r>
              <a:t>0</a:t>
            </a:r>
          </a:p>
        </p:txBody>
      </p:sp>
      <p:sp>
        <p:nvSpPr>
          <p:cNvPr id="12" name="tx_0957"/>
          <p:cNvSpPr txBox="1"/>
          <p:nvPr/>
        </p:nvSpPr>
        <p:spPr>
          <a:xfrm>
            <a:off x="8752027" y="2240280"/>
            <a:ext cx="1615439" cy="365760"/>
          </a:xfrm>
          <a:prstGeom prst="rect">
            <a:avLst/>
          </a:prstGeom>
          <a:noFill/>
        </p:spPr>
        <p:txBody>
          <a:bodyPr wrap="square" lIns="0" rIns="0" tIns="0" bIns="0" anchor="ctr">
            <a:spAutoFit/>
          </a:bodyPr>
          <a:lstStyle/>
          <a:p>
            <a:pPr>
              <a:spcAft>
                <a:spcPts val="400"/>
              </a:spcAft>
              <a:defRPr sz="1500" b="0" i="0">
                <a:solidFill>
                  <a:srgbClr val="6E6E73"/>
                </a:solidFill>
                <a:latin typeface="Segoe UI"/>
              </a:defRPr>
            </a:pPr>
            <a:r>
              <a:t>opcode / flags / PASID</a:t>
            </a:r>
          </a:p>
        </p:txBody>
      </p:sp>
      <p:sp>
        <p:nvSpPr>
          <p:cNvPr id="13" name="tx_0958"/>
          <p:cNvSpPr txBox="1"/>
          <p:nvPr/>
        </p:nvSpPr>
        <p:spPr>
          <a:xfrm>
            <a:off x="10458906" y="2240280"/>
            <a:ext cx="864412" cy="365760"/>
          </a:xfrm>
          <a:prstGeom prst="rect">
            <a:avLst/>
          </a:prstGeom>
          <a:noFill/>
        </p:spPr>
        <p:txBody>
          <a:bodyPr wrap="square" lIns="0" rIns="0" tIns="0" bIns="0" anchor="ctr">
            <a:spAutoFit/>
          </a:bodyPr>
          <a:lstStyle/>
          <a:p>
            <a:pPr>
              <a:spcAft>
                <a:spcPts val="400"/>
              </a:spcAft>
              <a:defRPr sz="1500" b="0" i="0">
                <a:solidFill>
                  <a:srgbClr val="6E6E73"/>
                </a:solidFill>
                <a:latin typeface="Segoe UI"/>
              </a:defRPr>
            </a:pPr>
            <a:r>
              <a:t>header</a:t>
            </a:r>
          </a:p>
        </p:txBody>
      </p:sp>
      <p:cxnSp>
        <p:nvCxnSpPr>
          <p:cNvPr id="14" name="hl_0959"/>
          <p:cNvCxnSpPr/>
          <p:nvPr/>
        </p:nvCxnSpPr>
        <p:spPr>
          <a:xfrm>
            <a:off x="7955279" y="2697480"/>
            <a:ext cx="3413760"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15" name="tx_0960"/>
          <p:cNvSpPr txBox="1"/>
          <p:nvPr/>
        </p:nvSpPr>
        <p:spPr>
          <a:xfrm>
            <a:off x="8001000" y="2788920"/>
            <a:ext cx="659587" cy="365760"/>
          </a:xfrm>
          <a:prstGeom prst="rect">
            <a:avLst/>
          </a:prstGeom>
          <a:noFill/>
        </p:spPr>
        <p:txBody>
          <a:bodyPr wrap="square" lIns="0" rIns="0" tIns="0" bIns="0" anchor="ctr">
            <a:spAutoFit/>
          </a:bodyPr>
          <a:lstStyle/>
          <a:p>
            <a:pPr>
              <a:spcAft>
                <a:spcPts val="400"/>
              </a:spcAft>
              <a:defRPr sz="1500" b="0" i="0">
                <a:solidFill>
                  <a:srgbClr val="1D1D1F"/>
                </a:solidFill>
                <a:latin typeface="Segoe UI Semibold"/>
              </a:defRPr>
            </a:pPr>
            <a:r>
              <a:t>8</a:t>
            </a:r>
          </a:p>
        </p:txBody>
      </p:sp>
      <p:sp>
        <p:nvSpPr>
          <p:cNvPr id="16" name="tx_0961"/>
          <p:cNvSpPr txBox="1"/>
          <p:nvPr/>
        </p:nvSpPr>
        <p:spPr>
          <a:xfrm>
            <a:off x="8752027" y="2788920"/>
            <a:ext cx="1615439" cy="365760"/>
          </a:xfrm>
          <a:prstGeom prst="rect">
            <a:avLst/>
          </a:prstGeom>
          <a:noFill/>
        </p:spPr>
        <p:txBody>
          <a:bodyPr wrap="square" lIns="0" rIns="0" tIns="0" bIns="0" anchor="ctr">
            <a:spAutoFit/>
          </a:bodyPr>
          <a:lstStyle/>
          <a:p>
            <a:pPr>
              <a:spcAft>
                <a:spcPts val="400"/>
              </a:spcAft>
              <a:defRPr sz="1500" b="0" i="0">
                <a:solidFill>
                  <a:srgbClr val="6E6E73"/>
                </a:solidFill>
                <a:latin typeface="Segoe UI"/>
              </a:defRPr>
            </a:pPr>
            <a:r>
              <a:t>completion record</a:t>
            </a:r>
          </a:p>
        </p:txBody>
      </p:sp>
      <p:sp>
        <p:nvSpPr>
          <p:cNvPr id="17" name="tx_0962"/>
          <p:cNvSpPr txBox="1"/>
          <p:nvPr/>
        </p:nvSpPr>
        <p:spPr>
          <a:xfrm>
            <a:off x="10458906" y="2788920"/>
            <a:ext cx="864412" cy="365760"/>
          </a:xfrm>
          <a:prstGeom prst="rect">
            <a:avLst/>
          </a:prstGeom>
          <a:noFill/>
        </p:spPr>
        <p:txBody>
          <a:bodyPr wrap="square" lIns="0" rIns="0" tIns="0" bIns="0" anchor="ctr">
            <a:spAutoFit/>
          </a:bodyPr>
          <a:lstStyle/>
          <a:p>
            <a:pPr>
              <a:spcAft>
                <a:spcPts val="400"/>
              </a:spcAft>
              <a:defRPr sz="1500" b="0" i="0">
                <a:solidFill>
                  <a:srgbClr val="6E6E73"/>
                </a:solidFill>
                <a:latin typeface="Segoe UI"/>
              </a:defRPr>
            </a:pPr>
            <a:r>
              <a:t>comp</a:t>
            </a:r>
          </a:p>
        </p:txBody>
      </p:sp>
      <p:cxnSp>
        <p:nvCxnSpPr>
          <p:cNvPr id="18" name="hl_0963"/>
          <p:cNvCxnSpPr/>
          <p:nvPr/>
        </p:nvCxnSpPr>
        <p:spPr>
          <a:xfrm>
            <a:off x="7955279" y="3246120"/>
            <a:ext cx="3413760"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19" name="tx_0964"/>
          <p:cNvSpPr txBox="1"/>
          <p:nvPr/>
        </p:nvSpPr>
        <p:spPr>
          <a:xfrm>
            <a:off x="8001000" y="3337560"/>
            <a:ext cx="659587" cy="365760"/>
          </a:xfrm>
          <a:prstGeom prst="rect">
            <a:avLst/>
          </a:prstGeom>
          <a:noFill/>
        </p:spPr>
        <p:txBody>
          <a:bodyPr wrap="square" lIns="0" rIns="0" tIns="0" bIns="0" anchor="ctr">
            <a:spAutoFit/>
          </a:bodyPr>
          <a:lstStyle/>
          <a:p>
            <a:pPr>
              <a:spcAft>
                <a:spcPts val="400"/>
              </a:spcAft>
              <a:defRPr sz="1500" b="0" i="0">
                <a:solidFill>
                  <a:srgbClr val="1D1D1F"/>
                </a:solidFill>
                <a:latin typeface="Segoe UI Semibold"/>
              </a:defRPr>
            </a:pPr>
            <a:r>
              <a:t>16</a:t>
            </a:r>
          </a:p>
        </p:txBody>
      </p:sp>
      <p:sp>
        <p:nvSpPr>
          <p:cNvPr id="20" name="tx_0965"/>
          <p:cNvSpPr txBox="1"/>
          <p:nvPr/>
        </p:nvSpPr>
        <p:spPr>
          <a:xfrm>
            <a:off x="8752027" y="3337560"/>
            <a:ext cx="1615439" cy="365760"/>
          </a:xfrm>
          <a:prstGeom prst="rect">
            <a:avLst/>
          </a:prstGeom>
          <a:noFill/>
        </p:spPr>
        <p:txBody>
          <a:bodyPr wrap="square" lIns="0" rIns="0" tIns="0" bIns="0" anchor="ctr">
            <a:spAutoFit/>
          </a:bodyPr>
          <a:lstStyle/>
          <a:p>
            <a:pPr>
              <a:spcAft>
                <a:spcPts val="400"/>
              </a:spcAft>
              <a:defRPr sz="1500" b="0" i="0">
                <a:solidFill>
                  <a:srgbClr val="6E6E73"/>
                </a:solidFill>
                <a:latin typeface="Segoe UI"/>
              </a:defRPr>
            </a:pPr>
            <a:r>
              <a:t>source</a:t>
            </a:r>
          </a:p>
        </p:txBody>
      </p:sp>
      <p:sp>
        <p:nvSpPr>
          <p:cNvPr id="21" name="tx_0966"/>
          <p:cNvSpPr txBox="1"/>
          <p:nvPr/>
        </p:nvSpPr>
        <p:spPr>
          <a:xfrm>
            <a:off x="10458906" y="3337560"/>
            <a:ext cx="864412" cy="365760"/>
          </a:xfrm>
          <a:prstGeom prst="rect">
            <a:avLst/>
          </a:prstGeom>
          <a:noFill/>
        </p:spPr>
        <p:txBody>
          <a:bodyPr wrap="square" lIns="0" rIns="0" tIns="0" bIns="0" anchor="ctr">
            <a:spAutoFit/>
          </a:bodyPr>
          <a:lstStyle/>
          <a:p>
            <a:pPr>
              <a:spcAft>
                <a:spcPts val="400"/>
              </a:spcAft>
              <a:defRPr sz="1500" b="0" i="0">
                <a:solidFill>
                  <a:srgbClr val="6E6E73"/>
                </a:solidFill>
                <a:latin typeface="Segoe UI"/>
              </a:defRPr>
            </a:pPr>
            <a:r>
              <a:t>src</a:t>
            </a:r>
          </a:p>
        </p:txBody>
      </p:sp>
      <p:cxnSp>
        <p:nvCxnSpPr>
          <p:cNvPr id="22" name="hl_0967"/>
          <p:cNvCxnSpPr/>
          <p:nvPr/>
        </p:nvCxnSpPr>
        <p:spPr>
          <a:xfrm>
            <a:off x="7955279" y="3794759"/>
            <a:ext cx="3413760"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23" name="tx_0968"/>
          <p:cNvSpPr txBox="1"/>
          <p:nvPr/>
        </p:nvSpPr>
        <p:spPr>
          <a:xfrm>
            <a:off x="8001000" y="3886200"/>
            <a:ext cx="659587" cy="365760"/>
          </a:xfrm>
          <a:prstGeom prst="rect">
            <a:avLst/>
          </a:prstGeom>
          <a:noFill/>
        </p:spPr>
        <p:txBody>
          <a:bodyPr wrap="square" lIns="0" rIns="0" tIns="0" bIns="0" anchor="ctr">
            <a:spAutoFit/>
          </a:bodyPr>
          <a:lstStyle/>
          <a:p>
            <a:pPr>
              <a:spcAft>
                <a:spcPts val="400"/>
              </a:spcAft>
              <a:defRPr sz="1500" b="0" i="0">
                <a:solidFill>
                  <a:srgbClr val="1D1D1F"/>
                </a:solidFill>
                <a:latin typeface="Segoe UI Semibold"/>
              </a:defRPr>
            </a:pPr>
            <a:r>
              <a:t>24</a:t>
            </a:r>
          </a:p>
        </p:txBody>
      </p:sp>
      <p:sp>
        <p:nvSpPr>
          <p:cNvPr id="24" name="tx_0969"/>
          <p:cNvSpPr txBox="1"/>
          <p:nvPr/>
        </p:nvSpPr>
        <p:spPr>
          <a:xfrm>
            <a:off x="8752027" y="3886200"/>
            <a:ext cx="1615439" cy="365760"/>
          </a:xfrm>
          <a:prstGeom prst="rect">
            <a:avLst/>
          </a:prstGeom>
          <a:noFill/>
        </p:spPr>
        <p:txBody>
          <a:bodyPr wrap="square" lIns="0" rIns="0" tIns="0" bIns="0" anchor="ctr">
            <a:spAutoFit/>
          </a:bodyPr>
          <a:lstStyle/>
          <a:p>
            <a:pPr>
              <a:spcAft>
                <a:spcPts val="400"/>
              </a:spcAft>
              <a:defRPr sz="1500" b="0" i="0">
                <a:solidFill>
                  <a:srgbClr val="6E6E73"/>
                </a:solidFill>
                <a:latin typeface="Segoe UI"/>
              </a:defRPr>
            </a:pPr>
            <a:r>
              <a:t>dest OR source2</a:t>
            </a:r>
          </a:p>
        </p:txBody>
      </p:sp>
      <p:sp>
        <p:nvSpPr>
          <p:cNvPr id="25" name="tx_0970"/>
          <p:cNvSpPr txBox="1"/>
          <p:nvPr/>
        </p:nvSpPr>
        <p:spPr>
          <a:xfrm>
            <a:off x="10458906" y="3886200"/>
            <a:ext cx="864412" cy="365760"/>
          </a:xfrm>
          <a:prstGeom prst="rect">
            <a:avLst/>
          </a:prstGeom>
          <a:noFill/>
        </p:spPr>
        <p:txBody>
          <a:bodyPr wrap="square" lIns="0" rIns="0" tIns="0" bIns="0" anchor="ctr">
            <a:spAutoFit/>
          </a:bodyPr>
          <a:lstStyle/>
          <a:p>
            <a:pPr>
              <a:spcAft>
                <a:spcPts val="400"/>
              </a:spcAft>
              <a:defRPr sz="1500" b="0" i="0">
                <a:solidFill>
                  <a:srgbClr val="6E6E73"/>
                </a:solidFill>
                <a:latin typeface="Segoe UI"/>
              </a:defRPr>
            </a:pPr>
            <a:r>
              <a:t>dst / src2</a:t>
            </a:r>
          </a:p>
        </p:txBody>
      </p:sp>
      <p:cxnSp>
        <p:nvCxnSpPr>
          <p:cNvPr id="26" name="hl_0971"/>
          <p:cNvCxnSpPr/>
          <p:nvPr/>
        </p:nvCxnSpPr>
        <p:spPr>
          <a:xfrm>
            <a:off x="7955279" y="4343400"/>
            <a:ext cx="3413760"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27" name="tx_0972"/>
          <p:cNvSpPr txBox="1"/>
          <p:nvPr/>
        </p:nvSpPr>
        <p:spPr>
          <a:xfrm>
            <a:off x="8001000" y="4434840"/>
            <a:ext cx="659587" cy="365760"/>
          </a:xfrm>
          <a:prstGeom prst="rect">
            <a:avLst/>
          </a:prstGeom>
          <a:noFill/>
        </p:spPr>
        <p:txBody>
          <a:bodyPr wrap="square" lIns="0" rIns="0" tIns="0" bIns="0" anchor="ctr">
            <a:spAutoFit/>
          </a:bodyPr>
          <a:lstStyle/>
          <a:p>
            <a:pPr>
              <a:spcAft>
                <a:spcPts val="400"/>
              </a:spcAft>
              <a:defRPr sz="1500" b="0" i="0">
                <a:solidFill>
                  <a:srgbClr val="1D1D1F"/>
                </a:solidFill>
                <a:latin typeface="Segoe UI Semibold"/>
              </a:defRPr>
            </a:pPr>
            <a:r>
              <a:t>40</a:t>
            </a:r>
          </a:p>
        </p:txBody>
      </p:sp>
      <p:sp>
        <p:nvSpPr>
          <p:cNvPr id="28" name="tx_0973"/>
          <p:cNvSpPr txBox="1"/>
          <p:nvPr/>
        </p:nvSpPr>
        <p:spPr>
          <a:xfrm>
            <a:off x="8752027" y="4434840"/>
            <a:ext cx="1615439" cy="365760"/>
          </a:xfrm>
          <a:prstGeom prst="rect">
            <a:avLst/>
          </a:prstGeom>
          <a:noFill/>
        </p:spPr>
        <p:txBody>
          <a:bodyPr wrap="square" lIns="0" rIns="0" tIns="0" bIns="0" anchor="ctr">
            <a:spAutoFit/>
          </a:bodyPr>
          <a:lstStyle/>
          <a:p>
            <a:pPr>
              <a:spcAft>
                <a:spcPts val="400"/>
              </a:spcAft>
              <a:defRPr sz="1500" b="0" i="0">
                <a:solidFill>
                  <a:srgbClr val="6E6E73"/>
                </a:solidFill>
                <a:latin typeface="Segoe UI"/>
              </a:defRPr>
            </a:pPr>
            <a:r>
              <a:t>second dest</a:t>
            </a:r>
          </a:p>
        </p:txBody>
      </p:sp>
      <p:sp>
        <p:nvSpPr>
          <p:cNvPr id="29" name="tx_0974"/>
          <p:cNvSpPr txBox="1"/>
          <p:nvPr/>
        </p:nvSpPr>
        <p:spPr>
          <a:xfrm>
            <a:off x="10458906" y="4434840"/>
            <a:ext cx="864412" cy="365760"/>
          </a:xfrm>
          <a:prstGeom prst="rect">
            <a:avLst/>
          </a:prstGeom>
          <a:noFill/>
        </p:spPr>
        <p:txBody>
          <a:bodyPr wrap="square" lIns="0" rIns="0" tIns="0" bIns="0" anchor="ctr">
            <a:spAutoFit/>
          </a:bodyPr>
          <a:lstStyle/>
          <a:p>
            <a:pPr>
              <a:spcAft>
                <a:spcPts val="400"/>
              </a:spcAft>
              <a:defRPr sz="1500" b="0" i="0">
                <a:solidFill>
                  <a:srgbClr val="6E6E73"/>
                </a:solidFill>
                <a:latin typeface="Segoe UI"/>
              </a:defRPr>
            </a:pPr>
            <a:r>
              <a:t>dst2</a:t>
            </a:r>
          </a:p>
        </p:txBody>
      </p:sp>
      <p:cxnSp>
        <p:nvCxnSpPr>
          <p:cNvPr id="30" name="hl_0975"/>
          <p:cNvCxnSpPr/>
          <p:nvPr/>
        </p:nvCxnSpPr>
        <p:spPr>
          <a:xfrm>
            <a:off x="7955279" y="4892040"/>
            <a:ext cx="3413760"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x_0976"/>
          <p:cNvSpPr txBox="1"/>
          <p:nvPr/>
        </p:nvSpPr>
        <p:spPr>
          <a:xfrm>
            <a:off x="822960" y="502920"/>
            <a:ext cx="10546079" cy="274320"/>
          </a:xfrm>
          <a:prstGeom prst="rect">
            <a:avLst/>
          </a:prstGeom>
          <a:noFill/>
        </p:spPr>
        <p:txBody>
          <a:bodyPr wrap="square" lIns="0" rIns="0" tIns="0" bIns="0">
            <a:spAutoFit/>
          </a:bodyPr>
          <a:lstStyle/>
          <a:p>
            <a:pPr>
              <a:spcAft>
                <a:spcPts val="400"/>
              </a:spcAft>
              <a:defRPr sz="1200" b="0" i="0">
                <a:solidFill>
                  <a:srgbClr val="0071E3"/>
                </a:solidFill>
                <a:latin typeface="Segoe UI Semibold"/>
              </a:defRPr>
            </a:pPr>
            <a:r>
              <a:t>Backup · Timing &amp; calibration</a:t>
            </a:r>
          </a:p>
        </p:txBody>
      </p:sp>
      <p:sp>
        <p:nvSpPr>
          <p:cNvPr id="3" name="tx_0977"/>
          <p:cNvSpPr txBox="1"/>
          <p:nvPr/>
        </p:nvSpPr>
        <p:spPr>
          <a:xfrm>
            <a:off x="822960" y="822960"/>
            <a:ext cx="10546079" cy="914400"/>
          </a:xfrm>
          <a:prstGeom prst="rect">
            <a:avLst/>
          </a:prstGeom>
          <a:noFill/>
        </p:spPr>
        <p:txBody>
          <a:bodyPr wrap="square" lIns="0" rIns="0" tIns="0" bIns="0">
            <a:spAutoFit/>
          </a:bodyPr>
          <a:lstStyle/>
          <a:p>
            <a:pPr>
              <a:lnSpc>
                <a:spcPct val="100000"/>
              </a:lnSpc>
              <a:spcAft>
                <a:spcPts val="400"/>
              </a:spcAft>
              <a:defRPr sz="3000" b="0" i="0">
                <a:solidFill>
                  <a:srgbClr val="1D1D1F"/>
                </a:solidFill>
                <a:latin typeface="Segoe UI Semibold"/>
              </a:defRPr>
            </a:pPr>
            <a:r>
              <a:t>Observation windows have different constraints</a:t>
            </a:r>
          </a:p>
        </p:txBody>
      </p:sp>
      <p:sp>
        <p:nvSpPr>
          <p:cNvPr id="4" name="tx_0978"/>
          <p:cNvSpPr txBox="1"/>
          <p:nvPr/>
        </p:nvSpPr>
        <p:spPr>
          <a:xfrm>
            <a:off x="822960" y="6419088"/>
            <a:ext cx="9631679" cy="228600"/>
          </a:xfrm>
          <a:prstGeom prst="rect">
            <a:avLst/>
          </a:prstGeom>
          <a:noFill/>
        </p:spPr>
        <p:txBody>
          <a:bodyPr wrap="square" lIns="0" rIns="0" tIns="0" bIns="0">
            <a:spAutoFit/>
          </a:bodyPr>
          <a:lstStyle/>
          <a:p>
            <a:pPr>
              <a:spcAft>
                <a:spcPts val="400"/>
              </a:spcAft>
              <a:defRPr sz="1000" b="0" i="0">
                <a:solidFill>
                  <a:srgbClr val="86868B"/>
                </a:solidFill>
                <a:latin typeface="Segoe UI"/>
              </a:defRPr>
            </a:pPr>
            <a:r>
              <a:t>Paper §§ IV-B–C, V-B–C · pp. 5–8</a:t>
            </a:r>
          </a:p>
        </p:txBody>
      </p:sp>
      <p:sp>
        <p:nvSpPr>
          <p:cNvPr id="5" name="tx_0979"/>
          <p:cNvSpPr txBox="1"/>
          <p:nvPr/>
        </p:nvSpPr>
        <p:spPr>
          <a:xfrm>
            <a:off x="10820399" y="6419088"/>
            <a:ext cx="548640" cy="228600"/>
          </a:xfrm>
          <a:prstGeom prst="rect">
            <a:avLst/>
          </a:prstGeom>
          <a:noFill/>
        </p:spPr>
        <p:txBody>
          <a:bodyPr wrap="square" lIns="0" rIns="0" tIns="0" bIns="0">
            <a:spAutoFit/>
          </a:bodyPr>
          <a:lstStyle/>
          <a:p>
            <a:pPr algn="r">
              <a:spcAft>
                <a:spcPts val="400"/>
              </a:spcAft>
              <a:defRPr sz="1000" b="0" i="0">
                <a:solidFill>
                  <a:srgbClr val="86868B"/>
                </a:solidFill>
                <a:latin typeface="Segoe UI"/>
              </a:defRPr>
            </a:pPr>
            <a:r>
              <a:t>53</a:t>
            </a:r>
          </a:p>
        </p:txBody>
      </p:sp>
      <p:sp>
        <p:nvSpPr>
          <p:cNvPr id="6" name="tx_0980"/>
          <p:cNvSpPr txBox="1"/>
          <p:nvPr/>
        </p:nvSpPr>
        <p:spPr>
          <a:xfrm>
            <a:off x="868680" y="1783080"/>
            <a:ext cx="2017775" cy="274320"/>
          </a:xfrm>
          <a:prstGeom prst="rect">
            <a:avLst/>
          </a:prstGeom>
          <a:noFill/>
        </p:spPr>
        <p:txBody>
          <a:bodyPr wrap="square" lIns="0" rIns="0" tIns="0" bIns="0">
            <a:spAutoFit/>
          </a:bodyPr>
          <a:lstStyle/>
          <a:p>
            <a:pPr>
              <a:spcAft>
                <a:spcPts val="400"/>
              </a:spcAft>
              <a:defRPr sz="1200" b="0" i="0">
                <a:solidFill>
                  <a:srgbClr val="86868B"/>
                </a:solidFill>
                <a:latin typeface="Segoe UI Semibold"/>
              </a:defRPr>
            </a:pPr>
            <a:r>
              <a:t>ASPECT</a:t>
            </a:r>
          </a:p>
        </p:txBody>
      </p:sp>
      <p:sp>
        <p:nvSpPr>
          <p:cNvPr id="7" name="tx_0981"/>
          <p:cNvSpPr txBox="1"/>
          <p:nvPr/>
        </p:nvSpPr>
        <p:spPr>
          <a:xfrm>
            <a:off x="2977895" y="1783080"/>
            <a:ext cx="4126991" cy="274320"/>
          </a:xfrm>
          <a:prstGeom prst="rect">
            <a:avLst/>
          </a:prstGeom>
          <a:noFill/>
        </p:spPr>
        <p:txBody>
          <a:bodyPr wrap="square" lIns="0" rIns="0" tIns="0" bIns="0">
            <a:spAutoFit/>
          </a:bodyPr>
          <a:lstStyle/>
          <a:p>
            <a:pPr>
              <a:spcAft>
                <a:spcPts val="400"/>
              </a:spcAft>
              <a:defRPr sz="1200" b="0" i="0">
                <a:solidFill>
                  <a:srgbClr val="86868B"/>
                </a:solidFill>
                <a:latin typeface="Segoe UI Semibold"/>
              </a:defRPr>
            </a:pPr>
            <a:r>
              <a:t>DEVTLB</a:t>
            </a:r>
          </a:p>
        </p:txBody>
      </p:sp>
      <p:sp>
        <p:nvSpPr>
          <p:cNvPr id="8" name="tx_0982"/>
          <p:cNvSpPr txBox="1"/>
          <p:nvPr/>
        </p:nvSpPr>
        <p:spPr>
          <a:xfrm>
            <a:off x="7196327" y="1783080"/>
            <a:ext cx="4126991" cy="274320"/>
          </a:xfrm>
          <a:prstGeom prst="rect">
            <a:avLst/>
          </a:prstGeom>
          <a:noFill/>
        </p:spPr>
        <p:txBody>
          <a:bodyPr wrap="square" lIns="0" rIns="0" tIns="0" bIns="0">
            <a:spAutoFit/>
          </a:bodyPr>
          <a:lstStyle/>
          <a:p>
            <a:pPr>
              <a:spcAft>
                <a:spcPts val="400"/>
              </a:spcAft>
              <a:defRPr sz="1200" b="0" i="0">
                <a:solidFill>
                  <a:srgbClr val="86868B"/>
                </a:solidFill>
                <a:latin typeface="Segoe UI Semibold"/>
              </a:defRPr>
            </a:pPr>
            <a:r>
              <a:t>SWQ</a:t>
            </a:r>
          </a:p>
        </p:txBody>
      </p:sp>
      <p:cxnSp>
        <p:nvCxnSpPr>
          <p:cNvPr id="9" name="hl_0983"/>
          <p:cNvCxnSpPr/>
          <p:nvPr/>
        </p:nvCxnSpPr>
        <p:spPr>
          <a:xfrm>
            <a:off x="822960" y="2148840"/>
            <a:ext cx="10546079" cy="0"/>
          </a:xfrm>
          <a:prstGeom prst="line">
            <a:avLst/>
          </a:prstGeom>
          <a:ln w="12700">
            <a:solidFill>
              <a:srgbClr val="1D1D1F"/>
            </a:solidFill>
          </a:ln>
        </p:spPr>
        <p:style>
          <a:lnRef idx="2">
            <a:schemeClr val="accent1"/>
          </a:lnRef>
          <a:fillRef idx="0">
            <a:schemeClr val="accent1"/>
          </a:fillRef>
          <a:effectRef idx="1">
            <a:schemeClr val="accent1"/>
          </a:effectRef>
          <a:fontRef idx="minor">
            <a:schemeClr val="tx1"/>
          </a:fontRef>
        </p:style>
      </p:cxnSp>
      <p:sp>
        <p:nvSpPr>
          <p:cNvPr id="10" name="tx_0984"/>
          <p:cNvSpPr txBox="1"/>
          <p:nvPr/>
        </p:nvSpPr>
        <p:spPr>
          <a:xfrm>
            <a:off x="868680" y="2240280"/>
            <a:ext cx="2017775"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Semibold"/>
              </a:defRPr>
            </a:pPr>
            <a:r>
              <a:t>Prepare</a:t>
            </a:r>
          </a:p>
        </p:txBody>
      </p:sp>
      <p:sp>
        <p:nvSpPr>
          <p:cNvPr id="11" name="tx_0985"/>
          <p:cNvSpPr txBox="1"/>
          <p:nvPr/>
        </p:nvSpPr>
        <p:spPr>
          <a:xfrm>
            <a:off x="2977895" y="2240280"/>
            <a:ext cx="4126991"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a:defRPr>
            </a:pPr>
            <a:r>
              <a:t>own comp-page cached</a:t>
            </a:r>
          </a:p>
        </p:txBody>
      </p:sp>
      <p:sp>
        <p:nvSpPr>
          <p:cNvPr id="12" name="tx_0986"/>
          <p:cNvSpPr txBox="1"/>
          <p:nvPr/>
        </p:nvSpPr>
        <p:spPr>
          <a:xfrm>
            <a:off x="7196327" y="2240280"/>
            <a:ext cx="4126991"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a:defRPr>
            </a:pPr>
            <a:r>
              <a:t>effective occupancy ≈ N−1</a:t>
            </a:r>
          </a:p>
        </p:txBody>
      </p:sp>
      <p:cxnSp>
        <p:nvCxnSpPr>
          <p:cNvPr id="13" name="hl_0987"/>
          <p:cNvCxnSpPr/>
          <p:nvPr/>
        </p:nvCxnSpPr>
        <p:spPr>
          <a:xfrm>
            <a:off x="822960" y="2697480"/>
            <a:ext cx="10546079"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14" name="tx_0988"/>
          <p:cNvSpPr txBox="1"/>
          <p:nvPr/>
        </p:nvSpPr>
        <p:spPr>
          <a:xfrm>
            <a:off x="868680" y="2788920"/>
            <a:ext cx="2017775"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Semibold"/>
              </a:defRPr>
            </a:pPr>
            <a:r>
              <a:t>Idle window</a:t>
            </a:r>
          </a:p>
        </p:txBody>
      </p:sp>
      <p:sp>
        <p:nvSpPr>
          <p:cNvPr id="15" name="tx_0989"/>
          <p:cNvSpPr txBox="1"/>
          <p:nvPr/>
        </p:nvSpPr>
        <p:spPr>
          <a:xfrm>
            <a:off x="2977895" y="2788920"/>
            <a:ext cx="4126991"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a:defRPr>
            </a:pPr>
            <a:r>
              <a:t>permit victim execution</a:t>
            </a:r>
          </a:p>
        </p:txBody>
      </p:sp>
      <p:sp>
        <p:nvSpPr>
          <p:cNvPr id="16" name="tx_0990"/>
          <p:cNvSpPr txBox="1"/>
          <p:nvPr/>
        </p:nvSpPr>
        <p:spPr>
          <a:xfrm>
            <a:off x="7196327" y="2788920"/>
            <a:ext cx="4126991"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a:defRPr>
            </a:pPr>
            <a:r>
              <a:t>shorter than holding copy</a:t>
            </a:r>
          </a:p>
        </p:txBody>
      </p:sp>
      <p:cxnSp>
        <p:nvCxnSpPr>
          <p:cNvPr id="17" name="hl_0991"/>
          <p:cNvCxnSpPr/>
          <p:nvPr/>
        </p:nvCxnSpPr>
        <p:spPr>
          <a:xfrm>
            <a:off x="822960" y="3246120"/>
            <a:ext cx="10546079"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18" name="tx_0992"/>
          <p:cNvSpPr txBox="1"/>
          <p:nvPr/>
        </p:nvSpPr>
        <p:spPr>
          <a:xfrm>
            <a:off x="868680" y="3337560"/>
            <a:ext cx="2017775"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Semibold"/>
              </a:defRPr>
            </a:pPr>
            <a:r>
              <a:t>Probe</a:t>
            </a:r>
          </a:p>
        </p:txBody>
      </p:sp>
      <p:sp>
        <p:nvSpPr>
          <p:cNvPr id="19" name="tx_0993"/>
          <p:cNvSpPr txBox="1"/>
          <p:nvPr/>
        </p:nvSpPr>
        <p:spPr>
          <a:xfrm>
            <a:off x="2977895" y="3337560"/>
            <a:ext cx="4126991"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a:defRPr>
            </a:pPr>
            <a:r>
              <a:t>time own completion</a:t>
            </a:r>
          </a:p>
        </p:txBody>
      </p:sp>
      <p:sp>
        <p:nvSpPr>
          <p:cNvPr id="20" name="tx_0994"/>
          <p:cNvSpPr txBox="1"/>
          <p:nvPr/>
        </p:nvSpPr>
        <p:spPr>
          <a:xfrm>
            <a:off x="7196327" y="3337560"/>
            <a:ext cx="4126991"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a:defRPr>
            </a:pPr>
            <a:r>
              <a:t>read acceptance / retry</a:t>
            </a:r>
          </a:p>
        </p:txBody>
      </p:sp>
      <p:cxnSp>
        <p:nvCxnSpPr>
          <p:cNvPr id="21" name="hl_0995"/>
          <p:cNvCxnSpPr/>
          <p:nvPr/>
        </p:nvCxnSpPr>
        <p:spPr>
          <a:xfrm>
            <a:off x="822960" y="3794759"/>
            <a:ext cx="10546079"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22" name="tx_0996"/>
          <p:cNvSpPr txBox="1"/>
          <p:nvPr/>
        </p:nvSpPr>
        <p:spPr>
          <a:xfrm>
            <a:off x="868680" y="3886200"/>
            <a:ext cx="2017775"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Semibold"/>
              </a:defRPr>
            </a:pPr>
            <a:r>
              <a:t>Calibration</a:t>
            </a:r>
          </a:p>
        </p:txBody>
      </p:sp>
      <p:sp>
        <p:nvSpPr>
          <p:cNvPr id="23" name="tx_0997"/>
          <p:cNvSpPr txBox="1"/>
          <p:nvPr/>
        </p:nvSpPr>
        <p:spPr>
          <a:xfrm>
            <a:off x="2977895" y="3886200"/>
            <a:ext cx="4126991"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a:defRPr>
            </a:pPr>
            <a:r>
              <a:t>hit / miss distributions</a:t>
            </a:r>
          </a:p>
        </p:txBody>
      </p:sp>
      <p:sp>
        <p:nvSpPr>
          <p:cNvPr id="24" name="tx_0998"/>
          <p:cNvSpPr txBox="1"/>
          <p:nvPr/>
        </p:nvSpPr>
        <p:spPr>
          <a:xfrm>
            <a:off x="7196327" y="3886200"/>
            <a:ext cx="4126991"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a:defRPr>
            </a:pPr>
            <a:r>
              <a:t>queue depth + drain</a:t>
            </a:r>
          </a:p>
        </p:txBody>
      </p:sp>
      <p:cxnSp>
        <p:nvCxnSpPr>
          <p:cNvPr id="25" name="hl_0999"/>
          <p:cNvCxnSpPr/>
          <p:nvPr/>
        </p:nvCxnSpPr>
        <p:spPr>
          <a:xfrm>
            <a:off x="822960" y="4343400"/>
            <a:ext cx="10546079"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26" name="tx_1000"/>
          <p:cNvSpPr txBox="1"/>
          <p:nvPr/>
        </p:nvSpPr>
        <p:spPr>
          <a:xfrm>
            <a:off x="868680" y="4434840"/>
            <a:ext cx="2017775"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Semibold"/>
              </a:defRPr>
            </a:pPr>
            <a:r>
              <a:t>Confounder</a:t>
            </a:r>
          </a:p>
        </p:txBody>
      </p:sp>
      <p:sp>
        <p:nvSpPr>
          <p:cNvPr id="27" name="tx_1001"/>
          <p:cNvSpPr txBox="1"/>
          <p:nvPr/>
        </p:nvSpPr>
        <p:spPr>
          <a:xfrm>
            <a:off x="2977895" y="4434840"/>
            <a:ext cx="4126991"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a:defRPr>
            </a:pPr>
            <a:r>
              <a:t>other users of the slot</a:t>
            </a:r>
          </a:p>
        </p:txBody>
      </p:sp>
      <p:sp>
        <p:nvSpPr>
          <p:cNvPr id="28" name="tx_1002"/>
          <p:cNvSpPr txBox="1"/>
          <p:nvPr/>
        </p:nvSpPr>
        <p:spPr>
          <a:xfrm>
            <a:off x="7196327" y="4434840"/>
            <a:ext cx="4126991"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a:defRPr>
            </a:pPr>
            <a:r>
              <a:t>other submissions / completions</a:t>
            </a:r>
          </a:p>
        </p:txBody>
      </p:sp>
      <p:cxnSp>
        <p:nvCxnSpPr>
          <p:cNvPr id="29" name="hl_1003"/>
          <p:cNvCxnSpPr/>
          <p:nvPr/>
        </p:nvCxnSpPr>
        <p:spPr>
          <a:xfrm>
            <a:off x="822960" y="4892040"/>
            <a:ext cx="10546079"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x_1004"/>
          <p:cNvSpPr txBox="1"/>
          <p:nvPr/>
        </p:nvSpPr>
        <p:spPr>
          <a:xfrm>
            <a:off x="822960" y="502920"/>
            <a:ext cx="10546079" cy="274320"/>
          </a:xfrm>
          <a:prstGeom prst="rect">
            <a:avLst/>
          </a:prstGeom>
          <a:noFill/>
        </p:spPr>
        <p:txBody>
          <a:bodyPr wrap="square" lIns="0" rIns="0" tIns="0" bIns="0">
            <a:spAutoFit/>
          </a:bodyPr>
          <a:lstStyle/>
          <a:p>
            <a:pPr>
              <a:spcAft>
                <a:spcPts val="400"/>
              </a:spcAft>
              <a:defRPr sz="1200" b="0" i="0">
                <a:solidFill>
                  <a:srgbClr val="0071E3"/>
                </a:solidFill>
                <a:latin typeface="Segoe UI Semibold"/>
              </a:defRPr>
            </a:pPr>
            <a:r>
              <a:t>Backup · Reporting audit</a:t>
            </a:r>
          </a:p>
        </p:txBody>
      </p:sp>
      <p:sp>
        <p:nvSpPr>
          <p:cNvPr id="3" name="tx_1005"/>
          <p:cNvSpPr txBox="1"/>
          <p:nvPr/>
        </p:nvSpPr>
        <p:spPr>
          <a:xfrm>
            <a:off x="822960" y="822960"/>
            <a:ext cx="10546079" cy="914400"/>
          </a:xfrm>
          <a:prstGeom prst="rect">
            <a:avLst/>
          </a:prstGeom>
          <a:noFill/>
        </p:spPr>
        <p:txBody>
          <a:bodyPr wrap="square" lIns="0" rIns="0" tIns="0" bIns="0">
            <a:spAutoFit/>
          </a:bodyPr>
          <a:lstStyle/>
          <a:p>
            <a:pPr>
              <a:lnSpc>
                <a:spcPct val="100000"/>
              </a:lnSpc>
              <a:spcAft>
                <a:spcPts val="400"/>
              </a:spcAft>
              <a:defRPr sz="3000" b="0" i="0">
                <a:solidFill>
                  <a:srgbClr val="1D1D1F"/>
                </a:solidFill>
                <a:latin typeface="Segoe UI Semibold"/>
              </a:defRPr>
            </a:pPr>
            <a:r>
              <a:t>Keystroke count arithmetic needs clarification</a:t>
            </a:r>
          </a:p>
        </p:txBody>
      </p:sp>
      <p:sp>
        <p:nvSpPr>
          <p:cNvPr id="4" name="tx_1006"/>
          <p:cNvSpPr txBox="1"/>
          <p:nvPr/>
        </p:nvSpPr>
        <p:spPr>
          <a:xfrm>
            <a:off x="822960" y="6419088"/>
            <a:ext cx="9631679" cy="228600"/>
          </a:xfrm>
          <a:prstGeom prst="rect">
            <a:avLst/>
          </a:prstGeom>
          <a:noFill/>
        </p:spPr>
        <p:txBody>
          <a:bodyPr wrap="square" lIns="0" rIns="0" tIns="0" bIns="0">
            <a:spAutoFit/>
          </a:bodyPr>
          <a:lstStyle/>
          <a:p>
            <a:pPr>
              <a:spcAft>
                <a:spcPts val="400"/>
              </a:spcAft>
              <a:defRPr sz="1000" b="0" i="0">
                <a:solidFill>
                  <a:srgbClr val="86868B"/>
                </a:solidFill>
                <a:latin typeface="Segoe UI"/>
              </a:defRPr>
            </a:pPr>
            <a:r>
              <a:t>Paper § VI-C · p. 10 · diagnostic only</a:t>
            </a:r>
          </a:p>
        </p:txBody>
      </p:sp>
      <p:sp>
        <p:nvSpPr>
          <p:cNvPr id="5" name="tx_1007"/>
          <p:cNvSpPr txBox="1"/>
          <p:nvPr/>
        </p:nvSpPr>
        <p:spPr>
          <a:xfrm>
            <a:off x="10820399" y="6419088"/>
            <a:ext cx="548640" cy="228600"/>
          </a:xfrm>
          <a:prstGeom prst="rect">
            <a:avLst/>
          </a:prstGeom>
          <a:noFill/>
        </p:spPr>
        <p:txBody>
          <a:bodyPr wrap="square" lIns="0" rIns="0" tIns="0" bIns="0">
            <a:spAutoFit/>
          </a:bodyPr>
          <a:lstStyle/>
          <a:p>
            <a:pPr algn="r">
              <a:spcAft>
                <a:spcPts val="400"/>
              </a:spcAft>
              <a:defRPr sz="1000" b="0" i="0">
                <a:solidFill>
                  <a:srgbClr val="86868B"/>
                </a:solidFill>
                <a:latin typeface="Segoe UI"/>
              </a:defRPr>
            </a:pPr>
            <a:r>
              <a:t>54</a:t>
            </a:r>
          </a:p>
        </p:txBody>
      </p:sp>
      <p:sp>
        <p:nvSpPr>
          <p:cNvPr id="6" name="tx_1008"/>
          <p:cNvSpPr txBox="1"/>
          <p:nvPr/>
        </p:nvSpPr>
        <p:spPr>
          <a:xfrm>
            <a:off x="868680" y="1783080"/>
            <a:ext cx="5181599" cy="274320"/>
          </a:xfrm>
          <a:prstGeom prst="rect">
            <a:avLst/>
          </a:prstGeom>
          <a:noFill/>
        </p:spPr>
        <p:txBody>
          <a:bodyPr wrap="square" lIns="0" rIns="0" tIns="0" bIns="0">
            <a:spAutoFit/>
          </a:bodyPr>
          <a:lstStyle/>
          <a:p>
            <a:pPr>
              <a:spcAft>
                <a:spcPts val="400"/>
              </a:spcAft>
              <a:defRPr sz="1200" b="0" i="0">
                <a:solidFill>
                  <a:srgbClr val="86868B"/>
                </a:solidFill>
                <a:latin typeface="Segoe UI Semibold"/>
              </a:defRPr>
            </a:pPr>
            <a:r>
              <a:t>FOR 512 GROUND-TRUTH EVENTS</a:t>
            </a:r>
          </a:p>
        </p:txBody>
      </p:sp>
      <p:sp>
        <p:nvSpPr>
          <p:cNvPr id="7" name="tx_1009"/>
          <p:cNvSpPr txBox="1"/>
          <p:nvPr/>
        </p:nvSpPr>
        <p:spPr>
          <a:xfrm>
            <a:off x="6141719" y="1783080"/>
            <a:ext cx="2545079" cy="274320"/>
          </a:xfrm>
          <a:prstGeom prst="rect">
            <a:avLst/>
          </a:prstGeom>
          <a:noFill/>
        </p:spPr>
        <p:txBody>
          <a:bodyPr wrap="square" lIns="0" rIns="0" tIns="0" bIns="0">
            <a:spAutoFit/>
          </a:bodyPr>
          <a:lstStyle/>
          <a:p>
            <a:pPr>
              <a:spcAft>
                <a:spcPts val="400"/>
              </a:spcAft>
              <a:defRPr sz="1200" b="0" i="0">
                <a:solidFill>
                  <a:srgbClr val="86868B"/>
                </a:solidFill>
                <a:latin typeface="Segoe UI Semibold"/>
              </a:defRPr>
            </a:pPr>
            <a:r>
              <a:t>DEVTLB</a:t>
            </a:r>
          </a:p>
        </p:txBody>
      </p:sp>
      <p:sp>
        <p:nvSpPr>
          <p:cNvPr id="8" name="tx_1010"/>
          <p:cNvSpPr txBox="1"/>
          <p:nvPr/>
        </p:nvSpPr>
        <p:spPr>
          <a:xfrm>
            <a:off x="8778239" y="1783080"/>
            <a:ext cx="2545079" cy="274320"/>
          </a:xfrm>
          <a:prstGeom prst="rect">
            <a:avLst/>
          </a:prstGeom>
          <a:noFill/>
        </p:spPr>
        <p:txBody>
          <a:bodyPr wrap="square" lIns="0" rIns="0" tIns="0" bIns="0">
            <a:spAutoFit/>
          </a:bodyPr>
          <a:lstStyle/>
          <a:p>
            <a:pPr>
              <a:spcAft>
                <a:spcPts val="400"/>
              </a:spcAft>
              <a:defRPr sz="1200" b="0" i="0">
                <a:solidFill>
                  <a:srgbClr val="86868B"/>
                </a:solidFill>
                <a:latin typeface="Segoe UI Semibold"/>
              </a:defRPr>
            </a:pPr>
            <a:r>
              <a:t>SWQ</a:t>
            </a:r>
          </a:p>
        </p:txBody>
      </p:sp>
      <p:cxnSp>
        <p:nvCxnSpPr>
          <p:cNvPr id="9" name="hl_1011"/>
          <p:cNvCxnSpPr/>
          <p:nvPr/>
        </p:nvCxnSpPr>
        <p:spPr>
          <a:xfrm>
            <a:off x="822960" y="2148840"/>
            <a:ext cx="10546079" cy="0"/>
          </a:xfrm>
          <a:prstGeom prst="line">
            <a:avLst/>
          </a:prstGeom>
          <a:ln w="12700">
            <a:solidFill>
              <a:srgbClr val="1D1D1F"/>
            </a:solidFill>
          </a:ln>
        </p:spPr>
        <p:style>
          <a:lnRef idx="2">
            <a:schemeClr val="accent1"/>
          </a:lnRef>
          <a:fillRef idx="0">
            <a:schemeClr val="accent1"/>
          </a:fillRef>
          <a:effectRef idx="1">
            <a:schemeClr val="accent1"/>
          </a:effectRef>
          <a:fontRef idx="minor">
            <a:schemeClr val="tx1"/>
          </a:fontRef>
        </p:style>
      </p:cxnSp>
      <p:sp>
        <p:nvSpPr>
          <p:cNvPr id="10" name="tx_1012"/>
          <p:cNvSpPr txBox="1"/>
          <p:nvPr/>
        </p:nvSpPr>
        <p:spPr>
          <a:xfrm>
            <a:off x="868680" y="2231136"/>
            <a:ext cx="5181599"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Semibold"/>
              </a:defRPr>
            </a:pPr>
            <a:r>
              <a:t>Reported detections / FP</a:t>
            </a:r>
          </a:p>
        </p:txBody>
      </p:sp>
      <p:sp>
        <p:nvSpPr>
          <p:cNvPr id="11" name="tx_1013"/>
          <p:cNvSpPr txBox="1"/>
          <p:nvPr/>
        </p:nvSpPr>
        <p:spPr>
          <a:xfrm>
            <a:off x="6141719" y="2231136"/>
            <a:ext cx="2545079"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a:defRPr>
            </a:pPr>
            <a:r>
              <a:t>515 / 15</a:t>
            </a:r>
          </a:p>
        </p:txBody>
      </p:sp>
      <p:sp>
        <p:nvSpPr>
          <p:cNvPr id="12" name="tx_1014"/>
          <p:cNvSpPr txBox="1"/>
          <p:nvPr/>
        </p:nvSpPr>
        <p:spPr>
          <a:xfrm>
            <a:off x="8778239" y="2231136"/>
            <a:ext cx="2545079"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a:defRPr>
            </a:pPr>
            <a:r>
              <a:t>511 / 7</a:t>
            </a:r>
          </a:p>
        </p:txBody>
      </p:sp>
      <p:cxnSp>
        <p:nvCxnSpPr>
          <p:cNvPr id="13" name="hl_1015"/>
          <p:cNvCxnSpPr/>
          <p:nvPr/>
        </p:nvCxnSpPr>
        <p:spPr>
          <a:xfrm>
            <a:off x="822960" y="2679192"/>
            <a:ext cx="10546079"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14" name="tx_1016"/>
          <p:cNvSpPr txBox="1"/>
          <p:nvPr/>
        </p:nvSpPr>
        <p:spPr>
          <a:xfrm>
            <a:off x="868680" y="2761488"/>
            <a:ext cx="5181599"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Semibold"/>
              </a:defRPr>
            </a:pPr>
            <a:r>
              <a:t>Implied TP = det − FP</a:t>
            </a:r>
          </a:p>
        </p:txBody>
      </p:sp>
      <p:sp>
        <p:nvSpPr>
          <p:cNvPr id="15" name="tx_1017"/>
          <p:cNvSpPr txBox="1"/>
          <p:nvPr/>
        </p:nvSpPr>
        <p:spPr>
          <a:xfrm>
            <a:off x="6141719" y="2761488"/>
            <a:ext cx="2545079"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a:defRPr>
            </a:pPr>
            <a:r>
              <a:t>500</a:t>
            </a:r>
          </a:p>
        </p:txBody>
      </p:sp>
      <p:sp>
        <p:nvSpPr>
          <p:cNvPr id="16" name="tx_1018"/>
          <p:cNvSpPr txBox="1"/>
          <p:nvPr/>
        </p:nvSpPr>
        <p:spPr>
          <a:xfrm>
            <a:off x="8778239" y="2761488"/>
            <a:ext cx="2545079"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a:defRPr>
            </a:pPr>
            <a:r>
              <a:t>504</a:t>
            </a:r>
          </a:p>
        </p:txBody>
      </p:sp>
      <p:cxnSp>
        <p:nvCxnSpPr>
          <p:cNvPr id="17" name="hl_1019"/>
          <p:cNvCxnSpPr/>
          <p:nvPr/>
        </p:nvCxnSpPr>
        <p:spPr>
          <a:xfrm>
            <a:off x="822960" y="3209544"/>
            <a:ext cx="10546079"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18" name="tx_1020"/>
          <p:cNvSpPr txBox="1"/>
          <p:nvPr/>
        </p:nvSpPr>
        <p:spPr>
          <a:xfrm>
            <a:off x="868680" y="3291839"/>
            <a:ext cx="5181599"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Semibold"/>
              </a:defRPr>
            </a:pPr>
            <a:r>
              <a:t>Implied FN = 512 − TP</a:t>
            </a:r>
          </a:p>
        </p:txBody>
      </p:sp>
      <p:sp>
        <p:nvSpPr>
          <p:cNvPr id="19" name="tx_1021"/>
          <p:cNvSpPr txBox="1"/>
          <p:nvPr/>
        </p:nvSpPr>
        <p:spPr>
          <a:xfrm>
            <a:off x="6141719" y="3291839"/>
            <a:ext cx="2545079"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a:defRPr>
            </a:pPr>
            <a:r>
              <a:t>12</a:t>
            </a:r>
          </a:p>
        </p:txBody>
      </p:sp>
      <p:sp>
        <p:nvSpPr>
          <p:cNvPr id="20" name="tx_1022"/>
          <p:cNvSpPr txBox="1"/>
          <p:nvPr/>
        </p:nvSpPr>
        <p:spPr>
          <a:xfrm>
            <a:off x="8778239" y="3291839"/>
            <a:ext cx="2545079"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a:defRPr>
            </a:pPr>
            <a:r>
              <a:t>8</a:t>
            </a:r>
          </a:p>
        </p:txBody>
      </p:sp>
      <p:cxnSp>
        <p:nvCxnSpPr>
          <p:cNvPr id="21" name="hl_1023"/>
          <p:cNvCxnSpPr/>
          <p:nvPr/>
        </p:nvCxnSpPr>
        <p:spPr>
          <a:xfrm>
            <a:off x="822960" y="3739896"/>
            <a:ext cx="10546079"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22" name="tx_1024"/>
          <p:cNvSpPr txBox="1"/>
          <p:nvPr/>
        </p:nvSpPr>
        <p:spPr>
          <a:xfrm>
            <a:off x="868680" y="3822191"/>
            <a:ext cx="5181599" cy="365760"/>
          </a:xfrm>
          <a:prstGeom prst="rect">
            <a:avLst/>
          </a:prstGeom>
          <a:noFill/>
        </p:spPr>
        <p:txBody>
          <a:bodyPr wrap="square" lIns="0" rIns="0" tIns="0" bIns="0" anchor="ctr">
            <a:spAutoFit/>
          </a:bodyPr>
          <a:lstStyle/>
          <a:p>
            <a:pPr>
              <a:spcAft>
                <a:spcPts val="400"/>
              </a:spcAft>
              <a:defRPr sz="1600" b="0" i="0">
                <a:solidFill>
                  <a:srgbClr val="D70015"/>
                </a:solidFill>
                <a:latin typeface="Segoe UI Semibold"/>
              </a:defRPr>
            </a:pPr>
            <a:r>
              <a:t>Printed FN / TP</a:t>
            </a:r>
          </a:p>
        </p:txBody>
      </p:sp>
      <p:sp>
        <p:nvSpPr>
          <p:cNvPr id="23" name="tx_1025"/>
          <p:cNvSpPr txBox="1"/>
          <p:nvPr/>
        </p:nvSpPr>
        <p:spPr>
          <a:xfrm>
            <a:off x="6141719" y="3822191"/>
            <a:ext cx="2545079" cy="365760"/>
          </a:xfrm>
          <a:prstGeom prst="rect">
            <a:avLst/>
          </a:prstGeom>
          <a:noFill/>
        </p:spPr>
        <p:txBody>
          <a:bodyPr wrap="square" lIns="0" rIns="0" tIns="0" bIns="0" anchor="ctr">
            <a:spAutoFit/>
          </a:bodyPr>
          <a:lstStyle/>
          <a:p>
            <a:pPr>
              <a:spcAft>
                <a:spcPts val="400"/>
              </a:spcAft>
              <a:defRPr sz="1600" b="0" i="0">
                <a:solidFill>
                  <a:srgbClr val="D70015"/>
                </a:solidFill>
                <a:latin typeface="Segoe UI Semibold"/>
              </a:defRPr>
            </a:pPr>
            <a:r>
              <a:t>61 / 500</a:t>
            </a:r>
          </a:p>
        </p:txBody>
      </p:sp>
      <p:sp>
        <p:nvSpPr>
          <p:cNvPr id="24" name="tx_1026"/>
          <p:cNvSpPr txBox="1"/>
          <p:nvPr/>
        </p:nvSpPr>
        <p:spPr>
          <a:xfrm>
            <a:off x="8778239" y="3822191"/>
            <a:ext cx="2545079" cy="365760"/>
          </a:xfrm>
          <a:prstGeom prst="rect">
            <a:avLst/>
          </a:prstGeom>
          <a:noFill/>
        </p:spPr>
        <p:txBody>
          <a:bodyPr wrap="square" lIns="0" rIns="0" tIns="0" bIns="0" anchor="ctr">
            <a:spAutoFit/>
          </a:bodyPr>
          <a:lstStyle/>
          <a:p>
            <a:pPr>
              <a:spcAft>
                <a:spcPts val="400"/>
              </a:spcAft>
              <a:defRPr sz="1600" b="0" i="0">
                <a:solidFill>
                  <a:srgbClr val="D70015"/>
                </a:solidFill>
                <a:latin typeface="Segoe UI Semibold"/>
              </a:defRPr>
            </a:pPr>
            <a:r>
              <a:t>9 / 507</a:t>
            </a:r>
          </a:p>
        </p:txBody>
      </p:sp>
      <p:cxnSp>
        <p:nvCxnSpPr>
          <p:cNvPr id="25" name="hl_1027"/>
          <p:cNvCxnSpPr/>
          <p:nvPr/>
        </p:nvCxnSpPr>
        <p:spPr>
          <a:xfrm>
            <a:off x="822960" y="4270248"/>
            <a:ext cx="10546079"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26" name="tx_1028"/>
          <p:cNvSpPr txBox="1"/>
          <p:nvPr/>
        </p:nvSpPr>
        <p:spPr>
          <a:xfrm>
            <a:off x="868680" y="4352544"/>
            <a:ext cx="5181599"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Semibold"/>
              </a:defRPr>
            </a:pPr>
            <a:r>
              <a:t>Diagnostic F1 (fixed totals)</a:t>
            </a:r>
          </a:p>
        </p:txBody>
      </p:sp>
      <p:sp>
        <p:nvSpPr>
          <p:cNvPr id="27" name="tx_1029"/>
          <p:cNvSpPr txBox="1"/>
          <p:nvPr/>
        </p:nvSpPr>
        <p:spPr>
          <a:xfrm>
            <a:off x="6141719" y="4352544"/>
            <a:ext cx="2545079"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a:defRPr>
            </a:pPr>
            <a:r>
              <a:t>97.37%</a:t>
            </a:r>
          </a:p>
        </p:txBody>
      </p:sp>
      <p:sp>
        <p:nvSpPr>
          <p:cNvPr id="28" name="tx_1030"/>
          <p:cNvSpPr txBox="1"/>
          <p:nvPr/>
        </p:nvSpPr>
        <p:spPr>
          <a:xfrm>
            <a:off x="8778239" y="4352544"/>
            <a:ext cx="2545079"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a:defRPr>
            </a:pPr>
            <a:r>
              <a:t>98.53%</a:t>
            </a:r>
          </a:p>
        </p:txBody>
      </p:sp>
      <p:cxnSp>
        <p:nvCxnSpPr>
          <p:cNvPr id="29" name="hl_1031"/>
          <p:cNvCxnSpPr/>
          <p:nvPr/>
        </p:nvCxnSpPr>
        <p:spPr>
          <a:xfrm>
            <a:off x="822960" y="4800600"/>
            <a:ext cx="10546079"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30" name="tx_1032"/>
          <p:cNvSpPr txBox="1"/>
          <p:nvPr/>
        </p:nvSpPr>
        <p:spPr>
          <a:xfrm>
            <a:off x="822960" y="4983480"/>
            <a:ext cx="10546079" cy="548640"/>
          </a:xfrm>
          <a:prstGeom prst="rect">
            <a:avLst/>
          </a:prstGeom>
          <a:noFill/>
        </p:spPr>
        <p:txBody>
          <a:bodyPr wrap="square" lIns="0" rIns="0" tIns="0" bIns="0">
            <a:spAutoFit/>
          </a:bodyPr>
          <a:lstStyle/>
          <a:p>
            <a:pPr>
              <a:spcAft>
                <a:spcPts val="400"/>
              </a:spcAft>
              <a:defRPr sz="1500" b="0" i="1">
                <a:solidFill>
                  <a:srgbClr val="D70015"/>
                </a:solidFill>
                <a:latin typeface="Segoe UI"/>
              </a:defRPr>
            </a:pPr>
            <a:r>
              <a:t>These calculations expose the inconsistency; they do not repair the experiment.  Also: the abstract/contributions say 4.64% covert bit error; §VI-A and Table IV say 4.63%.</a:t>
            </a:r>
          </a:p>
        </p:txBody>
      </p:sp>
    </p:spTree>
  </p:cSld>
  <p:clrMapOvr>
    <a:masterClrMapping/>
  </p:clrMapOvr>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x_1033"/>
          <p:cNvSpPr txBox="1"/>
          <p:nvPr/>
        </p:nvSpPr>
        <p:spPr>
          <a:xfrm>
            <a:off x="822960" y="502920"/>
            <a:ext cx="10546079" cy="274320"/>
          </a:xfrm>
          <a:prstGeom prst="rect">
            <a:avLst/>
          </a:prstGeom>
          <a:noFill/>
        </p:spPr>
        <p:txBody>
          <a:bodyPr wrap="square" lIns="0" rIns="0" tIns="0" bIns="0">
            <a:spAutoFit/>
          </a:bodyPr>
          <a:lstStyle/>
          <a:p>
            <a:pPr>
              <a:spcAft>
                <a:spcPts val="400"/>
              </a:spcAft>
              <a:defRPr sz="1200" b="0" i="0">
                <a:solidFill>
                  <a:srgbClr val="0071E3"/>
                </a:solidFill>
                <a:latin typeface="Segoe UI Semibold"/>
              </a:defRPr>
            </a:pPr>
            <a:r>
              <a:t>Backup · Evaluation detail</a:t>
            </a:r>
          </a:p>
        </p:txBody>
      </p:sp>
      <p:sp>
        <p:nvSpPr>
          <p:cNvPr id="3" name="tx_1034"/>
          <p:cNvSpPr txBox="1"/>
          <p:nvPr/>
        </p:nvSpPr>
        <p:spPr>
          <a:xfrm>
            <a:off x="822960" y="822960"/>
            <a:ext cx="10546079" cy="914400"/>
          </a:xfrm>
          <a:prstGeom prst="rect">
            <a:avLst/>
          </a:prstGeom>
          <a:noFill/>
        </p:spPr>
        <p:txBody>
          <a:bodyPr wrap="square" lIns="0" rIns="0" tIns="0" bIns="0">
            <a:spAutoFit/>
          </a:bodyPr>
          <a:lstStyle/>
          <a:p>
            <a:pPr>
              <a:lnSpc>
                <a:spcPct val="100000"/>
              </a:lnSpc>
              <a:spcAft>
                <a:spcPts val="400"/>
              </a:spcAft>
              <a:defRPr sz="3000" b="0" i="0">
                <a:solidFill>
                  <a:srgbClr val="1D1D1F"/>
                </a:solidFill>
                <a:latin typeface="Segoe UI Semibold"/>
              </a:defRPr>
            </a:pPr>
            <a:r>
              <a:t>Sampling and dataset sizes</a:t>
            </a:r>
          </a:p>
        </p:txBody>
      </p:sp>
      <p:sp>
        <p:nvSpPr>
          <p:cNvPr id="4" name="tx_1035"/>
          <p:cNvSpPr txBox="1"/>
          <p:nvPr/>
        </p:nvSpPr>
        <p:spPr>
          <a:xfrm>
            <a:off x="822960" y="6419088"/>
            <a:ext cx="9631679" cy="228600"/>
          </a:xfrm>
          <a:prstGeom prst="rect">
            <a:avLst/>
          </a:prstGeom>
          <a:noFill/>
        </p:spPr>
        <p:txBody>
          <a:bodyPr wrap="square" lIns="0" rIns="0" tIns="0" bIns="0">
            <a:spAutoFit/>
          </a:bodyPr>
          <a:lstStyle/>
          <a:p>
            <a:pPr>
              <a:spcAft>
                <a:spcPts val="400"/>
              </a:spcAft>
              <a:defRPr sz="1000" b="0" i="0">
                <a:solidFill>
                  <a:srgbClr val="86868B"/>
                </a:solidFill>
                <a:latin typeface="Segoe UI"/>
              </a:defRPr>
            </a:pPr>
            <a:r>
              <a:t>Paper §§ VI-B, VI-D · pp. 9–11</a:t>
            </a:r>
          </a:p>
        </p:txBody>
      </p:sp>
      <p:sp>
        <p:nvSpPr>
          <p:cNvPr id="5" name="tx_1036"/>
          <p:cNvSpPr txBox="1"/>
          <p:nvPr/>
        </p:nvSpPr>
        <p:spPr>
          <a:xfrm>
            <a:off x="10820399" y="6419088"/>
            <a:ext cx="548640" cy="228600"/>
          </a:xfrm>
          <a:prstGeom prst="rect">
            <a:avLst/>
          </a:prstGeom>
          <a:noFill/>
        </p:spPr>
        <p:txBody>
          <a:bodyPr wrap="square" lIns="0" rIns="0" tIns="0" bIns="0">
            <a:spAutoFit/>
          </a:bodyPr>
          <a:lstStyle/>
          <a:p>
            <a:pPr algn="r">
              <a:spcAft>
                <a:spcPts val="400"/>
              </a:spcAft>
              <a:defRPr sz="1000" b="0" i="0">
                <a:solidFill>
                  <a:srgbClr val="86868B"/>
                </a:solidFill>
                <a:latin typeface="Segoe UI"/>
              </a:defRPr>
            </a:pPr>
            <a:r>
              <a:t>55</a:t>
            </a:r>
          </a:p>
        </p:txBody>
      </p:sp>
      <p:sp>
        <p:nvSpPr>
          <p:cNvPr id="6" name="tx_1037"/>
          <p:cNvSpPr txBox="1"/>
          <p:nvPr/>
        </p:nvSpPr>
        <p:spPr>
          <a:xfrm>
            <a:off x="868680" y="1783080"/>
            <a:ext cx="4126991" cy="274320"/>
          </a:xfrm>
          <a:prstGeom prst="rect">
            <a:avLst/>
          </a:prstGeom>
          <a:noFill/>
        </p:spPr>
        <p:txBody>
          <a:bodyPr wrap="square" lIns="0" rIns="0" tIns="0" bIns="0">
            <a:spAutoFit/>
          </a:bodyPr>
          <a:lstStyle/>
          <a:p>
            <a:pPr>
              <a:spcAft>
                <a:spcPts val="400"/>
              </a:spcAft>
              <a:defRPr sz="1200" b="0" i="0">
                <a:solidFill>
                  <a:srgbClr val="86868B"/>
                </a:solidFill>
                <a:latin typeface="Segoe UI Semibold"/>
              </a:defRPr>
            </a:pPr>
            <a:r>
              <a:t>SETTING</a:t>
            </a:r>
          </a:p>
        </p:txBody>
      </p:sp>
      <p:sp>
        <p:nvSpPr>
          <p:cNvPr id="7" name="tx_1038"/>
          <p:cNvSpPr txBox="1"/>
          <p:nvPr/>
        </p:nvSpPr>
        <p:spPr>
          <a:xfrm>
            <a:off x="5087111" y="1783080"/>
            <a:ext cx="3072383" cy="274320"/>
          </a:xfrm>
          <a:prstGeom prst="rect">
            <a:avLst/>
          </a:prstGeom>
          <a:noFill/>
        </p:spPr>
        <p:txBody>
          <a:bodyPr wrap="square" lIns="0" rIns="0" tIns="0" bIns="0">
            <a:spAutoFit/>
          </a:bodyPr>
          <a:lstStyle/>
          <a:p>
            <a:pPr>
              <a:spcAft>
                <a:spcPts val="400"/>
              </a:spcAft>
              <a:defRPr sz="1200" b="0" i="0">
                <a:solidFill>
                  <a:srgbClr val="86868B"/>
                </a:solidFill>
                <a:latin typeface="Segoe UI Semibold"/>
              </a:defRPr>
            </a:pPr>
            <a:r>
              <a:t>WEBSITE TASK</a:t>
            </a:r>
          </a:p>
        </p:txBody>
      </p:sp>
      <p:sp>
        <p:nvSpPr>
          <p:cNvPr id="8" name="tx_1039"/>
          <p:cNvSpPr txBox="1"/>
          <p:nvPr/>
        </p:nvSpPr>
        <p:spPr>
          <a:xfrm>
            <a:off x="8250935" y="1783080"/>
            <a:ext cx="3072383" cy="274320"/>
          </a:xfrm>
          <a:prstGeom prst="rect">
            <a:avLst/>
          </a:prstGeom>
          <a:noFill/>
        </p:spPr>
        <p:txBody>
          <a:bodyPr wrap="square" lIns="0" rIns="0" tIns="0" bIns="0">
            <a:spAutoFit/>
          </a:bodyPr>
          <a:lstStyle/>
          <a:p>
            <a:pPr>
              <a:spcAft>
                <a:spcPts val="400"/>
              </a:spcAft>
              <a:defRPr sz="1200" b="0" i="0">
                <a:solidFill>
                  <a:srgbClr val="86868B"/>
                </a:solidFill>
                <a:latin typeface="Segoe UI Semibold"/>
              </a:defRPr>
            </a:pPr>
            <a:r>
              <a:t>LLM TASK</a:t>
            </a:r>
          </a:p>
        </p:txBody>
      </p:sp>
      <p:cxnSp>
        <p:nvCxnSpPr>
          <p:cNvPr id="9" name="hl_1040"/>
          <p:cNvCxnSpPr/>
          <p:nvPr/>
        </p:nvCxnSpPr>
        <p:spPr>
          <a:xfrm>
            <a:off x="822960" y="2148840"/>
            <a:ext cx="10546079" cy="0"/>
          </a:xfrm>
          <a:prstGeom prst="line">
            <a:avLst/>
          </a:prstGeom>
          <a:ln w="12700">
            <a:solidFill>
              <a:srgbClr val="1D1D1F"/>
            </a:solidFill>
          </a:ln>
        </p:spPr>
        <p:style>
          <a:lnRef idx="2">
            <a:schemeClr val="accent1"/>
          </a:lnRef>
          <a:fillRef idx="0">
            <a:schemeClr val="accent1"/>
          </a:fillRef>
          <a:effectRef idx="1">
            <a:schemeClr val="accent1"/>
          </a:effectRef>
          <a:fontRef idx="minor">
            <a:schemeClr val="tx1"/>
          </a:fontRef>
        </p:style>
      </p:cxnSp>
      <p:sp>
        <p:nvSpPr>
          <p:cNvPr id="10" name="tx_1041"/>
          <p:cNvSpPr txBox="1"/>
          <p:nvPr/>
        </p:nvSpPr>
        <p:spPr>
          <a:xfrm>
            <a:off x="868680" y="2221992"/>
            <a:ext cx="4126991"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Semibold"/>
              </a:defRPr>
            </a:pPr>
            <a:r>
              <a:t>Sample interval</a:t>
            </a:r>
          </a:p>
        </p:txBody>
      </p:sp>
      <p:sp>
        <p:nvSpPr>
          <p:cNvPr id="11" name="tx_1042"/>
          <p:cNvSpPr txBox="1"/>
          <p:nvPr/>
        </p:nvSpPr>
        <p:spPr>
          <a:xfrm>
            <a:off x="5087111" y="2221992"/>
            <a:ext cx="3072383"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a:defRPr>
            </a:pPr>
            <a:r>
              <a:t>10 µs</a:t>
            </a:r>
          </a:p>
        </p:txBody>
      </p:sp>
      <p:sp>
        <p:nvSpPr>
          <p:cNvPr id="12" name="tx_1043"/>
          <p:cNvSpPr txBox="1"/>
          <p:nvPr/>
        </p:nvSpPr>
        <p:spPr>
          <a:xfrm>
            <a:off x="8250935" y="2221992"/>
            <a:ext cx="3072383"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a:defRPr>
            </a:pPr>
            <a:r>
              <a:t>10 µs</a:t>
            </a:r>
          </a:p>
        </p:txBody>
      </p:sp>
      <p:cxnSp>
        <p:nvCxnSpPr>
          <p:cNvPr id="13" name="hl_1044"/>
          <p:cNvCxnSpPr/>
          <p:nvPr/>
        </p:nvCxnSpPr>
        <p:spPr>
          <a:xfrm>
            <a:off x="822960" y="2660904"/>
            <a:ext cx="10546079"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14" name="tx_1045"/>
          <p:cNvSpPr txBox="1"/>
          <p:nvPr/>
        </p:nvSpPr>
        <p:spPr>
          <a:xfrm>
            <a:off x="868680" y="2734056"/>
            <a:ext cx="4126991"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Semibold"/>
              </a:defRPr>
            </a:pPr>
            <a:r>
              <a:t>Samples per slot</a:t>
            </a:r>
          </a:p>
        </p:txBody>
      </p:sp>
      <p:sp>
        <p:nvSpPr>
          <p:cNvPr id="15" name="tx_1046"/>
          <p:cNvSpPr txBox="1"/>
          <p:nvPr/>
        </p:nvSpPr>
        <p:spPr>
          <a:xfrm>
            <a:off x="5087111" y="2734056"/>
            <a:ext cx="3072383"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a:defRPr>
            </a:pPr>
            <a:r>
              <a:t>400</a:t>
            </a:r>
          </a:p>
        </p:txBody>
      </p:sp>
      <p:sp>
        <p:nvSpPr>
          <p:cNvPr id="16" name="tx_1047"/>
          <p:cNvSpPr txBox="1"/>
          <p:nvPr/>
        </p:nvSpPr>
        <p:spPr>
          <a:xfrm>
            <a:off x="8250935" y="2734056"/>
            <a:ext cx="3072383"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a:defRPr>
            </a:pPr>
            <a:r>
              <a:t>800</a:t>
            </a:r>
          </a:p>
        </p:txBody>
      </p:sp>
      <p:cxnSp>
        <p:nvCxnSpPr>
          <p:cNvPr id="17" name="hl_1048"/>
          <p:cNvCxnSpPr/>
          <p:nvPr/>
        </p:nvCxnSpPr>
        <p:spPr>
          <a:xfrm>
            <a:off x="822960" y="3172968"/>
            <a:ext cx="10546079"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18" name="tx_1049"/>
          <p:cNvSpPr txBox="1"/>
          <p:nvPr/>
        </p:nvSpPr>
        <p:spPr>
          <a:xfrm>
            <a:off x="868680" y="3246120"/>
            <a:ext cx="4126991"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Semibold"/>
              </a:defRPr>
            </a:pPr>
            <a:r>
              <a:t>Slot duration</a:t>
            </a:r>
          </a:p>
        </p:txBody>
      </p:sp>
      <p:sp>
        <p:nvSpPr>
          <p:cNvPr id="19" name="tx_1050"/>
          <p:cNvSpPr txBox="1"/>
          <p:nvPr/>
        </p:nvSpPr>
        <p:spPr>
          <a:xfrm>
            <a:off x="5087111" y="3246120"/>
            <a:ext cx="3072383"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a:defRPr>
            </a:pPr>
            <a:r>
              <a:t>4 ms</a:t>
            </a:r>
          </a:p>
        </p:txBody>
      </p:sp>
      <p:sp>
        <p:nvSpPr>
          <p:cNvPr id="20" name="tx_1051"/>
          <p:cNvSpPr txBox="1"/>
          <p:nvPr/>
        </p:nvSpPr>
        <p:spPr>
          <a:xfrm>
            <a:off x="8250935" y="3246120"/>
            <a:ext cx="3072383"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a:defRPr>
            </a:pPr>
            <a:r>
              <a:t>8 ms</a:t>
            </a:r>
          </a:p>
        </p:txBody>
      </p:sp>
      <p:cxnSp>
        <p:nvCxnSpPr>
          <p:cNvPr id="21" name="hl_1052"/>
          <p:cNvCxnSpPr/>
          <p:nvPr/>
        </p:nvCxnSpPr>
        <p:spPr>
          <a:xfrm>
            <a:off x="822960" y="3685032"/>
            <a:ext cx="10546079"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22" name="tx_1053"/>
          <p:cNvSpPr txBox="1"/>
          <p:nvPr/>
        </p:nvSpPr>
        <p:spPr>
          <a:xfrm>
            <a:off x="868680" y="3758184"/>
            <a:ext cx="4126991"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Semibold"/>
              </a:defRPr>
            </a:pPr>
            <a:r>
              <a:t>Classes × traces</a:t>
            </a:r>
          </a:p>
        </p:txBody>
      </p:sp>
      <p:sp>
        <p:nvSpPr>
          <p:cNvPr id="23" name="tx_1054"/>
          <p:cNvSpPr txBox="1"/>
          <p:nvPr/>
        </p:nvSpPr>
        <p:spPr>
          <a:xfrm>
            <a:off x="5087111" y="3758184"/>
            <a:ext cx="3072383"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a:defRPr>
            </a:pPr>
            <a:r>
              <a:t>100 × 200</a:t>
            </a:r>
          </a:p>
        </p:txBody>
      </p:sp>
      <p:sp>
        <p:nvSpPr>
          <p:cNvPr id="24" name="tx_1055"/>
          <p:cNvSpPr txBox="1"/>
          <p:nvPr/>
        </p:nvSpPr>
        <p:spPr>
          <a:xfrm>
            <a:off x="8250935" y="3758184"/>
            <a:ext cx="3072383"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a:defRPr>
            </a:pPr>
            <a:r>
              <a:t>8 × 50</a:t>
            </a:r>
          </a:p>
        </p:txBody>
      </p:sp>
      <p:cxnSp>
        <p:nvCxnSpPr>
          <p:cNvPr id="25" name="hl_1056"/>
          <p:cNvCxnSpPr/>
          <p:nvPr/>
        </p:nvCxnSpPr>
        <p:spPr>
          <a:xfrm>
            <a:off x="822960" y="4197096"/>
            <a:ext cx="10546079"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26" name="tx_1057"/>
          <p:cNvSpPr txBox="1"/>
          <p:nvPr/>
        </p:nvSpPr>
        <p:spPr>
          <a:xfrm>
            <a:off x="868680" y="4270248"/>
            <a:ext cx="4126991"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Semibold"/>
              </a:defRPr>
            </a:pPr>
            <a:r>
              <a:t>Total traces</a:t>
            </a:r>
          </a:p>
        </p:txBody>
      </p:sp>
      <p:sp>
        <p:nvSpPr>
          <p:cNvPr id="27" name="tx_1058"/>
          <p:cNvSpPr txBox="1"/>
          <p:nvPr/>
        </p:nvSpPr>
        <p:spPr>
          <a:xfrm>
            <a:off x="5087111" y="4270248"/>
            <a:ext cx="3072383"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a:defRPr>
            </a:pPr>
            <a:r>
              <a:t>20,000</a:t>
            </a:r>
          </a:p>
        </p:txBody>
      </p:sp>
      <p:sp>
        <p:nvSpPr>
          <p:cNvPr id="28" name="tx_1059"/>
          <p:cNvSpPr txBox="1"/>
          <p:nvPr/>
        </p:nvSpPr>
        <p:spPr>
          <a:xfrm>
            <a:off x="8250935" y="4270248"/>
            <a:ext cx="3072383"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a:defRPr>
            </a:pPr>
            <a:r>
              <a:t>400</a:t>
            </a:r>
          </a:p>
        </p:txBody>
      </p:sp>
      <p:cxnSp>
        <p:nvCxnSpPr>
          <p:cNvPr id="29" name="hl_1060"/>
          <p:cNvCxnSpPr/>
          <p:nvPr/>
        </p:nvCxnSpPr>
        <p:spPr>
          <a:xfrm>
            <a:off x="822960" y="4709160"/>
            <a:ext cx="10546079"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30" name="tx_1061"/>
          <p:cNvSpPr txBox="1"/>
          <p:nvPr/>
        </p:nvSpPr>
        <p:spPr>
          <a:xfrm>
            <a:off x="868680" y="4782312"/>
            <a:ext cx="4126991"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Semibold"/>
              </a:defRPr>
            </a:pPr>
            <a:r>
              <a:t>80 / 20 split</a:t>
            </a:r>
          </a:p>
        </p:txBody>
      </p:sp>
      <p:sp>
        <p:nvSpPr>
          <p:cNvPr id="31" name="tx_1062"/>
          <p:cNvSpPr txBox="1"/>
          <p:nvPr/>
        </p:nvSpPr>
        <p:spPr>
          <a:xfrm>
            <a:off x="5087111" y="4782312"/>
            <a:ext cx="3072383"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a:defRPr>
            </a:pPr>
            <a:r>
              <a:t>16,000 / 4,000</a:t>
            </a:r>
          </a:p>
        </p:txBody>
      </p:sp>
      <p:sp>
        <p:nvSpPr>
          <p:cNvPr id="32" name="tx_1063"/>
          <p:cNvSpPr txBox="1"/>
          <p:nvPr/>
        </p:nvSpPr>
        <p:spPr>
          <a:xfrm>
            <a:off x="8250935" y="4782312"/>
            <a:ext cx="3072383"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a:defRPr>
            </a:pPr>
            <a:r>
              <a:t>320 / 80</a:t>
            </a:r>
          </a:p>
        </p:txBody>
      </p:sp>
      <p:cxnSp>
        <p:nvCxnSpPr>
          <p:cNvPr id="33" name="hl_1064"/>
          <p:cNvCxnSpPr/>
          <p:nvPr/>
        </p:nvCxnSpPr>
        <p:spPr>
          <a:xfrm>
            <a:off x="822960" y="5221224"/>
            <a:ext cx="10546079"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x_1065"/>
          <p:cNvSpPr txBox="1"/>
          <p:nvPr/>
        </p:nvSpPr>
        <p:spPr>
          <a:xfrm>
            <a:off x="822960" y="502920"/>
            <a:ext cx="10546079" cy="274320"/>
          </a:xfrm>
          <a:prstGeom prst="rect">
            <a:avLst/>
          </a:prstGeom>
          <a:noFill/>
        </p:spPr>
        <p:txBody>
          <a:bodyPr wrap="square" lIns="0" rIns="0" tIns="0" bIns="0">
            <a:spAutoFit/>
          </a:bodyPr>
          <a:lstStyle/>
          <a:p>
            <a:pPr>
              <a:spcAft>
                <a:spcPts val="400"/>
              </a:spcAft>
              <a:defRPr sz="1200" b="0" i="0">
                <a:solidFill>
                  <a:srgbClr val="0071E3"/>
                </a:solidFill>
                <a:latin typeface="Segoe UI Semibold"/>
              </a:defRPr>
            </a:pPr>
            <a:r>
              <a:t>Backup · Metric interpretation</a:t>
            </a:r>
          </a:p>
        </p:txBody>
      </p:sp>
      <p:sp>
        <p:nvSpPr>
          <p:cNvPr id="3" name="tx_1066"/>
          <p:cNvSpPr txBox="1"/>
          <p:nvPr/>
        </p:nvSpPr>
        <p:spPr>
          <a:xfrm>
            <a:off x="822960" y="822960"/>
            <a:ext cx="10546079" cy="914400"/>
          </a:xfrm>
          <a:prstGeom prst="rect">
            <a:avLst/>
          </a:prstGeom>
          <a:noFill/>
        </p:spPr>
        <p:txBody>
          <a:bodyPr wrap="square" lIns="0" rIns="0" tIns="0" bIns="0">
            <a:spAutoFit/>
          </a:bodyPr>
          <a:lstStyle/>
          <a:p>
            <a:pPr>
              <a:lnSpc>
                <a:spcPct val="100000"/>
              </a:lnSpc>
              <a:spcAft>
                <a:spcPts val="400"/>
              </a:spcAft>
              <a:defRPr sz="3000" b="0" i="0">
                <a:solidFill>
                  <a:srgbClr val="1D1D1F"/>
                </a:solidFill>
                <a:latin typeface="Segoe UI Semibold"/>
              </a:defRPr>
            </a:pPr>
            <a:r>
              <a:t>Different metrics answer different questions</a:t>
            </a:r>
          </a:p>
        </p:txBody>
      </p:sp>
      <p:sp>
        <p:nvSpPr>
          <p:cNvPr id="4" name="tx_1067"/>
          <p:cNvSpPr txBox="1"/>
          <p:nvPr/>
        </p:nvSpPr>
        <p:spPr>
          <a:xfrm>
            <a:off x="822960" y="6419088"/>
            <a:ext cx="9631679" cy="228600"/>
          </a:xfrm>
          <a:prstGeom prst="rect">
            <a:avLst/>
          </a:prstGeom>
          <a:noFill/>
        </p:spPr>
        <p:txBody>
          <a:bodyPr wrap="square" lIns="0" rIns="0" tIns="0" bIns="0">
            <a:spAutoFit/>
          </a:bodyPr>
          <a:lstStyle/>
          <a:p>
            <a:pPr>
              <a:spcAft>
                <a:spcPts val="400"/>
              </a:spcAft>
              <a:defRPr sz="1000" b="0" i="0">
                <a:solidFill>
                  <a:srgbClr val="86868B"/>
                </a:solidFill>
                <a:latin typeface="Segoe UI"/>
              </a:defRPr>
            </a:pPr>
            <a:r>
              <a:t>Paper §§ VI-A–F · pp. 9–12</a:t>
            </a:r>
          </a:p>
        </p:txBody>
      </p:sp>
      <p:sp>
        <p:nvSpPr>
          <p:cNvPr id="5" name="tx_1068"/>
          <p:cNvSpPr txBox="1"/>
          <p:nvPr/>
        </p:nvSpPr>
        <p:spPr>
          <a:xfrm>
            <a:off x="10820399" y="6419088"/>
            <a:ext cx="548640" cy="228600"/>
          </a:xfrm>
          <a:prstGeom prst="rect">
            <a:avLst/>
          </a:prstGeom>
          <a:noFill/>
        </p:spPr>
        <p:txBody>
          <a:bodyPr wrap="square" lIns="0" rIns="0" tIns="0" bIns="0">
            <a:spAutoFit/>
          </a:bodyPr>
          <a:lstStyle/>
          <a:p>
            <a:pPr algn="r">
              <a:spcAft>
                <a:spcPts val="400"/>
              </a:spcAft>
              <a:defRPr sz="1000" b="0" i="0">
                <a:solidFill>
                  <a:srgbClr val="86868B"/>
                </a:solidFill>
                <a:latin typeface="Segoe UI"/>
              </a:defRPr>
            </a:pPr>
            <a:r>
              <a:t>56</a:t>
            </a:r>
          </a:p>
        </p:txBody>
      </p:sp>
      <p:sp>
        <p:nvSpPr>
          <p:cNvPr id="6" name="tx_1069"/>
          <p:cNvSpPr txBox="1"/>
          <p:nvPr/>
        </p:nvSpPr>
        <p:spPr>
          <a:xfrm>
            <a:off x="868680" y="1783080"/>
            <a:ext cx="3599687" cy="274320"/>
          </a:xfrm>
          <a:prstGeom prst="rect">
            <a:avLst/>
          </a:prstGeom>
          <a:noFill/>
        </p:spPr>
        <p:txBody>
          <a:bodyPr wrap="square" lIns="0" rIns="0" tIns="0" bIns="0">
            <a:spAutoFit/>
          </a:bodyPr>
          <a:lstStyle/>
          <a:p>
            <a:pPr>
              <a:spcAft>
                <a:spcPts val="400"/>
              </a:spcAft>
              <a:defRPr sz="1200" b="0" i="0">
                <a:solidFill>
                  <a:srgbClr val="86868B"/>
                </a:solidFill>
                <a:latin typeface="Segoe UI Semibold"/>
              </a:defRPr>
            </a:pPr>
            <a:r>
              <a:t>METRIC</a:t>
            </a:r>
          </a:p>
        </p:txBody>
      </p:sp>
      <p:sp>
        <p:nvSpPr>
          <p:cNvPr id="7" name="tx_1070"/>
          <p:cNvSpPr txBox="1"/>
          <p:nvPr/>
        </p:nvSpPr>
        <p:spPr>
          <a:xfrm>
            <a:off x="4559807" y="1783080"/>
            <a:ext cx="6763511" cy="274320"/>
          </a:xfrm>
          <a:prstGeom prst="rect">
            <a:avLst/>
          </a:prstGeom>
          <a:noFill/>
        </p:spPr>
        <p:txBody>
          <a:bodyPr wrap="square" lIns="0" rIns="0" tIns="0" bIns="0">
            <a:spAutoFit/>
          </a:bodyPr>
          <a:lstStyle/>
          <a:p>
            <a:pPr>
              <a:spcAft>
                <a:spcPts val="400"/>
              </a:spcAft>
              <a:defRPr sz="1200" b="0" i="0">
                <a:solidFill>
                  <a:srgbClr val="86868B"/>
                </a:solidFill>
                <a:latin typeface="Segoe UI Semibold"/>
              </a:defRPr>
            </a:pPr>
            <a:r>
              <a:t>QUESTION IT ANSWERS</a:t>
            </a:r>
          </a:p>
        </p:txBody>
      </p:sp>
      <p:cxnSp>
        <p:nvCxnSpPr>
          <p:cNvPr id="8" name="hl_1071"/>
          <p:cNvCxnSpPr/>
          <p:nvPr/>
        </p:nvCxnSpPr>
        <p:spPr>
          <a:xfrm>
            <a:off x="822960" y="2148840"/>
            <a:ext cx="10546079" cy="0"/>
          </a:xfrm>
          <a:prstGeom prst="line">
            <a:avLst/>
          </a:prstGeom>
          <a:ln w="12700">
            <a:solidFill>
              <a:srgbClr val="1D1D1F"/>
            </a:solidFill>
          </a:ln>
        </p:spPr>
        <p:style>
          <a:lnRef idx="2">
            <a:schemeClr val="accent1"/>
          </a:lnRef>
          <a:fillRef idx="0">
            <a:schemeClr val="accent1"/>
          </a:fillRef>
          <a:effectRef idx="1">
            <a:schemeClr val="accent1"/>
          </a:effectRef>
          <a:fontRef idx="minor">
            <a:schemeClr val="tx1"/>
          </a:fontRef>
        </p:style>
      </p:cxnSp>
      <p:sp>
        <p:nvSpPr>
          <p:cNvPr id="9" name="tx_1072"/>
          <p:cNvSpPr txBox="1"/>
          <p:nvPr/>
        </p:nvSpPr>
        <p:spPr>
          <a:xfrm>
            <a:off x="868680" y="2221992"/>
            <a:ext cx="3599687"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Semibold"/>
              </a:defRPr>
            </a:pPr>
            <a:r>
              <a:t>Raw rate / true capacity</a:t>
            </a:r>
          </a:p>
        </p:txBody>
      </p:sp>
      <p:sp>
        <p:nvSpPr>
          <p:cNvPr id="10" name="tx_1073"/>
          <p:cNvSpPr txBox="1"/>
          <p:nvPr/>
        </p:nvSpPr>
        <p:spPr>
          <a:xfrm>
            <a:off x="4559807" y="2221992"/>
            <a:ext cx="6763511" cy="365760"/>
          </a:xfrm>
          <a:prstGeom prst="rect">
            <a:avLst/>
          </a:prstGeom>
          <a:noFill/>
        </p:spPr>
        <p:txBody>
          <a:bodyPr wrap="square" lIns="0" rIns="0" tIns="0" bIns="0" anchor="ctr">
            <a:spAutoFit/>
          </a:bodyPr>
          <a:lstStyle/>
          <a:p>
            <a:pPr>
              <a:spcAft>
                <a:spcPts val="400"/>
              </a:spcAft>
              <a:defRPr sz="1600" b="0" i="0">
                <a:solidFill>
                  <a:srgbClr val="6E6E73"/>
                </a:solidFill>
                <a:latin typeface="Segoe UI"/>
              </a:defRPr>
            </a:pPr>
            <a:r>
              <a:t>how fast are attempts / useful bits reported?</a:t>
            </a:r>
          </a:p>
        </p:txBody>
      </p:sp>
      <p:cxnSp>
        <p:nvCxnSpPr>
          <p:cNvPr id="11" name="hl_1074"/>
          <p:cNvCxnSpPr/>
          <p:nvPr/>
        </p:nvCxnSpPr>
        <p:spPr>
          <a:xfrm>
            <a:off x="822960" y="2660904"/>
            <a:ext cx="10546079"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12" name="tx_1075"/>
          <p:cNvSpPr txBox="1"/>
          <p:nvPr/>
        </p:nvSpPr>
        <p:spPr>
          <a:xfrm>
            <a:off x="868680" y="2734056"/>
            <a:ext cx="3599687"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Semibold"/>
              </a:defRPr>
            </a:pPr>
            <a:r>
              <a:t>Bit error rate</a:t>
            </a:r>
          </a:p>
        </p:txBody>
      </p:sp>
      <p:sp>
        <p:nvSpPr>
          <p:cNvPr id="13" name="tx_1076"/>
          <p:cNvSpPr txBox="1"/>
          <p:nvPr/>
        </p:nvSpPr>
        <p:spPr>
          <a:xfrm>
            <a:off x="4559807" y="2734056"/>
            <a:ext cx="6763511" cy="365760"/>
          </a:xfrm>
          <a:prstGeom prst="rect">
            <a:avLst/>
          </a:prstGeom>
          <a:noFill/>
        </p:spPr>
        <p:txBody>
          <a:bodyPr wrap="square" lIns="0" rIns="0" tIns="0" bIns="0" anchor="ctr">
            <a:spAutoFit/>
          </a:bodyPr>
          <a:lstStyle/>
          <a:p>
            <a:pPr>
              <a:spcAft>
                <a:spcPts val="400"/>
              </a:spcAft>
              <a:defRPr sz="1600" b="0" i="0">
                <a:solidFill>
                  <a:srgbClr val="6E6E73"/>
                </a:solidFill>
                <a:latin typeface="Segoe UI"/>
              </a:defRPr>
            </a:pPr>
            <a:r>
              <a:t>how often does a decoded bit differ?</a:t>
            </a:r>
          </a:p>
        </p:txBody>
      </p:sp>
      <p:cxnSp>
        <p:nvCxnSpPr>
          <p:cNvPr id="14" name="hl_1077"/>
          <p:cNvCxnSpPr/>
          <p:nvPr/>
        </p:nvCxnSpPr>
        <p:spPr>
          <a:xfrm>
            <a:off x="822960" y="3172968"/>
            <a:ext cx="10546079"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15" name="tx_1078"/>
          <p:cNvSpPr txBox="1"/>
          <p:nvPr/>
        </p:nvSpPr>
        <p:spPr>
          <a:xfrm>
            <a:off x="868680" y="3246120"/>
            <a:ext cx="3599687"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Semibold"/>
              </a:defRPr>
            </a:pPr>
            <a:r>
              <a:t>Top-1 accuracy</a:t>
            </a:r>
          </a:p>
        </p:txBody>
      </p:sp>
      <p:sp>
        <p:nvSpPr>
          <p:cNvPr id="16" name="tx_1079"/>
          <p:cNvSpPr txBox="1"/>
          <p:nvPr/>
        </p:nvSpPr>
        <p:spPr>
          <a:xfrm>
            <a:off x="4559807" y="3246120"/>
            <a:ext cx="6763511" cy="365760"/>
          </a:xfrm>
          <a:prstGeom prst="rect">
            <a:avLst/>
          </a:prstGeom>
          <a:noFill/>
        </p:spPr>
        <p:txBody>
          <a:bodyPr wrap="square" lIns="0" rIns="0" tIns="0" bIns="0" anchor="ctr">
            <a:spAutoFit/>
          </a:bodyPr>
          <a:lstStyle/>
          <a:p>
            <a:pPr>
              <a:spcAft>
                <a:spcPts val="400"/>
              </a:spcAft>
              <a:defRPr sz="1600" b="0" i="0">
                <a:solidFill>
                  <a:srgbClr val="6E6E73"/>
                </a:solidFill>
                <a:latin typeface="Segoe UI"/>
              </a:defRPr>
            </a:pPr>
            <a:r>
              <a:t>how often is the class correct?</a:t>
            </a:r>
          </a:p>
        </p:txBody>
      </p:sp>
      <p:cxnSp>
        <p:nvCxnSpPr>
          <p:cNvPr id="17" name="hl_1080"/>
          <p:cNvCxnSpPr/>
          <p:nvPr/>
        </p:nvCxnSpPr>
        <p:spPr>
          <a:xfrm>
            <a:off x="822960" y="3685032"/>
            <a:ext cx="10546079"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18" name="tx_1081"/>
          <p:cNvSpPr txBox="1"/>
          <p:nvPr/>
        </p:nvSpPr>
        <p:spPr>
          <a:xfrm>
            <a:off x="868680" y="3758184"/>
            <a:ext cx="3599687"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Semibold"/>
              </a:defRPr>
            </a:pPr>
            <a:r>
              <a:t>Precision / recall</a:t>
            </a:r>
          </a:p>
        </p:txBody>
      </p:sp>
      <p:sp>
        <p:nvSpPr>
          <p:cNvPr id="19" name="tx_1082"/>
          <p:cNvSpPr txBox="1"/>
          <p:nvPr/>
        </p:nvSpPr>
        <p:spPr>
          <a:xfrm>
            <a:off x="4559807" y="3758184"/>
            <a:ext cx="6763511" cy="365760"/>
          </a:xfrm>
          <a:prstGeom prst="rect">
            <a:avLst/>
          </a:prstGeom>
          <a:noFill/>
        </p:spPr>
        <p:txBody>
          <a:bodyPr wrap="square" lIns="0" rIns="0" tIns="0" bIns="0" anchor="ctr">
            <a:spAutoFit/>
          </a:bodyPr>
          <a:lstStyle/>
          <a:p>
            <a:pPr>
              <a:spcAft>
                <a:spcPts val="400"/>
              </a:spcAft>
              <a:defRPr sz="1600" b="0" i="0">
                <a:solidFill>
                  <a:srgbClr val="6E6E73"/>
                </a:solidFill>
                <a:latin typeface="Segoe UI"/>
              </a:defRPr>
            </a:pPr>
            <a:r>
              <a:t>how many detections correct / events found?</a:t>
            </a:r>
          </a:p>
        </p:txBody>
      </p:sp>
      <p:cxnSp>
        <p:nvCxnSpPr>
          <p:cNvPr id="20" name="hl_1083"/>
          <p:cNvCxnSpPr/>
          <p:nvPr/>
        </p:nvCxnSpPr>
        <p:spPr>
          <a:xfrm>
            <a:off x="822960" y="4197096"/>
            <a:ext cx="10546079"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21" name="tx_1084"/>
          <p:cNvSpPr txBox="1"/>
          <p:nvPr/>
        </p:nvSpPr>
        <p:spPr>
          <a:xfrm>
            <a:off x="868680" y="4270248"/>
            <a:ext cx="3599687"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Semibold"/>
              </a:defRPr>
            </a:pPr>
            <a:r>
              <a:t>F1 = 2TP / (2TP+FP+FN)</a:t>
            </a:r>
          </a:p>
        </p:txBody>
      </p:sp>
      <p:sp>
        <p:nvSpPr>
          <p:cNvPr id="22" name="tx_1085"/>
          <p:cNvSpPr txBox="1"/>
          <p:nvPr/>
        </p:nvSpPr>
        <p:spPr>
          <a:xfrm>
            <a:off x="4559807" y="4270248"/>
            <a:ext cx="6763511" cy="365760"/>
          </a:xfrm>
          <a:prstGeom prst="rect">
            <a:avLst/>
          </a:prstGeom>
          <a:noFill/>
        </p:spPr>
        <p:txBody>
          <a:bodyPr wrap="square" lIns="0" rIns="0" tIns="0" bIns="0" anchor="ctr">
            <a:spAutoFit/>
          </a:bodyPr>
          <a:lstStyle/>
          <a:p>
            <a:pPr>
              <a:spcAft>
                <a:spcPts val="400"/>
              </a:spcAft>
              <a:defRPr sz="1600" b="0" i="0">
                <a:solidFill>
                  <a:srgbClr val="6E6E73"/>
                </a:solidFill>
                <a:latin typeface="Segoe UI"/>
              </a:defRPr>
            </a:pPr>
            <a:r>
              <a:t>balance of precision and recall</a:t>
            </a:r>
          </a:p>
        </p:txBody>
      </p:sp>
      <p:cxnSp>
        <p:nvCxnSpPr>
          <p:cNvPr id="23" name="hl_1086"/>
          <p:cNvCxnSpPr/>
          <p:nvPr/>
        </p:nvCxnSpPr>
        <p:spPr>
          <a:xfrm>
            <a:off x="822960" y="4709160"/>
            <a:ext cx="10546079"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24" name="tx_1087"/>
          <p:cNvSpPr txBox="1"/>
          <p:nvPr/>
        </p:nvSpPr>
        <p:spPr>
          <a:xfrm>
            <a:off x="868680" y="4782312"/>
            <a:ext cx="3599687"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Semibold"/>
              </a:defRPr>
            </a:pPr>
            <a:r>
              <a:t>Timestamp σ</a:t>
            </a:r>
          </a:p>
        </p:txBody>
      </p:sp>
      <p:sp>
        <p:nvSpPr>
          <p:cNvPr id="25" name="tx_1088"/>
          <p:cNvSpPr txBox="1"/>
          <p:nvPr/>
        </p:nvSpPr>
        <p:spPr>
          <a:xfrm>
            <a:off x="4559807" y="4782312"/>
            <a:ext cx="6763511" cy="365760"/>
          </a:xfrm>
          <a:prstGeom prst="rect">
            <a:avLst/>
          </a:prstGeom>
          <a:noFill/>
        </p:spPr>
        <p:txBody>
          <a:bodyPr wrap="square" lIns="0" rIns="0" tIns="0" bIns="0" anchor="ctr">
            <a:spAutoFit/>
          </a:bodyPr>
          <a:lstStyle/>
          <a:p>
            <a:pPr>
              <a:spcAft>
                <a:spcPts val="400"/>
              </a:spcAft>
              <a:defRPr sz="1600" b="0" i="0">
                <a:solidFill>
                  <a:srgbClr val="6E6E73"/>
                </a:solidFill>
                <a:latin typeface="Segoe UI"/>
              </a:defRPr>
            </a:pPr>
            <a:r>
              <a:t>how dispersed are timing differences?</a:t>
            </a:r>
          </a:p>
        </p:txBody>
      </p:sp>
      <p:cxnSp>
        <p:nvCxnSpPr>
          <p:cNvPr id="26" name="hl_1089"/>
          <p:cNvCxnSpPr/>
          <p:nvPr/>
        </p:nvCxnSpPr>
        <p:spPr>
          <a:xfrm>
            <a:off x="822960" y="5221224"/>
            <a:ext cx="10546079"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x_1090"/>
          <p:cNvSpPr txBox="1"/>
          <p:nvPr/>
        </p:nvSpPr>
        <p:spPr>
          <a:xfrm>
            <a:off x="822960" y="502920"/>
            <a:ext cx="10546079" cy="274320"/>
          </a:xfrm>
          <a:prstGeom prst="rect">
            <a:avLst/>
          </a:prstGeom>
          <a:noFill/>
        </p:spPr>
        <p:txBody>
          <a:bodyPr wrap="square" lIns="0" rIns="0" tIns="0" bIns="0">
            <a:spAutoFit/>
          </a:bodyPr>
          <a:lstStyle/>
          <a:p>
            <a:pPr>
              <a:spcAft>
                <a:spcPts val="400"/>
              </a:spcAft>
              <a:defRPr sz="1200" b="0" i="0">
                <a:solidFill>
                  <a:srgbClr val="0071E3"/>
                </a:solidFill>
                <a:latin typeface="Segoe UI Semibold"/>
              </a:defRPr>
            </a:pPr>
            <a:r>
              <a:t>Backup · Prior-work detail</a:t>
            </a:r>
          </a:p>
        </p:txBody>
      </p:sp>
      <p:sp>
        <p:nvSpPr>
          <p:cNvPr id="3" name="tx_1091"/>
          <p:cNvSpPr txBox="1"/>
          <p:nvPr/>
        </p:nvSpPr>
        <p:spPr>
          <a:xfrm>
            <a:off x="822960" y="822960"/>
            <a:ext cx="10546079" cy="914400"/>
          </a:xfrm>
          <a:prstGeom prst="rect">
            <a:avLst/>
          </a:prstGeom>
          <a:noFill/>
        </p:spPr>
        <p:txBody>
          <a:bodyPr wrap="square" lIns="0" rIns="0" tIns="0" bIns="0">
            <a:spAutoFit/>
          </a:bodyPr>
          <a:lstStyle/>
          <a:p>
            <a:pPr>
              <a:lnSpc>
                <a:spcPct val="100000"/>
              </a:lnSpc>
              <a:spcAft>
                <a:spcPts val="400"/>
              </a:spcAft>
              <a:defRPr sz="3000" b="0" i="0">
                <a:solidFill>
                  <a:srgbClr val="1D1D1F"/>
                </a:solidFill>
                <a:latin typeface="Segoe UI Semibold"/>
              </a:defRPr>
            </a:pPr>
            <a:r>
              <a:t>The original cross-paper comparison table</a:t>
            </a:r>
          </a:p>
        </p:txBody>
      </p:sp>
      <p:sp>
        <p:nvSpPr>
          <p:cNvPr id="4" name="tx_1092"/>
          <p:cNvSpPr txBox="1"/>
          <p:nvPr/>
        </p:nvSpPr>
        <p:spPr>
          <a:xfrm>
            <a:off x="822960" y="6419088"/>
            <a:ext cx="9631679" cy="228600"/>
          </a:xfrm>
          <a:prstGeom prst="rect">
            <a:avLst/>
          </a:prstGeom>
          <a:noFill/>
        </p:spPr>
        <p:txBody>
          <a:bodyPr wrap="square" lIns="0" rIns="0" tIns="0" bIns="0">
            <a:spAutoFit/>
          </a:bodyPr>
          <a:lstStyle/>
          <a:p>
            <a:pPr>
              <a:spcAft>
                <a:spcPts val="400"/>
              </a:spcAft>
              <a:defRPr sz="1000" b="0" i="0">
                <a:solidFill>
                  <a:srgbClr val="86868B"/>
                </a:solidFill>
                <a:latin typeface="Segoe UI"/>
              </a:defRPr>
            </a:pPr>
            <a:r>
              <a:t>Paper Table IV · p. 12 · blank cells = not reported</a:t>
            </a:r>
          </a:p>
        </p:txBody>
      </p:sp>
      <p:sp>
        <p:nvSpPr>
          <p:cNvPr id="5" name="tx_1093"/>
          <p:cNvSpPr txBox="1"/>
          <p:nvPr/>
        </p:nvSpPr>
        <p:spPr>
          <a:xfrm>
            <a:off x="10820399" y="6419088"/>
            <a:ext cx="548640" cy="228600"/>
          </a:xfrm>
          <a:prstGeom prst="rect">
            <a:avLst/>
          </a:prstGeom>
          <a:noFill/>
        </p:spPr>
        <p:txBody>
          <a:bodyPr wrap="square" lIns="0" rIns="0" tIns="0" bIns="0">
            <a:spAutoFit/>
          </a:bodyPr>
          <a:lstStyle/>
          <a:p>
            <a:pPr algn="r">
              <a:spcAft>
                <a:spcPts val="400"/>
              </a:spcAft>
              <a:defRPr sz="1000" b="0" i="0">
                <a:solidFill>
                  <a:srgbClr val="86868B"/>
                </a:solidFill>
                <a:latin typeface="Segoe UI"/>
              </a:defRPr>
            </a:pPr>
            <a:r>
              <a:t>57</a:t>
            </a:r>
          </a:p>
        </p:txBody>
      </p:sp>
      <p:pic>
        <p:nvPicPr>
          <p:cNvPr id="6" name="pic_1094" descr="comparison.png"/>
          <p:cNvPicPr>
            <a:picLocks noChangeAspect="1"/>
          </p:cNvPicPr>
          <p:nvPr/>
        </p:nvPicPr>
        <p:blipFill>
          <a:blip r:embed="rId3"/>
          <a:stretch>
            <a:fillRect/>
          </a:stretch>
        </p:blipFill>
        <p:spPr>
          <a:xfrm>
            <a:off x="1554480" y="2507424"/>
            <a:ext cx="9083039" cy="220891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x_1095"/>
          <p:cNvSpPr txBox="1"/>
          <p:nvPr/>
        </p:nvSpPr>
        <p:spPr>
          <a:xfrm>
            <a:off x="822960" y="502920"/>
            <a:ext cx="10546079" cy="274320"/>
          </a:xfrm>
          <a:prstGeom prst="rect">
            <a:avLst/>
          </a:prstGeom>
          <a:noFill/>
        </p:spPr>
        <p:txBody>
          <a:bodyPr wrap="square" lIns="0" rIns="0" tIns="0" bIns="0">
            <a:spAutoFit/>
          </a:bodyPr>
          <a:lstStyle/>
          <a:p>
            <a:pPr>
              <a:spcAft>
                <a:spcPts val="400"/>
              </a:spcAft>
              <a:defRPr sz="1200" b="0" i="0">
                <a:solidFill>
                  <a:srgbClr val="0071E3"/>
                </a:solidFill>
                <a:latin typeface="Segoe UI Semibold"/>
              </a:defRPr>
            </a:pPr>
            <a:r>
              <a:t>Backup · Artifact &amp; reproducibility</a:t>
            </a:r>
          </a:p>
        </p:txBody>
      </p:sp>
      <p:sp>
        <p:nvSpPr>
          <p:cNvPr id="3" name="tx_1096"/>
          <p:cNvSpPr txBox="1"/>
          <p:nvPr/>
        </p:nvSpPr>
        <p:spPr>
          <a:xfrm>
            <a:off x="822960" y="822960"/>
            <a:ext cx="10546079" cy="914400"/>
          </a:xfrm>
          <a:prstGeom prst="rect">
            <a:avLst/>
          </a:prstGeom>
          <a:noFill/>
        </p:spPr>
        <p:txBody>
          <a:bodyPr wrap="square" lIns="0" rIns="0" tIns="0" bIns="0">
            <a:spAutoFit/>
          </a:bodyPr>
          <a:lstStyle/>
          <a:p>
            <a:pPr>
              <a:lnSpc>
                <a:spcPct val="100000"/>
              </a:lnSpc>
              <a:spcAft>
                <a:spcPts val="400"/>
              </a:spcAft>
              <a:defRPr sz="3000" b="0" i="0">
                <a:solidFill>
                  <a:srgbClr val="1D1D1F"/>
                </a:solidFill>
                <a:latin typeface="Segoe UI Semibold"/>
              </a:defRPr>
            </a:pPr>
            <a:r>
              <a:t>Reproduction requires a configured DSA platform</a:t>
            </a:r>
          </a:p>
        </p:txBody>
      </p:sp>
      <p:sp>
        <p:nvSpPr>
          <p:cNvPr id="4" name="tx_1097"/>
          <p:cNvSpPr txBox="1"/>
          <p:nvPr/>
        </p:nvSpPr>
        <p:spPr>
          <a:xfrm>
            <a:off x="822960" y="6419088"/>
            <a:ext cx="9631679" cy="228600"/>
          </a:xfrm>
          <a:prstGeom prst="rect">
            <a:avLst/>
          </a:prstGeom>
          <a:noFill/>
        </p:spPr>
        <p:txBody>
          <a:bodyPr wrap="square" lIns="0" rIns="0" tIns="0" bIns="0">
            <a:spAutoFit/>
          </a:bodyPr>
          <a:lstStyle/>
          <a:p>
            <a:pPr>
              <a:spcAft>
                <a:spcPts val="400"/>
              </a:spcAft>
              <a:defRPr sz="1000" b="0" i="0">
                <a:solidFill>
                  <a:srgbClr val="86868B"/>
                </a:solidFill>
                <a:latin typeface="Segoe UI"/>
              </a:defRPr>
            </a:pPr>
            <a:r>
              <a:t>Paper Appendix, p. 15 · authors’ artifact</a:t>
            </a:r>
          </a:p>
        </p:txBody>
      </p:sp>
      <p:sp>
        <p:nvSpPr>
          <p:cNvPr id="5" name="tx_1098"/>
          <p:cNvSpPr txBox="1"/>
          <p:nvPr/>
        </p:nvSpPr>
        <p:spPr>
          <a:xfrm>
            <a:off x="10820399" y="6419088"/>
            <a:ext cx="548640" cy="228600"/>
          </a:xfrm>
          <a:prstGeom prst="rect">
            <a:avLst/>
          </a:prstGeom>
          <a:noFill/>
        </p:spPr>
        <p:txBody>
          <a:bodyPr wrap="square" lIns="0" rIns="0" tIns="0" bIns="0">
            <a:spAutoFit/>
          </a:bodyPr>
          <a:lstStyle/>
          <a:p>
            <a:pPr algn="r">
              <a:spcAft>
                <a:spcPts val="400"/>
              </a:spcAft>
              <a:defRPr sz="1000" b="0" i="0">
                <a:solidFill>
                  <a:srgbClr val="86868B"/>
                </a:solidFill>
                <a:latin typeface="Segoe UI"/>
              </a:defRPr>
            </a:pPr>
            <a:r>
              <a:t>58</a:t>
            </a:r>
          </a:p>
        </p:txBody>
      </p:sp>
      <p:sp>
        <p:nvSpPr>
          <p:cNvPr id="6" name="rect_1099"/>
          <p:cNvSpPr/>
          <p:nvPr/>
        </p:nvSpPr>
        <p:spPr>
          <a:xfrm>
            <a:off x="822960" y="2011679"/>
            <a:ext cx="109728" cy="109728"/>
          </a:xfrm>
          <a:prstGeom prst="ellipse">
            <a:avLst/>
          </a:prstGeom>
          <a:solidFill>
            <a:srgbClr val="007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x_1100"/>
          <p:cNvSpPr txBox="1"/>
          <p:nvPr/>
        </p:nvSpPr>
        <p:spPr>
          <a:xfrm>
            <a:off x="1188720" y="1874519"/>
            <a:ext cx="10180319" cy="457200"/>
          </a:xfrm>
          <a:prstGeom prst="rect">
            <a:avLst/>
          </a:prstGeom>
          <a:noFill/>
        </p:spPr>
        <p:txBody>
          <a:bodyPr wrap="square" lIns="0" rIns="0" tIns="0" bIns="0">
            <a:spAutoFit/>
          </a:bodyPr>
          <a:lstStyle/>
          <a:p>
            <a:pPr>
              <a:spcAft>
                <a:spcPts val="400"/>
              </a:spcAft>
              <a:defRPr sz="2200" b="0" i="0">
                <a:solidFill>
                  <a:srgbClr val="1D1D1F"/>
                </a:solidFill>
                <a:latin typeface="Segoe UI Semibold"/>
              </a:defRPr>
            </a:pPr>
            <a:r>
              <a:t>Hardware &amp; provisioning</a:t>
            </a:r>
          </a:p>
        </p:txBody>
      </p:sp>
      <p:sp>
        <p:nvSpPr>
          <p:cNvPr id="8" name="tx_1101"/>
          <p:cNvSpPr txBox="1"/>
          <p:nvPr/>
        </p:nvSpPr>
        <p:spPr>
          <a:xfrm>
            <a:off x="1188720" y="2331720"/>
            <a:ext cx="10180319" cy="594359"/>
          </a:xfrm>
          <a:prstGeom prst="rect">
            <a:avLst/>
          </a:prstGeom>
          <a:noFill/>
        </p:spPr>
        <p:txBody>
          <a:bodyPr wrap="square" lIns="0" rIns="0" tIns="0" bIns="0">
            <a:spAutoFit/>
          </a:bodyPr>
          <a:lstStyle/>
          <a:p>
            <a:pPr>
              <a:spcAft>
                <a:spcPts val="400"/>
              </a:spcAft>
              <a:defRPr sz="1800" b="0" i="0">
                <a:solidFill>
                  <a:srgbClr val="6E6E73"/>
                </a:solidFill>
                <a:latin typeface="Segoe UI"/>
              </a:defRPr>
            </a:pPr>
            <a:r>
              <a:t>DSA-capable Xeon; VT-d / IDXD; admin configuration + device access</a:t>
            </a:r>
          </a:p>
        </p:txBody>
      </p:sp>
      <p:sp>
        <p:nvSpPr>
          <p:cNvPr id="9" name="rect_1102"/>
          <p:cNvSpPr/>
          <p:nvPr/>
        </p:nvSpPr>
        <p:spPr>
          <a:xfrm>
            <a:off x="822960" y="3063239"/>
            <a:ext cx="109728" cy="109728"/>
          </a:xfrm>
          <a:prstGeom prst="ellipse">
            <a:avLst/>
          </a:prstGeom>
          <a:solidFill>
            <a:srgbClr val="007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x_1103"/>
          <p:cNvSpPr txBox="1"/>
          <p:nvPr/>
        </p:nvSpPr>
        <p:spPr>
          <a:xfrm>
            <a:off x="1188720" y="2926079"/>
            <a:ext cx="10180319" cy="457200"/>
          </a:xfrm>
          <a:prstGeom prst="rect">
            <a:avLst/>
          </a:prstGeom>
          <a:noFill/>
        </p:spPr>
        <p:txBody>
          <a:bodyPr wrap="square" lIns="0" rIns="0" tIns="0" bIns="0">
            <a:spAutoFit/>
          </a:bodyPr>
          <a:lstStyle/>
          <a:p>
            <a:pPr>
              <a:spcAft>
                <a:spcPts val="400"/>
              </a:spcAft>
              <a:defRPr sz="2200" b="0" i="0">
                <a:solidFill>
                  <a:srgbClr val="1D1D1F"/>
                </a:solidFill>
                <a:latin typeface="Segoe UI Semibold"/>
              </a:defRPr>
            </a:pPr>
            <a:r>
              <a:t>Victim-specific software</a:t>
            </a:r>
          </a:p>
        </p:txBody>
      </p:sp>
      <p:sp>
        <p:nvSpPr>
          <p:cNvPr id="11" name="tx_1104"/>
          <p:cNvSpPr txBox="1"/>
          <p:nvPr/>
        </p:nvSpPr>
        <p:spPr>
          <a:xfrm>
            <a:off x="1188720" y="3383279"/>
            <a:ext cx="10180319" cy="594359"/>
          </a:xfrm>
          <a:prstGeom prst="rect">
            <a:avLst/>
          </a:prstGeom>
          <a:noFill/>
        </p:spPr>
        <p:txBody>
          <a:bodyPr wrap="square" lIns="0" rIns="0" tIns="0" bIns="0">
            <a:spAutoFit/>
          </a:bodyPr>
          <a:lstStyle/>
          <a:p>
            <a:pPr>
              <a:spcAft>
                <a:spcPts val="400"/>
              </a:spcAft>
              <a:defRPr sz="1800" b="0" i="0">
                <a:solidFill>
                  <a:srgbClr val="6E6E73"/>
                </a:solidFill>
                <a:latin typeface="Segoe UI"/>
              </a:defRPr>
            </a:pPr>
            <a:r>
              <a:t>VPP / DPDK for websites; DTO-enabled SSH and inference workloads</a:t>
            </a:r>
          </a:p>
        </p:txBody>
      </p:sp>
      <p:sp>
        <p:nvSpPr>
          <p:cNvPr id="12" name="rect_1105"/>
          <p:cNvSpPr/>
          <p:nvPr/>
        </p:nvSpPr>
        <p:spPr>
          <a:xfrm>
            <a:off x="822960" y="4114800"/>
            <a:ext cx="109728" cy="109728"/>
          </a:xfrm>
          <a:prstGeom prst="ellipse">
            <a:avLst/>
          </a:prstGeom>
          <a:solidFill>
            <a:srgbClr val="007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x_1106"/>
          <p:cNvSpPr txBox="1"/>
          <p:nvPr/>
        </p:nvSpPr>
        <p:spPr>
          <a:xfrm>
            <a:off x="1188720" y="3977639"/>
            <a:ext cx="10180319" cy="457200"/>
          </a:xfrm>
          <a:prstGeom prst="rect">
            <a:avLst/>
          </a:prstGeom>
          <a:noFill/>
        </p:spPr>
        <p:txBody>
          <a:bodyPr wrap="square" lIns="0" rIns="0" tIns="0" bIns="0">
            <a:spAutoFit/>
          </a:bodyPr>
          <a:lstStyle/>
          <a:p>
            <a:pPr>
              <a:spcAft>
                <a:spcPts val="400"/>
              </a:spcAft>
              <a:defRPr sz="2200" b="0" i="0">
                <a:solidFill>
                  <a:srgbClr val="1D1D1F"/>
                </a:solidFill>
                <a:latin typeface="Segoe UI Semibold"/>
              </a:defRPr>
            </a:pPr>
            <a:r>
              <a:t>Artifact organization</a:t>
            </a:r>
          </a:p>
        </p:txBody>
      </p:sp>
      <p:sp>
        <p:nvSpPr>
          <p:cNvPr id="14" name="tx_1107"/>
          <p:cNvSpPr txBox="1"/>
          <p:nvPr/>
        </p:nvSpPr>
        <p:spPr>
          <a:xfrm>
            <a:off x="1188720" y="4434840"/>
            <a:ext cx="10180319" cy="594359"/>
          </a:xfrm>
          <a:prstGeom prst="rect">
            <a:avLst/>
          </a:prstGeom>
          <a:noFill/>
        </p:spPr>
        <p:txBody>
          <a:bodyPr wrap="square" lIns="0" rIns="0" tIns="0" bIns="0">
            <a:spAutoFit/>
          </a:bodyPr>
          <a:lstStyle/>
          <a:p>
            <a:pPr>
              <a:spcAft>
                <a:spcPts val="400"/>
              </a:spcAft>
              <a:defRPr sz="1800" b="0" i="0">
                <a:solidFill>
                  <a:srgbClr val="6E6E73"/>
                </a:solidFill>
                <a:latin typeface="Segoe UI"/>
              </a:defRPr>
            </a:pPr>
            <a:r>
              <a:t>playground → characterization; attack → traces; evaluate → metrics</a:t>
            </a:r>
          </a:p>
        </p:txBody>
      </p:sp>
      <p:sp>
        <p:nvSpPr>
          <p:cNvPr id="15" name="tx_1108"/>
          <p:cNvSpPr txBox="1"/>
          <p:nvPr/>
        </p:nvSpPr>
        <p:spPr>
          <a:xfrm>
            <a:off x="822960" y="5669280"/>
            <a:ext cx="10546079" cy="365760"/>
          </a:xfrm>
          <a:prstGeom prst="rect">
            <a:avLst/>
          </a:prstGeom>
          <a:noFill/>
        </p:spPr>
        <p:txBody>
          <a:bodyPr wrap="square" lIns="0" rIns="0" tIns="0" bIns="0">
            <a:spAutoFit/>
          </a:bodyPr>
          <a:lstStyle/>
          <a:p>
            <a:pPr>
              <a:spcAft>
                <a:spcPts val="400"/>
              </a:spcAft>
              <a:defRPr sz="1500" b="0" i="0">
                <a:solidFill>
                  <a:srgbClr val="6E6E73"/>
                </a:solidFill>
                <a:latin typeface="Segoe UI"/>
              </a:defRPr>
            </a:pPr>
            <a:r>
              <a:t>github.com/hkustgz-secarch/dsassassin   ·   DOI 10.5281/zenodo.17799273</a:t>
            </a:r>
          </a:p>
        </p:txBody>
      </p:sp>
    </p:spTree>
  </p:cSld>
  <p:clrMapOvr>
    <a:masterClrMapping/>
  </p:clrMapOvr>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x_1109"/>
          <p:cNvSpPr txBox="1"/>
          <p:nvPr/>
        </p:nvSpPr>
        <p:spPr>
          <a:xfrm>
            <a:off x="822960" y="502920"/>
            <a:ext cx="10546079" cy="274320"/>
          </a:xfrm>
          <a:prstGeom prst="rect">
            <a:avLst/>
          </a:prstGeom>
          <a:noFill/>
        </p:spPr>
        <p:txBody>
          <a:bodyPr wrap="square" lIns="0" rIns="0" tIns="0" bIns="0">
            <a:spAutoFit/>
          </a:bodyPr>
          <a:lstStyle/>
          <a:p>
            <a:pPr>
              <a:spcAft>
                <a:spcPts val="400"/>
              </a:spcAft>
              <a:defRPr sz="1200" b="0" i="0">
                <a:solidFill>
                  <a:srgbClr val="0071E3"/>
                </a:solidFill>
                <a:latin typeface="Segoe UI Semibold"/>
              </a:defRPr>
            </a:pPr>
            <a:r>
              <a:t>Backup · Q&amp;A preparation</a:t>
            </a:r>
          </a:p>
        </p:txBody>
      </p:sp>
      <p:sp>
        <p:nvSpPr>
          <p:cNvPr id="3" name="tx_1110"/>
          <p:cNvSpPr txBox="1"/>
          <p:nvPr/>
        </p:nvSpPr>
        <p:spPr>
          <a:xfrm>
            <a:off x="822960" y="822960"/>
            <a:ext cx="10546079" cy="914400"/>
          </a:xfrm>
          <a:prstGeom prst="rect">
            <a:avLst/>
          </a:prstGeom>
          <a:noFill/>
        </p:spPr>
        <p:txBody>
          <a:bodyPr wrap="square" lIns="0" rIns="0" tIns="0" bIns="0">
            <a:spAutoFit/>
          </a:bodyPr>
          <a:lstStyle/>
          <a:p>
            <a:pPr>
              <a:lnSpc>
                <a:spcPct val="100000"/>
              </a:lnSpc>
              <a:spcAft>
                <a:spcPts val="400"/>
              </a:spcAft>
              <a:defRPr sz="3000" b="0" i="0">
                <a:solidFill>
                  <a:srgbClr val="1D1D1F"/>
                </a:solidFill>
                <a:latin typeface="Segoe UI Semibold"/>
              </a:defRPr>
            </a:pPr>
            <a:r>
              <a:t>Likely questions and concise answers</a:t>
            </a:r>
          </a:p>
        </p:txBody>
      </p:sp>
      <p:sp>
        <p:nvSpPr>
          <p:cNvPr id="4" name="tx_1111"/>
          <p:cNvSpPr txBox="1"/>
          <p:nvPr/>
        </p:nvSpPr>
        <p:spPr>
          <a:xfrm>
            <a:off x="822960" y="6419088"/>
            <a:ext cx="9631679" cy="228600"/>
          </a:xfrm>
          <a:prstGeom prst="rect">
            <a:avLst/>
          </a:prstGeom>
          <a:noFill/>
        </p:spPr>
        <p:txBody>
          <a:bodyPr wrap="square" lIns="0" rIns="0" tIns="0" bIns="0">
            <a:spAutoFit/>
          </a:bodyPr>
          <a:lstStyle/>
          <a:p>
            <a:pPr>
              <a:spcAft>
                <a:spcPts val="400"/>
              </a:spcAft>
              <a:defRPr sz="1000" b="0" i="0">
                <a:solidFill>
                  <a:srgbClr val="86868B"/>
                </a:solidFill>
                <a:latin typeface="Segoe UI"/>
              </a:defRPr>
            </a:pPr>
            <a:r>
              <a:t>Answers from paper §§ IV–VII + presenter assessment</a:t>
            </a:r>
          </a:p>
        </p:txBody>
      </p:sp>
      <p:sp>
        <p:nvSpPr>
          <p:cNvPr id="5" name="tx_1112"/>
          <p:cNvSpPr txBox="1"/>
          <p:nvPr/>
        </p:nvSpPr>
        <p:spPr>
          <a:xfrm>
            <a:off x="10820399" y="6419088"/>
            <a:ext cx="548640" cy="228600"/>
          </a:xfrm>
          <a:prstGeom prst="rect">
            <a:avLst/>
          </a:prstGeom>
          <a:noFill/>
        </p:spPr>
        <p:txBody>
          <a:bodyPr wrap="square" lIns="0" rIns="0" tIns="0" bIns="0">
            <a:spAutoFit/>
          </a:bodyPr>
          <a:lstStyle/>
          <a:p>
            <a:pPr algn="r">
              <a:spcAft>
                <a:spcPts val="400"/>
              </a:spcAft>
              <a:defRPr sz="1000" b="0" i="0">
                <a:solidFill>
                  <a:srgbClr val="86868B"/>
                </a:solidFill>
                <a:latin typeface="Segoe UI"/>
              </a:defRPr>
            </a:pPr>
            <a:r>
              <a:t>59</a:t>
            </a:r>
          </a:p>
        </p:txBody>
      </p:sp>
      <p:sp>
        <p:nvSpPr>
          <p:cNvPr id="6" name="tx_1113"/>
          <p:cNvSpPr txBox="1"/>
          <p:nvPr/>
        </p:nvSpPr>
        <p:spPr>
          <a:xfrm>
            <a:off x="868680" y="1783080"/>
            <a:ext cx="3705148" cy="274320"/>
          </a:xfrm>
          <a:prstGeom prst="rect">
            <a:avLst/>
          </a:prstGeom>
          <a:noFill/>
        </p:spPr>
        <p:txBody>
          <a:bodyPr wrap="square" lIns="0" rIns="0" tIns="0" bIns="0">
            <a:spAutoFit/>
          </a:bodyPr>
          <a:lstStyle/>
          <a:p>
            <a:pPr>
              <a:spcAft>
                <a:spcPts val="400"/>
              </a:spcAft>
              <a:defRPr sz="1200" b="0" i="0">
                <a:solidFill>
                  <a:srgbClr val="86868B"/>
                </a:solidFill>
                <a:latin typeface="Segoe UI Semibold"/>
              </a:defRPr>
            </a:pPr>
            <a:r>
              <a:t>QUESTION</a:t>
            </a:r>
          </a:p>
        </p:txBody>
      </p:sp>
      <p:sp>
        <p:nvSpPr>
          <p:cNvPr id="7" name="tx_1114"/>
          <p:cNvSpPr txBox="1"/>
          <p:nvPr/>
        </p:nvSpPr>
        <p:spPr>
          <a:xfrm>
            <a:off x="4665268" y="1783080"/>
            <a:ext cx="6658051" cy="274320"/>
          </a:xfrm>
          <a:prstGeom prst="rect">
            <a:avLst/>
          </a:prstGeom>
          <a:noFill/>
        </p:spPr>
        <p:txBody>
          <a:bodyPr wrap="square" lIns="0" rIns="0" tIns="0" bIns="0">
            <a:spAutoFit/>
          </a:bodyPr>
          <a:lstStyle/>
          <a:p>
            <a:pPr>
              <a:spcAft>
                <a:spcPts val="400"/>
              </a:spcAft>
              <a:defRPr sz="1200" b="0" i="0">
                <a:solidFill>
                  <a:srgbClr val="86868B"/>
                </a:solidFill>
                <a:latin typeface="Segoe UI Semibold"/>
              </a:defRPr>
            </a:pPr>
            <a:r>
              <a:t>ANSWER</a:t>
            </a:r>
          </a:p>
        </p:txBody>
      </p:sp>
      <p:cxnSp>
        <p:nvCxnSpPr>
          <p:cNvPr id="8" name="hl_1115"/>
          <p:cNvCxnSpPr/>
          <p:nvPr/>
        </p:nvCxnSpPr>
        <p:spPr>
          <a:xfrm>
            <a:off x="822960" y="2148840"/>
            <a:ext cx="10546079" cy="0"/>
          </a:xfrm>
          <a:prstGeom prst="line">
            <a:avLst/>
          </a:prstGeom>
          <a:ln w="12700">
            <a:solidFill>
              <a:srgbClr val="1D1D1F"/>
            </a:solidFill>
          </a:ln>
        </p:spPr>
        <p:style>
          <a:lnRef idx="2">
            <a:schemeClr val="accent1"/>
          </a:lnRef>
          <a:fillRef idx="0">
            <a:schemeClr val="accent1"/>
          </a:fillRef>
          <a:effectRef idx="1">
            <a:schemeClr val="accent1"/>
          </a:effectRef>
          <a:fontRef idx="minor">
            <a:schemeClr val="tx1"/>
          </a:fontRef>
        </p:style>
      </p:cxnSp>
      <p:sp>
        <p:nvSpPr>
          <p:cNvPr id="9" name="tx_1116"/>
          <p:cNvSpPr txBox="1"/>
          <p:nvPr/>
        </p:nvSpPr>
        <p:spPr>
          <a:xfrm>
            <a:off x="868680" y="2231136"/>
            <a:ext cx="3705148"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Semibold"/>
              </a:defRPr>
            </a:pPr>
            <a:r>
              <a:t>Does encryption stop it?</a:t>
            </a:r>
          </a:p>
        </p:txBody>
      </p:sp>
      <p:sp>
        <p:nvSpPr>
          <p:cNvPr id="10" name="tx_1117"/>
          <p:cNvSpPr txBox="1"/>
          <p:nvPr/>
        </p:nvSpPr>
        <p:spPr>
          <a:xfrm>
            <a:off x="4665268" y="2231136"/>
            <a:ext cx="6658051" cy="365760"/>
          </a:xfrm>
          <a:prstGeom prst="rect">
            <a:avLst/>
          </a:prstGeom>
          <a:noFill/>
        </p:spPr>
        <p:txBody>
          <a:bodyPr wrap="square" lIns="0" rIns="0" tIns="0" bIns="0" anchor="ctr">
            <a:spAutoFit/>
          </a:bodyPr>
          <a:lstStyle/>
          <a:p>
            <a:pPr>
              <a:spcAft>
                <a:spcPts val="400"/>
              </a:spcAft>
              <a:defRPr sz="1600" b="0" i="0">
                <a:solidFill>
                  <a:srgbClr val="6E6E73"/>
                </a:solidFill>
                <a:latin typeface="Segoe UI"/>
              </a:defRPr>
            </a:pPr>
            <a:r>
              <a:t>content protection does not remove activity patterns</a:t>
            </a:r>
          </a:p>
        </p:txBody>
      </p:sp>
      <p:cxnSp>
        <p:nvCxnSpPr>
          <p:cNvPr id="11" name="hl_1118"/>
          <p:cNvCxnSpPr/>
          <p:nvPr/>
        </p:nvCxnSpPr>
        <p:spPr>
          <a:xfrm>
            <a:off x="822960" y="2679192"/>
            <a:ext cx="10546079"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12" name="tx_1119"/>
          <p:cNvSpPr txBox="1"/>
          <p:nvPr/>
        </p:nvSpPr>
        <p:spPr>
          <a:xfrm>
            <a:off x="868680" y="2761488"/>
            <a:ext cx="3705148"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Semibold"/>
              </a:defRPr>
            </a:pPr>
            <a:r>
              <a:t>Do separate CPU cores help?</a:t>
            </a:r>
          </a:p>
        </p:txBody>
      </p:sp>
      <p:sp>
        <p:nvSpPr>
          <p:cNvPr id="13" name="tx_1120"/>
          <p:cNvSpPr txBox="1"/>
          <p:nvPr/>
        </p:nvSpPr>
        <p:spPr>
          <a:xfrm>
            <a:off x="4665268" y="2761488"/>
            <a:ext cx="6658051" cy="365760"/>
          </a:xfrm>
          <a:prstGeom prst="rect">
            <a:avLst/>
          </a:prstGeom>
          <a:noFill/>
        </p:spPr>
        <p:txBody>
          <a:bodyPr wrap="square" lIns="0" rIns="0" tIns="0" bIns="0" anchor="ctr">
            <a:spAutoFit/>
          </a:bodyPr>
          <a:lstStyle/>
          <a:p>
            <a:pPr>
              <a:spcAft>
                <a:spcPts val="400"/>
              </a:spcAft>
              <a:defRPr sz="1600" b="0" i="0">
                <a:solidFill>
                  <a:srgbClr val="6E6E73"/>
                </a:solidFill>
                <a:latin typeface="Segoe UI"/>
              </a:defRPr>
            </a:pPr>
            <a:r>
              <a:t>the observations arise in shared DSA resources</a:t>
            </a:r>
          </a:p>
        </p:txBody>
      </p:sp>
      <p:cxnSp>
        <p:nvCxnSpPr>
          <p:cNvPr id="14" name="hl_1121"/>
          <p:cNvCxnSpPr/>
          <p:nvPr/>
        </p:nvCxnSpPr>
        <p:spPr>
          <a:xfrm>
            <a:off x="822960" y="3209544"/>
            <a:ext cx="10546079"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15" name="tx_1122"/>
          <p:cNvSpPr txBox="1"/>
          <p:nvPr/>
        </p:nvSpPr>
        <p:spPr>
          <a:xfrm>
            <a:off x="868680" y="3291839"/>
            <a:ext cx="3705148"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Semibold"/>
              </a:defRPr>
            </a:pPr>
            <a:r>
              <a:t>Do separate queues help?</a:t>
            </a:r>
          </a:p>
        </p:txBody>
      </p:sp>
      <p:sp>
        <p:nvSpPr>
          <p:cNvPr id="16" name="tx_1123"/>
          <p:cNvSpPr txBox="1"/>
          <p:nvPr/>
        </p:nvSpPr>
        <p:spPr>
          <a:xfrm>
            <a:off x="4665268" y="3291839"/>
            <a:ext cx="6658051" cy="365760"/>
          </a:xfrm>
          <a:prstGeom prst="rect">
            <a:avLst/>
          </a:prstGeom>
          <a:noFill/>
        </p:spPr>
        <p:txBody>
          <a:bodyPr wrap="square" lIns="0" rIns="0" tIns="0" bIns="0" anchor="ctr">
            <a:spAutoFit/>
          </a:bodyPr>
          <a:lstStyle/>
          <a:p>
            <a:pPr>
              <a:spcAft>
                <a:spcPts val="400"/>
              </a:spcAft>
              <a:defRPr sz="1600" b="0" i="0">
                <a:solidFill>
                  <a:srgbClr val="6E6E73"/>
                </a:solidFill>
                <a:latin typeface="Segoe UI"/>
              </a:defRPr>
            </a:pPr>
            <a:r>
              <a:t>SWQ: yes; DevTLB: also separate the engines</a:t>
            </a:r>
          </a:p>
        </p:txBody>
      </p:sp>
      <p:cxnSp>
        <p:nvCxnSpPr>
          <p:cNvPr id="17" name="hl_1124"/>
          <p:cNvCxnSpPr/>
          <p:nvPr/>
        </p:nvCxnSpPr>
        <p:spPr>
          <a:xfrm>
            <a:off x="822960" y="3739896"/>
            <a:ext cx="10546079"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18" name="tx_1125"/>
          <p:cNvSpPr txBox="1"/>
          <p:nvPr/>
        </p:nvSpPr>
        <p:spPr>
          <a:xfrm>
            <a:off x="868680" y="3822191"/>
            <a:ext cx="3705148"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Semibold"/>
              </a:defRPr>
            </a:pPr>
            <a:r>
              <a:t>Are typed characters recovered?</a:t>
            </a:r>
          </a:p>
        </p:txBody>
      </p:sp>
      <p:sp>
        <p:nvSpPr>
          <p:cNvPr id="19" name="tx_1126"/>
          <p:cNvSpPr txBox="1"/>
          <p:nvPr/>
        </p:nvSpPr>
        <p:spPr>
          <a:xfrm>
            <a:off x="4665268" y="3822191"/>
            <a:ext cx="6658051" cy="365760"/>
          </a:xfrm>
          <a:prstGeom prst="rect">
            <a:avLst/>
          </a:prstGeom>
          <a:noFill/>
        </p:spPr>
        <p:txBody>
          <a:bodyPr wrap="square" lIns="0" rIns="0" tIns="0" bIns="0" anchor="ctr">
            <a:spAutoFit/>
          </a:bodyPr>
          <a:lstStyle/>
          <a:p>
            <a:pPr>
              <a:spcAft>
                <a:spcPts val="400"/>
              </a:spcAft>
              <a:defRPr sz="1600" b="0" i="0">
                <a:solidFill>
                  <a:srgbClr val="6E6E73"/>
                </a:solidFill>
                <a:latin typeface="Segoe UI"/>
              </a:defRPr>
            </a:pPr>
            <a:r>
              <a:t>it evaluates event timing, not full text recovery</a:t>
            </a:r>
          </a:p>
        </p:txBody>
      </p:sp>
      <p:cxnSp>
        <p:nvCxnSpPr>
          <p:cNvPr id="20" name="hl_1127"/>
          <p:cNvCxnSpPr/>
          <p:nvPr/>
        </p:nvCxnSpPr>
        <p:spPr>
          <a:xfrm>
            <a:off x="822960" y="4270248"/>
            <a:ext cx="10546079"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21" name="tx_1128"/>
          <p:cNvSpPr txBox="1"/>
          <p:nvPr/>
        </p:nvSpPr>
        <p:spPr>
          <a:xfrm>
            <a:off x="868680" y="4352544"/>
            <a:ext cx="3705148"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Semibold"/>
              </a:defRPr>
            </a:pPr>
            <a:r>
              <a:t>Would timer removal solve it?</a:t>
            </a:r>
          </a:p>
        </p:txBody>
      </p:sp>
      <p:sp>
        <p:nvSpPr>
          <p:cNvPr id="22" name="tx_1129"/>
          <p:cNvSpPr txBox="1"/>
          <p:nvPr/>
        </p:nvSpPr>
        <p:spPr>
          <a:xfrm>
            <a:off x="4665268" y="4352544"/>
            <a:ext cx="6658051" cy="365760"/>
          </a:xfrm>
          <a:prstGeom prst="rect">
            <a:avLst/>
          </a:prstGeom>
          <a:noFill/>
        </p:spPr>
        <p:txBody>
          <a:bodyPr wrap="square" lIns="0" rIns="0" tIns="0" bIns="0" anchor="ctr">
            <a:spAutoFit/>
          </a:bodyPr>
          <a:lstStyle/>
          <a:p>
            <a:pPr>
              <a:spcAft>
                <a:spcPts val="400"/>
              </a:spcAft>
              <a:defRPr sz="1600" b="0" i="0">
                <a:solidFill>
                  <a:srgbClr val="6E6E73"/>
                </a:solidFill>
                <a:latin typeface="Segoe UI"/>
              </a:defRPr>
            </a:pPr>
            <a:r>
              <a:t>SWQ reads admission feedback without a duration</a:t>
            </a:r>
          </a:p>
        </p:txBody>
      </p:sp>
      <p:cxnSp>
        <p:nvCxnSpPr>
          <p:cNvPr id="23" name="hl_1130"/>
          <p:cNvCxnSpPr/>
          <p:nvPr/>
        </p:nvCxnSpPr>
        <p:spPr>
          <a:xfrm>
            <a:off x="822960" y="4800600"/>
            <a:ext cx="10546079"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
        <p:nvSpPr>
          <p:cNvPr id="24" name="tx_1131"/>
          <p:cNvSpPr txBox="1"/>
          <p:nvPr/>
        </p:nvSpPr>
        <p:spPr>
          <a:xfrm>
            <a:off x="868680" y="4882896"/>
            <a:ext cx="3705148" cy="365760"/>
          </a:xfrm>
          <a:prstGeom prst="rect">
            <a:avLst/>
          </a:prstGeom>
          <a:noFill/>
        </p:spPr>
        <p:txBody>
          <a:bodyPr wrap="square" lIns="0" rIns="0" tIns="0" bIns="0" anchor="ctr">
            <a:spAutoFit/>
          </a:bodyPr>
          <a:lstStyle/>
          <a:p>
            <a:pPr>
              <a:spcAft>
                <a:spcPts val="400"/>
              </a:spcAft>
              <a:defRPr sz="1600" b="0" i="0">
                <a:solidFill>
                  <a:srgbClr val="1D1D1F"/>
                </a:solidFill>
                <a:latin typeface="Segoe UI Semibold"/>
              </a:defRPr>
            </a:pPr>
            <a:r>
              <a:t>Is random insertion a proven fix?</a:t>
            </a:r>
          </a:p>
        </p:txBody>
      </p:sp>
      <p:sp>
        <p:nvSpPr>
          <p:cNvPr id="25" name="tx_1132"/>
          <p:cNvSpPr txBox="1"/>
          <p:nvPr/>
        </p:nvSpPr>
        <p:spPr>
          <a:xfrm>
            <a:off x="4665268" y="4882896"/>
            <a:ext cx="6658051" cy="365760"/>
          </a:xfrm>
          <a:prstGeom prst="rect">
            <a:avLst/>
          </a:prstGeom>
          <a:noFill/>
        </p:spPr>
        <p:txBody>
          <a:bodyPr wrap="square" lIns="0" rIns="0" tIns="0" bIns="0" anchor="ctr">
            <a:spAutoFit/>
          </a:bodyPr>
          <a:lstStyle/>
          <a:p>
            <a:pPr>
              <a:spcAft>
                <a:spcPts val="400"/>
              </a:spcAft>
              <a:defRPr sz="1600" b="0" i="0">
                <a:solidFill>
                  <a:srgbClr val="6E6E73"/>
                </a:solidFill>
                <a:latin typeface="Segoe UI"/>
              </a:defRPr>
            </a:pPr>
            <a:r>
              <a:t>overhead is measured; residual leakage is not</a:t>
            </a:r>
          </a:p>
        </p:txBody>
      </p:sp>
      <p:cxnSp>
        <p:nvCxnSpPr>
          <p:cNvPr id="26" name="hl_1133"/>
          <p:cNvCxnSpPr/>
          <p:nvPr/>
        </p:nvCxnSpPr>
        <p:spPr>
          <a:xfrm>
            <a:off x="822960" y="5330952"/>
            <a:ext cx="10546079" cy="0"/>
          </a:xfrm>
          <a:prstGeom prst="line">
            <a:avLst/>
          </a:prstGeom>
          <a:ln w="9525">
            <a:solidFill>
              <a:srgbClr val="D2D2D7"/>
            </a:solidFill>
          </a:ln>
        </p:spPr>
        <p:style>
          <a:lnRef idx="2">
            <a:schemeClr val="accent1"/>
          </a:lnRef>
          <a:fillRef idx="0">
            <a:schemeClr val="accent1"/>
          </a:fillRef>
          <a:effectRef idx="1">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x_1134"/>
          <p:cNvSpPr txBox="1"/>
          <p:nvPr/>
        </p:nvSpPr>
        <p:spPr>
          <a:xfrm>
            <a:off x="822960" y="502920"/>
            <a:ext cx="10546079" cy="274320"/>
          </a:xfrm>
          <a:prstGeom prst="rect">
            <a:avLst/>
          </a:prstGeom>
          <a:noFill/>
        </p:spPr>
        <p:txBody>
          <a:bodyPr wrap="square" lIns="0" rIns="0" tIns="0" bIns="0">
            <a:spAutoFit/>
          </a:bodyPr>
          <a:lstStyle/>
          <a:p>
            <a:pPr>
              <a:spcAft>
                <a:spcPts val="400"/>
              </a:spcAft>
              <a:defRPr sz="1200" b="0" i="0">
                <a:solidFill>
                  <a:srgbClr val="0071E3"/>
                </a:solidFill>
                <a:latin typeface="Segoe UI Semibold"/>
              </a:defRPr>
            </a:pPr>
            <a:r>
              <a:t>Backup · References</a:t>
            </a:r>
          </a:p>
        </p:txBody>
      </p:sp>
      <p:sp>
        <p:nvSpPr>
          <p:cNvPr id="3" name="tx_1135"/>
          <p:cNvSpPr txBox="1"/>
          <p:nvPr/>
        </p:nvSpPr>
        <p:spPr>
          <a:xfrm>
            <a:off x="822960" y="822960"/>
            <a:ext cx="10546079" cy="914400"/>
          </a:xfrm>
          <a:prstGeom prst="rect">
            <a:avLst/>
          </a:prstGeom>
          <a:noFill/>
        </p:spPr>
        <p:txBody>
          <a:bodyPr wrap="square" lIns="0" rIns="0" tIns="0" bIns="0">
            <a:spAutoFit/>
          </a:bodyPr>
          <a:lstStyle/>
          <a:p>
            <a:pPr>
              <a:lnSpc>
                <a:spcPct val="100000"/>
              </a:lnSpc>
              <a:spcAft>
                <a:spcPts val="400"/>
              </a:spcAft>
              <a:defRPr sz="3000" b="0" i="0">
                <a:solidFill>
                  <a:srgbClr val="1D1D1F"/>
                </a:solidFill>
                <a:latin typeface="Segoe UI Semibold"/>
              </a:defRPr>
            </a:pPr>
            <a:r>
              <a:t>Sources and provenance</a:t>
            </a:r>
          </a:p>
        </p:txBody>
      </p:sp>
      <p:sp>
        <p:nvSpPr>
          <p:cNvPr id="4" name="tx_1136"/>
          <p:cNvSpPr txBox="1"/>
          <p:nvPr/>
        </p:nvSpPr>
        <p:spPr>
          <a:xfrm>
            <a:off x="822960" y="6419088"/>
            <a:ext cx="9631679" cy="228600"/>
          </a:xfrm>
          <a:prstGeom prst="rect">
            <a:avLst/>
          </a:prstGeom>
          <a:noFill/>
        </p:spPr>
        <p:txBody>
          <a:bodyPr wrap="square" lIns="0" rIns="0" tIns="0" bIns="0">
            <a:spAutoFit/>
          </a:bodyPr>
          <a:lstStyle/>
          <a:p>
            <a:pPr>
              <a:spcAft>
                <a:spcPts val="400"/>
              </a:spcAft>
              <a:defRPr sz="1000" b="0" i="0">
                <a:solidFill>
                  <a:srgbClr val="86868B"/>
                </a:solidFill>
                <a:latin typeface="Segoe UI"/>
              </a:defRPr>
            </a:pPr>
            <a:r>
              <a:t>Primary source: user-supplied hpca26dsassassin.pdf</a:t>
            </a:r>
          </a:p>
        </p:txBody>
      </p:sp>
      <p:sp>
        <p:nvSpPr>
          <p:cNvPr id="5" name="tx_1137"/>
          <p:cNvSpPr txBox="1"/>
          <p:nvPr/>
        </p:nvSpPr>
        <p:spPr>
          <a:xfrm>
            <a:off x="10820399" y="6419088"/>
            <a:ext cx="548640" cy="228600"/>
          </a:xfrm>
          <a:prstGeom prst="rect">
            <a:avLst/>
          </a:prstGeom>
          <a:noFill/>
        </p:spPr>
        <p:txBody>
          <a:bodyPr wrap="square" lIns="0" rIns="0" tIns="0" bIns="0">
            <a:spAutoFit/>
          </a:bodyPr>
          <a:lstStyle/>
          <a:p>
            <a:pPr algn="r">
              <a:spcAft>
                <a:spcPts val="400"/>
              </a:spcAft>
              <a:defRPr sz="1000" b="0" i="0">
                <a:solidFill>
                  <a:srgbClr val="86868B"/>
                </a:solidFill>
                <a:latin typeface="Segoe UI"/>
              </a:defRPr>
            </a:pPr>
            <a:r>
              <a:t>60</a:t>
            </a:r>
          </a:p>
        </p:txBody>
      </p:sp>
      <p:sp>
        <p:nvSpPr>
          <p:cNvPr id="6" name="rect_1138"/>
          <p:cNvSpPr/>
          <p:nvPr/>
        </p:nvSpPr>
        <p:spPr>
          <a:xfrm>
            <a:off x="822960" y="2011679"/>
            <a:ext cx="109728" cy="109728"/>
          </a:xfrm>
          <a:prstGeom prst="ellipse">
            <a:avLst/>
          </a:prstGeom>
          <a:solidFill>
            <a:srgbClr val="007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x_1139"/>
          <p:cNvSpPr txBox="1"/>
          <p:nvPr/>
        </p:nvSpPr>
        <p:spPr>
          <a:xfrm>
            <a:off x="1188720" y="1874519"/>
            <a:ext cx="10180319" cy="457200"/>
          </a:xfrm>
          <a:prstGeom prst="rect">
            <a:avLst/>
          </a:prstGeom>
          <a:noFill/>
        </p:spPr>
        <p:txBody>
          <a:bodyPr wrap="square" lIns="0" rIns="0" tIns="0" bIns="0">
            <a:spAutoFit/>
          </a:bodyPr>
          <a:lstStyle/>
          <a:p>
            <a:pPr>
              <a:spcAft>
                <a:spcPts val="400"/>
              </a:spcAft>
              <a:defRPr sz="2200" b="0" i="0">
                <a:solidFill>
                  <a:srgbClr val="1D1D1F"/>
                </a:solidFill>
                <a:latin typeface="Segoe UI Semibold"/>
              </a:defRPr>
            </a:pPr>
            <a:r>
              <a:t>Primary paper</a:t>
            </a:r>
          </a:p>
        </p:txBody>
      </p:sp>
      <p:sp>
        <p:nvSpPr>
          <p:cNvPr id="8" name="tx_1140"/>
          <p:cNvSpPr txBox="1"/>
          <p:nvPr/>
        </p:nvSpPr>
        <p:spPr>
          <a:xfrm>
            <a:off x="1188720" y="2331720"/>
            <a:ext cx="10180319" cy="548640"/>
          </a:xfrm>
          <a:prstGeom prst="rect">
            <a:avLst/>
          </a:prstGeom>
          <a:noFill/>
        </p:spPr>
        <p:txBody>
          <a:bodyPr wrap="square" lIns="0" rIns="0" tIns="0" bIns="0">
            <a:spAutoFit/>
          </a:bodyPr>
          <a:lstStyle/>
          <a:p>
            <a:pPr>
              <a:spcAft>
                <a:spcPts val="400"/>
              </a:spcAft>
              <a:defRPr sz="1800" b="0" i="0">
                <a:solidFill>
                  <a:srgbClr val="6E6E73"/>
                </a:solidFill>
                <a:latin typeface="Segoe UI"/>
              </a:defRPr>
            </a:pPr>
            <a:r>
              <a:t>Chen, Li, Deng, Wang, Chen. DSASSASSIN. HPCA 2026</a:t>
            </a:r>
          </a:p>
        </p:txBody>
      </p:sp>
      <p:sp>
        <p:nvSpPr>
          <p:cNvPr id="9" name="rect_1141"/>
          <p:cNvSpPr/>
          <p:nvPr/>
        </p:nvSpPr>
        <p:spPr>
          <a:xfrm>
            <a:off x="822960" y="3017520"/>
            <a:ext cx="109728" cy="109728"/>
          </a:xfrm>
          <a:prstGeom prst="ellipse">
            <a:avLst/>
          </a:prstGeom>
          <a:solidFill>
            <a:srgbClr val="007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x_1142"/>
          <p:cNvSpPr txBox="1"/>
          <p:nvPr/>
        </p:nvSpPr>
        <p:spPr>
          <a:xfrm>
            <a:off x="1188720" y="2880360"/>
            <a:ext cx="10180319" cy="457200"/>
          </a:xfrm>
          <a:prstGeom prst="rect">
            <a:avLst/>
          </a:prstGeom>
          <a:noFill/>
        </p:spPr>
        <p:txBody>
          <a:bodyPr wrap="square" lIns="0" rIns="0" tIns="0" bIns="0">
            <a:spAutoFit/>
          </a:bodyPr>
          <a:lstStyle/>
          <a:p>
            <a:pPr>
              <a:spcAft>
                <a:spcPts val="400"/>
              </a:spcAft>
              <a:defRPr sz="2200" b="0" i="0">
                <a:solidFill>
                  <a:srgbClr val="1D1D1F"/>
                </a:solidFill>
                <a:latin typeface="Segoe UI Semibold"/>
              </a:defRPr>
            </a:pPr>
            <a:r>
              <a:t>Author-hosted PDF</a:t>
            </a:r>
          </a:p>
        </p:txBody>
      </p:sp>
      <p:sp>
        <p:nvSpPr>
          <p:cNvPr id="11" name="tx_1143"/>
          <p:cNvSpPr txBox="1"/>
          <p:nvPr/>
        </p:nvSpPr>
        <p:spPr>
          <a:xfrm>
            <a:off x="1188720" y="3337560"/>
            <a:ext cx="10180319" cy="548640"/>
          </a:xfrm>
          <a:prstGeom prst="rect">
            <a:avLst/>
          </a:prstGeom>
          <a:noFill/>
        </p:spPr>
        <p:txBody>
          <a:bodyPr wrap="square" lIns="0" rIns="0" tIns="0" bIns="0">
            <a:spAutoFit/>
          </a:bodyPr>
          <a:lstStyle/>
          <a:p>
            <a:pPr>
              <a:spcAft>
                <a:spcPts val="400"/>
              </a:spcAft>
              <a:defRPr sz="1800" b="0" i="0">
                <a:solidFill>
                  <a:srgbClr val="6E6E73"/>
                </a:solidFill>
                <a:latin typeface="Segoe UI"/>
              </a:defRPr>
            </a:pPr>
            <a:r>
              <a:t>i.benx.dev/assets/hpca26dsassassin.pdf</a:t>
            </a:r>
          </a:p>
        </p:txBody>
      </p:sp>
      <p:sp>
        <p:nvSpPr>
          <p:cNvPr id="12" name="rect_1144"/>
          <p:cNvSpPr/>
          <p:nvPr/>
        </p:nvSpPr>
        <p:spPr>
          <a:xfrm>
            <a:off x="822960" y="4023360"/>
            <a:ext cx="109728" cy="109728"/>
          </a:xfrm>
          <a:prstGeom prst="ellipse">
            <a:avLst/>
          </a:prstGeom>
          <a:solidFill>
            <a:srgbClr val="007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x_1145"/>
          <p:cNvSpPr txBox="1"/>
          <p:nvPr/>
        </p:nvSpPr>
        <p:spPr>
          <a:xfrm>
            <a:off x="1188720" y="3886200"/>
            <a:ext cx="10180319" cy="457200"/>
          </a:xfrm>
          <a:prstGeom prst="rect">
            <a:avLst/>
          </a:prstGeom>
          <a:noFill/>
        </p:spPr>
        <p:txBody>
          <a:bodyPr wrap="square" lIns="0" rIns="0" tIns="0" bIns="0">
            <a:spAutoFit/>
          </a:bodyPr>
          <a:lstStyle/>
          <a:p>
            <a:pPr>
              <a:spcAft>
                <a:spcPts val="400"/>
              </a:spcAft>
              <a:defRPr sz="2200" b="0" i="0">
                <a:solidFill>
                  <a:srgbClr val="1D1D1F"/>
                </a:solidFill>
                <a:latin typeface="Segoe UI Semibold"/>
              </a:defRPr>
            </a:pPr>
            <a:r>
              <a:t>Artifact</a:t>
            </a:r>
          </a:p>
        </p:txBody>
      </p:sp>
      <p:sp>
        <p:nvSpPr>
          <p:cNvPr id="14" name="tx_1146"/>
          <p:cNvSpPr txBox="1"/>
          <p:nvPr/>
        </p:nvSpPr>
        <p:spPr>
          <a:xfrm>
            <a:off x="1188720" y="4343400"/>
            <a:ext cx="10180319" cy="548640"/>
          </a:xfrm>
          <a:prstGeom prst="rect">
            <a:avLst/>
          </a:prstGeom>
          <a:noFill/>
        </p:spPr>
        <p:txBody>
          <a:bodyPr wrap="square" lIns="0" rIns="0" tIns="0" bIns="0">
            <a:spAutoFit/>
          </a:bodyPr>
          <a:lstStyle/>
          <a:p>
            <a:pPr>
              <a:spcAft>
                <a:spcPts val="400"/>
              </a:spcAft>
              <a:defRPr sz="1800" b="0" i="0">
                <a:solidFill>
                  <a:srgbClr val="6E6E73"/>
                </a:solidFill>
                <a:latin typeface="Segoe UI"/>
              </a:defRPr>
            </a:pPr>
            <a:r>
              <a:t>github.com/hkustgz-secarch/dsassassin</a:t>
            </a:r>
          </a:p>
        </p:txBody>
      </p:sp>
      <p:sp>
        <p:nvSpPr>
          <p:cNvPr id="15" name="rect_1147"/>
          <p:cNvSpPr/>
          <p:nvPr/>
        </p:nvSpPr>
        <p:spPr>
          <a:xfrm>
            <a:off x="822960" y="5029200"/>
            <a:ext cx="109728" cy="109728"/>
          </a:xfrm>
          <a:prstGeom prst="ellipse">
            <a:avLst/>
          </a:prstGeom>
          <a:solidFill>
            <a:srgbClr val="0071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x_1148"/>
          <p:cNvSpPr txBox="1"/>
          <p:nvPr/>
        </p:nvSpPr>
        <p:spPr>
          <a:xfrm>
            <a:off x="1188720" y="4892040"/>
            <a:ext cx="10180319" cy="457200"/>
          </a:xfrm>
          <a:prstGeom prst="rect">
            <a:avLst/>
          </a:prstGeom>
          <a:noFill/>
        </p:spPr>
        <p:txBody>
          <a:bodyPr wrap="square" lIns="0" rIns="0" tIns="0" bIns="0">
            <a:spAutoFit/>
          </a:bodyPr>
          <a:lstStyle/>
          <a:p>
            <a:pPr>
              <a:spcAft>
                <a:spcPts val="400"/>
              </a:spcAft>
              <a:defRPr sz="2200" b="0" i="0">
                <a:solidFill>
                  <a:srgbClr val="1D1D1F"/>
                </a:solidFill>
                <a:latin typeface="Segoe UI Semibold"/>
              </a:defRPr>
            </a:pPr>
            <a:r>
              <a:t>Archive + record</a:t>
            </a:r>
          </a:p>
        </p:txBody>
      </p:sp>
      <p:sp>
        <p:nvSpPr>
          <p:cNvPr id="17" name="tx_1149"/>
          <p:cNvSpPr txBox="1"/>
          <p:nvPr/>
        </p:nvSpPr>
        <p:spPr>
          <a:xfrm>
            <a:off x="1188720" y="5349240"/>
            <a:ext cx="10180319" cy="548640"/>
          </a:xfrm>
          <a:prstGeom prst="rect">
            <a:avLst/>
          </a:prstGeom>
          <a:noFill/>
        </p:spPr>
        <p:txBody>
          <a:bodyPr wrap="square" lIns="0" rIns="0" tIns="0" bIns="0">
            <a:spAutoFit/>
          </a:bodyPr>
          <a:lstStyle/>
          <a:p>
            <a:pPr>
              <a:spcAft>
                <a:spcPts val="400"/>
              </a:spcAft>
              <a:defRPr sz="1800" b="0" i="0">
                <a:solidFill>
                  <a:srgbClr val="6E6E73"/>
                </a:solidFill>
                <a:latin typeface="Segoe UI"/>
              </a:defRPr>
            </a:pPr>
            <a:r>
              <a:t>doi.org/10.5281/zenodo.17799273 · 2026.hpca-conf.org</a:t>
            </a:r>
          </a:p>
        </p:txBody>
      </p:sp>
    </p:spTree>
  </p:cSld>
  <p:clrMapOvr>
    <a:masterClrMapping/>
  </p:clrMapOvr>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DSASSASSIN — Cross-VM side channels through Intel DSA</dc:title>
  <dc:subject/>
  <dc:creator>Paper presentation | Chen et al., HPCA 2026</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