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DSASSASSIN</a:t>
            </a:r>
          </a:p>
          <a:p/>
          <a:p>
            <a:r>
              <a:t>READ-ALOUD TRANSCRIPT</a:t>
            </a:r>
          </a:p>
          <a:p/>
          <a:p>
            <a:r>
              <a:t>Hi everyone. We're Siddharth Banakar and Dinesh Samala, and today we're presenting DSASSASSIN. The paper studies Intel's Data Streaming Accelerator, or DSA, which moves memory operations away from the CPU.</a:t>
            </a:r>
          </a:p>
          <a:p/>
          <a:p>
            <a:r>
              <a:t>The question is fairly simple. If two virtual machines share that accelerator, can one learn something about the other's activity without reading its memory? The authors show two ways that this can happen. We'll explain the hardware first, walk through the experiments and code, and then show how those observations become application-level inferences.</a:t>
            </a:r>
          </a:p>
          <a:p/>
          <a:p>
            <a:r>
              <a:t>REFERENCE NOTES (not part of the spoken script)</a:t>
            </a:r>
          </a:p>
          <a:p>
            <a:r>
              <a:t>- The paper studies Intel DSA on the evaluated Xeon platforms. Avoid claiming that DSA is present in every recent Xeon.</a:t>
            </a:r>
          </a:p>
          <a:p>
            <a:r>
              <a:t>- The named presenters are distinct from the five original paper authors.</a:t>
            </a:r>
          </a:p>
          <a:p/>
          <a:p>
            <a:r>
              <a:t>SOURCE: Chen, Li, Deng, Wang, and Chen. DSASSASSIN, HPCA 2026. Sections I and II, pp. 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Presentation plan</a:t>
            </a:r>
          </a:p>
          <a:p/>
          <a:p>
            <a:r>
              <a:t>READ-ALOUD TRANSCRIPT</a:t>
            </a:r>
          </a:p>
          <a:p/>
          <a:p>
            <a:r>
              <a:t>Here's the route we'll take. First, we'll look at why memory operations are offloaded, then follow a DSA request and its address translations. That gives us the pieces we need to understand what the virtual machines share.</a:t>
            </a:r>
          </a:p>
          <a:p/>
          <a:p>
            <a:r>
              <a:t>Then we'll look at the experiments and the two attacks. After that, we'll follow a probe result into a trace and an inference. We'll finish with the application results, the evaluation limits, and the proposed mitigations. The first question is why these memory operations are being sent to an accelerator at all.</a:t>
            </a:r>
          </a:p>
          <a:p/>
          <a:p>
            <a:r>
              <a:t>REFERENCE NOTES (not part of the spoken script)</a:t>
            </a:r>
          </a:p>
          <a:p>
            <a:r>
              <a:t>- This agenda is presenter organization, not a separate empirical claim. Slides 1 and 2 introduce the talk; the five sections cover slides 3-25.</a:t>
            </a:r>
          </a:p>
          <a:p/>
          <a:p>
            <a:r>
              <a:t>SOURCE: Presentation organization based on paper Sections II, IV, V, VI, and VII.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Why offload memory operations?</a:t>
            </a:r>
          </a:p>
          <a:p/>
          <a:p>
            <a:r>
              <a:t>READ-ALOUD TRANSCRIPT</a:t>
            </a:r>
          </a:p>
          <a:p/>
          <a:p>
            <a:r>
              <a:t>Before we look at the attack, why use DSA at all? A CPU can already copy and compare memory, but moving large buffers repeatedly uses instruction-execution time and ties up cores that could be doing application work.</a:t>
            </a:r>
          </a:p>
          <a:p/>
          <a:p>
            <a:r>
              <a:t>The program selects these bulk jobs; ordinary CPU loads and stores still execute on the CPU. DSA takes those bulk operations as asynchronous jobs. While it handles a buffer, the CPU can work on something else, provided the program doesn't need that result yet. That can help with network buffers, storage, and virtual-machine checkpoints.</a:t>
            </a:r>
          </a:p>
          <a:p/>
          <a:p>
            <a:r>
              <a:t>The supported jobs include copies and dualcast, which copies one source to two destinations; filling and comparing memory; CRC checksums and DIF integrity operations; and creating or applying delta records.</a:t>
            </a:r>
          </a:p>
          <a:p/>
          <a:p>
            <a:r>
              <a:t>There is still submission and completion overhead, so small jobs aren't automatically faster when offloaded. DSA also doesn't create extra DRAM bandwidth. The benefit depends on the operation and workload. The security question is what happens when different tenants share the hardware doing that work.</a:t>
            </a:r>
          </a:p>
          <a:p/>
          <a:p>
            <a:r>
              <a:t>REFERENCE NOTES (not part of the spoken script)</a:t>
            </a:r>
          </a:p>
          <a:p>
            <a:r>
              <a:t>- DSA is a data-movement and transformation accelerator. Offload can free CPU execution resources and allow independent computation to overlap with asynchronous work; it does not remove memory-bandwidth limits.</a:t>
            </a:r>
          </a:p>
          <a:p>
            <a:r>
              <a:t>- Dualcast copies one source to two destinations. Fill writes a repeated pattern. Compare can compare buffers or compare against a pattern. CRC and DIF operations support integrity generation/checking. Delta-record operations create or apply a representation of changes.</a:t>
            </a:r>
          </a:p>
          <a:p>
            <a:r>
              <a:t>- CRC means cyclic redundancy check. DIF means data integrity field. These are integrity mechanisms, not a claim that DSA performs general encryption.</a:t>
            </a:r>
          </a:p>
          <a:p>
            <a:r>
              <a:t>- Network buffers, storage operations, and VM checkpoints are examples of data-movement workloads. They are motivation and use cases, not three additional attacks evaluated in this paper.</a:t>
            </a:r>
          </a:p>
          <a:p>
            <a:r>
              <a:t>- Submission, queueing, synchronization, and completion processing have costs. Benefits depend on transfer size, batching, parallel work, CPU implementation, and available memory bandwidth.</a:t>
            </a:r>
          </a:p>
          <a:p>
            <a:r>
              <a:t>- The program or offload library selects eligible bulk jobs. DSA does not transparently execute every ordinary CPU load and store.</a:t>
            </a:r>
          </a:p>
          <a:p>
            <a:r>
              <a:t>- Intel explains CPU-cycle relief, asynchronous overlap, and the unchanged peak DRAM-bandwidth constraint in its DSA optimization article: https://www.intel.com/content/www/us/en/developer/articles/technical/accelerate-memory-bandwidth-bound-kernels-with-dsa.html</a:t>
            </a:r>
          </a:p>
          <a:p>
            <a:r>
              <a:t>- Intel's fourth-generation Xeon OVS-DPDK guide explains that descriptor creation and completion waiting can outweigh CPU-copy time for small packets. The crossover depends on the workload and configuration: https://www.intel.com/content/www/us/en/developer/articles/guide/tuning-guide-ovs-dpdk-dsa-4th-gen-xeon-scalable.html</a:t>
            </a:r>
          </a:p>
          <a:p/>
          <a:p>
            <a:r>
              <a:t>SOURCE: Paper Section II-A, pp. 2-3, and Section IV-B for dualcast; Intel DSA memory-bandwidth optimization article and 4th-generation Xeon OVS-DPDK tuning guide (official links in context).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Private addresses can still share hardware</a:t>
            </a:r>
          </a:p>
          <a:p/>
          <a:p>
            <a:r>
              <a:t>READ-ALOUD TRANSCRIPT</a:t>
            </a:r>
          </a:p>
          <a:p/>
          <a:p>
            <a:r>
              <a:t>Imagine two virtual machines using the same physical accelerator. Their memory is protected, so the attacker can't simply load an address and read the victim's data. Requests carry an address-space identity, and the translation system checks which memory they may access.</a:t>
            </a:r>
          </a:p>
          <a:p/>
          <a:p>
            <a:r>
              <a:t>But address permissions don't automatically separate every internal hardware resource. Both VMs may still use the same engine or compete for admission to the same queue. The attacker can submit its own requests and observe whether they were accepted or how long they took to finish.</a:t>
            </a:r>
          </a:p>
          <a:p/>
          <a:p>
            <a:r>
              <a:t>That's the distinction to keep in mind throughout this talk. The observation is about shared resource activity. Any later claim about a website or a keystroke has to be inferred from that observation. To see where those signals come from, let's follow a DSA request.</a:t>
            </a:r>
          </a:p>
          <a:p/>
          <a:p>
            <a:r>
              <a:t>REFERENCE NOTES (not part of the spoken script)</a:t>
            </a:r>
          </a:p>
          <a:p>
            <a:r>
              <a:t>- PASID identifies an address-space context; do not equate address authorization with independent replacement capacity.</a:t>
            </a:r>
          </a:p>
          <a:p>
            <a:r>
              <a:t>- The paper's cross-VM setup has no shared memory or direct communication channel between attacker and victim. Covert-channel experiments separately use cooperating sender and receiver roles.</a:t>
            </a:r>
          </a:p>
          <a:p/>
          <a:p>
            <a:r>
              <a:t>SOURCE: Paper Sections I, II-B, III, and V-A, pp. 1-3 and 7-8.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How one DSA request completes</a:t>
            </a:r>
          </a:p>
          <a:p/>
          <a:p>
            <a:r>
              <a:t>READ-ALOUD TRANSCRIPT</a:t>
            </a:r>
          </a:p>
          <a:p/>
          <a:p>
            <a:r>
              <a:t>A program starts by preparing a descriptor. Think of it as a small request record containing the operation, the relevant addresses, and where to report completion. The program submits that descriptor through a portal, and the work queue buffers it for an engine.</a:t>
            </a:r>
          </a:p>
          <a:p/>
          <a:p>
            <a:r>
              <a:t>On the original diagram, follow the request into the processing unit. The stages are decode, read, compute, write, and notify. The engine may need address translations before issuing memory transactions. Once the work is complete, the completion record tells the submitting program that it can continue.</a:t>
            </a:r>
          </a:p>
          <a:p/>
          <a:p>
            <a:r>
              <a:t>There are two different moments to observe here. A submission can be accepted before the operation has finished. So the attacker can ask, 'Did my request get into the queue?' It can also ask, 'How long did my request take to complete?' Those become the two channels. First, we need to understand the translations used along this path.</a:t>
            </a:r>
          </a:p>
          <a:p/>
          <a:p>
            <a:r>
              <a:t>REFERENCE NOTES (not part of the spoken script)</a:t>
            </a:r>
          </a:p>
          <a:p>
            <a:r>
              <a:t>- Figure 1 contains functional stages, not a cycle-accurate instruction schedule. Use the drawn stage names because the prose's numeric stage references are inconsistent.</a:t>
            </a:r>
          </a:p>
          <a:p>
            <a:r>
              <a:t>- The batch fetcher and arbiter select and prepare work within the engine. Their scheduling behavior is revisited with Listing 5.</a:t>
            </a:r>
          </a:p>
          <a:p>
            <a:r>
              <a:t>- Accepted submission does not imply completed operation.</a:t>
            </a:r>
          </a:p>
          <a:p/>
          <a:p>
            <a:r>
              <a:t>SOURCE: Paper Figure 1 and Sections II-A/B, pp. 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How IOMMU and VT-d protect device accesses</a:t>
            </a:r>
          </a:p>
          <a:p/>
          <a:p>
            <a:r>
              <a:t>READ-ALOUD TRANSCRIPT</a:t>
            </a:r>
          </a:p>
          <a:p/>
          <a:p>
            <a:r>
              <a:t>Now let's make the address-translation path concrete. An IOMMU translates device memory requests and checks whether those accesses are allowed. Intel VT-d is Intel's architecture for this I/O translation and isolation.</a:t>
            </a:r>
          </a:p>
          <a:p/>
          <a:p>
            <a:r>
              <a:t>A request is interpreted in its device and address-space context. PASID identifies a process address space within that context; it isn't a globally meaningful identity by itself. The translation maps the requested address to a physical address and supplies the relevant access permissions. Under virtualization, that may involve multiple translation stages rather than one flat lookup.</a:t>
            </a:r>
          </a:p>
          <a:p/>
          <a:p>
            <a:r>
              <a:t>DSA keeps reusable translations in its device-side cache, the DevTLB. On a hit, it reuses an authorized cached mapping. On a miss, it sends an ATS translation request to the host's Translation Agent, associated with the IOMMU. The host may answer from its IOTLB cache. Otherwise, it may need a page-table walk to resolve the request.</a:t>
            </a:r>
          </a:p>
          <a:p/>
          <a:p>
            <a:r>
              <a:t>The physical page is simply a region of RAM backing the data, perhaps a source buffer, destination buffer, or completion record. Physical describes its address, not a new type of storage. The DevTLB holds mapping information, context, and permissions, not those bytes or an application name. Let's now look at how many translations each engine retains.</a:t>
            </a:r>
          </a:p>
          <a:p/>
          <a:p>
            <a:r>
              <a:t>REFERENCE NOTES (not part of the spoken script)</a:t>
            </a:r>
          </a:p>
          <a:p>
            <a:r>
              <a:t>- IOMMU means input/output memory management unit. It translates and authorizes device DMA accesses. DMA means direct memory access.</a:t>
            </a:r>
          </a:p>
          <a:p>
            <a:r>
              <a:t>- Intel VT-d means Intel Virtualization Technology for Directed I/O. It is Intel's I/O translation and isolation architecture, implemented through DMA-remapping hardware; it is not an alternative name for the device-side DevTLB.</a:t>
            </a:r>
          </a:p>
          <a:p>
            <a:r>
              <a:t>- PASID means Process Address Space Identifier. It selects a process address-space context together with the relevant device/translation context; a PASID number alone is not a globally unique identity.</a:t>
            </a:r>
          </a:p>
          <a:p>
            <a:r>
              <a:t>- ATS means Address Translation Services. A device can request an address translation from the host Translation Agent. A successful response provides the translated address and access-permission information that can be cached by the device.</a:t>
            </a:r>
          </a:p>
          <a:p>
            <a:r>
              <a:t>- The IOTLB is the Input/Output Translation Lookaside Buffer in the host translation path. A DevTLB miss does not necessarily cause a page-table walk because the IOTLB may satisfy the translation request.</a:t>
            </a:r>
          </a:p>
          <a:p>
            <a:r>
              <a:t>- A request can be rejected if the mapping or permissions do not allow the requested access. The diagram shows the successful authorized translation path.</a:t>
            </a:r>
          </a:p>
          <a:p>
            <a:r>
              <a:t>- The cached mapping includes relevant context and permission information. The slide is a conceptual path, not a reconstructed bit-level entry format or a claim that every VM has its own replacement capacity.</a:t>
            </a:r>
          </a:p>
          <a:p>
            <a:r>
              <a:t>- A physical page is ordinary RAM viewed by physical address. It can back source data, destination buffers, instructions, or a completion record. Application data lives in those pages, not in the translation-cache entry.</a:t>
            </a:r>
          </a:p>
          <a:p>
            <a:r>
              <a:t>- Virtualized translation can involve multiple stages. The diagram deliberately collapses those stages to explain the device cache, host translation path, and physical memory.</a:t>
            </a:r>
          </a:p>
          <a:p>
            <a:r>
              <a:t>- The paper warms IOTLB and page-table state during DevTLB characterization. Shared replacement capacity can leak activity even when address-space permissions remain enforced.</a:t>
            </a:r>
          </a:p>
          <a:p>
            <a:r>
              <a:t>- DevTLB means Device Translation Lookaside Buffer. In this presentation it is the device-side address-translation cache, distinct from the host IOTLB.</a:t>
            </a:r>
          </a:p>
          <a:p>
            <a:r>
              <a:t>- Intel's Scalable I/O article describes PASID-selected client address spaces, translated host physical addresses, and the ATS path between a device cache and host IOMMU: https://www.intel.com/content/www/us/en/developer/articles/technical/scalable-io-between-accelerators-host-processors.html</a:t>
            </a:r>
          </a:p>
          <a:p>
            <a:r>
              <a:t>- Intel describes VT-d as its I/O virtualization and isolation technology: https://www.intel.com/content/www/us/en/support/articles/000058162.html</a:t>
            </a:r>
          </a:p>
          <a:p>
            <a:r>
              <a:t>- Intel's VTune documentation distinguishes the host remapping hardware and its IOTLB cache: https://www.intel.com/content/www/us/en/docs/vtune-profiler/cookbook/2025-0/analyze-uncore-perfmon-events-for-intel-ddio.html</a:t>
            </a:r>
          </a:p>
          <a:p>
            <a:r>
              <a:t>- Translation permissions are shown as architectural information, not as a reverse-engineered claim about literal DevTLB entry bits.</a:t>
            </a:r>
          </a:p>
          <a:p/>
          <a:p>
            <a:r>
              <a:t>SOURCE: Paper Section II-B and Figure 1, pp. 2-3, and Section IV-B, pp. 4-6; Intel Scalable I/O, VT-d, and host-IOTLB documentation (official links in context).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Five translation slots per engine</a:t>
            </a:r>
          </a:p>
          <a:p/>
          <a:p>
            <a:r>
              <a:t>READ-ALOUD TRANSCRIPT</a:t>
            </a:r>
          </a:p>
          <a:p/>
          <a:p>
            <a:r>
              <a:t>The authors reverse-engineered the structure shown here. On their tested hardware, each engine has five translation slots. They correspond to the source, second source, destination, second destination, and completion-record fields. Each slot retains one translation.</a:t>
            </a:r>
          </a:p>
          <a:p/>
          <a:p>
            <a:r>
              <a:t>That small capacity makes replacement easy to observe. Suppose my completion record is on page A, and its translation is currently in the completion slot. A later completion write using another page can replace it. When I access my own page again, I may have to fetch its translation again, which can make my request slower.</a:t>
            </a:r>
          </a:p>
          <a:p/>
          <a:p>
            <a:r>
              <a:t>Notice what I haven't learned. I still don't know the other page's address or contents. I have evidence that the shared state changed. Also, this is the organization measured on the tested platforms, not a claim about every possible accelerator design. The next question is how a descriptor selects one of these slots.</a:t>
            </a:r>
          </a:p>
          <a:p/>
          <a:p>
            <a:r>
              <a:t>REFERENCE NOTES (not part of the spoken script)</a:t>
            </a:r>
          </a:p>
          <a:p>
            <a:r>
              <a:t>- The five one-entry field slots are an empirical finding. Shared replacement capacity is separate from permission to use another address space's translation.</a:t>
            </a:r>
          </a:p>
          <a:p>
            <a:r>
              <a:t>- For cross-page transactions, the paper reports that only the final page segment's translation remains in the corresponding slot.</a:t>
            </a:r>
          </a:p>
          <a:p>
            <a:r>
              <a:t>- The batch fetcher's own descriptor reads and completion-record writes bypass this indexing path. Distinguish them from engine completion writes used by the NOOP probe.</a:t>
            </a:r>
          </a:p>
          <a:p/>
          <a:p>
            <a:r>
              <a:t>SOURCE: Paper Figure 2 and Sections IV-A/B, pp. 4-6.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Descriptor fields select the slot</a:t>
            </a:r>
          </a:p>
          <a:p/>
          <a:p>
            <a:r>
              <a:t>READ-ALOUD TRANSCRIPT</a:t>
            </a:r>
          </a:p>
          <a:p/>
          <a:p>
            <a:r>
              <a:t>Here's the descriptor format from the paper. The important point is that the operation determines what each address field means. A copy uses source and destination addresses. A compare uses two source addresses. With completion writing enabled, both also use the completion-record address.</a:t>
            </a:r>
          </a:p>
          <a:p/>
          <a:p>
            <a:r>
              <a:t>Look at offset 24. For a compare operation, those bytes represent the second source. For a copy, the same bytes represent the destination. The researchers found that these roles use separate translation slots, even though they share a position in the descriptor. We'll see the code that tests that shortly.</a:t>
            </a:r>
          </a:p>
          <a:p/>
          <a:p>
            <a:r>
              <a:t>A NOOP is especially useful for probing because it avoids moving a payload while still writing a completion record when configured to do so. That gives the attacker a simple way to exercise its own completion slot. Before looking at the experiments, let's make the required sharing conditions explicit.</a:t>
            </a:r>
          </a:p>
          <a:p/>
          <a:p>
            <a:r>
              <a:t>REFERENCE NOTES (not part of the spoken script)</a:t>
            </a:r>
          </a:p>
          <a:p>
            <a:r>
              <a:t>- Relevant descriptor offsets are 8 for completion, 16 for source, 24 for destination or second source, and 40 for second destination.</a:t>
            </a:r>
          </a:p>
          <a:p>
            <a:r>
              <a:t>- The operation table uses semantic operation names. Listing 1 prints DSA_OPCODE_COMPVAL in a helper described as a two-source compare; the slides do not silently treat that constant as a verified two-buffer compare encoding.</a:t>
            </a:r>
          </a:p>
          <a:p>
            <a:r>
              <a:t>- NOOP probing depends on completion-record setup and flags. Those prerequisites are omitted from the short printed listings.</a:t>
            </a:r>
          </a:p>
          <a:p/>
          <a:p>
            <a:r>
              <a:t>SOURCE: Paper Figure 3 and Section IV-B, pp. 4-5.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The sharing assumptions for each channel</a:t>
            </a:r>
          </a:p>
          <a:p/>
          <a:p>
            <a:r>
              <a:t>READ-ALOUD TRANSCRIPT</a:t>
            </a:r>
          </a:p>
          <a:p/>
          <a:p>
            <a:r>
              <a:t>The two channels require different kinds of sharing. For the translation-cache channel, the attacker and victim need access to the same engine. Their work queues can be different. For the queue channel, they need to share the same shared work queue, or SWQ.</a:t>
            </a:r>
          </a:p>
          <a:p/>
          <a:p>
            <a:r>
              <a:t>These are assumptions about the deployment. The paper gives the attacker provisioned access to DSA and explicitly requires the CAP_SYS_RAWIO capability for descriptor submission. It doesn't give the attacker authority to reconfigure the host's engines and queues. So we shouldn't describe this as an attack available to every ordinary process by default.</a:t>
            </a:r>
          </a:p>
          <a:p/>
          <a:p>
            <a:r>
              <a:t>Within that setup, the VMs don't share memory, and the attack doesn't require a shared CPU core. The attacker observes its own submissions and completions. With those conditions clear, we can look at the experiments that establish the cache's capacity and sharing boundary.</a:t>
            </a:r>
          </a:p>
          <a:p/>
          <a:p>
            <a:r>
              <a:t>REFERENCE NOTES (not part of the spoken script)</a:t>
            </a:r>
          </a:p>
          <a:p>
            <a:r>
              <a:t>- Section V-A explicitly names CAP_SYS_RAWIO. Provisioning and submission capability must remain visible in the threat model.</a:t>
            </a:r>
          </a:p>
          <a:p>
            <a:r>
              <a:t>- The paper distinguishes privileged queue/engine configuration from use of an existing binding, but its affinity wording is not fully consistent. Treat engine/queue co-location as an assumption rather than a universally available operation.</a:t>
            </a:r>
          </a:p>
          <a:p>
            <a:r>
              <a:t>- Figure 7 includes both sender/receiver and attacker/victim role labels. These refer to covert-channel and side-channel cases, not four mandatory simultaneous processes.</a:t>
            </a:r>
          </a:p>
          <a:p/>
          <a:p>
            <a:r>
              <a:t>SOURCE: Paper Figure 7 and Section V-A, pp. 7-8.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One conflicting page can replace a slot</a:t>
            </a:r>
          </a:p>
          <a:p/>
          <a:p>
            <a:r>
              <a:t>READ-ALOUD TRANSCRIPT</a:t>
            </a:r>
          </a:p>
          <a:p/>
          <a:p>
            <a:r>
              <a:t>This is the capacity experiment. The first call uses base and puts its translation into the tested slot. The second call uses base plus an offset. The third call returns to base so the researchers can check whether its translation survived.</a:t>
            </a:r>
          </a:p>
          <a:p/>
          <a:p>
            <a:r>
              <a:t>When the second address stays within the same four-kilobyte page, the final access reuses the translation. When it moves to another page, the final access misses. Across their experiments, that behavior supports a single cached entry for the field: one conflicting page is enough to replace it.</a:t>
            </a:r>
          </a:p>
          <a:p/>
          <a:p>
            <a:r>
              <a:t>For the NOOP helper, base means the completion-record address. It isn't a victim buffer that the attacker somehow knows. The code shown here is a short experimental excerpt, so the descriptor setup and completion flags aren't included. This establishes capacity within a field. Next, we need to check whether different fields share that same entry.</a:t>
            </a:r>
          </a:p>
          <a:p/>
          <a:p>
            <a:r>
              <a:t>REFERENCE NOTES (not part of the spoken script)</a:t>
            </a:r>
          </a:p>
          <a:p>
            <a:r>
              <a:t>- The paper also reports eviction of a 4 KiB translation by an address on a 2 MiB huge page, suggesting no separate per-page-size entries in the tested structure.</a:t>
            </a:r>
          </a:p>
          <a:p>
            <a:r>
              <a:t>- Do not claim that one three-call observation alone proves an arbitrary cache's entire organization. The conclusion follows from the reported characterization suite.</a:t>
            </a:r>
          </a:p>
          <a:p>
            <a:r>
              <a:t>- Listing 2 is a microbenchmark excerpt, not a complete runnable attack.</a:t>
            </a:r>
          </a:p>
          <a:p/>
          <a:p>
            <a:r>
              <a:t>SOURCE: Paper Listing 2 and Section IV-B, p. 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Source and destination use separate slots</a:t>
            </a:r>
          </a:p>
          <a:p/>
          <a:p>
            <a:r>
              <a:t>READ-ALOUD TRANSCRIPT</a:t>
            </a:r>
          </a:p>
          <a:p/>
          <a:p>
            <a:r>
              <a:t>The first listing asks whether changing the source also destroys the destination's cached translation. It copies from one source to a destination, then changes the source page while keeping the destination the same. The destination still contributes a hit. That tells us the source and destination have independent cached state.</a:t>
            </a:r>
          </a:p>
          <a:p/>
          <a:p>
            <a:r>
              <a:t>The second listing tests the overlapping descriptor position we saw earlier. It compares two buffers, then performs a copy. The second source from the compare and the destination from the copy are placed on the same page. If those two roles shared an entry, that page could provide a reuse hit in the copy.</a:t>
            </a:r>
          </a:p>
          <a:p/>
          <a:p>
            <a:r>
              <a:t>Instead, the reported reuse comes only from the unchanged source role. The second-source translation doesn't act as a destination translation. So it is the field's meaning that matters, not just the address or its byte position in the descriptor. Now we can test which engine shares those slots.</a:t>
            </a:r>
          </a:p>
          <a:p/>
          <a:p>
            <a:r>
              <a:t>REFERENCE NOTES (not part of the spoken script)</a:t>
            </a:r>
          </a:p>
          <a:p>
            <a:r>
              <a:t>- The paper extends the independence test to dualcast, retaining two destination hits while changing the source.</a:t>
            </a:r>
          </a:p>
          <a:p>
            <a:r>
              <a:t>- Listing 4 reports one hit from src rather than the two hits expected if src2 and dst shared an entry.</a:t>
            </a:r>
          </a:p>
          <a:p>
            <a:r>
              <a:t>- These printed helpers omit descriptor initialization and other execution setup. Preserve their original text and semantic operation names.</a:t>
            </a:r>
          </a:p>
          <a:p/>
          <a:p>
            <a:r>
              <a:t>SOURCE: Paper Listings 3 and 4, Figure 3, and Section IV-B, p.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Eviction follows the shared engine</a:t>
            </a:r>
          </a:p>
          <a:p/>
          <a:p>
            <a:r>
              <a:t>READ-ALOUD TRANSCRIPT</a:t>
            </a:r>
          </a:p>
          <a:p/>
          <a:p>
            <a:r>
              <a:t>The authors now move from one engine's behavior to interference between two virtual machines. They run three configurations shown in the original figure.</a:t>
            </a:r>
          </a:p>
          <a:p/>
          <a:p>
            <a:r>
              <a:t>In E0, both sides use the same queue and engine. The attacker's primed translation is replaced, so its later probe misses. In E1, they use different queues but still reach the same engine. The probe still misses. Queue separation alone hasn't separated the translation-cache state.</a:t>
            </a:r>
          </a:p>
          <a:p/>
          <a:p>
            <a:r>
              <a:t>E2 changes the engine as well. This time, the primed translation survives and the probe hits. That's the control that ties the observed interference to the shared engine. It supports a concrete boundary in the tested configuration; it isn't a guarantee about every accelerator or every deployment.</a:t>
            </a:r>
          </a:p>
          <a:p/>
          <a:p>
            <a:r>
              <a:t>These characterization experiments explain what is shared. The next question is whether an attacker can recognize a hit or miss using a signal available from its own code.</a:t>
            </a:r>
          </a:p>
          <a:p/>
          <a:p>
            <a:r>
              <a:t>REFERENCE NOTES (not part of the spoken script)</a:t>
            </a:r>
          </a:p>
          <a:p>
            <a:r>
              <a:t>- E0 and E1 report cross-VM eviction; E2 is the separate-engine control.</a:t>
            </a:r>
          </a:p>
          <a:p>
            <a:r>
              <a:t>- Engine sharing is a requirement of the measured DevTLB channel. Sharing alone does not guarantee that every probe will detect a victim operation.</a:t>
            </a:r>
          </a:p>
          <a:p>
            <a:r>
              <a:t>- Separate queues can still share engine-local replacement capacity.</a:t>
            </a:r>
          </a:p>
          <a:p/>
          <a:p>
            <a:r>
              <a:t>SOURCE: Paper Figure 5 and Section IV-B, p.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How a probe distinguishes a hit from a miss</a:t>
            </a:r>
          </a:p>
          <a:p/>
          <a:p>
            <a:r>
              <a:t>READ-ALOUD TRANSCRIPT</a:t>
            </a:r>
          </a:p>
          <a:p/>
          <a:p>
            <a:r>
              <a:t>The attacker doesn't get a message saying which cache entry the victim touched. It measures the time taken by its own request. In the paper's measurements, requests whose translations hit cluster around five hundred cycles. Misses take more than a thousand cycles.</a:t>
            </a:r>
          </a:p>
          <a:p/>
          <a:p>
            <a:r>
              <a:t>That separation lets the attacker choose a threshold and classify a probe as likely hit or likely miss. The authors report thresholds between six hundred and nine hundred cycles in these experiments. Those are measured values for their setup, not universal constants to copy onto any machine.</a:t>
            </a:r>
          </a:p>
          <a:p/>
          <a:p>
            <a:r>
              <a:t>The figures also include local and cloud runs with background load. The distributions move, but remain distinguishable in those tests. Performance counters help the researchers characterize the hardware; the attack's observation is its own completion timing. A single slow request still has possible competing explanations. Repeated, calibrated measurements are what make the next attack sequence useful.</a:t>
            </a:r>
          </a:p>
          <a:p/>
          <a:p>
            <a:r>
              <a:t>REFERENCE NOTES (not part of the spoken script)</a:t>
            </a:r>
          </a:p>
          <a:p>
            <a:r>
              <a:t>- The injected stressors include approximately 2 GB/s of NVMe/PCIe traffic and 10 GB/s of CPU memory-copy traffic.</a:t>
            </a:r>
          </a:p>
          <a:p>
            <a:r>
              <a:t>- A miss classification is inferred from completion latency. It is not direct access to victim addresses or to a hardware victim-hit log.</a:t>
            </a:r>
          </a:p>
          <a:p>
            <a:r>
              <a:t>- The paper uses privileged characterization counters to investigate structure; those counters are not the attacker-facing timing signal.</a:t>
            </a:r>
          </a:p>
          <a:p/>
          <a:p>
            <a:r>
              <a:t>SOURCE: Paper Figure 4 and Section IV-B, pp. 5-6.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DevTLB attack: prime, wait, probe</a:t>
            </a:r>
          </a:p>
          <a:p/>
          <a:p>
            <a:r>
              <a:t>READ-ALOUD TRANSCRIPT</a:t>
            </a:r>
          </a:p>
          <a:p/>
          <a:p>
            <a:r>
              <a:t>Now we can put the attack together. First, I submit a completion-enabled NOOP using my own completion page. That primes the completion slot. Then I wait while the victim may run on the same engine. Finally, I submit another probe using my page and time its completion.</a:t>
            </a:r>
          </a:p>
          <a:p/>
          <a:p>
            <a:r>
              <a:t>The code excerpt shows the timing pattern. ENQCMD submits the descriptor first. The first timestamp comes after that submission. The loop waits for the completion status to change, and the second timestamp ends the measurement. Subtracting the two gives the polling interval shown here.</a:t>
            </a:r>
          </a:p>
          <a:p/>
          <a:p>
            <a:r>
              <a:t>There's an important source detail: this excerpt comes from the paper's compare helper. The attack uses NOOP with this timing approach; the slide isn't claiming that the displayed excerpt is its complete implementation. A fast probe suggests retention, while a slow probe suggests replacement. We now have an activity signal. The other channel uses queue admission feedback instead of a duration.</a:t>
            </a:r>
          </a:p>
          <a:p/>
          <a:p>
            <a:r>
              <a:t>REFERENCE NOTES (not part of the spoken script)</a:t>
            </a:r>
          </a:p>
          <a:p>
            <a:r>
              <a:t>- Listing 1's complete helper prints DSA_OPCODE_COMPVAL while using two source-address fields. The displayed timing excerpt avoids presenting that inconsistent initialization as a verified recipe.</a:t>
            </a:r>
          </a:p>
          <a:p>
            <a:r>
              <a:t>- The timer begins after ENQCMD and therefore does not measure the whole interval from before submission.</a:t>
            </a:r>
          </a:p>
          <a:p>
            <a:r>
              <a:t>- Completion-record association, flags, initial status, alignment, mapping, and ordering/error-handling details are not provided by this excerpt.</a:t>
            </a:r>
          </a:p>
          <a:p>
            <a:r>
              <a:t>- A slow sample alone does not identify who caused a delay. Co-location, preparation, calibration, and the observation window support the inference.</a:t>
            </a:r>
          </a:p>
          <a:p/>
          <a:p>
            <a:r>
              <a:t>SOURCE: Paper Listing 1, lines 7-12, p. 4; DevTLB attack in Section V-B, p. 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Why use a long ordinary copy?</a:t>
            </a:r>
          </a:p>
          <a:p/>
          <a:p>
            <a:r>
              <a:t>READ-ALOUD TRANSCRIPT</a:t>
            </a:r>
          </a:p>
          <a:p/>
          <a:p>
            <a:r>
              <a:t>To observe queue contention, the attacker needs to keep work outstanding long enough to create an observation window. A batch might seem like an easy way to do that, but its scheduling priority matters.</a:t>
            </a:r>
          </a:p>
          <a:p/>
          <a:p>
            <a:r>
              <a:t>In this experiment, the authors submit a batch descriptor and an ordinary work descriptor to the same queue. The fence separates the submissions, and the code times completion of the ordinary work. They repeat the experiment after swapping the two submission positions.</a:t>
            </a:r>
          </a:p>
          <a:p/>
          <a:p>
            <a:r>
              <a:t>The ordinary work's completion latency stays nearly unchanged. Together with the other tested cases, that supports a preference for ordinary work over batch-buffer work. A batch therefore isn't a reliable way to hold up the ordinary requests the attacker wants to observe.</a:t>
            </a:r>
          </a:p>
          <a:p/>
          <a:p>
            <a:r>
              <a:t>This listing is a scheduling experiment, not the congestion attack itself. Its result explains the next design choice: use one long ordinary copy to keep the queue busy during the probe window.</a:t>
            </a:r>
          </a:p>
          <a:p/>
          <a:p>
            <a:r>
              <a:t>REFERENCE NOTES (not part of the spoken script)</a:t>
            </a:r>
          </a:p>
          <a:p>
            <a:r>
              <a:t>- The comparison includes ordinary work alone, alongside batch work, and with the two submissions reordered.</a:t>
            </a:r>
          </a:p>
          <a:p>
            <a:r>
              <a:t>- The fence and timestamps belong to this microbenchmark. Do not describe Listing 5 as the Listing 6 congestion loop.</a:t>
            </a:r>
          </a:p>
          <a:p>
            <a:r>
              <a:t>- The measured work-over-batch preference is an observation about the tested implementation, not a universal DSA scheduling specification.</a:t>
            </a:r>
          </a:p>
          <a:p/>
          <a:p>
            <a:r>
              <a:t>SOURCE: Paper Listing 5 and Section IV-C, pp. 6-7.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SWQ attack: fill, wait, probe</a:t>
            </a:r>
          </a:p>
          <a:p/>
          <a:p>
            <a:r>
              <a:t>READ-ALOUD TRANSCRIPT</a:t>
            </a:r>
          </a:p>
          <a:p/>
          <a:p>
            <a:r>
              <a:t>Here is the second attack. The first submission is the long copy. The loop then submits queue-size minus two additional descriptors. The aim is to keep the queue near full while leaving one admission opportunity during the observation window.</a:t>
            </a:r>
          </a:p>
          <a:p/>
          <a:p>
            <a:r>
              <a:t>The attacker waits, giving the victim a chance to submit. Then the probe helper tries to submit one more descriptor. This time the observation is the submission result. A zero ZF means the request was accepted. A set ZF means retry, corresponding to a full queue in this experiment.</a:t>
            </a:r>
          </a:p>
          <a:p/>
          <a:p>
            <a:r>
              <a:t>Under the prepared conditions, a retry is evidence that another submission consumed the remaining capacity. It isn't proof of a particular victim operation by itself. Work can drain, and other activity can interfere, so the window must stay controlled and shorter than the anchor copy's execution.</a:t>
            </a:r>
          </a:p>
          <a:p/>
          <a:p>
            <a:r>
              <a:t>The paper observed contention with copies of at least thirty-two mebibytes. The signal needs no duration measurement, but it actively congests a resource the victim also uses.</a:t>
            </a:r>
          </a:p>
          <a:p/>
          <a:p>
            <a:r>
              <a:t>REFERENCE NOTES (not part of the spoken script)</a:t>
            </a:r>
          </a:p>
          <a:p>
            <a:r>
              <a:t>- One anchor descriptor plus wq_size - 2 fillers targets N - 1 outstanding positions. Treat this as a controlled observation model, not a guarantee that occupancy stays fixed while the queue drains.</a:t>
            </a:r>
          </a:p>
          <a:p>
            <a:r>
              <a:t>- The printed helper's nonzero return corresponds to retry/full feedback in this experiment. An accepted request is not a completed request.</a:t>
            </a:r>
          </a:p>
          <a:p>
            <a:r>
              <a:t>- The 32 MiB value is the paper's characterized threshold, not a universal hardware requirement.</a:t>
            </a:r>
          </a:p>
          <a:p>
            <a:r>
              <a:t>- Descriptor setup, alignment, initial completion state, error handling, and retry policy are omitted from the short listing.</a:t>
            </a:r>
          </a:p>
          <a:p>
            <a:r>
              <a:t>- The victim-performance cost and detectability of active congestion are not fully evaluated.</a:t>
            </a:r>
          </a:p>
          <a:p/>
          <a:p>
            <a:r>
              <a:t>SOURCE: Paper Listing 6, p. 7; Sections IV-C and V-C, pp. 6-8.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From a probe result to an inference</a:t>
            </a:r>
          </a:p>
          <a:p/>
          <a:p>
            <a:r>
              <a:t>READ-ALOUD TRANSCRIPT</a:t>
            </a:r>
          </a:p>
          <a:p/>
          <a:p>
            <a:r>
              <a:t>At this point, neither channel has produced a website name or a character. The raw data is much simpler: a duration from my request, or an accepted-or-retry result from my submission.</a:t>
            </a:r>
          </a:p>
          <a:p/>
          <a:p>
            <a:r>
              <a:t>The next step is to turn those measurements into a time series. For the timing channel, a calibrated threshold marks likely misses. The attacker can count those events within fixed windows and record how the counts change over time. Queue feedback can likewise reveal when contention appears.</a:t>
            </a:r>
          </a:p>
          <a:p/>
          <a:p>
            <a:r>
              <a:t>The meaning comes from the workload and the analysis. In a classification experiment, the attacker first collects examples with known labels and trains a model to recognize their patterns. Keystroke timing instead looks for candidate events and their timestamps.</a:t>
            </a:r>
          </a:p>
          <a:p/>
          <a:p>
            <a:r>
              <a:t>So the hardware never tells the attacker, 'This is a browser.' The experiment supplies that context, and the analysis supplies the inferred label. We'll first see a cooperative communication test, then the application cases.</a:t>
            </a:r>
          </a:p>
          <a:p/>
          <a:p>
            <a:r>
              <a:t>REFERENCE NOTES (not part of the spoken script)</a:t>
            </a:r>
          </a:p>
          <a:p>
            <a:r>
              <a:t>- Distinguish raw observation, event classification, feature aggregation, and application inference.</a:t>
            </a:r>
          </a:p>
          <a:p>
            <a:r>
              <a:t>- Website and LLM classification require known labeled workloads in the evaluated datasets. A single hit or miss does not identify a website or model.</a:t>
            </a:r>
          </a:p>
          <a:p>
            <a:r>
              <a:t>- Keystroke-event detection and timestamp estimation are different tasks from identifying the typed symbols.</a:t>
            </a:r>
          </a:p>
          <a:p/>
          <a:p>
            <a:r>
              <a:t>SOURCE: Presenter explanation connecting paper Sections V-B/C and VI-A/D, pp. 8-11.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Covert communication through shared state</a:t>
            </a:r>
          </a:p>
          <a:p/>
          <a:p>
            <a:r>
              <a:t>READ-ALOUD TRANSCRIPT</a:t>
            </a:r>
          </a:p>
          <a:p/>
          <a:p>
            <a:r>
              <a:t>A covert channel is a controlled communication experiment. Here, the sender cooperates with the receiver: it creates activity to represent one bit value and stays idle to represent the other. The receiver uses its probes to decode those changes.</a:t>
            </a:r>
          </a:p>
          <a:p/>
          <a:p>
            <a:r>
              <a:t>The reported DevTLB channel reaches seventeen point one nine kilobits per second, with four point six three percent bit error. The SWQ channel reaches four point zero two kilobits per second, with a higher error rate.</a:t>
            </a:r>
          </a:p>
          <a:p/>
          <a:p>
            <a:r>
              <a:t>The plot shows why increasing the raw signaling rate doesn't always help. Faster signaling can create more errors and reduce useful capacity. This establishes a communication channel under coordinated conditions. Next, the sender stops cooperating: ordinary website traffic becomes the source of activity.</a:t>
            </a:r>
          </a:p>
          <a:p/>
          <a:p>
            <a:r>
              <a:t>REFERENCE NOTES (not part of the spoken script)</a:t>
            </a:r>
          </a:p>
          <a:p>
            <a:r>
              <a:t>- These are reported true-capacity values, distinct from raw attempted signaling rate.</a:t>
            </a:r>
          </a:p>
          <a:p>
            <a:r>
              <a:t>- Use 4.63% as in Section VI-A and Table IV. The abstract/contribution text also contains 4.64%, a reporting inconsistency.</a:t>
            </a:r>
          </a:p>
          <a:p>
            <a:r>
              <a:t>- The covert channel uses cooperating sender and receiver roles, unlike the non-cooperative application side-channel cases.</a:t>
            </a:r>
          </a:p>
          <a:p>
            <a:r>
              <a:t>- The approximately fivefold capacity comparison is against the IPI covert channel; cross-paper values are not matched reruns.</a:t>
            </a:r>
          </a:p>
          <a:p/>
          <a:p>
            <a:r>
              <a:t>SOURCE: Paper Figure 9 and Section VI-A, p. 9; comparison values in Table IV, p.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Why website traffic reaches DSA</a:t>
            </a:r>
          </a:p>
          <a:p/>
          <a:p>
            <a:r>
              <a:t>READ-ALOUD TRANSCRIPT</a:t>
            </a:r>
          </a:p>
          <a:p/>
          <a:p>
            <a:r>
              <a:t>This figure connects the hardware channel to the website experiment. The victim application runs in one VM, and the spy runs in another. The network path uses VPP and memif, with DSA accelerating packet movement.</a:t>
            </a:r>
          </a:p>
          <a:p/>
          <a:p>
            <a:r>
              <a:t>Loading a website creates a sequence of network transfers. Those transfers generate accelerator work, and that work can replace translations in the engine the spy shares. The spy continues to measure its own probes, so the resulting trace reflects changes in accelerator activity over time.</a:t>
            </a:r>
          </a:p>
          <a:p/>
          <a:p>
            <a:r>
              <a:t>There is no packet payload, URL, or browser-process name in that observation. The attacker knows the experimental task is browsing and has collected examples from known websites. That context is what lets a later classifier associate a trace with a site.</a:t>
            </a:r>
          </a:p>
          <a:p/>
          <a:p>
            <a:r>
              <a:t>Now let's look at how the paper builds those features and what its accuracy numbers actually describe.</a:t>
            </a:r>
          </a:p>
          <a:p/>
          <a:p>
            <a:r>
              <a:t>REFERENCE NOTES (not part of the spoken script)</a:t>
            </a:r>
          </a:p>
          <a:p>
            <a:r>
              <a:t>- Figure 8 places the DSA spy in VM2 and victim applications in VM1. The setup uses DSA-accelerated VPP/memif packet movement.</a:t>
            </a:r>
          </a:p>
          <a:p>
            <a:r>
              <a:t>- The diagram is the evaluated network configuration, not a claim that every browser or network stack uses DSA.</a:t>
            </a:r>
          </a:p>
          <a:p>
            <a:r>
              <a:t>- Website identity is a trained label assigned from activity traces. The attacker does not read packet contents or directly discover the browser from the DevTLB.</a:t>
            </a:r>
          </a:p>
          <a:p/>
          <a:p>
            <a:r>
              <a:t>SOURCE: Paper Figure 8, p. 8, and Section VI-B, pp. 9-10.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How a trace becomes a website label</a:t>
            </a:r>
          </a:p>
          <a:p/>
          <a:p>
            <a:r>
              <a:t>READ-ALOUD TRANSCRIPT</a:t>
            </a:r>
          </a:p>
          <a:p/>
          <a:p>
            <a:r>
              <a:t>The spy samples every ten microseconds and groups four hundred samples into a four-millisecond slot. Each slot records a miss count. About two hundred and fifty slots form a trace, so the feature is the pattern of activity across roughly a second.</a:t>
            </a:r>
          </a:p>
          <a:p/>
          <a:p>
            <a:r>
              <a:t>The dataset contains one hundred websites with two hundred traces per site, giving twenty thousand traces. The authors use an eighty-twenty training and test split and an attention-based bidirectional LSTM to map those traces to website labels.</a:t>
            </a:r>
          </a:p>
          <a:p/>
          <a:p>
            <a:r>
              <a:t>The headline result is eighty-five point seven three percent on all one hundred sites. The confusion matrix shown here covers only fifteen selected sites, where the reported accuracy is ninety-six point five percent. Those are different evaluation scopes.</a:t>
            </a:r>
          </a:p>
          <a:p/>
          <a:p>
            <a:r>
              <a:t>This is a closed-world task: training and testing use the same known set of website labels. It doesn't establish recognition of arbitrary unseen websites. The next application uses the timing of individual events rather than a whole-page loading pattern.</a:t>
            </a:r>
          </a:p>
          <a:p/>
          <a:p>
            <a:r>
              <a:t>REFERENCE NOTES (not part of the spoken script)</a:t>
            </a:r>
          </a:p>
          <a:p>
            <a:r>
              <a:t>- A random top-1 guess over 100 equally weighted labels has a 1% baseline; do not call it a coin flip.</a:t>
            </a:r>
          </a:p>
          <a:p>
            <a:r>
              <a:t>- 20,000 traces and the 16,000/4,000 split are arithmetic from the stated dataset and split ratio.</a:t>
            </a:r>
          </a:p>
          <a:p>
            <a:r>
              <a:t>- The displayed confusion matrix is the 15-site subset, not a visualization of the full-100-site headline accuracy.</a:t>
            </a:r>
          </a:p>
          <a:p>
            <a:r>
              <a:t>- The evaluated split does not establish cross-day, cross-host, or open-world generalization.</a:t>
            </a:r>
          </a:p>
          <a:p/>
          <a:p>
            <a:r>
              <a:t>SOURCE: Paper Figures 10 and 11 and Section VI-B, pp. 9-10.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Keystrokes reveal events and timing</a:t>
            </a:r>
          </a:p>
          <a:p/>
          <a:p>
            <a:r>
              <a:t>READ-ALOUD TRANSCRIPT</a:t>
            </a:r>
          </a:p>
          <a:p/>
          <a:p>
            <a:r>
              <a:t>For the SSH experiment, the victim uses DSA Transparent Offload, or DTO. It redirects eligible memory operations to DSA, so handling interactive SSH traffic can generate accelerator activity. The attacker looks for that activity and estimates when candidate keystroke events occurred.</a:t>
            </a:r>
          </a:p>
          <a:p/>
          <a:p>
            <a:r>
              <a:t>The plots are filtered traces. The letters shown on them are known input labels used to evaluate the experiment. They are not characters decoded from the cache. The demonstrated result is event detection and timing, not recovery of the command text.</a:t>
            </a:r>
          </a:p>
          <a:p/>
          <a:p>
            <a:r>
              <a:t>The paper reports an F1 score of ninety-two percent for DevTLB and ninety-eight point four percent for SWQ. The standard deviations of timestamp differences are five point two nine milliseconds and one point two one milliseconds, respectively.</a:t>
            </a:r>
          </a:p>
          <a:p/>
          <a:p>
            <a:r>
              <a:t>There is a reporting caveat: the printed detection, false-positive, and false-negative counts don't fully reconcile with those metrics. We therefore keep the headline scores labeled as reported. The final application asks which model configuration produced an activity pattern.</a:t>
            </a:r>
          </a:p>
          <a:p/>
          <a:p>
            <a:r>
              <a:t>REFERENCE NOTES (not part of the spoken script)</a:t>
            </a:r>
          </a:p>
          <a:p>
            <a:r>
              <a:t>- Figure 12 labels the known command 'ssh root'. Those labels are ground truth, not recovered characters.</a:t>
            </a:r>
          </a:p>
          <a:p>
            <a:r>
              <a:t>- The paper applies size- and latency-related filtering before evaluating event traces. Exact counts depend on that processing.</a:t>
            </a:r>
          </a:p>
          <a:p>
            <a:r>
              <a:t>- For 512 ground-truth events, the printed DevTLB counts are 515 detections, 15 false positives, 61 false negatives, and 500 true positives. Those totals are inconsistent.</a:t>
            </a:r>
          </a:p>
          <a:p>
            <a:r>
              <a:t>- The printed SWQ counts are 511 detections, 7 false positives, 9 false negatives, and 507 true positives. Those totals are also inconsistent.</a:t>
            </a:r>
          </a:p>
          <a:p>
            <a:r>
              <a:t>- F1 and timestamp deviation answer different questions. Neither alone establishes text recovery.</a:t>
            </a:r>
          </a:p>
          <a:p/>
          <a:p>
            <a:r>
              <a:t>SOURCE: Paper Figure 12 and Section VI-C, p. 10; headline F1 values in Tables III and IV, pp. 11-12.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Fingerprinting model configurations</a:t>
            </a:r>
          </a:p>
          <a:p/>
          <a:p>
            <a:r>
              <a:t>READ-ALOUD TRANSCRIPT</a:t>
            </a:r>
          </a:p>
          <a:p/>
          <a:p>
            <a:r>
              <a:t>Model inference also moves substantial amounts of data. With the evaluated offload setup, those memory operations create DSA activity. Different model configurations can therefore produce different patterns in the probe trace.</a:t>
            </a:r>
          </a:p>
          <a:p/>
          <a:p>
            <a:r>
              <a:t>The paper tests eight configurations across four groups: TinyStories, LLaMA 2, Gemma 3, and Qwen3. It collects fifty traces per configuration, uses identical prompts, and splits the data eighty-twenty for training and validation. The aggregation window is eight milliseconds.</a:t>
            </a:r>
          </a:p>
          <a:p/>
          <a:p>
            <a:r>
              <a:t>Within that task, the reported validation accuracy is ninety-eight point six percent. The inferred label is one of the known model configurations. The attacker doesn't recover model weights or read the prompt.</a:t>
            </a:r>
          </a:p>
          <a:p/>
          <a:p>
            <a:r>
              <a:t>The fixed prompts and evaluated runtimes matter when interpreting that number. The result shows that the configurations are distinguishable within this dataset; it doesn't establish identification across arbitrary prompts, hosts, or unseen models. We can now ask how these results change under the tested background load.</a:t>
            </a:r>
          </a:p>
          <a:p/>
          <a:p>
            <a:r>
              <a:t>REFERENCE NOTES (not part of the spoken script)</a:t>
            </a:r>
          </a:p>
          <a:p>
            <a:r>
              <a:t>- The eight configurations are TinyStories 15M, 42M, and 110M; LLaMA 2 7B; Gemma 3 1B and 4B; and Qwen3 1.7B and 4B. That is four named model groups, not three.</a:t>
            </a:r>
          </a:p>
          <a:p>
            <a:r>
              <a:t>- The paper uses llama.c and ollama in its CPU and CPU-GPU evaluation paths. Runtime and model choices are part of the experimental setup.</a:t>
            </a:r>
          </a:p>
          <a:p>
            <a:r>
              <a:t>- 50 traces per configuration gives 400 traces; the stated split corresponds to 320 training and 80 validation traces.</a:t>
            </a:r>
          </a:p>
          <a:p>
            <a:r>
              <a:t>- An 8 ms slot groups 800 samples at the stated 10 microsecond interval.</a:t>
            </a:r>
          </a:p>
          <a:p/>
          <a:p>
            <a:r>
              <a:t>SOURCE: Paper Table II, Figure 13, and Section VI-D, pp. 10-11.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Robustness within the tested setup</a:t>
            </a:r>
          </a:p>
          <a:p/>
          <a:p>
            <a:r>
              <a:t>READ-ALOUD TRANSCRIPT</a:t>
            </a:r>
          </a:p>
          <a:p/>
          <a:p>
            <a:r>
              <a:t>This table brings the results together across local and cloud settings, with and without injected background load. Most reported metrics change modestly across those conditions. The DevTLB keystroke F1 varies more, ranging from ninety point five to ninety-three point four percent.</a:t>
            </a:r>
          </a:p>
          <a:p/>
          <a:p>
            <a:r>
              <a:t>The useful conclusion is that the channels remained effective under these tested stressors. The experiments include PCIe and memory pressure, so the results aren't limited to an entirely idle system.</a:t>
            </a:r>
          </a:p>
          <a:p/>
          <a:p>
            <a:r>
              <a:t>But that isn't the same as testing every source of interference on a busy shared host. Many independent tenants, changing workloads, or different provisioning could create additional challenges. With that scope in mind, let's look at what the paper proposes to reduce the leakage.</a:t>
            </a:r>
          </a:p>
          <a:p/>
          <a:p>
            <a:r>
              <a:t>REFERENCE NOTES (not part of the spoken script)</a:t>
            </a:r>
          </a:p>
          <a:p>
            <a:r>
              <a:t>- Keep all six reported rows: DevTLB covert, SWQ covert, website classification, DevTLB keystroke F1, SWQ keystroke F1, and LLM classification.</a:t>
            </a:r>
          </a:p>
          <a:p>
            <a:r>
              <a:t>- The noise study uses specified synthetic PCIe and host-memory stressors. It does not establish general resilience to arbitrary contention from many DSA tenants.</a:t>
            </a:r>
          </a:p>
          <a:p>
            <a:r>
              <a:t>- The listed values are reported results, not a new experimental reproduction.</a:t>
            </a:r>
          </a:p>
          <a:p/>
          <a:p>
            <a:r>
              <a:t>SOURCE: Paper Table III and Section VI-E, p. 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Mitigations and what remains unmeasured</a:t>
            </a:r>
          </a:p>
          <a:p/>
          <a:p>
            <a:r>
              <a:t>READ-ALOUD TRANSCRIPT</a:t>
            </a:r>
          </a:p>
          <a:p/>
          <a:p>
            <a:r>
              <a:t>The practical boundary follows directly from the experiments. Separate queues can still share an engine's translation state, so protecting against this DevTLB channel requires attention to engine assignment. For the SWQ channel, avoid sharing the same queue across trust boundaries. Disabling offload on a sensitive path is another possible tradeoff.</a:t>
            </a:r>
          </a:p>
          <a:p/>
          <a:p>
            <a:r>
              <a:t>The paper also proposes hardware changes, including partitioning translation-cache replacement state by address-space context and restricting queue-state feedback. Those are proposals, not evaluated deployed fixes, and they come with performance or interface costs.</a:t>
            </a:r>
          </a:p>
          <a:p/>
          <a:p>
            <a:r>
              <a:t>For a software mitigation based on inserting random translations, the authors measure throughput loss. The maximum reported losses are fifteen point seven percent for native DSA and seventeen point nine percent with DTO, at 256-byte transfers. What they don't quantify is the leakage that remains after mitigation. So we have a cost measurement, but not a complete security-performance result. Let's close with what the experiments do establish.</a:t>
            </a:r>
          </a:p>
          <a:p/>
          <a:p>
            <a:r>
              <a:t>REFERENCE NOTES (not part of the spoken script)</a:t>
            </a:r>
          </a:p>
          <a:p>
            <a:r>
              <a:t>- Engine and queue allocation guidance concerns the observed sharing boundaries. It is not a universal guarantee against all accelerator side channels.</a:t>
            </a:r>
          </a:p>
          <a:p>
            <a:r>
              <a:t>- Restricting admission feedback must account for legitimate software that needs to handle retry responses.</a:t>
            </a:r>
          </a:p>
          <a:p>
            <a:r>
              <a:t>- The 15.7% and 17.9% values are measured throughput losses for the random-translation experiment at its smallest tested transfer size, not the cost of every proposed defense.</a:t>
            </a:r>
          </a:p>
          <a:p>
            <a:r>
              <a:t>- The paper reports mitigation overhead without quantifying residual leakage.</a:t>
            </a:r>
          </a:p>
          <a:p/>
          <a:p>
            <a:r>
              <a:t>SOURCE: Paper Figure 14 and Section VII, pp. 11-12.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What the experiments establish</a:t>
            </a:r>
          </a:p>
          <a:p/>
          <a:p>
            <a:r>
              <a:t>READ-ALOUD TRANSCRIPT</a:t>
            </a:r>
          </a:p>
          <a:p/>
          <a:p>
            <a:r>
              <a:t>The paper establishes two observable channels in shared DSA resources: translation replacement affects completion timing, and shared-queue admission reveals contention. Controlled experiments connect those observations to the engine and queue boundaries.</a:t>
            </a:r>
          </a:p>
          <a:p/>
          <a:p>
            <a:r>
              <a:t>The application results then show how repeated observations can support communication, website classification, keystroke timing, and model-configuration classification under the evaluated conditions. The hardware supplies an activity signal; the workload and analysis give it meaning.</a:t>
            </a:r>
          </a:p>
          <a:p/>
          <a:p>
            <a:r>
              <a:t>The broader lesson is that protecting addresses doesn't automatically hide activity in shared accelerator state. Both need to be considered when defining isolation. Thank you. We're happy to take questions.</a:t>
            </a:r>
          </a:p>
          <a:p/>
          <a:p>
            <a:r>
              <a:t>REFERENCE NOTES (not part of the spoken script)</a:t>
            </a:r>
          </a:p>
          <a:p>
            <a:r>
              <a:t>- This is a conclusion from the reported evidence and stated scope, not a separate personal-verdict section.</a:t>
            </a:r>
          </a:p>
          <a:p>
            <a:r>
              <a:t>- The deck does not claim recovery of victim memory contents, typed characters, model weights, or prompts.</a:t>
            </a:r>
          </a:p>
          <a:p/>
          <a:p>
            <a:r>
              <a:t>SOURCE: Synthesis of paper Sections IV-VII and IX, pp. 4-12.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B"/>
        </a:solidFill>
        <a:effectLst/>
      </p:bgPr>
    </p:bg>
    <p:spTree>
      <p:nvGrpSpPr>
        <p:cNvPr id="1" name=""/>
        <p:cNvGrpSpPr/>
        <p:nvPr/>
      </p:nvGrpSpPr>
      <p:grpSpPr/>
      <p:sp>
        <p:nvSpPr>
          <p:cNvPr id="2"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C9D7E8"/>
                </a:solidFill>
                <a:latin typeface="Calibri"/>
              </a:rPr>
              <a:t>1</a:t>
            </a:r>
          </a:p>
        </p:txBody>
      </p:sp>
      <p:sp>
        <p:nvSpPr>
          <p:cNvPr id="3" name="Text: HPCA 2026 | PAPER PRESENTATION"/>
          <p:cNvSpPr txBox="1"/>
          <p:nvPr/>
        </p:nvSpPr>
        <p:spPr>
          <a:xfrm>
            <a:off x="594360" y="777240"/>
            <a:ext cx="11003279"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C9D7E8"/>
                </a:solidFill>
                <a:latin typeface="Calibri"/>
              </a:rPr>
              <a:t>HPCA 2026 | PAPER PRESENTATION</a:t>
            </a:r>
          </a:p>
        </p:txBody>
      </p:sp>
      <p:sp>
        <p:nvSpPr>
          <p:cNvPr id="4" name="Text: DSASSASSIN"/>
          <p:cNvSpPr txBox="1"/>
          <p:nvPr/>
        </p:nvSpPr>
        <p:spPr>
          <a:xfrm>
            <a:off x="594360" y="1417320"/>
            <a:ext cx="11003279" cy="914400"/>
          </a:xfrm>
          <a:prstGeom prst="rect">
            <a:avLst/>
          </a:prstGeom>
          <a:noFill/>
        </p:spPr>
        <p:txBody>
          <a:bodyPr wrap="square" lIns="0" rIns="0" tIns="0" bIns="0">
            <a:noAutofit/>
          </a:bodyPr>
          <a:lstStyle/>
          <a:p>
            <a:pPr>
              <a:lnSpc>
                <a:spcPts val="6400"/>
              </a:lnSpc>
              <a:spcBef>
                <a:spcPts val="0"/>
              </a:spcBef>
              <a:spcAft>
                <a:spcPts val="0"/>
              </a:spcAft>
            </a:pPr>
            <a:r>
              <a:rPr sz="6400" b="1">
                <a:solidFill>
                  <a:srgbClr val="FFFFFF"/>
                </a:solidFill>
                <a:latin typeface="Calibri"/>
              </a:rPr>
              <a:t>DSASSASSIN</a:t>
            </a:r>
          </a:p>
        </p:txBody>
      </p:sp>
      <p:sp>
        <p:nvSpPr>
          <p:cNvPr id="5" name="Text: Cross-VM side-channel attacks by exploiting"/>
          <p:cNvSpPr txBox="1"/>
          <p:nvPr/>
        </p:nvSpPr>
        <p:spPr>
          <a:xfrm>
            <a:off x="594360" y="2606040"/>
            <a:ext cx="11003279" cy="1051560"/>
          </a:xfrm>
          <a:prstGeom prst="rect">
            <a:avLst/>
          </a:prstGeom>
          <a:noFill/>
        </p:spPr>
        <p:txBody>
          <a:bodyPr wrap="square" lIns="0" rIns="0" tIns="0" bIns="0">
            <a:noAutofit/>
          </a:bodyPr>
          <a:lstStyle/>
          <a:p>
            <a:pPr>
              <a:lnSpc>
                <a:spcPts val="3248"/>
              </a:lnSpc>
              <a:spcBef>
                <a:spcPts val="0"/>
              </a:spcBef>
              <a:spcAft>
                <a:spcPts val="0"/>
              </a:spcAft>
            </a:pPr>
            <a:r>
              <a:rPr sz="2900" b="0">
                <a:solidFill>
                  <a:srgbClr val="E2EDF8"/>
                </a:solidFill>
                <a:latin typeface="Calibri"/>
              </a:rPr>
              <a:t>Cross-VM side-channel attacks by exploiting</a:t>
            </a:r>
          </a:p>
          <a:p>
            <a:pPr>
              <a:lnSpc>
                <a:spcPts val="3248"/>
              </a:lnSpc>
              <a:spcBef>
                <a:spcPts val="0"/>
              </a:spcBef>
              <a:spcAft>
                <a:spcPts val="0"/>
              </a:spcAft>
            </a:pPr>
            <a:r>
              <a:rPr sz="2900" b="0">
                <a:solidFill>
                  <a:srgbClr val="E2EDF8"/>
                </a:solidFill>
                <a:latin typeface="Calibri"/>
              </a:rPr>
              <a:t>Intel Data Streaming Accelerator</a:t>
            </a:r>
          </a:p>
        </p:txBody>
      </p:sp>
      <p:sp>
        <p:nvSpPr>
          <p:cNvPr id="6" name="Text: PAPER AUTHORS"/>
          <p:cNvSpPr txBox="1"/>
          <p:nvPr/>
        </p:nvSpPr>
        <p:spPr>
          <a:xfrm>
            <a:off x="594360" y="4069080"/>
            <a:ext cx="11003279"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C9D7E8"/>
                </a:solidFill>
                <a:latin typeface="Calibri"/>
              </a:rPr>
              <a:t>PAPER AUTHORS</a:t>
            </a:r>
          </a:p>
        </p:txBody>
      </p:sp>
      <p:sp>
        <p:nvSpPr>
          <p:cNvPr id="7" name="Text: Ben Chen, Kunlin Li, Shuwen Deng, Dongsheng Wang, Yun Chen"/>
          <p:cNvSpPr txBox="1"/>
          <p:nvPr/>
        </p:nvSpPr>
        <p:spPr>
          <a:xfrm>
            <a:off x="594360" y="4416552"/>
            <a:ext cx="11003279" cy="365760"/>
          </a:xfrm>
          <a:prstGeom prst="rect">
            <a:avLst/>
          </a:prstGeom>
          <a:noFill/>
        </p:spPr>
        <p:txBody>
          <a:bodyPr wrap="square" lIns="0" rIns="0" tIns="0" bIns="0">
            <a:noAutofit/>
          </a:bodyPr>
          <a:lstStyle/>
          <a:p>
            <a:pPr>
              <a:lnSpc>
                <a:spcPts val="2124"/>
              </a:lnSpc>
              <a:spcBef>
                <a:spcPts val="0"/>
              </a:spcBef>
              <a:spcAft>
                <a:spcPts val="0"/>
              </a:spcAft>
            </a:pPr>
            <a:r>
              <a:rPr sz="1800" b="0">
                <a:solidFill>
                  <a:srgbClr val="E2EDF8"/>
                </a:solidFill>
                <a:latin typeface="Calibri"/>
              </a:rPr>
              <a:t>Ben Chen, Kunlin Li, Shuwen Deng, Dongsheng Wang, Yun Chen</a:t>
            </a:r>
          </a:p>
        </p:txBody>
      </p:sp>
      <p:sp>
        <p:nvSpPr>
          <p:cNvPr id="8" name="Text: HKUST (Guangzhou) and Tsinghua University"/>
          <p:cNvSpPr txBox="1"/>
          <p:nvPr/>
        </p:nvSpPr>
        <p:spPr>
          <a:xfrm>
            <a:off x="594360" y="4818888"/>
            <a:ext cx="11003279" cy="320040"/>
          </a:xfrm>
          <a:prstGeom prst="rect">
            <a:avLst/>
          </a:prstGeom>
          <a:noFill/>
        </p:spPr>
        <p:txBody>
          <a:bodyPr wrap="square" lIns="0" rIns="0" tIns="0" bIns="0">
            <a:noAutofit/>
          </a:bodyPr>
          <a:lstStyle/>
          <a:p>
            <a:pPr>
              <a:lnSpc>
                <a:spcPts val="2005"/>
              </a:lnSpc>
              <a:spcBef>
                <a:spcPts val="0"/>
              </a:spcBef>
              <a:spcAft>
                <a:spcPts val="0"/>
              </a:spcAft>
            </a:pPr>
            <a:r>
              <a:rPr sz="1700" b="0">
                <a:solidFill>
                  <a:srgbClr val="C9D7E8"/>
                </a:solidFill>
                <a:latin typeface="Calibri"/>
              </a:rPr>
              <a:t>HKUST (Guangzhou) and Tsinghua University</a:t>
            </a:r>
          </a:p>
        </p:txBody>
      </p:sp>
      <p:sp>
        <p:nvSpPr>
          <p:cNvPr id="9" name="Text: Presented by Siddharth Banakar and Dinesh Samala"/>
          <p:cNvSpPr txBox="1"/>
          <p:nvPr/>
        </p:nvSpPr>
        <p:spPr>
          <a:xfrm>
            <a:off x="594360" y="5422392"/>
            <a:ext cx="11003279" cy="45720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FFFFFF"/>
                </a:solidFill>
                <a:latin typeface="Calibri"/>
              </a:rPr>
              <a:t>Presented by Siddharth Banakar and Dinesh Samala</a:t>
            </a:r>
          </a:p>
        </p:txBody>
      </p:sp>
      <p:sp>
        <p:nvSpPr>
          <p:cNvPr id="10" name="Text: 29 October 2026"/>
          <p:cNvSpPr txBox="1"/>
          <p:nvPr/>
        </p:nvSpPr>
        <p:spPr>
          <a:xfrm>
            <a:off x="594360" y="5934456"/>
            <a:ext cx="11003279" cy="365760"/>
          </a:xfrm>
          <a:prstGeom prst="rect">
            <a:avLst/>
          </a:prstGeom>
          <a:noFill/>
        </p:spPr>
        <p:txBody>
          <a:bodyPr wrap="square" lIns="0" rIns="0" tIns="0" bIns="0">
            <a:noAutofit/>
          </a:bodyPr>
          <a:lstStyle/>
          <a:p>
            <a:pPr>
              <a:lnSpc>
                <a:spcPts val="2242"/>
              </a:lnSpc>
              <a:spcBef>
                <a:spcPts val="0"/>
              </a:spcBef>
              <a:spcAft>
                <a:spcPts val="0"/>
              </a:spcAft>
            </a:pPr>
            <a:r>
              <a:rPr sz="1900" b="0">
                <a:solidFill>
                  <a:srgbClr val="C9D7E8"/>
                </a:solidFill>
                <a:latin typeface="Calibri"/>
              </a:rPr>
              <a:t>29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Presentation plan</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2</a:t>
            </a:r>
          </a:p>
        </p:txBody>
      </p:sp>
      <p:sp>
        <p:nvSpPr>
          <p:cNvPr id="4" name="Text: 01"/>
          <p:cNvSpPr txBox="1"/>
          <p:nvPr/>
        </p:nvSpPr>
        <p:spPr>
          <a:xfrm>
            <a:off x="594360" y="1581912"/>
            <a:ext cx="566928" cy="438912"/>
          </a:xfrm>
          <a:prstGeom prst="rect">
            <a:avLst/>
          </a:prstGeom>
          <a:noFill/>
        </p:spPr>
        <p:txBody>
          <a:bodyPr wrap="square" lIns="0" rIns="0" tIns="0" bIns="0">
            <a:noAutofit/>
          </a:bodyPr>
          <a:lstStyle/>
          <a:p>
            <a:pPr>
              <a:lnSpc>
                <a:spcPts val="2950"/>
              </a:lnSpc>
              <a:spcBef>
                <a:spcPts val="0"/>
              </a:spcBef>
              <a:spcAft>
                <a:spcPts val="0"/>
              </a:spcAft>
            </a:pPr>
            <a:r>
              <a:rPr sz="2500" b="1">
                <a:solidFill>
                  <a:srgbClr val="1265B0"/>
                </a:solidFill>
                <a:latin typeface="Calibri"/>
              </a:rPr>
              <a:t>01</a:t>
            </a:r>
          </a:p>
        </p:txBody>
      </p:sp>
      <p:sp>
        <p:nvSpPr>
          <p:cNvPr id="5" name="Text: The system"/>
          <p:cNvSpPr txBox="1"/>
          <p:nvPr/>
        </p:nvSpPr>
        <p:spPr>
          <a:xfrm>
            <a:off x="1389888" y="1581912"/>
            <a:ext cx="2971800" cy="594360"/>
          </a:xfrm>
          <a:prstGeom prst="rect">
            <a:avLst/>
          </a:prstGeom>
          <a:noFill/>
        </p:spPr>
        <p:txBody>
          <a:bodyPr wrap="square" lIns="0" rIns="0" tIns="0" bIns="0">
            <a:noAutofit/>
          </a:bodyPr>
          <a:lstStyle/>
          <a:p>
            <a:pPr>
              <a:lnSpc>
                <a:spcPts val="2268"/>
              </a:lnSpc>
              <a:spcBef>
                <a:spcPts val="0"/>
              </a:spcBef>
              <a:spcAft>
                <a:spcPts val="0"/>
              </a:spcAft>
            </a:pPr>
            <a:r>
              <a:rPr sz="2100" b="1">
                <a:solidFill>
                  <a:srgbClr val="14263D"/>
                </a:solidFill>
                <a:latin typeface="Calibri"/>
              </a:rPr>
              <a:t>The system</a:t>
            </a:r>
          </a:p>
        </p:txBody>
      </p:sp>
      <p:sp>
        <p:nvSpPr>
          <p:cNvPr id="6" name="Text: Offload goals, DSA operations, IOMMU, VT-d, and sharing"/>
          <p:cNvSpPr txBox="1"/>
          <p:nvPr/>
        </p:nvSpPr>
        <p:spPr>
          <a:xfrm>
            <a:off x="4572000" y="1600200"/>
            <a:ext cx="7025639" cy="594360"/>
          </a:xfrm>
          <a:prstGeom prst="rect">
            <a:avLst/>
          </a:prstGeom>
          <a:noFill/>
        </p:spPr>
        <p:txBody>
          <a:bodyPr wrap="square" lIns="0" rIns="0" tIns="0" bIns="0">
            <a:noAutofit/>
          </a:bodyPr>
          <a:lstStyle/>
          <a:p>
            <a:pPr>
              <a:lnSpc>
                <a:spcPts val="2240"/>
              </a:lnSpc>
              <a:spcBef>
                <a:spcPts val="0"/>
              </a:spcBef>
              <a:spcAft>
                <a:spcPts val="0"/>
              </a:spcAft>
            </a:pPr>
            <a:r>
              <a:rPr sz="2000" b="0">
                <a:solidFill>
                  <a:srgbClr val="4B5B6D"/>
                </a:solidFill>
                <a:latin typeface="Calibri"/>
              </a:rPr>
              <a:t>Offload goals, DSA operations, IOMMU, VT-d, and sharing</a:t>
            </a:r>
          </a:p>
        </p:txBody>
      </p:sp>
      <p:cxnSp>
        <p:nvCxnSpPr>
          <p:cNvPr id="7" name="Connector 6"/>
          <p:cNvCxnSpPr/>
          <p:nvPr/>
        </p:nvCxnSpPr>
        <p:spPr>
          <a:xfrm>
            <a:off x="594360" y="2221991"/>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8" name="Text: 02"/>
          <p:cNvSpPr txBox="1"/>
          <p:nvPr/>
        </p:nvSpPr>
        <p:spPr>
          <a:xfrm>
            <a:off x="594360" y="2386584"/>
            <a:ext cx="566928" cy="438912"/>
          </a:xfrm>
          <a:prstGeom prst="rect">
            <a:avLst/>
          </a:prstGeom>
          <a:noFill/>
        </p:spPr>
        <p:txBody>
          <a:bodyPr wrap="square" lIns="0" rIns="0" tIns="0" bIns="0">
            <a:noAutofit/>
          </a:bodyPr>
          <a:lstStyle/>
          <a:p>
            <a:pPr>
              <a:lnSpc>
                <a:spcPts val="2950"/>
              </a:lnSpc>
              <a:spcBef>
                <a:spcPts val="0"/>
              </a:spcBef>
              <a:spcAft>
                <a:spcPts val="0"/>
              </a:spcAft>
            </a:pPr>
            <a:r>
              <a:rPr sz="2500" b="1">
                <a:solidFill>
                  <a:srgbClr val="1265B0"/>
                </a:solidFill>
                <a:latin typeface="Calibri"/>
              </a:rPr>
              <a:t>02</a:t>
            </a:r>
          </a:p>
        </p:txBody>
      </p:sp>
      <p:sp>
        <p:nvSpPr>
          <p:cNvPr id="9" name="Text: Evidence and attacks"/>
          <p:cNvSpPr txBox="1"/>
          <p:nvPr/>
        </p:nvSpPr>
        <p:spPr>
          <a:xfrm>
            <a:off x="1389888" y="2386584"/>
            <a:ext cx="2971800" cy="594360"/>
          </a:xfrm>
          <a:prstGeom prst="rect">
            <a:avLst/>
          </a:prstGeom>
          <a:noFill/>
        </p:spPr>
        <p:txBody>
          <a:bodyPr wrap="square" lIns="0" rIns="0" tIns="0" bIns="0">
            <a:noAutofit/>
          </a:bodyPr>
          <a:lstStyle/>
          <a:p>
            <a:pPr>
              <a:lnSpc>
                <a:spcPts val="2268"/>
              </a:lnSpc>
              <a:spcBef>
                <a:spcPts val="0"/>
              </a:spcBef>
              <a:spcAft>
                <a:spcPts val="0"/>
              </a:spcAft>
            </a:pPr>
            <a:r>
              <a:rPr sz="2100" b="1">
                <a:solidFill>
                  <a:srgbClr val="14263D"/>
                </a:solidFill>
                <a:latin typeface="Calibri"/>
              </a:rPr>
              <a:t>Evidence and attacks</a:t>
            </a:r>
          </a:p>
        </p:txBody>
      </p:sp>
      <p:sp>
        <p:nvSpPr>
          <p:cNvPr id="10" name="Text: Field tests, engine controls, DevTLB and SWQ probes"/>
          <p:cNvSpPr txBox="1"/>
          <p:nvPr/>
        </p:nvSpPr>
        <p:spPr>
          <a:xfrm>
            <a:off x="4572000" y="2404872"/>
            <a:ext cx="7025639" cy="594360"/>
          </a:xfrm>
          <a:prstGeom prst="rect">
            <a:avLst/>
          </a:prstGeom>
          <a:noFill/>
        </p:spPr>
        <p:txBody>
          <a:bodyPr wrap="square" lIns="0" rIns="0" tIns="0" bIns="0">
            <a:noAutofit/>
          </a:bodyPr>
          <a:lstStyle/>
          <a:p>
            <a:pPr>
              <a:lnSpc>
                <a:spcPts val="2240"/>
              </a:lnSpc>
              <a:spcBef>
                <a:spcPts val="0"/>
              </a:spcBef>
              <a:spcAft>
                <a:spcPts val="0"/>
              </a:spcAft>
            </a:pPr>
            <a:r>
              <a:rPr sz="2000" b="0">
                <a:solidFill>
                  <a:srgbClr val="4B5B6D"/>
                </a:solidFill>
                <a:latin typeface="Calibri"/>
              </a:rPr>
              <a:t>Field tests, engine controls, DevTLB and SWQ probes</a:t>
            </a:r>
          </a:p>
        </p:txBody>
      </p:sp>
      <p:cxnSp>
        <p:nvCxnSpPr>
          <p:cNvPr id="11" name="Connector 10"/>
          <p:cNvCxnSpPr/>
          <p:nvPr/>
        </p:nvCxnSpPr>
        <p:spPr>
          <a:xfrm>
            <a:off x="594360" y="3026663"/>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2" name="Text: 03"/>
          <p:cNvSpPr txBox="1"/>
          <p:nvPr/>
        </p:nvSpPr>
        <p:spPr>
          <a:xfrm>
            <a:off x="594360" y="3191256"/>
            <a:ext cx="566928" cy="438912"/>
          </a:xfrm>
          <a:prstGeom prst="rect">
            <a:avLst/>
          </a:prstGeom>
          <a:noFill/>
        </p:spPr>
        <p:txBody>
          <a:bodyPr wrap="square" lIns="0" rIns="0" tIns="0" bIns="0">
            <a:noAutofit/>
          </a:bodyPr>
          <a:lstStyle/>
          <a:p>
            <a:pPr>
              <a:lnSpc>
                <a:spcPts val="2950"/>
              </a:lnSpc>
              <a:spcBef>
                <a:spcPts val="0"/>
              </a:spcBef>
              <a:spcAft>
                <a:spcPts val="0"/>
              </a:spcAft>
            </a:pPr>
            <a:r>
              <a:rPr sz="2500" b="1">
                <a:solidFill>
                  <a:srgbClr val="1265B0"/>
                </a:solidFill>
                <a:latin typeface="Calibri"/>
              </a:rPr>
              <a:t>03</a:t>
            </a:r>
          </a:p>
        </p:txBody>
      </p:sp>
      <p:sp>
        <p:nvSpPr>
          <p:cNvPr id="13" name="Text: From signals to inference"/>
          <p:cNvSpPr txBox="1"/>
          <p:nvPr/>
        </p:nvSpPr>
        <p:spPr>
          <a:xfrm>
            <a:off x="1389888" y="3191256"/>
            <a:ext cx="2971800" cy="594360"/>
          </a:xfrm>
          <a:prstGeom prst="rect">
            <a:avLst/>
          </a:prstGeom>
          <a:noFill/>
        </p:spPr>
        <p:txBody>
          <a:bodyPr wrap="square" lIns="0" rIns="0" tIns="0" bIns="0">
            <a:noAutofit/>
          </a:bodyPr>
          <a:lstStyle/>
          <a:p>
            <a:pPr>
              <a:lnSpc>
                <a:spcPts val="2268"/>
              </a:lnSpc>
              <a:spcBef>
                <a:spcPts val="0"/>
              </a:spcBef>
              <a:spcAft>
                <a:spcPts val="0"/>
              </a:spcAft>
            </a:pPr>
            <a:r>
              <a:rPr sz="2100" b="1">
                <a:solidFill>
                  <a:srgbClr val="14263D"/>
                </a:solidFill>
                <a:latin typeface="Calibri"/>
              </a:rPr>
              <a:t>From signals to inference</a:t>
            </a:r>
          </a:p>
        </p:txBody>
      </p:sp>
      <p:sp>
        <p:nvSpPr>
          <p:cNvPr id="14" name="Text: Activity traces, covert communication, websites"/>
          <p:cNvSpPr txBox="1"/>
          <p:nvPr/>
        </p:nvSpPr>
        <p:spPr>
          <a:xfrm>
            <a:off x="4572000" y="3209544"/>
            <a:ext cx="7025639" cy="594360"/>
          </a:xfrm>
          <a:prstGeom prst="rect">
            <a:avLst/>
          </a:prstGeom>
          <a:noFill/>
        </p:spPr>
        <p:txBody>
          <a:bodyPr wrap="square" lIns="0" rIns="0" tIns="0" bIns="0">
            <a:noAutofit/>
          </a:bodyPr>
          <a:lstStyle/>
          <a:p>
            <a:pPr>
              <a:lnSpc>
                <a:spcPts val="2240"/>
              </a:lnSpc>
              <a:spcBef>
                <a:spcPts val="0"/>
              </a:spcBef>
              <a:spcAft>
                <a:spcPts val="0"/>
              </a:spcAft>
            </a:pPr>
            <a:r>
              <a:rPr sz="2000" b="0">
                <a:solidFill>
                  <a:srgbClr val="4B5B6D"/>
                </a:solidFill>
                <a:latin typeface="Calibri"/>
              </a:rPr>
              <a:t>Activity traces, covert communication, websites</a:t>
            </a:r>
          </a:p>
        </p:txBody>
      </p:sp>
      <p:cxnSp>
        <p:nvCxnSpPr>
          <p:cNvPr id="15" name="Connector 14"/>
          <p:cNvCxnSpPr/>
          <p:nvPr/>
        </p:nvCxnSpPr>
        <p:spPr>
          <a:xfrm>
            <a:off x="594360" y="3831336"/>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6" name="Text: 04"/>
          <p:cNvSpPr txBox="1"/>
          <p:nvPr/>
        </p:nvSpPr>
        <p:spPr>
          <a:xfrm>
            <a:off x="594360" y="3995928"/>
            <a:ext cx="566928" cy="438912"/>
          </a:xfrm>
          <a:prstGeom prst="rect">
            <a:avLst/>
          </a:prstGeom>
          <a:noFill/>
        </p:spPr>
        <p:txBody>
          <a:bodyPr wrap="square" lIns="0" rIns="0" tIns="0" bIns="0">
            <a:noAutofit/>
          </a:bodyPr>
          <a:lstStyle/>
          <a:p>
            <a:pPr>
              <a:lnSpc>
                <a:spcPts val="2950"/>
              </a:lnSpc>
              <a:spcBef>
                <a:spcPts val="0"/>
              </a:spcBef>
              <a:spcAft>
                <a:spcPts val="0"/>
              </a:spcAft>
            </a:pPr>
            <a:r>
              <a:rPr sz="2500" b="1">
                <a:solidFill>
                  <a:srgbClr val="1265B0"/>
                </a:solidFill>
                <a:latin typeface="Calibri"/>
              </a:rPr>
              <a:t>04</a:t>
            </a:r>
          </a:p>
        </p:txBody>
      </p:sp>
      <p:sp>
        <p:nvSpPr>
          <p:cNvPr id="17" name="Text: Workload results"/>
          <p:cNvSpPr txBox="1"/>
          <p:nvPr/>
        </p:nvSpPr>
        <p:spPr>
          <a:xfrm>
            <a:off x="1389888" y="3995928"/>
            <a:ext cx="2971800" cy="594360"/>
          </a:xfrm>
          <a:prstGeom prst="rect">
            <a:avLst/>
          </a:prstGeom>
          <a:noFill/>
        </p:spPr>
        <p:txBody>
          <a:bodyPr wrap="square" lIns="0" rIns="0" tIns="0" bIns="0">
            <a:noAutofit/>
          </a:bodyPr>
          <a:lstStyle/>
          <a:p>
            <a:pPr>
              <a:lnSpc>
                <a:spcPts val="2268"/>
              </a:lnSpc>
              <a:spcBef>
                <a:spcPts val="0"/>
              </a:spcBef>
              <a:spcAft>
                <a:spcPts val="0"/>
              </a:spcAft>
            </a:pPr>
            <a:r>
              <a:rPr sz="2100" b="1">
                <a:solidFill>
                  <a:srgbClr val="14263D"/>
                </a:solidFill>
                <a:latin typeface="Calibri"/>
              </a:rPr>
              <a:t>Workload results</a:t>
            </a:r>
          </a:p>
        </p:txBody>
      </p:sp>
      <p:sp>
        <p:nvSpPr>
          <p:cNvPr id="18" name="Text: Keystroke events, model configurations, tested noise"/>
          <p:cNvSpPr txBox="1"/>
          <p:nvPr/>
        </p:nvSpPr>
        <p:spPr>
          <a:xfrm>
            <a:off x="4572000" y="4014215"/>
            <a:ext cx="7025639" cy="594360"/>
          </a:xfrm>
          <a:prstGeom prst="rect">
            <a:avLst/>
          </a:prstGeom>
          <a:noFill/>
        </p:spPr>
        <p:txBody>
          <a:bodyPr wrap="square" lIns="0" rIns="0" tIns="0" bIns="0">
            <a:noAutofit/>
          </a:bodyPr>
          <a:lstStyle/>
          <a:p>
            <a:pPr>
              <a:lnSpc>
                <a:spcPts val="2240"/>
              </a:lnSpc>
              <a:spcBef>
                <a:spcPts val="0"/>
              </a:spcBef>
              <a:spcAft>
                <a:spcPts val="0"/>
              </a:spcAft>
            </a:pPr>
            <a:r>
              <a:rPr sz="2000" b="0">
                <a:solidFill>
                  <a:srgbClr val="4B5B6D"/>
                </a:solidFill>
                <a:latin typeface="Calibri"/>
              </a:rPr>
              <a:t>Keystroke events, model configurations, tested noise</a:t>
            </a:r>
          </a:p>
        </p:txBody>
      </p:sp>
      <p:cxnSp>
        <p:nvCxnSpPr>
          <p:cNvPr id="19" name="Connector 18"/>
          <p:cNvCxnSpPr/>
          <p:nvPr/>
        </p:nvCxnSpPr>
        <p:spPr>
          <a:xfrm>
            <a:off x="594360" y="4636008"/>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20" name="Text: 05"/>
          <p:cNvSpPr txBox="1"/>
          <p:nvPr/>
        </p:nvSpPr>
        <p:spPr>
          <a:xfrm>
            <a:off x="594360" y="4800600"/>
            <a:ext cx="566928" cy="438912"/>
          </a:xfrm>
          <a:prstGeom prst="rect">
            <a:avLst/>
          </a:prstGeom>
          <a:noFill/>
        </p:spPr>
        <p:txBody>
          <a:bodyPr wrap="square" lIns="0" rIns="0" tIns="0" bIns="0">
            <a:noAutofit/>
          </a:bodyPr>
          <a:lstStyle/>
          <a:p>
            <a:pPr>
              <a:lnSpc>
                <a:spcPts val="2950"/>
              </a:lnSpc>
              <a:spcBef>
                <a:spcPts val="0"/>
              </a:spcBef>
              <a:spcAft>
                <a:spcPts val="0"/>
              </a:spcAft>
            </a:pPr>
            <a:r>
              <a:rPr sz="2500" b="1">
                <a:solidFill>
                  <a:srgbClr val="1265B0"/>
                </a:solidFill>
                <a:latin typeface="Calibri"/>
              </a:rPr>
              <a:t>05</a:t>
            </a:r>
          </a:p>
        </p:txBody>
      </p:sp>
      <p:sp>
        <p:nvSpPr>
          <p:cNvPr id="21" name="Text: Mitigations and conclusions"/>
          <p:cNvSpPr txBox="1"/>
          <p:nvPr/>
        </p:nvSpPr>
        <p:spPr>
          <a:xfrm>
            <a:off x="1389888" y="4800600"/>
            <a:ext cx="2971800" cy="594360"/>
          </a:xfrm>
          <a:prstGeom prst="rect">
            <a:avLst/>
          </a:prstGeom>
          <a:noFill/>
        </p:spPr>
        <p:txBody>
          <a:bodyPr wrap="square" lIns="0" rIns="0" tIns="0" bIns="0">
            <a:noAutofit/>
          </a:bodyPr>
          <a:lstStyle/>
          <a:p>
            <a:pPr>
              <a:lnSpc>
                <a:spcPts val="2268"/>
              </a:lnSpc>
              <a:spcBef>
                <a:spcPts val="0"/>
              </a:spcBef>
              <a:spcAft>
                <a:spcPts val="0"/>
              </a:spcAft>
            </a:pPr>
            <a:r>
              <a:rPr sz="2100" b="1">
                <a:solidFill>
                  <a:srgbClr val="14263D"/>
                </a:solidFill>
                <a:latin typeface="Calibri"/>
              </a:rPr>
              <a:t>Mitigations and conclusions</a:t>
            </a:r>
          </a:p>
        </p:txBody>
      </p:sp>
      <p:sp>
        <p:nvSpPr>
          <p:cNvPr id="22" name="Text: Sharing boundaries, proposed defenses, remaining limits"/>
          <p:cNvSpPr txBox="1"/>
          <p:nvPr/>
        </p:nvSpPr>
        <p:spPr>
          <a:xfrm>
            <a:off x="4572000" y="4818888"/>
            <a:ext cx="7025639" cy="594360"/>
          </a:xfrm>
          <a:prstGeom prst="rect">
            <a:avLst/>
          </a:prstGeom>
          <a:noFill/>
        </p:spPr>
        <p:txBody>
          <a:bodyPr wrap="square" lIns="0" rIns="0" tIns="0" bIns="0">
            <a:noAutofit/>
          </a:bodyPr>
          <a:lstStyle/>
          <a:p>
            <a:pPr>
              <a:lnSpc>
                <a:spcPts val="2240"/>
              </a:lnSpc>
              <a:spcBef>
                <a:spcPts val="0"/>
              </a:spcBef>
              <a:spcAft>
                <a:spcPts val="0"/>
              </a:spcAft>
            </a:pPr>
            <a:r>
              <a:rPr sz="2000" b="0">
                <a:solidFill>
                  <a:srgbClr val="4B5B6D"/>
                </a:solidFill>
                <a:latin typeface="Calibri"/>
              </a:rPr>
              <a:t>Sharing boundaries, proposed defenses, remaining limits</a:t>
            </a:r>
          </a:p>
        </p:txBody>
      </p:sp>
      <p:cxnSp>
        <p:nvCxnSpPr>
          <p:cNvPr id="23" name="Connector 22"/>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24"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Follow one request, one probe, and then one inferred label.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Why offload memory operations?</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3</a:t>
            </a:r>
          </a:p>
        </p:txBody>
      </p:sp>
      <p:sp>
        <p:nvSpPr>
          <p:cNvPr id="4" name="Text: Free CPU time for"/>
          <p:cNvSpPr txBox="1"/>
          <p:nvPr/>
        </p:nvSpPr>
        <p:spPr>
          <a:xfrm>
            <a:off x="594360" y="1664208"/>
            <a:ext cx="4096512" cy="932688"/>
          </a:xfrm>
          <a:prstGeom prst="rect">
            <a:avLst/>
          </a:prstGeom>
          <a:noFill/>
        </p:spPr>
        <p:txBody>
          <a:bodyPr wrap="square" lIns="0" rIns="0" tIns="0" bIns="0">
            <a:noAutofit/>
          </a:bodyPr>
          <a:lstStyle/>
          <a:p>
            <a:pPr>
              <a:lnSpc>
                <a:spcPts val="3132"/>
              </a:lnSpc>
              <a:spcBef>
                <a:spcPts val="0"/>
              </a:spcBef>
              <a:spcAft>
                <a:spcPts val="0"/>
              </a:spcAft>
            </a:pPr>
            <a:r>
              <a:rPr sz="2900" b="1">
                <a:solidFill>
                  <a:srgbClr val="1265B0"/>
                </a:solidFill>
                <a:latin typeface="Calibri"/>
              </a:rPr>
              <a:t>Free CPU time for</a:t>
            </a:r>
          </a:p>
          <a:p>
            <a:pPr>
              <a:lnSpc>
                <a:spcPts val="3132"/>
              </a:lnSpc>
              <a:spcBef>
                <a:spcPts val="0"/>
              </a:spcBef>
              <a:spcAft>
                <a:spcPts val="0"/>
              </a:spcAft>
            </a:pPr>
            <a:r>
              <a:rPr sz="2900" b="1">
                <a:solidFill>
                  <a:srgbClr val="1265B0"/>
                </a:solidFill>
                <a:latin typeface="Calibri"/>
              </a:rPr>
              <a:t>application work</a:t>
            </a:r>
          </a:p>
        </p:txBody>
      </p:sp>
      <p:sp>
        <p:nvSpPr>
          <p:cNvPr id="5" name="Text: Bulk copies consume CPU"/>
          <p:cNvSpPr txBox="1"/>
          <p:nvPr/>
        </p:nvSpPr>
        <p:spPr>
          <a:xfrm>
            <a:off x="594360" y="2834640"/>
            <a:ext cx="4096512" cy="786384"/>
          </a:xfrm>
          <a:prstGeom prst="rect">
            <a:avLst/>
          </a:prstGeom>
          <a:noFill/>
        </p:spPr>
        <p:txBody>
          <a:bodyPr wrap="square" lIns="0" rIns="0" tIns="0" bIns="0">
            <a:noAutofit/>
          </a:bodyPr>
          <a:lstStyle/>
          <a:p>
            <a:pPr>
              <a:lnSpc>
                <a:spcPts val="2713"/>
              </a:lnSpc>
              <a:spcBef>
                <a:spcPts val="0"/>
              </a:spcBef>
              <a:spcAft>
                <a:spcPts val="0"/>
              </a:spcAft>
            </a:pPr>
            <a:r>
              <a:rPr sz="2300" b="0">
                <a:solidFill>
                  <a:srgbClr val="14263D"/>
                </a:solidFill>
                <a:latin typeface="Calibri"/>
              </a:rPr>
              <a:t>Bulk copies consume CPU</a:t>
            </a:r>
          </a:p>
          <a:p>
            <a:pPr>
              <a:lnSpc>
                <a:spcPts val="2713"/>
              </a:lnSpc>
              <a:spcBef>
                <a:spcPts val="0"/>
              </a:spcBef>
              <a:spcAft>
                <a:spcPts val="0"/>
              </a:spcAft>
            </a:pPr>
            <a:r>
              <a:rPr sz="2300" b="0">
                <a:solidFill>
                  <a:srgbClr val="14263D"/>
                </a:solidFill>
                <a:latin typeface="Calibri"/>
              </a:rPr>
              <a:t>execution cycles.</a:t>
            </a:r>
          </a:p>
        </p:txBody>
      </p:sp>
      <p:sp>
        <p:nvSpPr>
          <p:cNvPr id="6" name="Text: Submit work asynchronously."/>
          <p:cNvSpPr txBox="1"/>
          <p:nvPr/>
        </p:nvSpPr>
        <p:spPr>
          <a:xfrm>
            <a:off x="594360" y="3813048"/>
            <a:ext cx="4096512" cy="1042415"/>
          </a:xfrm>
          <a:prstGeom prst="rect">
            <a:avLst/>
          </a:prstGeom>
          <a:noFill/>
        </p:spPr>
        <p:txBody>
          <a:bodyPr wrap="square" lIns="0" rIns="0" tIns="0" bIns="0">
            <a:noAutofit/>
          </a:bodyPr>
          <a:lstStyle/>
          <a:p>
            <a:pPr>
              <a:lnSpc>
                <a:spcPts val="2477"/>
              </a:lnSpc>
              <a:spcBef>
                <a:spcPts val="0"/>
              </a:spcBef>
              <a:spcAft>
                <a:spcPts val="0"/>
              </a:spcAft>
            </a:pPr>
            <a:r>
              <a:rPr sz="2100" b="0">
                <a:solidFill>
                  <a:srgbClr val="14263D"/>
                </a:solidFill>
                <a:latin typeface="Calibri"/>
              </a:rPr>
              <a:t>Submit work asynchronously.</a:t>
            </a:r>
          </a:p>
          <a:p>
            <a:pPr>
              <a:lnSpc>
                <a:spcPts val="2477"/>
              </a:lnSpc>
              <a:spcBef>
                <a:spcPts val="0"/>
              </a:spcBef>
              <a:spcAft>
                <a:spcPts val="0"/>
              </a:spcAft>
            </a:pPr>
            <a:r>
              <a:rPr sz="2100" b="0">
                <a:solidFill>
                  <a:srgbClr val="14263D"/>
                </a:solidFill>
                <a:latin typeface="Calibri"/>
              </a:rPr>
              <a:t>The CPU can compute while</a:t>
            </a:r>
          </a:p>
          <a:p>
            <a:pPr>
              <a:lnSpc>
                <a:spcPts val="2477"/>
              </a:lnSpc>
              <a:spcBef>
                <a:spcPts val="0"/>
              </a:spcBef>
              <a:spcAft>
                <a:spcPts val="0"/>
              </a:spcAft>
            </a:pPr>
            <a:r>
              <a:rPr sz="2100" b="0">
                <a:solidFill>
                  <a:srgbClr val="14263D"/>
                </a:solidFill>
                <a:latin typeface="Calibri"/>
              </a:rPr>
              <a:t>DSA moves or transforms data.</a:t>
            </a:r>
          </a:p>
        </p:txBody>
      </p:sp>
      <p:sp>
        <p:nvSpPr>
          <p:cNvPr id="7" name="Text: Network buffers, storage,"/>
          <p:cNvSpPr txBox="1"/>
          <p:nvPr/>
        </p:nvSpPr>
        <p:spPr>
          <a:xfrm>
            <a:off x="594360" y="5175504"/>
            <a:ext cx="4096512" cy="685800"/>
          </a:xfrm>
          <a:prstGeom prst="rect">
            <a:avLst/>
          </a:prstGeom>
          <a:noFill/>
        </p:spPr>
        <p:txBody>
          <a:bodyPr wrap="square" lIns="0" rIns="0" tIns="0" bIns="0">
            <a:noAutofit/>
          </a:bodyPr>
          <a:lstStyle/>
          <a:p>
            <a:pPr>
              <a:lnSpc>
                <a:spcPts val="2360"/>
              </a:lnSpc>
              <a:spcBef>
                <a:spcPts val="0"/>
              </a:spcBef>
              <a:spcAft>
                <a:spcPts val="0"/>
              </a:spcAft>
            </a:pPr>
            <a:r>
              <a:rPr sz="2000" b="0">
                <a:solidFill>
                  <a:srgbClr val="4B5B6D"/>
                </a:solidFill>
                <a:latin typeface="Calibri"/>
              </a:rPr>
              <a:t>Network buffers, storage,</a:t>
            </a:r>
          </a:p>
          <a:p>
            <a:pPr>
              <a:lnSpc>
                <a:spcPts val="2360"/>
              </a:lnSpc>
              <a:spcBef>
                <a:spcPts val="0"/>
              </a:spcBef>
              <a:spcAft>
                <a:spcPts val="0"/>
              </a:spcAft>
            </a:pPr>
            <a:r>
              <a:rPr sz="2000" b="0">
                <a:solidFill>
                  <a:srgbClr val="4B5B6D"/>
                </a:solidFill>
                <a:latin typeface="Calibri"/>
              </a:rPr>
              <a:t>and VM checkpoints</a:t>
            </a:r>
          </a:p>
        </p:txBody>
      </p:sp>
      <p:sp>
        <p:nvSpPr>
          <p:cNvPr id="8" name="Text: Offloaded operation"/>
          <p:cNvSpPr txBox="1"/>
          <p:nvPr/>
        </p:nvSpPr>
        <p:spPr>
          <a:xfrm>
            <a:off x="5212080" y="1700784"/>
            <a:ext cx="2113178"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Offloaded operation</a:t>
            </a:r>
          </a:p>
        </p:txBody>
      </p:sp>
      <p:sp>
        <p:nvSpPr>
          <p:cNvPr id="9" name="Text: What DSA does"/>
          <p:cNvSpPr txBox="1"/>
          <p:nvPr/>
        </p:nvSpPr>
        <p:spPr>
          <a:xfrm>
            <a:off x="7471562" y="1700784"/>
            <a:ext cx="4049877"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What DSA does</a:t>
            </a:r>
          </a:p>
        </p:txBody>
      </p:sp>
      <p:cxnSp>
        <p:nvCxnSpPr>
          <p:cNvPr id="10" name="Connector 9"/>
          <p:cNvCxnSpPr/>
          <p:nvPr/>
        </p:nvCxnSpPr>
        <p:spPr>
          <a:xfrm>
            <a:off x="5138928" y="2121408"/>
            <a:ext cx="6455664" cy="0"/>
          </a:xfrm>
          <a:prstGeom prst="line">
            <a:avLst/>
          </a:prstGeom>
          <a:ln w="13970">
            <a:solidFill>
              <a:srgbClr val="14263D"/>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138928" y="2121408"/>
            <a:ext cx="6455664" cy="72237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Copy / dualcast"/>
          <p:cNvSpPr txBox="1"/>
          <p:nvPr/>
        </p:nvSpPr>
        <p:spPr>
          <a:xfrm>
            <a:off x="5212080" y="2267712"/>
            <a:ext cx="2113178" cy="557784"/>
          </a:xfrm>
          <a:prstGeom prst="rect">
            <a:avLst/>
          </a:prstGeom>
          <a:noFill/>
        </p:spPr>
        <p:txBody>
          <a:bodyPr wrap="square" lIns="0" rIns="0" tIns="0" bIns="0">
            <a:noAutofit/>
          </a:bodyPr>
          <a:lstStyle/>
          <a:p>
            <a:pPr>
              <a:lnSpc>
                <a:spcPts val="2140"/>
              </a:lnSpc>
              <a:spcBef>
                <a:spcPts val="0"/>
              </a:spcBef>
              <a:spcAft>
                <a:spcPts val="0"/>
              </a:spcAft>
            </a:pPr>
            <a:r>
              <a:rPr sz="2000" b="1">
                <a:solidFill>
                  <a:srgbClr val="14263D"/>
                </a:solidFill>
                <a:latin typeface="Calibri"/>
              </a:rPr>
              <a:t>Copy / dualcast</a:t>
            </a:r>
          </a:p>
        </p:txBody>
      </p:sp>
      <p:sp>
        <p:nvSpPr>
          <p:cNvPr id="13" name="Text: Copy to one or two destinations"/>
          <p:cNvSpPr txBox="1"/>
          <p:nvPr/>
        </p:nvSpPr>
        <p:spPr>
          <a:xfrm>
            <a:off x="7471562" y="2267712"/>
            <a:ext cx="4049877" cy="557784"/>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Copy to one or two destinations</a:t>
            </a:r>
          </a:p>
        </p:txBody>
      </p:sp>
      <p:cxnSp>
        <p:nvCxnSpPr>
          <p:cNvPr id="14" name="Connector 13"/>
          <p:cNvCxnSpPr/>
          <p:nvPr/>
        </p:nvCxnSpPr>
        <p:spPr>
          <a:xfrm>
            <a:off x="5138928" y="2843784"/>
            <a:ext cx="6455664"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5" name="Text: Fill"/>
          <p:cNvSpPr txBox="1"/>
          <p:nvPr/>
        </p:nvSpPr>
        <p:spPr>
          <a:xfrm>
            <a:off x="5212080" y="2990088"/>
            <a:ext cx="2113178" cy="557784"/>
          </a:xfrm>
          <a:prstGeom prst="rect">
            <a:avLst/>
          </a:prstGeom>
          <a:noFill/>
        </p:spPr>
        <p:txBody>
          <a:bodyPr wrap="square" lIns="0" rIns="0" tIns="0" bIns="0">
            <a:noAutofit/>
          </a:bodyPr>
          <a:lstStyle/>
          <a:p>
            <a:pPr>
              <a:lnSpc>
                <a:spcPts val="2140"/>
              </a:lnSpc>
              <a:spcBef>
                <a:spcPts val="0"/>
              </a:spcBef>
              <a:spcAft>
                <a:spcPts val="0"/>
              </a:spcAft>
            </a:pPr>
            <a:r>
              <a:rPr sz="2000" b="1">
                <a:solidFill>
                  <a:srgbClr val="14263D"/>
                </a:solidFill>
                <a:latin typeface="Calibri"/>
              </a:rPr>
              <a:t>Fill</a:t>
            </a:r>
          </a:p>
        </p:txBody>
      </p:sp>
      <p:sp>
        <p:nvSpPr>
          <p:cNvPr id="16" name="Text: Write a repeated pattern"/>
          <p:cNvSpPr txBox="1"/>
          <p:nvPr/>
        </p:nvSpPr>
        <p:spPr>
          <a:xfrm>
            <a:off x="7471562" y="2990088"/>
            <a:ext cx="4049877" cy="557784"/>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Write a repeated pattern</a:t>
            </a:r>
          </a:p>
        </p:txBody>
      </p:sp>
      <p:cxnSp>
        <p:nvCxnSpPr>
          <p:cNvPr id="17" name="Connector 16"/>
          <p:cNvCxnSpPr/>
          <p:nvPr/>
        </p:nvCxnSpPr>
        <p:spPr>
          <a:xfrm>
            <a:off x="5138928" y="3566160"/>
            <a:ext cx="6455664"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138928" y="3566160"/>
            <a:ext cx="6455664" cy="72237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Compare"/>
          <p:cNvSpPr txBox="1"/>
          <p:nvPr/>
        </p:nvSpPr>
        <p:spPr>
          <a:xfrm>
            <a:off x="5212080" y="3712464"/>
            <a:ext cx="2113178" cy="557784"/>
          </a:xfrm>
          <a:prstGeom prst="rect">
            <a:avLst/>
          </a:prstGeom>
          <a:noFill/>
        </p:spPr>
        <p:txBody>
          <a:bodyPr wrap="square" lIns="0" rIns="0" tIns="0" bIns="0">
            <a:noAutofit/>
          </a:bodyPr>
          <a:lstStyle/>
          <a:p>
            <a:pPr>
              <a:lnSpc>
                <a:spcPts val="2140"/>
              </a:lnSpc>
              <a:spcBef>
                <a:spcPts val="0"/>
              </a:spcBef>
              <a:spcAft>
                <a:spcPts val="0"/>
              </a:spcAft>
            </a:pPr>
            <a:r>
              <a:rPr sz="2000" b="1">
                <a:solidFill>
                  <a:srgbClr val="14263D"/>
                </a:solidFill>
                <a:latin typeface="Calibri"/>
              </a:rPr>
              <a:t>Compare</a:t>
            </a:r>
          </a:p>
        </p:txBody>
      </p:sp>
      <p:sp>
        <p:nvSpPr>
          <p:cNvPr id="20" name="Text: Compare buffers or a pattern"/>
          <p:cNvSpPr txBox="1"/>
          <p:nvPr/>
        </p:nvSpPr>
        <p:spPr>
          <a:xfrm>
            <a:off x="7471562" y="3712464"/>
            <a:ext cx="4049877" cy="557784"/>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Compare buffers or a pattern</a:t>
            </a:r>
          </a:p>
        </p:txBody>
      </p:sp>
      <p:cxnSp>
        <p:nvCxnSpPr>
          <p:cNvPr id="21" name="Connector 20"/>
          <p:cNvCxnSpPr/>
          <p:nvPr/>
        </p:nvCxnSpPr>
        <p:spPr>
          <a:xfrm>
            <a:off x="5138928" y="4288536"/>
            <a:ext cx="6455664"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22" name="Text: CRC / DIF"/>
          <p:cNvSpPr txBox="1"/>
          <p:nvPr/>
        </p:nvSpPr>
        <p:spPr>
          <a:xfrm>
            <a:off x="5212080" y="4434840"/>
            <a:ext cx="2113178" cy="557784"/>
          </a:xfrm>
          <a:prstGeom prst="rect">
            <a:avLst/>
          </a:prstGeom>
          <a:noFill/>
        </p:spPr>
        <p:txBody>
          <a:bodyPr wrap="square" lIns="0" rIns="0" tIns="0" bIns="0">
            <a:noAutofit/>
          </a:bodyPr>
          <a:lstStyle/>
          <a:p>
            <a:pPr>
              <a:lnSpc>
                <a:spcPts val="2140"/>
              </a:lnSpc>
              <a:spcBef>
                <a:spcPts val="0"/>
              </a:spcBef>
              <a:spcAft>
                <a:spcPts val="0"/>
              </a:spcAft>
            </a:pPr>
            <a:r>
              <a:rPr sz="2000" b="1">
                <a:solidFill>
                  <a:srgbClr val="14263D"/>
                </a:solidFill>
                <a:latin typeface="Calibri"/>
              </a:rPr>
              <a:t>CRC / DIF</a:t>
            </a:r>
          </a:p>
        </p:txBody>
      </p:sp>
      <p:sp>
        <p:nvSpPr>
          <p:cNvPr id="23" name="Text: Generate or check integrity data"/>
          <p:cNvSpPr txBox="1"/>
          <p:nvPr/>
        </p:nvSpPr>
        <p:spPr>
          <a:xfrm>
            <a:off x="7471562" y="4434840"/>
            <a:ext cx="4049877" cy="557784"/>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Generate or check integrity data</a:t>
            </a:r>
          </a:p>
        </p:txBody>
      </p:sp>
      <p:cxnSp>
        <p:nvCxnSpPr>
          <p:cNvPr id="24" name="Connector 23"/>
          <p:cNvCxnSpPr/>
          <p:nvPr/>
        </p:nvCxnSpPr>
        <p:spPr>
          <a:xfrm>
            <a:off x="5138928" y="5010912"/>
            <a:ext cx="6455664"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138928" y="5010912"/>
            <a:ext cx="6455664" cy="72237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Delta records"/>
          <p:cNvSpPr txBox="1"/>
          <p:nvPr/>
        </p:nvSpPr>
        <p:spPr>
          <a:xfrm>
            <a:off x="5212080" y="5157216"/>
            <a:ext cx="2113178" cy="557784"/>
          </a:xfrm>
          <a:prstGeom prst="rect">
            <a:avLst/>
          </a:prstGeom>
          <a:noFill/>
        </p:spPr>
        <p:txBody>
          <a:bodyPr wrap="square" lIns="0" rIns="0" tIns="0" bIns="0">
            <a:noAutofit/>
          </a:bodyPr>
          <a:lstStyle/>
          <a:p>
            <a:pPr>
              <a:lnSpc>
                <a:spcPts val="2140"/>
              </a:lnSpc>
              <a:spcBef>
                <a:spcPts val="0"/>
              </a:spcBef>
              <a:spcAft>
                <a:spcPts val="0"/>
              </a:spcAft>
            </a:pPr>
            <a:r>
              <a:rPr sz="2000" b="1">
                <a:solidFill>
                  <a:srgbClr val="14263D"/>
                </a:solidFill>
                <a:latin typeface="Calibri"/>
              </a:rPr>
              <a:t>Delta records</a:t>
            </a:r>
          </a:p>
        </p:txBody>
      </p:sp>
      <p:sp>
        <p:nvSpPr>
          <p:cNvPr id="27" name="Text: Encode or apply changes"/>
          <p:cNvSpPr txBox="1"/>
          <p:nvPr/>
        </p:nvSpPr>
        <p:spPr>
          <a:xfrm>
            <a:off x="7471562" y="5157216"/>
            <a:ext cx="4049877" cy="557784"/>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Encode or apply changes</a:t>
            </a:r>
          </a:p>
        </p:txBody>
      </p:sp>
      <p:cxnSp>
        <p:nvCxnSpPr>
          <p:cNvPr id="28" name="Connector 27"/>
          <p:cNvCxnSpPr/>
          <p:nvPr/>
        </p:nvCxnSpPr>
        <p:spPr>
          <a:xfrm>
            <a:off x="5138928" y="5733288"/>
            <a:ext cx="6455664"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30"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Submission overhead and memory bandwidth still matter.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Private addresses can still share hardware</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4</a:t>
            </a:r>
          </a:p>
        </p:txBody>
      </p:sp>
      <p:sp>
        <p:nvSpPr>
          <p:cNvPr id="4" name="Rounded Rectangle 3"/>
          <p:cNvSpPr/>
          <p:nvPr/>
        </p:nvSpPr>
        <p:spPr>
          <a:xfrm>
            <a:off x="594360" y="1737360"/>
            <a:ext cx="5285232" cy="1444752"/>
          </a:xfrm>
          <a:prstGeom prst="roundRect">
            <a:avLst>
              <a:gd name="adj" fmla="val 759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Victim VM"/>
          <p:cNvSpPr txBox="1"/>
          <p:nvPr/>
        </p:nvSpPr>
        <p:spPr>
          <a:xfrm>
            <a:off x="822960" y="1938528"/>
            <a:ext cx="4828032" cy="393192"/>
          </a:xfrm>
          <a:prstGeom prst="rect">
            <a:avLst/>
          </a:prstGeom>
          <a:noFill/>
        </p:spPr>
        <p:txBody>
          <a:bodyPr wrap="square" lIns="0" rIns="0" tIns="0" bIns="0">
            <a:noAutofit/>
          </a:bodyPr>
          <a:lstStyle/>
          <a:p>
            <a:pPr>
              <a:lnSpc>
                <a:spcPts val="2950"/>
              </a:lnSpc>
              <a:spcBef>
                <a:spcPts val="0"/>
              </a:spcBef>
              <a:spcAft>
                <a:spcPts val="0"/>
              </a:spcAft>
            </a:pPr>
            <a:r>
              <a:rPr sz="2500" b="1">
                <a:solidFill>
                  <a:srgbClr val="1265B0"/>
                </a:solidFill>
                <a:latin typeface="Calibri"/>
              </a:rPr>
              <a:t>Victim VM</a:t>
            </a:r>
          </a:p>
        </p:txBody>
      </p:sp>
      <p:sp>
        <p:nvSpPr>
          <p:cNvPr id="6" name="Text: Own address space and data"/>
          <p:cNvSpPr txBox="1"/>
          <p:nvPr/>
        </p:nvSpPr>
        <p:spPr>
          <a:xfrm>
            <a:off x="822960" y="2532888"/>
            <a:ext cx="4828032" cy="457200"/>
          </a:xfrm>
          <a:prstGeom prst="rect">
            <a:avLst/>
          </a:prstGeom>
          <a:noFill/>
        </p:spPr>
        <p:txBody>
          <a:bodyPr wrap="square" lIns="0" rIns="0" tIns="0" bIns="0">
            <a:noAutofit/>
          </a:bodyPr>
          <a:lstStyle/>
          <a:p>
            <a:pPr>
              <a:lnSpc>
                <a:spcPts val="2477"/>
              </a:lnSpc>
              <a:spcBef>
                <a:spcPts val="0"/>
              </a:spcBef>
              <a:spcAft>
                <a:spcPts val="0"/>
              </a:spcAft>
            </a:pPr>
            <a:r>
              <a:rPr sz="2100" b="0">
                <a:solidFill>
                  <a:srgbClr val="4B5B6D"/>
                </a:solidFill>
                <a:latin typeface="Calibri"/>
              </a:rPr>
              <a:t>Own address space and data</a:t>
            </a:r>
          </a:p>
        </p:txBody>
      </p:sp>
      <p:sp>
        <p:nvSpPr>
          <p:cNvPr id="7" name="Text: ↓"/>
          <p:cNvSpPr txBox="1"/>
          <p:nvPr/>
        </p:nvSpPr>
        <p:spPr>
          <a:xfrm>
            <a:off x="2898648" y="3264408"/>
            <a:ext cx="640080" cy="530352"/>
          </a:xfrm>
          <a:prstGeom prst="rect">
            <a:avLst/>
          </a:prstGeom>
          <a:noFill/>
        </p:spPr>
        <p:txBody>
          <a:bodyPr wrap="square" lIns="0" rIns="0" tIns="0" bIns="0">
            <a:noAutofit/>
          </a:bodyPr>
          <a:lstStyle/>
          <a:p>
            <a:pPr algn="ctr">
              <a:lnSpc>
                <a:spcPts val="3540"/>
              </a:lnSpc>
              <a:spcBef>
                <a:spcPts val="0"/>
              </a:spcBef>
              <a:spcAft>
                <a:spcPts val="0"/>
              </a:spcAft>
            </a:pPr>
            <a:r>
              <a:rPr sz="3000" b="0">
                <a:solidFill>
                  <a:srgbClr val="1265B0"/>
                </a:solidFill>
                <a:latin typeface="Calibri"/>
              </a:rPr>
              <a:t>↓</a:t>
            </a:r>
          </a:p>
        </p:txBody>
      </p:sp>
      <p:sp>
        <p:nvSpPr>
          <p:cNvPr id="8" name="Rounded Rectangle 7"/>
          <p:cNvSpPr/>
          <p:nvPr/>
        </p:nvSpPr>
        <p:spPr>
          <a:xfrm>
            <a:off x="6309360" y="1737360"/>
            <a:ext cx="5285232" cy="1444752"/>
          </a:xfrm>
          <a:prstGeom prst="roundRect">
            <a:avLst>
              <a:gd name="adj" fmla="val 759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Attacker VM"/>
          <p:cNvSpPr txBox="1"/>
          <p:nvPr/>
        </p:nvSpPr>
        <p:spPr>
          <a:xfrm>
            <a:off x="6537960" y="1938528"/>
            <a:ext cx="4828032" cy="393192"/>
          </a:xfrm>
          <a:prstGeom prst="rect">
            <a:avLst/>
          </a:prstGeom>
          <a:noFill/>
        </p:spPr>
        <p:txBody>
          <a:bodyPr wrap="square" lIns="0" rIns="0" tIns="0" bIns="0">
            <a:noAutofit/>
          </a:bodyPr>
          <a:lstStyle/>
          <a:p>
            <a:pPr>
              <a:lnSpc>
                <a:spcPts val="2950"/>
              </a:lnSpc>
              <a:spcBef>
                <a:spcPts val="0"/>
              </a:spcBef>
              <a:spcAft>
                <a:spcPts val="0"/>
              </a:spcAft>
            </a:pPr>
            <a:r>
              <a:rPr sz="2500" b="1">
                <a:solidFill>
                  <a:srgbClr val="087F83"/>
                </a:solidFill>
                <a:latin typeface="Calibri"/>
              </a:rPr>
              <a:t>Attacker VM</a:t>
            </a:r>
          </a:p>
        </p:txBody>
      </p:sp>
      <p:sp>
        <p:nvSpPr>
          <p:cNvPr id="10" name="Text: Own requests and measurements"/>
          <p:cNvSpPr txBox="1"/>
          <p:nvPr/>
        </p:nvSpPr>
        <p:spPr>
          <a:xfrm>
            <a:off x="6537960" y="2532888"/>
            <a:ext cx="4828032" cy="457200"/>
          </a:xfrm>
          <a:prstGeom prst="rect">
            <a:avLst/>
          </a:prstGeom>
          <a:noFill/>
        </p:spPr>
        <p:txBody>
          <a:bodyPr wrap="square" lIns="0" rIns="0" tIns="0" bIns="0">
            <a:noAutofit/>
          </a:bodyPr>
          <a:lstStyle/>
          <a:p>
            <a:pPr>
              <a:lnSpc>
                <a:spcPts val="2477"/>
              </a:lnSpc>
              <a:spcBef>
                <a:spcPts val="0"/>
              </a:spcBef>
              <a:spcAft>
                <a:spcPts val="0"/>
              </a:spcAft>
            </a:pPr>
            <a:r>
              <a:rPr sz="2100" b="0">
                <a:solidFill>
                  <a:srgbClr val="4B5B6D"/>
                </a:solidFill>
                <a:latin typeface="Calibri"/>
              </a:rPr>
              <a:t>Own requests and measurements</a:t>
            </a:r>
          </a:p>
        </p:txBody>
      </p:sp>
      <p:sp>
        <p:nvSpPr>
          <p:cNvPr id="11" name="Text: ↓"/>
          <p:cNvSpPr txBox="1"/>
          <p:nvPr/>
        </p:nvSpPr>
        <p:spPr>
          <a:xfrm>
            <a:off x="8613648" y="3264408"/>
            <a:ext cx="640080" cy="530352"/>
          </a:xfrm>
          <a:prstGeom prst="rect">
            <a:avLst/>
          </a:prstGeom>
          <a:noFill/>
        </p:spPr>
        <p:txBody>
          <a:bodyPr wrap="square" lIns="0" rIns="0" tIns="0" bIns="0">
            <a:noAutofit/>
          </a:bodyPr>
          <a:lstStyle/>
          <a:p>
            <a:pPr algn="ctr">
              <a:lnSpc>
                <a:spcPts val="3540"/>
              </a:lnSpc>
              <a:spcBef>
                <a:spcPts val="0"/>
              </a:spcBef>
              <a:spcAft>
                <a:spcPts val="0"/>
              </a:spcAft>
            </a:pPr>
            <a:r>
              <a:rPr sz="3000" b="0">
                <a:solidFill>
                  <a:srgbClr val="087F83"/>
                </a:solidFill>
                <a:latin typeface="Calibri"/>
              </a:rPr>
              <a:t>↓</a:t>
            </a:r>
          </a:p>
        </p:txBody>
      </p:sp>
      <p:sp>
        <p:nvSpPr>
          <p:cNvPr id="12" name="Rounded Rectangle 11"/>
          <p:cNvSpPr/>
          <p:nvPr/>
        </p:nvSpPr>
        <p:spPr>
          <a:xfrm>
            <a:off x="594360" y="3858768"/>
            <a:ext cx="11003279" cy="850392"/>
          </a:xfrm>
          <a:prstGeom prst="roundRect">
            <a:avLst>
              <a:gd name="adj" fmla="val 10752"/>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Shared DSA engine and work queue"/>
          <p:cNvSpPr txBox="1"/>
          <p:nvPr/>
        </p:nvSpPr>
        <p:spPr>
          <a:xfrm>
            <a:off x="777240" y="4087368"/>
            <a:ext cx="10637519" cy="411480"/>
          </a:xfrm>
          <a:prstGeom prst="rect">
            <a:avLst/>
          </a:prstGeom>
          <a:noFill/>
        </p:spPr>
        <p:txBody>
          <a:bodyPr wrap="square" lIns="0" rIns="0" tIns="0" bIns="0">
            <a:noAutofit/>
          </a:bodyPr>
          <a:lstStyle/>
          <a:p>
            <a:pPr algn="ctr">
              <a:lnSpc>
                <a:spcPts val="3186"/>
              </a:lnSpc>
              <a:spcBef>
                <a:spcPts val="0"/>
              </a:spcBef>
              <a:spcAft>
                <a:spcPts val="0"/>
              </a:spcAft>
            </a:pPr>
            <a:r>
              <a:rPr sz="2700" b="1">
                <a:solidFill>
                  <a:srgbClr val="FFFFFF"/>
                </a:solidFill>
                <a:latin typeface="Calibri"/>
              </a:rPr>
              <a:t>Shared DSA engine and work queue</a:t>
            </a:r>
          </a:p>
        </p:txBody>
      </p:sp>
      <p:sp>
        <p:nvSpPr>
          <p:cNvPr id="14" name="Text: The attacker measures its own completion time or submission resul"/>
          <p:cNvSpPr txBox="1"/>
          <p:nvPr/>
        </p:nvSpPr>
        <p:spPr>
          <a:xfrm>
            <a:off x="594360" y="5093208"/>
            <a:ext cx="11003279" cy="621792"/>
          </a:xfrm>
          <a:prstGeom prst="rect">
            <a:avLst/>
          </a:prstGeom>
          <a:noFill/>
        </p:spPr>
        <p:txBody>
          <a:bodyPr wrap="square" lIns="0" rIns="0" tIns="0" bIns="0">
            <a:noAutofit/>
          </a:bodyPr>
          <a:lstStyle/>
          <a:p>
            <a:pPr algn="ctr">
              <a:lnSpc>
                <a:spcPts val="2713"/>
              </a:lnSpc>
              <a:spcBef>
                <a:spcPts val="0"/>
              </a:spcBef>
              <a:spcAft>
                <a:spcPts val="0"/>
              </a:spcAft>
            </a:pPr>
            <a:r>
              <a:rPr sz="2300" b="0">
                <a:solidFill>
                  <a:srgbClr val="14263D"/>
                </a:solidFill>
                <a:latin typeface="Calibri"/>
              </a:rPr>
              <a:t>The attacker measures its own completion time or submission result.</a:t>
            </a:r>
          </a:p>
        </p:txBody>
      </p:sp>
      <p:cxnSp>
        <p:nvCxnSpPr>
          <p:cNvPr id="15" name="Connector 14"/>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6"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observable signal is resource activity, not the victim’s bytes.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How one DSA request completes</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5</a:t>
            </a:r>
          </a:p>
        </p:txBody>
      </p:sp>
      <p:pic>
        <p:nvPicPr>
          <p:cNvPr id="4" name="Original paper Figure 1" descr="paper_fig1.png"/>
          <p:cNvPicPr>
            <a:picLocks noChangeAspect="1"/>
          </p:cNvPicPr>
          <p:nvPr/>
        </p:nvPicPr>
        <p:blipFill>
          <a:blip r:embed="rId2"/>
          <a:stretch>
            <a:fillRect/>
          </a:stretch>
        </p:blipFill>
        <p:spPr>
          <a:xfrm>
            <a:off x="682994" y="1472184"/>
            <a:ext cx="10826011" cy="3493008"/>
          </a:xfrm>
          <a:prstGeom prst="rect">
            <a:avLst/>
          </a:prstGeom>
        </p:spPr>
      </p:pic>
      <p:sp>
        <p:nvSpPr>
          <p:cNvPr id="5" name="Rounded Rectangle 4"/>
          <p:cNvSpPr/>
          <p:nvPr/>
        </p:nvSpPr>
        <p:spPr>
          <a:xfrm>
            <a:off x="594360" y="5157216"/>
            <a:ext cx="2558795" cy="530352"/>
          </a:xfrm>
          <a:prstGeom prst="roundRect">
            <a:avLst>
              <a:gd name="adj" fmla="val 1379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repare descriptor"/>
          <p:cNvSpPr txBox="1"/>
          <p:nvPr/>
        </p:nvSpPr>
        <p:spPr>
          <a:xfrm>
            <a:off x="704088" y="5276088"/>
            <a:ext cx="2339339" cy="292608"/>
          </a:xfrm>
          <a:prstGeom prst="rect">
            <a:avLst/>
          </a:prstGeom>
          <a:noFill/>
        </p:spPr>
        <p:txBody>
          <a:bodyPr wrap="square" lIns="0" rIns="0" tIns="0" bIns="0">
            <a:noAutofit/>
          </a:bodyPr>
          <a:lstStyle/>
          <a:p>
            <a:pPr algn="ctr">
              <a:lnSpc>
                <a:spcPts val="1900"/>
              </a:lnSpc>
              <a:spcBef>
                <a:spcPts val="0"/>
              </a:spcBef>
              <a:spcAft>
                <a:spcPts val="0"/>
              </a:spcAft>
            </a:pPr>
            <a:r>
              <a:rPr sz="1900" b="1">
                <a:solidFill>
                  <a:srgbClr val="1265B0"/>
                </a:solidFill>
                <a:latin typeface="Calibri"/>
              </a:rPr>
              <a:t>Prepare descriptor</a:t>
            </a:r>
          </a:p>
        </p:txBody>
      </p:sp>
      <p:sp>
        <p:nvSpPr>
          <p:cNvPr id="7" name="Rounded Rectangle 6"/>
          <p:cNvSpPr/>
          <p:nvPr/>
        </p:nvSpPr>
        <p:spPr>
          <a:xfrm>
            <a:off x="3409187" y="5157216"/>
            <a:ext cx="2558795" cy="530352"/>
          </a:xfrm>
          <a:prstGeom prst="roundRect">
            <a:avLst>
              <a:gd name="adj" fmla="val 1379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Submit to portal"/>
          <p:cNvSpPr txBox="1"/>
          <p:nvPr/>
        </p:nvSpPr>
        <p:spPr>
          <a:xfrm>
            <a:off x="3518915" y="5276088"/>
            <a:ext cx="2339339" cy="292608"/>
          </a:xfrm>
          <a:prstGeom prst="rect">
            <a:avLst/>
          </a:prstGeom>
          <a:noFill/>
        </p:spPr>
        <p:txBody>
          <a:bodyPr wrap="square" lIns="0" rIns="0" tIns="0" bIns="0">
            <a:noAutofit/>
          </a:bodyPr>
          <a:lstStyle/>
          <a:p>
            <a:pPr algn="ctr">
              <a:lnSpc>
                <a:spcPts val="1900"/>
              </a:lnSpc>
              <a:spcBef>
                <a:spcPts val="0"/>
              </a:spcBef>
              <a:spcAft>
                <a:spcPts val="0"/>
              </a:spcAft>
            </a:pPr>
            <a:r>
              <a:rPr sz="1900" b="1">
                <a:solidFill>
                  <a:srgbClr val="1265B0"/>
                </a:solidFill>
                <a:latin typeface="Calibri"/>
              </a:rPr>
              <a:t>Submit to portal</a:t>
            </a:r>
          </a:p>
        </p:txBody>
      </p:sp>
      <p:sp>
        <p:nvSpPr>
          <p:cNvPr id="9" name="Rounded Rectangle 8"/>
          <p:cNvSpPr/>
          <p:nvPr/>
        </p:nvSpPr>
        <p:spPr>
          <a:xfrm>
            <a:off x="6224015" y="5157216"/>
            <a:ext cx="2558795" cy="530352"/>
          </a:xfrm>
          <a:prstGeom prst="roundRect">
            <a:avLst>
              <a:gd name="adj" fmla="val 1379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Execute in engine"/>
          <p:cNvSpPr txBox="1"/>
          <p:nvPr/>
        </p:nvSpPr>
        <p:spPr>
          <a:xfrm>
            <a:off x="6333743" y="5276088"/>
            <a:ext cx="2339339" cy="292608"/>
          </a:xfrm>
          <a:prstGeom prst="rect">
            <a:avLst/>
          </a:prstGeom>
          <a:noFill/>
        </p:spPr>
        <p:txBody>
          <a:bodyPr wrap="square" lIns="0" rIns="0" tIns="0" bIns="0">
            <a:noAutofit/>
          </a:bodyPr>
          <a:lstStyle/>
          <a:p>
            <a:pPr algn="ctr">
              <a:lnSpc>
                <a:spcPts val="1900"/>
              </a:lnSpc>
              <a:spcBef>
                <a:spcPts val="0"/>
              </a:spcBef>
              <a:spcAft>
                <a:spcPts val="0"/>
              </a:spcAft>
            </a:pPr>
            <a:r>
              <a:rPr sz="1900" b="1">
                <a:solidFill>
                  <a:srgbClr val="1265B0"/>
                </a:solidFill>
                <a:latin typeface="Calibri"/>
              </a:rPr>
              <a:t>Execute in engine</a:t>
            </a:r>
          </a:p>
        </p:txBody>
      </p:sp>
      <p:sp>
        <p:nvSpPr>
          <p:cNvPr id="11" name="Rounded Rectangle 10"/>
          <p:cNvSpPr/>
          <p:nvPr/>
        </p:nvSpPr>
        <p:spPr>
          <a:xfrm>
            <a:off x="9038843" y="5157216"/>
            <a:ext cx="2558795" cy="530352"/>
          </a:xfrm>
          <a:prstGeom prst="roundRect">
            <a:avLst>
              <a:gd name="adj" fmla="val 1379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Write completion"/>
          <p:cNvSpPr txBox="1"/>
          <p:nvPr/>
        </p:nvSpPr>
        <p:spPr>
          <a:xfrm>
            <a:off x="9148571" y="5276088"/>
            <a:ext cx="2339339" cy="292608"/>
          </a:xfrm>
          <a:prstGeom prst="rect">
            <a:avLst/>
          </a:prstGeom>
          <a:noFill/>
        </p:spPr>
        <p:txBody>
          <a:bodyPr wrap="square" lIns="0" rIns="0" tIns="0" bIns="0">
            <a:noAutofit/>
          </a:bodyPr>
          <a:lstStyle/>
          <a:p>
            <a:pPr algn="ctr">
              <a:lnSpc>
                <a:spcPts val="1900"/>
              </a:lnSpc>
              <a:spcBef>
                <a:spcPts val="0"/>
              </a:spcBef>
              <a:spcAft>
                <a:spcPts val="0"/>
              </a:spcAft>
            </a:pPr>
            <a:r>
              <a:rPr sz="1900" b="1">
                <a:solidFill>
                  <a:srgbClr val="1265B0"/>
                </a:solidFill>
                <a:latin typeface="Calibri"/>
              </a:rPr>
              <a:t>Write completion</a:t>
            </a:r>
          </a:p>
        </p:txBody>
      </p:sp>
      <p:cxnSp>
        <p:nvCxnSpPr>
          <p:cNvPr id="13" name="Connector 12"/>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4"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attacker can observe acceptance and completion of its own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How IOMMU and VT-d protect device accesses</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6</a:t>
            </a:r>
          </a:p>
        </p:txBody>
      </p:sp>
      <p:sp>
        <p:nvSpPr>
          <p:cNvPr id="4" name="Text: IOMMU translates device accesses and checks memory permissions."/>
          <p:cNvSpPr txBox="1"/>
          <p:nvPr/>
        </p:nvSpPr>
        <p:spPr>
          <a:xfrm>
            <a:off x="594360" y="1508760"/>
            <a:ext cx="11003279" cy="411480"/>
          </a:xfrm>
          <a:prstGeom prst="rect">
            <a:avLst/>
          </a:prstGeom>
          <a:noFill/>
        </p:spPr>
        <p:txBody>
          <a:bodyPr wrap="square" lIns="0" rIns="0" tIns="0" bIns="0">
            <a:noAutofit/>
          </a:bodyPr>
          <a:lstStyle/>
          <a:p>
            <a:pPr>
              <a:lnSpc>
                <a:spcPts val="2713"/>
              </a:lnSpc>
              <a:spcBef>
                <a:spcPts val="0"/>
              </a:spcBef>
              <a:spcAft>
                <a:spcPts val="0"/>
              </a:spcAft>
            </a:pPr>
            <a:r>
              <a:rPr sz="2300" b="0">
                <a:solidFill>
                  <a:srgbClr val="14263D"/>
                </a:solidFill>
                <a:latin typeface="Calibri"/>
              </a:rPr>
              <a:t>IOMMU translates device accesses and checks memory permissions.</a:t>
            </a:r>
          </a:p>
        </p:txBody>
      </p:sp>
      <p:sp>
        <p:nvSpPr>
          <p:cNvPr id="5" name="Text: VT-d is Intel's architecture for I/O translation and isolation."/>
          <p:cNvSpPr txBox="1"/>
          <p:nvPr/>
        </p:nvSpPr>
        <p:spPr>
          <a:xfrm>
            <a:off x="594360" y="2048256"/>
            <a:ext cx="11003279" cy="402336"/>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VT-d is Intel's architecture for I/O translation and isolation.</a:t>
            </a:r>
          </a:p>
        </p:txBody>
      </p:sp>
      <p:sp>
        <p:nvSpPr>
          <p:cNvPr id="6" name="Rounded Rectangle 5"/>
          <p:cNvSpPr/>
          <p:nvPr/>
        </p:nvSpPr>
        <p:spPr>
          <a:xfrm>
            <a:off x="594360" y="2743200"/>
            <a:ext cx="3977639" cy="1426464"/>
          </a:xfrm>
          <a:prstGeom prst="roundRect">
            <a:avLst>
              <a:gd name="adj" fmla="val 641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DSA: DevTLB"/>
          <p:cNvSpPr txBox="1"/>
          <p:nvPr/>
        </p:nvSpPr>
        <p:spPr>
          <a:xfrm>
            <a:off x="777240" y="2898648"/>
            <a:ext cx="3611880" cy="384048"/>
          </a:xfrm>
          <a:prstGeom prst="rect">
            <a:avLst/>
          </a:prstGeom>
          <a:noFill/>
        </p:spPr>
        <p:txBody>
          <a:bodyPr wrap="square" lIns="0" rIns="0" tIns="0" bIns="0">
            <a:noAutofit/>
          </a:bodyPr>
          <a:lstStyle/>
          <a:p>
            <a:pPr>
              <a:lnSpc>
                <a:spcPts val="2832"/>
              </a:lnSpc>
              <a:spcBef>
                <a:spcPts val="0"/>
              </a:spcBef>
              <a:spcAft>
                <a:spcPts val="0"/>
              </a:spcAft>
            </a:pPr>
            <a:r>
              <a:rPr sz="2400" b="1">
                <a:solidFill>
                  <a:srgbClr val="1265B0"/>
                </a:solidFill>
                <a:latin typeface="Calibri"/>
              </a:rPr>
              <a:t>DSA: DevTLB</a:t>
            </a:r>
          </a:p>
        </p:txBody>
      </p:sp>
      <p:sp>
        <p:nvSpPr>
          <p:cNvPr id="8" name="Text: Virtual page + PASID context"/>
          <p:cNvSpPr txBox="1"/>
          <p:nvPr/>
        </p:nvSpPr>
        <p:spPr>
          <a:xfrm>
            <a:off x="777240" y="3456432"/>
            <a:ext cx="3611880" cy="630936"/>
          </a:xfrm>
          <a:prstGeom prst="rect">
            <a:avLst/>
          </a:prstGeom>
          <a:noFill/>
        </p:spPr>
        <p:txBody>
          <a:bodyPr wrap="square" lIns="0" rIns="0" tIns="0" bIns="0">
            <a:noAutofit/>
          </a:bodyPr>
          <a:lstStyle/>
          <a:p>
            <a:pPr>
              <a:lnSpc>
                <a:spcPts val="2300"/>
              </a:lnSpc>
              <a:spcBef>
                <a:spcPts val="0"/>
              </a:spcBef>
              <a:spcAft>
                <a:spcPts val="0"/>
              </a:spcAft>
            </a:pPr>
            <a:r>
              <a:rPr sz="2000" b="0">
                <a:solidFill>
                  <a:srgbClr val="14263D"/>
                </a:solidFill>
                <a:latin typeface="Calibri"/>
              </a:rPr>
              <a:t>Virtual page + PASID context</a:t>
            </a:r>
          </a:p>
          <a:p>
            <a:pPr>
              <a:lnSpc>
                <a:spcPts val="2300"/>
              </a:lnSpc>
              <a:spcBef>
                <a:spcPts val="0"/>
              </a:spcBef>
              <a:spcAft>
                <a:spcPts val="0"/>
              </a:spcAft>
            </a:pPr>
            <a:r>
              <a:rPr sz="2000" b="0">
                <a:solidFill>
                  <a:srgbClr val="14263D"/>
                </a:solidFill>
                <a:latin typeface="Calibri"/>
              </a:rPr>
              <a:t>Mapping and access permissions</a:t>
            </a:r>
          </a:p>
        </p:txBody>
      </p:sp>
      <p:sp>
        <p:nvSpPr>
          <p:cNvPr id="9" name="Rounded Rectangle 8"/>
          <p:cNvSpPr/>
          <p:nvPr/>
        </p:nvSpPr>
        <p:spPr>
          <a:xfrm>
            <a:off x="7616952" y="2743200"/>
            <a:ext cx="3977639" cy="1426464"/>
          </a:xfrm>
          <a:prstGeom prst="roundRect">
            <a:avLst>
              <a:gd name="adj" fmla="val 641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IOMMU"/>
          <p:cNvSpPr txBox="1"/>
          <p:nvPr/>
        </p:nvSpPr>
        <p:spPr>
          <a:xfrm>
            <a:off x="7799831" y="2898648"/>
            <a:ext cx="3611880" cy="384048"/>
          </a:xfrm>
          <a:prstGeom prst="rect">
            <a:avLst/>
          </a:prstGeom>
          <a:noFill/>
        </p:spPr>
        <p:txBody>
          <a:bodyPr wrap="square" lIns="0" rIns="0" tIns="0" bIns="0">
            <a:noAutofit/>
          </a:bodyPr>
          <a:lstStyle/>
          <a:p>
            <a:pPr>
              <a:lnSpc>
                <a:spcPts val="2832"/>
              </a:lnSpc>
              <a:spcBef>
                <a:spcPts val="0"/>
              </a:spcBef>
              <a:spcAft>
                <a:spcPts val="0"/>
              </a:spcAft>
            </a:pPr>
            <a:r>
              <a:rPr sz="2400" b="1">
                <a:solidFill>
                  <a:srgbClr val="1265B0"/>
                </a:solidFill>
                <a:latin typeface="Calibri"/>
              </a:rPr>
              <a:t>IOMMU</a:t>
            </a:r>
          </a:p>
        </p:txBody>
      </p:sp>
      <p:sp>
        <p:nvSpPr>
          <p:cNvPr id="11" name="Text: Host-side IOTLB lookup"/>
          <p:cNvSpPr txBox="1"/>
          <p:nvPr/>
        </p:nvSpPr>
        <p:spPr>
          <a:xfrm>
            <a:off x="7799831" y="3456432"/>
            <a:ext cx="3611880" cy="630936"/>
          </a:xfrm>
          <a:prstGeom prst="rect">
            <a:avLst/>
          </a:prstGeom>
          <a:noFill/>
        </p:spPr>
        <p:txBody>
          <a:bodyPr wrap="square" lIns="0" rIns="0" tIns="0" bIns="0">
            <a:noAutofit/>
          </a:bodyPr>
          <a:lstStyle/>
          <a:p>
            <a:pPr>
              <a:lnSpc>
                <a:spcPts val="2300"/>
              </a:lnSpc>
              <a:spcBef>
                <a:spcPts val="0"/>
              </a:spcBef>
              <a:spcAft>
                <a:spcPts val="0"/>
              </a:spcAft>
            </a:pPr>
            <a:r>
              <a:rPr sz="2000" b="0">
                <a:solidFill>
                  <a:srgbClr val="14263D"/>
                </a:solidFill>
                <a:latin typeface="Calibri"/>
              </a:rPr>
              <a:t>Host-side IOTLB lookup</a:t>
            </a:r>
          </a:p>
          <a:p>
            <a:pPr>
              <a:lnSpc>
                <a:spcPts val="2300"/>
              </a:lnSpc>
              <a:spcBef>
                <a:spcPts val="0"/>
              </a:spcBef>
              <a:spcAft>
                <a:spcPts val="0"/>
              </a:spcAft>
            </a:pPr>
            <a:r>
              <a:rPr sz="2000" b="0">
                <a:solidFill>
                  <a:srgbClr val="14263D"/>
                </a:solidFill>
                <a:latin typeface="Calibri"/>
              </a:rPr>
              <a:t>Page-table walk if needed</a:t>
            </a:r>
          </a:p>
        </p:txBody>
      </p:sp>
      <p:sp>
        <p:nvSpPr>
          <p:cNvPr id="12" name="Text: Miss: ATS request"/>
          <p:cNvSpPr txBox="1"/>
          <p:nvPr/>
        </p:nvSpPr>
        <p:spPr>
          <a:xfrm>
            <a:off x="4736592" y="2761488"/>
            <a:ext cx="2715768" cy="310896"/>
          </a:xfrm>
          <a:prstGeom prst="rect">
            <a:avLst/>
          </a:prstGeom>
          <a:noFill/>
        </p:spPr>
        <p:txBody>
          <a:bodyPr wrap="square" lIns="0" rIns="0" tIns="0" bIns="0">
            <a:noAutofit/>
          </a:bodyPr>
          <a:lstStyle/>
          <a:p>
            <a:pPr algn="ctr">
              <a:lnSpc>
                <a:spcPts val="1800"/>
              </a:lnSpc>
              <a:spcBef>
                <a:spcPts val="0"/>
              </a:spcBef>
              <a:spcAft>
                <a:spcPts val="0"/>
              </a:spcAft>
            </a:pPr>
            <a:r>
              <a:rPr sz="1800" b="0">
                <a:solidFill>
                  <a:srgbClr val="4B5B6D"/>
                </a:solidFill>
                <a:latin typeface="Calibri"/>
              </a:rPr>
              <a:t>Miss: ATS request</a:t>
            </a:r>
          </a:p>
        </p:txBody>
      </p:sp>
      <p:sp>
        <p:nvSpPr>
          <p:cNvPr id="13" name="Right Arrow 12"/>
          <p:cNvSpPr/>
          <p:nvPr/>
        </p:nvSpPr>
        <p:spPr>
          <a:xfrm>
            <a:off x="5010912" y="3154680"/>
            <a:ext cx="2167128" cy="201168"/>
          </a:xfrm>
          <a:prstGeom prst="rightArrow">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Mapping + permissions"/>
          <p:cNvSpPr txBox="1"/>
          <p:nvPr/>
        </p:nvSpPr>
        <p:spPr>
          <a:xfrm>
            <a:off x="4736592" y="3557016"/>
            <a:ext cx="2715768" cy="310896"/>
          </a:xfrm>
          <a:prstGeom prst="rect">
            <a:avLst/>
          </a:prstGeom>
          <a:noFill/>
        </p:spPr>
        <p:txBody>
          <a:bodyPr wrap="square" lIns="0" rIns="0" tIns="0" bIns="0">
            <a:noAutofit/>
          </a:bodyPr>
          <a:lstStyle/>
          <a:p>
            <a:pPr algn="ctr">
              <a:lnSpc>
                <a:spcPts val="1800"/>
              </a:lnSpc>
              <a:spcBef>
                <a:spcPts val="0"/>
              </a:spcBef>
              <a:spcAft>
                <a:spcPts val="0"/>
              </a:spcAft>
            </a:pPr>
            <a:r>
              <a:rPr sz="1800" b="0">
                <a:solidFill>
                  <a:srgbClr val="4B5B6D"/>
                </a:solidFill>
                <a:latin typeface="Calibri"/>
              </a:rPr>
              <a:t>Mapping + permissions</a:t>
            </a:r>
          </a:p>
        </p:txBody>
      </p:sp>
      <p:sp>
        <p:nvSpPr>
          <p:cNvPr id="15" name="Left Arrow 14"/>
          <p:cNvSpPr/>
          <p:nvPr/>
        </p:nvSpPr>
        <p:spPr>
          <a:xfrm>
            <a:off x="5010912" y="3950208"/>
            <a:ext cx="2167128" cy="201168"/>
          </a:xfrm>
          <a:prstGeom prst="leftArrow">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Hit: reuse the cached mapping"/>
          <p:cNvSpPr txBox="1"/>
          <p:nvPr/>
        </p:nvSpPr>
        <p:spPr>
          <a:xfrm>
            <a:off x="594360" y="4434840"/>
            <a:ext cx="3977639" cy="347472"/>
          </a:xfrm>
          <a:prstGeom prst="rect">
            <a:avLst/>
          </a:prstGeom>
          <a:noFill/>
        </p:spPr>
        <p:txBody>
          <a:bodyPr wrap="square" lIns="0" rIns="0" tIns="0" bIns="0">
            <a:noAutofit/>
          </a:bodyPr>
          <a:lstStyle/>
          <a:p>
            <a:pPr algn="ctr">
              <a:lnSpc>
                <a:spcPts val="2360"/>
              </a:lnSpc>
              <a:spcBef>
                <a:spcPts val="0"/>
              </a:spcBef>
              <a:spcAft>
                <a:spcPts val="0"/>
              </a:spcAft>
            </a:pPr>
            <a:r>
              <a:rPr sz="2000" b="1">
                <a:solidFill>
                  <a:srgbClr val="1265B0"/>
                </a:solidFill>
                <a:latin typeface="Calibri"/>
              </a:rPr>
              <a:t>Hit: reuse the cached mapping</a:t>
            </a:r>
          </a:p>
        </p:txBody>
      </p:sp>
      <p:sp>
        <p:nvSpPr>
          <p:cNvPr id="17" name="Down Arrow 16"/>
          <p:cNvSpPr/>
          <p:nvPr/>
        </p:nvSpPr>
        <p:spPr>
          <a:xfrm>
            <a:off x="2450592" y="4818888"/>
            <a:ext cx="256032" cy="237744"/>
          </a:xfrm>
          <a:prstGeom prst="downArrow">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5157216"/>
            <a:ext cx="3977639" cy="612648"/>
          </a:xfrm>
          <a:prstGeom prst="roundRect">
            <a:avLst>
              <a:gd name="adj" fmla="val 1194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Physical page in RAM"/>
          <p:cNvSpPr txBox="1"/>
          <p:nvPr/>
        </p:nvSpPr>
        <p:spPr>
          <a:xfrm>
            <a:off x="731520" y="5312664"/>
            <a:ext cx="3703320" cy="347472"/>
          </a:xfrm>
          <a:prstGeom prst="rect">
            <a:avLst/>
          </a:prstGeom>
          <a:noFill/>
        </p:spPr>
        <p:txBody>
          <a:bodyPr wrap="square" lIns="0" rIns="0" tIns="0" bIns="0">
            <a:noAutofit/>
          </a:bodyPr>
          <a:lstStyle/>
          <a:p>
            <a:pPr algn="ctr">
              <a:lnSpc>
                <a:spcPts val="2713"/>
              </a:lnSpc>
              <a:spcBef>
                <a:spcPts val="0"/>
              </a:spcBef>
              <a:spcAft>
                <a:spcPts val="0"/>
              </a:spcAft>
            </a:pPr>
            <a:r>
              <a:rPr sz="2300" b="1">
                <a:solidFill>
                  <a:srgbClr val="14263D"/>
                </a:solidFill>
                <a:latin typeface="Calibri"/>
              </a:rPr>
              <a:t>Physical page in RAM</a:t>
            </a:r>
          </a:p>
        </p:txBody>
      </p:sp>
      <p:sp>
        <p:nvSpPr>
          <p:cNvPr id="20" name="Text: Source, destination, and completion records"/>
          <p:cNvSpPr txBox="1"/>
          <p:nvPr/>
        </p:nvSpPr>
        <p:spPr>
          <a:xfrm>
            <a:off x="5074920" y="5056632"/>
            <a:ext cx="6519672" cy="822960"/>
          </a:xfrm>
          <a:prstGeom prst="rect">
            <a:avLst/>
          </a:prstGeom>
          <a:noFill/>
        </p:spPr>
        <p:txBody>
          <a:bodyPr wrap="square" lIns="0" rIns="0" tIns="0" bIns="0">
            <a:noAutofit/>
          </a:bodyPr>
          <a:lstStyle/>
          <a:p>
            <a:pPr>
              <a:lnSpc>
                <a:spcPts val="2477"/>
              </a:lnSpc>
              <a:spcBef>
                <a:spcPts val="0"/>
              </a:spcBef>
              <a:spcAft>
                <a:spcPts val="0"/>
              </a:spcAft>
            </a:pPr>
            <a:r>
              <a:rPr sz="2100" b="0">
                <a:solidFill>
                  <a:srgbClr val="4B5B6D"/>
                </a:solidFill>
                <a:latin typeface="Calibri"/>
              </a:rPr>
              <a:t>Source, destination, and completion records</a:t>
            </a:r>
          </a:p>
          <a:p>
            <a:pPr>
              <a:lnSpc>
                <a:spcPts val="2477"/>
              </a:lnSpc>
              <a:spcBef>
                <a:spcPts val="0"/>
              </a:spcBef>
              <a:spcAft>
                <a:spcPts val="0"/>
              </a:spcAft>
            </a:pPr>
            <a:r>
              <a:rPr sz="2100" b="0">
                <a:solidFill>
                  <a:srgbClr val="4B5B6D"/>
                </a:solidFill>
                <a:latin typeface="Calibri"/>
              </a:rPr>
              <a:t>occupy ordinary memory buffers.</a:t>
            </a:r>
          </a:p>
        </p:txBody>
      </p:sp>
      <p:cxnSp>
        <p:nvCxnSpPr>
          <p:cNvPr id="21" name="Connector 20"/>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22"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Permissions can stay intact while shared cache state leaks activity.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Five translation slots per engine</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7</a:t>
            </a:r>
          </a:p>
        </p:txBody>
      </p:sp>
      <p:pic>
        <p:nvPicPr>
          <p:cNvPr id="4" name="Original paper Figure 2" descr="paper_fig2.png"/>
          <p:cNvPicPr>
            <a:picLocks noChangeAspect="1"/>
          </p:cNvPicPr>
          <p:nvPr/>
        </p:nvPicPr>
        <p:blipFill>
          <a:blip r:embed="rId2"/>
          <a:stretch>
            <a:fillRect/>
          </a:stretch>
        </p:blipFill>
        <p:spPr>
          <a:xfrm>
            <a:off x="597044" y="1764792"/>
            <a:ext cx="6998935" cy="3703320"/>
          </a:xfrm>
          <a:prstGeom prst="rect">
            <a:avLst/>
          </a:prstGeom>
        </p:spPr>
      </p:pic>
      <p:sp>
        <p:nvSpPr>
          <p:cNvPr id="5" name="Text: Observed on the tested platforms"/>
          <p:cNvSpPr txBox="1"/>
          <p:nvPr/>
        </p:nvSpPr>
        <p:spPr>
          <a:xfrm>
            <a:off x="8019288" y="1728216"/>
            <a:ext cx="3575304"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Observed on the tested platforms</a:t>
            </a:r>
          </a:p>
        </p:txBody>
      </p:sp>
      <p:sp>
        <p:nvSpPr>
          <p:cNvPr id="6" name="Text: Five slots per engine:"/>
          <p:cNvSpPr txBox="1"/>
          <p:nvPr/>
        </p:nvSpPr>
        <p:spPr>
          <a:xfrm>
            <a:off x="8019288" y="2185415"/>
            <a:ext cx="3575304" cy="841247"/>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Five slots per engine:</a:t>
            </a:r>
          </a:p>
          <a:p>
            <a:pPr>
              <a:lnSpc>
                <a:spcPts val="2415"/>
              </a:lnSpc>
              <a:spcBef>
                <a:spcPts val="0"/>
              </a:spcBef>
              <a:spcAft>
                <a:spcPts val="0"/>
              </a:spcAft>
            </a:pPr>
            <a:r>
              <a:rPr sz="2100" b="0">
                <a:solidFill>
                  <a:srgbClr val="14263D"/>
                </a:solidFill>
                <a:latin typeface="Calibri"/>
              </a:rPr>
              <a:t>src, src2, dst, dst2, comp</a:t>
            </a:r>
          </a:p>
        </p:txBody>
      </p:sp>
      <p:sp>
        <p:nvSpPr>
          <p:cNvPr id="7" name="Text: One entry in each slot"/>
          <p:cNvSpPr txBox="1"/>
          <p:nvPr/>
        </p:nvSpPr>
        <p:spPr>
          <a:xfrm>
            <a:off x="8019288" y="3328416"/>
            <a:ext cx="3575304"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One entry in each slot</a:t>
            </a:r>
          </a:p>
        </p:txBody>
      </p:sp>
      <p:sp>
        <p:nvSpPr>
          <p:cNvPr id="8" name="Text: A new page in the same role"/>
          <p:cNvSpPr txBox="1"/>
          <p:nvPr/>
        </p:nvSpPr>
        <p:spPr>
          <a:xfrm>
            <a:off x="8019288" y="3785616"/>
            <a:ext cx="3575304" cy="859536"/>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A new page in the same role</a:t>
            </a:r>
          </a:p>
          <a:p>
            <a:pPr>
              <a:lnSpc>
                <a:spcPts val="2415"/>
              </a:lnSpc>
              <a:spcBef>
                <a:spcPts val="0"/>
              </a:spcBef>
              <a:spcAft>
                <a:spcPts val="0"/>
              </a:spcAft>
            </a:pPr>
            <a:r>
              <a:rPr sz="2100" b="0">
                <a:solidFill>
                  <a:srgbClr val="14263D"/>
                </a:solidFill>
                <a:latin typeface="Calibri"/>
              </a:rPr>
              <a:t>can replace the old mapping.</a:t>
            </a:r>
          </a:p>
        </p:txBody>
      </p:sp>
      <p:sp>
        <p:nvSpPr>
          <p:cNvPr id="9" name="Text: Shared replacement capacity"/>
          <p:cNvSpPr txBox="1"/>
          <p:nvPr/>
        </p:nvSpPr>
        <p:spPr>
          <a:xfrm>
            <a:off x="8019288" y="4892040"/>
            <a:ext cx="3575304" cy="758952"/>
          </a:xfrm>
          <a:prstGeom prst="rect">
            <a:avLst/>
          </a:prstGeom>
          <a:noFill/>
        </p:spPr>
        <p:txBody>
          <a:bodyPr wrap="square" lIns="0" rIns="0" tIns="0" bIns="0">
            <a:noAutofit/>
          </a:bodyPr>
          <a:lstStyle/>
          <a:p>
            <a:pPr>
              <a:lnSpc>
                <a:spcPts val="2477"/>
              </a:lnSpc>
              <a:spcBef>
                <a:spcPts val="0"/>
              </a:spcBef>
              <a:spcAft>
                <a:spcPts val="0"/>
              </a:spcAft>
            </a:pPr>
            <a:r>
              <a:rPr sz="2100" b="0">
                <a:solidFill>
                  <a:srgbClr val="4B5B6D"/>
                </a:solidFill>
                <a:latin typeface="Calibri"/>
              </a:rPr>
              <a:t>Shared replacement capacity</a:t>
            </a:r>
          </a:p>
          <a:p>
            <a:pPr>
              <a:lnSpc>
                <a:spcPts val="2477"/>
              </a:lnSpc>
              <a:spcBef>
                <a:spcPts val="0"/>
              </a:spcBef>
              <a:spcAft>
                <a:spcPts val="0"/>
              </a:spcAft>
            </a:pPr>
            <a:r>
              <a:rPr sz="2100" b="0">
                <a:solidFill>
                  <a:srgbClr val="4B5B6D"/>
                </a:solidFill>
                <a:latin typeface="Calibri"/>
              </a:rPr>
              <a:t>creates the timing signal.</a:t>
            </a:r>
          </a:p>
        </p:txBody>
      </p:sp>
      <p:cxnSp>
        <p:nvCxnSpPr>
          <p:cNvPr id="10" name="Connector 9"/>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1"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Address-space authorization does not imply separate cache capacity.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Descriptor fields select the slot</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8</a:t>
            </a:r>
          </a:p>
        </p:txBody>
      </p:sp>
      <p:pic>
        <p:nvPicPr>
          <p:cNvPr id="4" name="Original paper Figure 3" descr="paper_fig3.png"/>
          <p:cNvPicPr>
            <a:picLocks noChangeAspect="1"/>
          </p:cNvPicPr>
          <p:nvPr/>
        </p:nvPicPr>
        <p:blipFill>
          <a:blip r:embed="rId2"/>
          <a:stretch>
            <a:fillRect/>
          </a:stretch>
        </p:blipFill>
        <p:spPr>
          <a:xfrm>
            <a:off x="594360" y="2078073"/>
            <a:ext cx="6419088" cy="2930453"/>
          </a:xfrm>
          <a:prstGeom prst="rect">
            <a:avLst/>
          </a:prstGeom>
        </p:spPr>
      </p:pic>
      <p:sp>
        <p:nvSpPr>
          <p:cNvPr id="5" name="Text: Operation"/>
          <p:cNvSpPr txBox="1"/>
          <p:nvPr/>
        </p:nvSpPr>
        <p:spPr>
          <a:xfrm>
            <a:off x="7479792" y="1874519"/>
            <a:ext cx="1403238"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Operation</a:t>
            </a:r>
          </a:p>
        </p:txBody>
      </p:sp>
      <p:sp>
        <p:nvSpPr>
          <p:cNvPr id="6" name="Text: Fields used"/>
          <p:cNvSpPr txBox="1"/>
          <p:nvPr/>
        </p:nvSpPr>
        <p:spPr>
          <a:xfrm>
            <a:off x="9029334" y="1874519"/>
            <a:ext cx="2492105"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Fields used</a:t>
            </a:r>
          </a:p>
        </p:txBody>
      </p:sp>
      <p:cxnSp>
        <p:nvCxnSpPr>
          <p:cNvPr id="7" name="Connector 6"/>
          <p:cNvCxnSpPr/>
          <p:nvPr/>
        </p:nvCxnSpPr>
        <p:spPr>
          <a:xfrm>
            <a:off x="7406640" y="2295144"/>
            <a:ext cx="4187952" cy="0"/>
          </a:xfrm>
          <a:prstGeom prst="line">
            <a:avLst/>
          </a:prstGeom>
          <a:ln w="13970">
            <a:solidFill>
              <a:srgbClr val="14263D"/>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406640" y="2295144"/>
            <a:ext cx="41879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OOP"/>
          <p:cNvSpPr txBox="1"/>
          <p:nvPr/>
        </p:nvSpPr>
        <p:spPr>
          <a:xfrm>
            <a:off x="7479792" y="2441448"/>
            <a:ext cx="1403238" cy="457200"/>
          </a:xfrm>
          <a:prstGeom prst="rect">
            <a:avLst/>
          </a:prstGeom>
          <a:noFill/>
        </p:spPr>
        <p:txBody>
          <a:bodyPr wrap="square" lIns="0" rIns="0" tIns="0" bIns="0">
            <a:noAutofit/>
          </a:bodyPr>
          <a:lstStyle/>
          <a:p>
            <a:pPr>
              <a:lnSpc>
                <a:spcPts val="1926"/>
              </a:lnSpc>
              <a:spcBef>
                <a:spcPts val="0"/>
              </a:spcBef>
              <a:spcAft>
                <a:spcPts val="0"/>
              </a:spcAft>
            </a:pPr>
            <a:r>
              <a:rPr sz="1800" b="1">
                <a:solidFill>
                  <a:srgbClr val="14263D"/>
                </a:solidFill>
                <a:latin typeface="Calibri"/>
              </a:rPr>
              <a:t>NOOP</a:t>
            </a:r>
          </a:p>
        </p:txBody>
      </p:sp>
      <p:sp>
        <p:nvSpPr>
          <p:cNvPr id="10" name="Text: comp"/>
          <p:cNvSpPr txBox="1"/>
          <p:nvPr/>
        </p:nvSpPr>
        <p:spPr>
          <a:xfrm>
            <a:off x="9029334" y="2441448"/>
            <a:ext cx="2492105" cy="457200"/>
          </a:xfrm>
          <a:prstGeom prst="rect">
            <a:avLst/>
          </a:prstGeom>
          <a:noFill/>
        </p:spPr>
        <p:txBody>
          <a:bodyPr wrap="square" lIns="0" rIns="0" tIns="0" bIns="0">
            <a:noAutofit/>
          </a:bodyPr>
          <a:lstStyle/>
          <a:p>
            <a:pPr>
              <a:lnSpc>
                <a:spcPts val="1926"/>
              </a:lnSpc>
              <a:spcBef>
                <a:spcPts val="0"/>
              </a:spcBef>
              <a:spcAft>
                <a:spcPts val="0"/>
              </a:spcAft>
            </a:pPr>
            <a:r>
              <a:rPr sz="1800" b="0">
                <a:solidFill>
                  <a:srgbClr val="14263D"/>
                </a:solidFill>
                <a:latin typeface="Calibri"/>
              </a:rPr>
              <a:t>comp</a:t>
            </a:r>
          </a:p>
        </p:txBody>
      </p:sp>
      <p:cxnSp>
        <p:nvCxnSpPr>
          <p:cNvPr id="11" name="Connector 10"/>
          <p:cNvCxnSpPr/>
          <p:nvPr/>
        </p:nvCxnSpPr>
        <p:spPr>
          <a:xfrm>
            <a:off x="7406640" y="2916936"/>
            <a:ext cx="4187952"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2" name="Text: Compare"/>
          <p:cNvSpPr txBox="1"/>
          <p:nvPr/>
        </p:nvSpPr>
        <p:spPr>
          <a:xfrm>
            <a:off x="7479792" y="3063240"/>
            <a:ext cx="1403238" cy="457200"/>
          </a:xfrm>
          <a:prstGeom prst="rect">
            <a:avLst/>
          </a:prstGeom>
          <a:noFill/>
        </p:spPr>
        <p:txBody>
          <a:bodyPr wrap="square" lIns="0" rIns="0" tIns="0" bIns="0">
            <a:noAutofit/>
          </a:bodyPr>
          <a:lstStyle/>
          <a:p>
            <a:pPr>
              <a:lnSpc>
                <a:spcPts val="1926"/>
              </a:lnSpc>
              <a:spcBef>
                <a:spcPts val="0"/>
              </a:spcBef>
              <a:spcAft>
                <a:spcPts val="0"/>
              </a:spcAft>
            </a:pPr>
            <a:r>
              <a:rPr sz="1800" b="1">
                <a:solidFill>
                  <a:srgbClr val="14263D"/>
                </a:solidFill>
                <a:latin typeface="Calibri"/>
              </a:rPr>
              <a:t>Compare</a:t>
            </a:r>
          </a:p>
        </p:txBody>
      </p:sp>
      <p:sp>
        <p:nvSpPr>
          <p:cNvPr id="13" name="Text: src, src2, comp"/>
          <p:cNvSpPr txBox="1"/>
          <p:nvPr/>
        </p:nvSpPr>
        <p:spPr>
          <a:xfrm>
            <a:off x="9029334" y="3063240"/>
            <a:ext cx="2492105" cy="457200"/>
          </a:xfrm>
          <a:prstGeom prst="rect">
            <a:avLst/>
          </a:prstGeom>
          <a:noFill/>
        </p:spPr>
        <p:txBody>
          <a:bodyPr wrap="square" lIns="0" rIns="0" tIns="0" bIns="0">
            <a:noAutofit/>
          </a:bodyPr>
          <a:lstStyle/>
          <a:p>
            <a:pPr>
              <a:lnSpc>
                <a:spcPts val="1926"/>
              </a:lnSpc>
              <a:spcBef>
                <a:spcPts val="0"/>
              </a:spcBef>
              <a:spcAft>
                <a:spcPts val="0"/>
              </a:spcAft>
            </a:pPr>
            <a:r>
              <a:rPr sz="1800" b="0">
                <a:solidFill>
                  <a:srgbClr val="14263D"/>
                </a:solidFill>
                <a:latin typeface="Calibri"/>
              </a:rPr>
              <a:t>src, src2, comp</a:t>
            </a:r>
          </a:p>
        </p:txBody>
      </p:sp>
      <p:cxnSp>
        <p:nvCxnSpPr>
          <p:cNvPr id="14" name="Connector 13"/>
          <p:cNvCxnSpPr/>
          <p:nvPr/>
        </p:nvCxnSpPr>
        <p:spPr>
          <a:xfrm>
            <a:off x="7406640" y="3538728"/>
            <a:ext cx="4187952"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06640" y="3538728"/>
            <a:ext cx="4187952" cy="62179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Copy"/>
          <p:cNvSpPr txBox="1"/>
          <p:nvPr/>
        </p:nvSpPr>
        <p:spPr>
          <a:xfrm>
            <a:off x="7479792" y="3685032"/>
            <a:ext cx="1403238" cy="457200"/>
          </a:xfrm>
          <a:prstGeom prst="rect">
            <a:avLst/>
          </a:prstGeom>
          <a:noFill/>
        </p:spPr>
        <p:txBody>
          <a:bodyPr wrap="square" lIns="0" rIns="0" tIns="0" bIns="0">
            <a:noAutofit/>
          </a:bodyPr>
          <a:lstStyle/>
          <a:p>
            <a:pPr>
              <a:lnSpc>
                <a:spcPts val="1926"/>
              </a:lnSpc>
              <a:spcBef>
                <a:spcPts val="0"/>
              </a:spcBef>
              <a:spcAft>
                <a:spcPts val="0"/>
              </a:spcAft>
            </a:pPr>
            <a:r>
              <a:rPr sz="1800" b="1">
                <a:solidFill>
                  <a:srgbClr val="14263D"/>
                </a:solidFill>
                <a:latin typeface="Calibri"/>
              </a:rPr>
              <a:t>Copy</a:t>
            </a:r>
          </a:p>
        </p:txBody>
      </p:sp>
      <p:sp>
        <p:nvSpPr>
          <p:cNvPr id="17" name="Text: src, dst, comp"/>
          <p:cNvSpPr txBox="1"/>
          <p:nvPr/>
        </p:nvSpPr>
        <p:spPr>
          <a:xfrm>
            <a:off x="9029334" y="3685032"/>
            <a:ext cx="2492105" cy="457200"/>
          </a:xfrm>
          <a:prstGeom prst="rect">
            <a:avLst/>
          </a:prstGeom>
          <a:noFill/>
        </p:spPr>
        <p:txBody>
          <a:bodyPr wrap="square" lIns="0" rIns="0" tIns="0" bIns="0">
            <a:noAutofit/>
          </a:bodyPr>
          <a:lstStyle/>
          <a:p>
            <a:pPr>
              <a:lnSpc>
                <a:spcPts val="1926"/>
              </a:lnSpc>
              <a:spcBef>
                <a:spcPts val="0"/>
              </a:spcBef>
              <a:spcAft>
                <a:spcPts val="0"/>
              </a:spcAft>
            </a:pPr>
            <a:r>
              <a:rPr sz="1800" b="0">
                <a:solidFill>
                  <a:srgbClr val="14263D"/>
                </a:solidFill>
                <a:latin typeface="Calibri"/>
              </a:rPr>
              <a:t>src, dst, comp</a:t>
            </a:r>
          </a:p>
        </p:txBody>
      </p:sp>
      <p:cxnSp>
        <p:nvCxnSpPr>
          <p:cNvPr id="18" name="Connector 17"/>
          <p:cNvCxnSpPr/>
          <p:nvPr/>
        </p:nvCxnSpPr>
        <p:spPr>
          <a:xfrm>
            <a:off x="7406640" y="4160520"/>
            <a:ext cx="4187952"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9" name="Text: Dualcast"/>
          <p:cNvSpPr txBox="1"/>
          <p:nvPr/>
        </p:nvSpPr>
        <p:spPr>
          <a:xfrm>
            <a:off x="7479792" y="4306824"/>
            <a:ext cx="1403238" cy="457200"/>
          </a:xfrm>
          <a:prstGeom prst="rect">
            <a:avLst/>
          </a:prstGeom>
          <a:noFill/>
        </p:spPr>
        <p:txBody>
          <a:bodyPr wrap="square" lIns="0" rIns="0" tIns="0" bIns="0">
            <a:noAutofit/>
          </a:bodyPr>
          <a:lstStyle/>
          <a:p>
            <a:pPr>
              <a:lnSpc>
                <a:spcPts val="1926"/>
              </a:lnSpc>
              <a:spcBef>
                <a:spcPts val="0"/>
              </a:spcBef>
              <a:spcAft>
                <a:spcPts val="0"/>
              </a:spcAft>
            </a:pPr>
            <a:r>
              <a:rPr sz="1800" b="1">
                <a:solidFill>
                  <a:srgbClr val="14263D"/>
                </a:solidFill>
                <a:latin typeface="Calibri"/>
              </a:rPr>
              <a:t>Dualcast</a:t>
            </a:r>
          </a:p>
        </p:txBody>
      </p:sp>
      <p:sp>
        <p:nvSpPr>
          <p:cNvPr id="20" name="Text: src, dst, dst2, comp"/>
          <p:cNvSpPr txBox="1"/>
          <p:nvPr/>
        </p:nvSpPr>
        <p:spPr>
          <a:xfrm>
            <a:off x="9029334" y="4306824"/>
            <a:ext cx="2492105" cy="457200"/>
          </a:xfrm>
          <a:prstGeom prst="rect">
            <a:avLst/>
          </a:prstGeom>
          <a:noFill/>
        </p:spPr>
        <p:txBody>
          <a:bodyPr wrap="square" lIns="0" rIns="0" tIns="0" bIns="0">
            <a:noAutofit/>
          </a:bodyPr>
          <a:lstStyle/>
          <a:p>
            <a:pPr>
              <a:lnSpc>
                <a:spcPts val="1926"/>
              </a:lnSpc>
              <a:spcBef>
                <a:spcPts val="0"/>
              </a:spcBef>
              <a:spcAft>
                <a:spcPts val="0"/>
              </a:spcAft>
            </a:pPr>
            <a:r>
              <a:rPr sz="1800" b="0">
                <a:solidFill>
                  <a:srgbClr val="14263D"/>
                </a:solidFill>
                <a:latin typeface="Calibri"/>
              </a:rPr>
              <a:t>src, dst, dst2, comp</a:t>
            </a:r>
          </a:p>
        </p:txBody>
      </p:sp>
      <p:cxnSp>
        <p:nvCxnSpPr>
          <p:cNvPr id="21" name="Connector 20"/>
          <p:cNvCxnSpPr/>
          <p:nvPr/>
        </p:nvCxnSpPr>
        <p:spPr>
          <a:xfrm>
            <a:off x="7406640" y="4782312"/>
            <a:ext cx="4187952"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22" name="Text: Completion-record writing is enabled in these examples."/>
          <p:cNvSpPr txBox="1"/>
          <p:nvPr/>
        </p:nvSpPr>
        <p:spPr>
          <a:xfrm>
            <a:off x="594360" y="5449824"/>
            <a:ext cx="11003279" cy="347472"/>
          </a:xfrm>
          <a:prstGeom prst="rect">
            <a:avLst/>
          </a:prstGeom>
          <a:noFill/>
        </p:spPr>
        <p:txBody>
          <a:bodyPr wrap="square" lIns="0" rIns="0" tIns="0" bIns="0">
            <a:noAutofit/>
          </a:bodyPr>
          <a:lstStyle/>
          <a:p>
            <a:pPr>
              <a:lnSpc>
                <a:spcPts val="2242"/>
              </a:lnSpc>
              <a:spcBef>
                <a:spcPts val="0"/>
              </a:spcBef>
              <a:spcAft>
                <a:spcPts val="0"/>
              </a:spcAft>
            </a:pPr>
            <a:r>
              <a:rPr sz="1900" b="0">
                <a:solidFill>
                  <a:srgbClr val="4B5B6D"/>
                </a:solidFill>
                <a:latin typeface="Calibri"/>
              </a:rPr>
              <a:t>Completion-record writing is enabled in these examples.</a:t>
            </a:r>
          </a:p>
        </p:txBody>
      </p:sp>
      <p:cxnSp>
        <p:nvCxnSpPr>
          <p:cNvPr id="23" name="Connector 22"/>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24"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At offset 24, the same bytes mean src2 for compare and dst for copy.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The sharing assumptions for each channel</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9</a:t>
            </a:r>
          </a:p>
        </p:txBody>
      </p:sp>
      <p:pic>
        <p:nvPicPr>
          <p:cNvPr id="4" name="Original paper Figure 7" descr="paper_fig7.png"/>
          <p:cNvPicPr>
            <a:picLocks noChangeAspect="1"/>
          </p:cNvPicPr>
          <p:nvPr/>
        </p:nvPicPr>
        <p:blipFill>
          <a:blip r:embed="rId2"/>
          <a:stretch>
            <a:fillRect/>
          </a:stretch>
        </p:blipFill>
        <p:spPr>
          <a:xfrm>
            <a:off x="594360" y="2057132"/>
            <a:ext cx="6684264" cy="2999767"/>
          </a:xfrm>
          <a:prstGeom prst="rect">
            <a:avLst/>
          </a:prstGeom>
        </p:spPr>
      </p:pic>
      <p:sp>
        <p:nvSpPr>
          <p:cNvPr id="5" name="Text: DevTLB timing"/>
          <p:cNvSpPr txBox="1"/>
          <p:nvPr/>
        </p:nvSpPr>
        <p:spPr>
          <a:xfrm>
            <a:off x="7708392" y="1783080"/>
            <a:ext cx="3886200"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DevTLB timing</a:t>
            </a:r>
          </a:p>
        </p:txBody>
      </p:sp>
      <p:sp>
        <p:nvSpPr>
          <p:cNvPr id="6" name="Text: Same engine."/>
          <p:cNvSpPr txBox="1"/>
          <p:nvPr/>
        </p:nvSpPr>
        <p:spPr>
          <a:xfrm>
            <a:off x="7708392" y="2240280"/>
            <a:ext cx="3886200" cy="896112"/>
          </a:xfrm>
          <a:prstGeom prst="rect">
            <a:avLst/>
          </a:prstGeom>
          <a:noFill/>
        </p:spPr>
        <p:txBody>
          <a:bodyPr wrap="square" lIns="0" rIns="0" tIns="0" bIns="0">
            <a:noAutofit/>
          </a:bodyPr>
          <a:lstStyle/>
          <a:p>
            <a:pPr>
              <a:lnSpc>
                <a:spcPts val="2529"/>
              </a:lnSpc>
              <a:spcBef>
                <a:spcPts val="0"/>
              </a:spcBef>
              <a:spcAft>
                <a:spcPts val="0"/>
              </a:spcAft>
            </a:pPr>
            <a:r>
              <a:rPr sz="2200" b="0">
                <a:solidFill>
                  <a:srgbClr val="14263D"/>
                </a:solidFill>
                <a:latin typeface="Calibri"/>
              </a:rPr>
              <a:t>Same engine.</a:t>
            </a:r>
          </a:p>
          <a:p>
            <a:pPr>
              <a:lnSpc>
                <a:spcPts val="2529"/>
              </a:lnSpc>
              <a:spcBef>
                <a:spcPts val="0"/>
              </a:spcBef>
              <a:spcAft>
                <a:spcPts val="0"/>
              </a:spcAft>
            </a:pPr>
            <a:r>
              <a:rPr sz="2200" b="0">
                <a:solidFill>
                  <a:srgbClr val="14263D"/>
                </a:solidFill>
                <a:latin typeface="Calibri"/>
              </a:rPr>
              <a:t>Work queues may differ.</a:t>
            </a:r>
          </a:p>
        </p:txBody>
      </p:sp>
      <p:sp>
        <p:nvSpPr>
          <p:cNvPr id="7" name="Text: SWQ contention"/>
          <p:cNvSpPr txBox="1"/>
          <p:nvPr/>
        </p:nvSpPr>
        <p:spPr>
          <a:xfrm>
            <a:off x="7708392" y="3401568"/>
            <a:ext cx="3886200"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087F83"/>
                </a:solidFill>
                <a:latin typeface="Calibri"/>
              </a:rPr>
              <a:t>SWQ contention</a:t>
            </a:r>
          </a:p>
        </p:txBody>
      </p:sp>
      <p:sp>
        <p:nvSpPr>
          <p:cNvPr id="8" name="Text: Same shared work queue."/>
          <p:cNvSpPr txBox="1"/>
          <p:nvPr/>
        </p:nvSpPr>
        <p:spPr>
          <a:xfrm>
            <a:off x="7708392" y="3858768"/>
            <a:ext cx="3886200" cy="612647"/>
          </a:xfrm>
          <a:prstGeom prst="rect">
            <a:avLst/>
          </a:prstGeom>
          <a:noFill/>
        </p:spPr>
        <p:txBody>
          <a:bodyPr wrap="square" lIns="0" rIns="0" tIns="0" bIns="0">
            <a:noAutofit/>
          </a:bodyPr>
          <a:lstStyle/>
          <a:p>
            <a:pPr>
              <a:lnSpc>
                <a:spcPts val="2529"/>
              </a:lnSpc>
              <a:spcBef>
                <a:spcPts val="0"/>
              </a:spcBef>
              <a:spcAft>
                <a:spcPts val="0"/>
              </a:spcAft>
            </a:pPr>
            <a:r>
              <a:rPr sz="2200" b="0">
                <a:solidFill>
                  <a:srgbClr val="14263D"/>
                </a:solidFill>
                <a:latin typeface="Calibri"/>
              </a:rPr>
              <a:t>Same shared work queue.</a:t>
            </a:r>
          </a:p>
        </p:txBody>
      </p:sp>
      <p:sp>
        <p:nvSpPr>
          <p:cNvPr id="9" name="Text: Provisioned device access"/>
          <p:cNvSpPr txBox="1"/>
          <p:nvPr/>
        </p:nvSpPr>
        <p:spPr>
          <a:xfrm>
            <a:off x="7708392" y="4709160"/>
            <a:ext cx="3886200" cy="731520"/>
          </a:xfrm>
          <a:prstGeom prst="rect">
            <a:avLst/>
          </a:prstGeom>
          <a:noFill/>
        </p:spPr>
        <p:txBody>
          <a:bodyPr wrap="square" lIns="0" rIns="0" tIns="0" bIns="0">
            <a:noAutofit/>
          </a:bodyPr>
          <a:lstStyle/>
          <a:p>
            <a:pPr>
              <a:lnSpc>
                <a:spcPts val="2477"/>
              </a:lnSpc>
              <a:spcBef>
                <a:spcPts val="0"/>
              </a:spcBef>
              <a:spcAft>
                <a:spcPts val="0"/>
              </a:spcAft>
            </a:pPr>
            <a:r>
              <a:rPr sz="2100" b="0">
                <a:solidFill>
                  <a:srgbClr val="4B5B6D"/>
                </a:solidFill>
                <a:latin typeface="Calibri"/>
              </a:rPr>
              <a:t>Provisioned device access</a:t>
            </a:r>
          </a:p>
          <a:p>
            <a:pPr>
              <a:lnSpc>
                <a:spcPts val="2477"/>
              </a:lnSpc>
              <a:spcBef>
                <a:spcPts val="0"/>
              </a:spcBef>
              <a:spcAft>
                <a:spcPts val="0"/>
              </a:spcAft>
            </a:pPr>
            <a:r>
              <a:rPr sz="2100" b="0">
                <a:solidFill>
                  <a:srgbClr val="4B5B6D"/>
                </a:solidFill>
                <a:latin typeface="Calibri"/>
              </a:rPr>
              <a:t>and co-location are assumed.</a:t>
            </a:r>
          </a:p>
        </p:txBody>
      </p:sp>
      <p:sp>
        <p:nvSpPr>
          <p:cNvPr id="10" name="Text: The paper also requires the CAP_SYS_RAWIO submission capability."/>
          <p:cNvSpPr txBox="1"/>
          <p:nvPr/>
        </p:nvSpPr>
        <p:spPr>
          <a:xfrm>
            <a:off x="594360" y="5559552"/>
            <a:ext cx="11003279" cy="310896"/>
          </a:xfrm>
          <a:prstGeom prst="rect">
            <a:avLst/>
          </a:prstGeom>
          <a:noFill/>
        </p:spPr>
        <p:txBody>
          <a:bodyPr wrap="square" lIns="0" rIns="0" tIns="0" bIns="0">
            <a:noAutofit/>
          </a:bodyPr>
          <a:lstStyle/>
          <a:p>
            <a:pPr>
              <a:lnSpc>
                <a:spcPts val="2124"/>
              </a:lnSpc>
              <a:spcBef>
                <a:spcPts val="0"/>
              </a:spcBef>
              <a:spcAft>
                <a:spcPts val="0"/>
              </a:spcAft>
            </a:pPr>
            <a:r>
              <a:rPr sz="1800" b="0">
                <a:solidFill>
                  <a:srgbClr val="4B5B6D"/>
                </a:solidFill>
                <a:latin typeface="Calibri"/>
              </a:rPr>
              <a:t>The paper also requires the CAP_SYS_RAWIO submission capability.</a:t>
            </a:r>
          </a:p>
        </p:txBody>
      </p:sp>
      <p:cxnSp>
        <p:nvCxnSpPr>
          <p:cNvPr id="11" name="Connector 10"/>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2"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Separating queues still leaves the DevTLB channel on a shared engine.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One conflicting page can replace a slot</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10</a:t>
            </a:r>
          </a:p>
        </p:txBody>
      </p:sp>
      <p:sp>
        <p:nvSpPr>
          <p:cNvPr id="4" name="Rounded Rectangle 3"/>
          <p:cNvSpPr/>
          <p:nvPr/>
        </p:nvSpPr>
        <p:spPr>
          <a:xfrm>
            <a:off x="594360" y="1664208"/>
            <a:ext cx="11003279" cy="1773936"/>
          </a:xfrm>
          <a:prstGeom prst="roundRect">
            <a:avLst>
              <a:gd name="adj" fmla="val 618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APER LISTING 2"/>
          <p:cNvSpPr txBox="1"/>
          <p:nvPr/>
        </p:nvSpPr>
        <p:spPr>
          <a:xfrm>
            <a:off x="795528" y="1810512"/>
            <a:ext cx="10600943"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1265B0"/>
                </a:solidFill>
                <a:latin typeface="Calibri"/>
              </a:rPr>
              <a:t>PAPER LISTING 2</a:t>
            </a:r>
          </a:p>
        </p:txBody>
      </p:sp>
      <p:sp>
        <p:nvSpPr>
          <p:cNvPr id="6" name="Editable paper Listing 2"/>
          <p:cNvSpPr txBox="1"/>
          <p:nvPr/>
        </p:nvSpPr>
        <p:spPr>
          <a:xfrm>
            <a:off x="795528" y="2148840"/>
            <a:ext cx="10600943" cy="1216152"/>
          </a:xfrm>
          <a:prstGeom prst="rect">
            <a:avLst/>
          </a:prstGeom>
          <a:noFill/>
        </p:spPr>
        <p:txBody>
          <a:bodyPr wrap="none" lIns="0" rIns="0" tIns="0" bIns="0">
            <a:noAutofit/>
          </a:bodyPr>
          <a:lstStyle/>
          <a:p>
            <a:pPr>
              <a:lnSpc>
                <a:spcPts val="2520"/>
              </a:lnSpc>
              <a:spcBef>
                <a:spcPts val="0"/>
              </a:spcBef>
              <a:spcAft>
                <a:spcPts val="0"/>
              </a:spcAft>
            </a:pPr>
            <a:r>
              <a:rPr sz="2100">
                <a:solidFill>
                  <a:srgbClr val="14263D"/>
                </a:solidFill>
                <a:latin typeface="Consolas"/>
              </a:rPr>
              <a:t>probe_noop(base); </a:t>
            </a:r>
            <a:r>
              <a:rPr sz="2100">
                <a:solidFill>
                  <a:srgbClr val="4B5B6D"/>
                </a:solidFill>
                <a:latin typeface="Consolas"/>
              </a:rPr>
              <a:t>// base is 4KB aligned</a:t>
            </a:r>
          </a:p>
          <a:p>
            <a:pPr>
              <a:lnSpc>
                <a:spcPts val="2520"/>
              </a:lnSpc>
              <a:spcBef>
                <a:spcPts val="0"/>
              </a:spcBef>
              <a:spcAft>
                <a:spcPts val="0"/>
              </a:spcAft>
            </a:pPr>
            <a:r>
              <a:rPr sz="2100">
                <a:solidFill>
                  <a:srgbClr val="14263D"/>
                </a:solidFill>
                <a:latin typeface="Consolas"/>
              </a:rPr>
              <a:t>probe_noop(base + OFFSET); </a:t>
            </a:r>
            <a:r>
              <a:rPr sz="2100">
                <a:solidFill>
                  <a:srgbClr val="4B5B6D"/>
                </a:solidFill>
                <a:latin typeface="Consolas"/>
              </a:rPr>
              <a:t>// try evicting</a:t>
            </a:r>
          </a:p>
          <a:p>
            <a:pPr>
              <a:lnSpc>
                <a:spcPts val="2520"/>
              </a:lnSpc>
              <a:spcBef>
                <a:spcPts val="0"/>
              </a:spcBef>
              <a:spcAft>
                <a:spcPts val="0"/>
              </a:spcAft>
            </a:pPr>
            <a:r>
              <a:rPr sz="2100">
                <a:solidFill>
                  <a:srgbClr val="14263D"/>
                </a:solidFill>
                <a:latin typeface="Consolas"/>
              </a:rPr>
              <a:t>probe_noop(base); </a:t>
            </a:r>
            <a:r>
              <a:rPr sz="2100">
                <a:solidFill>
                  <a:srgbClr val="4B5B6D"/>
                </a:solidFill>
                <a:latin typeface="Consolas"/>
              </a:rPr>
              <a:t>// probe if base is present</a:t>
            </a:r>
          </a:p>
        </p:txBody>
      </p:sp>
      <p:sp>
        <p:nvSpPr>
          <p:cNvPr id="7" name="Text: Second access"/>
          <p:cNvSpPr txBox="1"/>
          <p:nvPr/>
        </p:nvSpPr>
        <p:spPr>
          <a:xfrm>
            <a:off x="667512" y="3776472"/>
            <a:ext cx="3154679"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Second access</a:t>
            </a:r>
          </a:p>
        </p:txBody>
      </p:sp>
      <p:sp>
        <p:nvSpPr>
          <p:cNvPr id="8" name="Text: Final probe of base"/>
          <p:cNvSpPr txBox="1"/>
          <p:nvPr/>
        </p:nvSpPr>
        <p:spPr>
          <a:xfrm>
            <a:off x="3968495" y="3776472"/>
            <a:ext cx="2384450"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Final probe of base</a:t>
            </a:r>
          </a:p>
        </p:txBody>
      </p:sp>
      <p:sp>
        <p:nvSpPr>
          <p:cNvPr id="9" name="Text: Observation"/>
          <p:cNvSpPr txBox="1"/>
          <p:nvPr/>
        </p:nvSpPr>
        <p:spPr>
          <a:xfrm>
            <a:off x="6499250" y="3776472"/>
            <a:ext cx="5025237"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Observation</a:t>
            </a:r>
          </a:p>
        </p:txBody>
      </p:sp>
      <p:cxnSp>
        <p:nvCxnSpPr>
          <p:cNvPr id="10" name="Connector 9"/>
          <p:cNvCxnSpPr/>
          <p:nvPr/>
        </p:nvCxnSpPr>
        <p:spPr>
          <a:xfrm>
            <a:off x="594360" y="4197096"/>
            <a:ext cx="11003279" cy="0"/>
          </a:xfrm>
          <a:prstGeom prst="line">
            <a:avLst/>
          </a:prstGeom>
          <a:ln w="13970">
            <a:solidFill>
              <a:srgbClr val="14263D"/>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94360" y="4197096"/>
            <a:ext cx="11003279" cy="65836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Same 4 KiB page"/>
          <p:cNvSpPr txBox="1"/>
          <p:nvPr/>
        </p:nvSpPr>
        <p:spPr>
          <a:xfrm>
            <a:off x="667512" y="4343400"/>
            <a:ext cx="3154679" cy="493776"/>
          </a:xfrm>
          <a:prstGeom prst="rect">
            <a:avLst/>
          </a:prstGeom>
          <a:noFill/>
        </p:spPr>
        <p:txBody>
          <a:bodyPr wrap="square" lIns="0" rIns="0" tIns="0" bIns="0">
            <a:noAutofit/>
          </a:bodyPr>
          <a:lstStyle/>
          <a:p>
            <a:pPr>
              <a:lnSpc>
                <a:spcPts val="2140"/>
              </a:lnSpc>
              <a:spcBef>
                <a:spcPts val="0"/>
              </a:spcBef>
              <a:spcAft>
                <a:spcPts val="0"/>
              </a:spcAft>
            </a:pPr>
            <a:r>
              <a:rPr sz="2000" b="1">
                <a:solidFill>
                  <a:srgbClr val="14263D"/>
                </a:solidFill>
                <a:latin typeface="Calibri"/>
              </a:rPr>
              <a:t>Same 4 KiB page</a:t>
            </a:r>
          </a:p>
        </p:txBody>
      </p:sp>
      <p:sp>
        <p:nvSpPr>
          <p:cNvPr id="13" name="Text: Hit"/>
          <p:cNvSpPr txBox="1"/>
          <p:nvPr/>
        </p:nvSpPr>
        <p:spPr>
          <a:xfrm>
            <a:off x="3968495" y="4343400"/>
            <a:ext cx="2384450" cy="493776"/>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Hit</a:t>
            </a:r>
          </a:p>
        </p:txBody>
      </p:sp>
      <p:sp>
        <p:nvSpPr>
          <p:cNvPr id="14" name="Text: The cached page is reused"/>
          <p:cNvSpPr txBox="1"/>
          <p:nvPr/>
        </p:nvSpPr>
        <p:spPr>
          <a:xfrm>
            <a:off x="6499250" y="4343400"/>
            <a:ext cx="5025237" cy="493776"/>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The cached page is reused</a:t>
            </a:r>
          </a:p>
        </p:txBody>
      </p:sp>
      <p:cxnSp>
        <p:nvCxnSpPr>
          <p:cNvPr id="15" name="Connector 14"/>
          <p:cNvCxnSpPr/>
          <p:nvPr/>
        </p:nvCxnSpPr>
        <p:spPr>
          <a:xfrm>
            <a:off x="594360" y="4855464"/>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6" name="Text: A different page"/>
          <p:cNvSpPr txBox="1"/>
          <p:nvPr/>
        </p:nvSpPr>
        <p:spPr>
          <a:xfrm>
            <a:off x="667512" y="5001768"/>
            <a:ext cx="3154679" cy="493776"/>
          </a:xfrm>
          <a:prstGeom prst="rect">
            <a:avLst/>
          </a:prstGeom>
          <a:noFill/>
        </p:spPr>
        <p:txBody>
          <a:bodyPr wrap="square" lIns="0" rIns="0" tIns="0" bIns="0">
            <a:noAutofit/>
          </a:bodyPr>
          <a:lstStyle/>
          <a:p>
            <a:pPr>
              <a:lnSpc>
                <a:spcPts val="2140"/>
              </a:lnSpc>
              <a:spcBef>
                <a:spcPts val="0"/>
              </a:spcBef>
              <a:spcAft>
                <a:spcPts val="0"/>
              </a:spcAft>
            </a:pPr>
            <a:r>
              <a:rPr sz="2000" b="1">
                <a:solidFill>
                  <a:srgbClr val="14263D"/>
                </a:solidFill>
                <a:latin typeface="Calibri"/>
              </a:rPr>
              <a:t>A different page</a:t>
            </a:r>
          </a:p>
        </p:txBody>
      </p:sp>
      <p:sp>
        <p:nvSpPr>
          <p:cNvPr id="17" name="Text: Miss"/>
          <p:cNvSpPr txBox="1"/>
          <p:nvPr/>
        </p:nvSpPr>
        <p:spPr>
          <a:xfrm>
            <a:off x="3968495" y="5001768"/>
            <a:ext cx="2384450" cy="493776"/>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Miss</a:t>
            </a:r>
          </a:p>
        </p:txBody>
      </p:sp>
      <p:sp>
        <p:nvSpPr>
          <p:cNvPr id="18" name="Text: One conflict replaces the entry"/>
          <p:cNvSpPr txBox="1"/>
          <p:nvPr/>
        </p:nvSpPr>
        <p:spPr>
          <a:xfrm>
            <a:off x="6499250" y="5001768"/>
            <a:ext cx="5025237" cy="493776"/>
          </a:xfrm>
          <a:prstGeom prst="rect">
            <a:avLst/>
          </a:prstGeom>
          <a:noFill/>
        </p:spPr>
        <p:txBody>
          <a:bodyPr wrap="square" lIns="0" rIns="0" tIns="0" bIns="0">
            <a:noAutofit/>
          </a:bodyPr>
          <a:lstStyle/>
          <a:p>
            <a:pPr>
              <a:lnSpc>
                <a:spcPts val="2140"/>
              </a:lnSpc>
              <a:spcBef>
                <a:spcPts val="0"/>
              </a:spcBef>
              <a:spcAft>
                <a:spcPts val="0"/>
              </a:spcAft>
            </a:pPr>
            <a:r>
              <a:rPr sz="2000" b="0">
                <a:solidFill>
                  <a:srgbClr val="14263D"/>
                </a:solidFill>
                <a:latin typeface="Calibri"/>
              </a:rPr>
              <a:t>One conflict replaces the entry</a:t>
            </a:r>
          </a:p>
        </p:txBody>
      </p:sp>
      <p:cxnSp>
        <p:nvCxnSpPr>
          <p:cNvPr id="19" name="Connector 18"/>
          <p:cNvCxnSpPr/>
          <p:nvPr/>
        </p:nvCxnSpPr>
        <p:spPr>
          <a:xfrm>
            <a:off x="594360" y="5513831"/>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21"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For NOOP, base is the attacker’s own completion-record page.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Source and destination use separate slots</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11</a:t>
            </a:r>
          </a:p>
        </p:txBody>
      </p:sp>
      <p:sp>
        <p:nvSpPr>
          <p:cNvPr id="4" name="Rounded Rectangle 3"/>
          <p:cNvSpPr/>
          <p:nvPr/>
        </p:nvSpPr>
        <p:spPr>
          <a:xfrm>
            <a:off x="594360" y="1545336"/>
            <a:ext cx="7287768" cy="2121408"/>
          </a:xfrm>
          <a:prstGeom prst="roundRect">
            <a:avLst>
              <a:gd name="adj" fmla="val 517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APER LISTING 3"/>
          <p:cNvSpPr txBox="1"/>
          <p:nvPr/>
        </p:nvSpPr>
        <p:spPr>
          <a:xfrm>
            <a:off x="795528" y="1691639"/>
            <a:ext cx="6885431"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1265B0"/>
                </a:solidFill>
                <a:latin typeface="Calibri"/>
              </a:rPr>
              <a:t>PAPER LISTING 3</a:t>
            </a:r>
          </a:p>
        </p:txBody>
      </p:sp>
      <p:sp>
        <p:nvSpPr>
          <p:cNvPr id="6" name="Editable paper Listing 3"/>
          <p:cNvSpPr txBox="1"/>
          <p:nvPr/>
        </p:nvSpPr>
        <p:spPr>
          <a:xfrm>
            <a:off x="795528" y="2029967"/>
            <a:ext cx="6885431" cy="1563624"/>
          </a:xfrm>
          <a:prstGeom prst="rect">
            <a:avLst/>
          </a:prstGeom>
          <a:noFill/>
        </p:spPr>
        <p:txBody>
          <a:bodyPr wrap="none" lIns="0" rIns="0" tIns="0" bIns="0">
            <a:noAutofit/>
          </a:bodyPr>
          <a:lstStyle/>
          <a:p>
            <a:pPr>
              <a:lnSpc>
                <a:spcPts val="2160"/>
              </a:lnSpc>
              <a:spcBef>
                <a:spcPts val="0"/>
              </a:spcBef>
              <a:spcAft>
                <a:spcPts val="0"/>
              </a:spcAft>
            </a:pPr>
            <a:r>
              <a:rPr sz="1800">
                <a:solidFill>
                  <a:srgbClr val="4B5B6D"/>
                </a:solidFill>
                <a:latin typeface="Consolas"/>
              </a:rPr>
              <a:t>// different page</a:t>
            </a:r>
          </a:p>
          <a:p>
            <a:pPr>
              <a:lnSpc>
                <a:spcPts val="2160"/>
              </a:lnSpc>
              <a:spcBef>
                <a:spcPts val="0"/>
              </a:spcBef>
              <a:spcAft>
                <a:spcPts val="0"/>
              </a:spcAft>
            </a:pPr>
            <a:r>
              <a:rPr sz="1800" b="0">
                <a:solidFill>
                  <a:srgbClr val="14263D"/>
                </a:solidFill>
                <a:latin typeface="Consolas"/>
              </a:rPr>
              <a:t>assert(PAGE_OF(src0) != PAGE_OF(dst0));</a:t>
            </a:r>
          </a:p>
          <a:p>
            <a:pPr>
              <a:lnSpc>
                <a:spcPts val="2160"/>
              </a:lnSpc>
              <a:spcBef>
                <a:spcPts val="0"/>
              </a:spcBef>
              <a:spcAft>
                <a:spcPts val="0"/>
              </a:spcAft>
            </a:pPr>
            <a:r>
              <a:rPr sz="1800">
                <a:solidFill>
                  <a:srgbClr val="14263D"/>
                </a:solidFill>
                <a:latin typeface="Consolas"/>
              </a:rPr>
              <a:t>probe_memcpy(src0, dst0); </a:t>
            </a:r>
            <a:r>
              <a:rPr sz="1800">
                <a:solidFill>
                  <a:srgbClr val="4B5B6D"/>
                </a:solidFill>
                <a:latin typeface="Consolas"/>
              </a:rPr>
              <a:t>// prime devtlb</a:t>
            </a:r>
          </a:p>
          <a:p>
            <a:pPr>
              <a:lnSpc>
                <a:spcPts val="2160"/>
              </a:lnSpc>
              <a:spcBef>
                <a:spcPts val="0"/>
              </a:spcBef>
              <a:spcAft>
                <a:spcPts val="0"/>
              </a:spcAft>
            </a:pPr>
            <a:r>
              <a:rPr sz="1800">
                <a:solidFill>
                  <a:srgbClr val="4B5B6D"/>
                </a:solidFill>
                <a:latin typeface="Consolas"/>
              </a:rPr>
              <a:t>// src1 is on a different page with the src</a:t>
            </a:r>
          </a:p>
          <a:p>
            <a:pPr>
              <a:lnSpc>
                <a:spcPts val="2160"/>
              </a:lnSpc>
              <a:spcBef>
                <a:spcPts val="0"/>
              </a:spcBef>
              <a:spcAft>
                <a:spcPts val="0"/>
              </a:spcAft>
            </a:pPr>
            <a:r>
              <a:rPr sz="1800" b="0">
                <a:solidFill>
                  <a:srgbClr val="14263D"/>
                </a:solidFill>
                <a:latin typeface="Consolas"/>
              </a:rPr>
              <a:t>probe_memcpy(src1, dst0);</a:t>
            </a:r>
          </a:p>
        </p:txBody>
      </p:sp>
      <p:sp>
        <p:nvSpPr>
          <p:cNvPr id="7" name="Rounded Rectangle 6"/>
          <p:cNvSpPr/>
          <p:nvPr/>
        </p:nvSpPr>
        <p:spPr>
          <a:xfrm>
            <a:off x="594360" y="3895344"/>
            <a:ext cx="7287768" cy="1810512"/>
          </a:xfrm>
          <a:prstGeom prst="roundRect">
            <a:avLst>
              <a:gd name="adj" fmla="val 606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APER LISTING 4"/>
          <p:cNvSpPr txBox="1"/>
          <p:nvPr/>
        </p:nvSpPr>
        <p:spPr>
          <a:xfrm>
            <a:off x="795528" y="4041648"/>
            <a:ext cx="6885431"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1265B0"/>
                </a:solidFill>
                <a:latin typeface="Calibri"/>
              </a:rPr>
              <a:t>PAPER LISTING 4</a:t>
            </a:r>
          </a:p>
        </p:txBody>
      </p:sp>
      <p:sp>
        <p:nvSpPr>
          <p:cNvPr id="9" name="Editable paper Listing 4"/>
          <p:cNvSpPr txBox="1"/>
          <p:nvPr/>
        </p:nvSpPr>
        <p:spPr>
          <a:xfrm>
            <a:off x="795528" y="4379976"/>
            <a:ext cx="6885431" cy="1252728"/>
          </a:xfrm>
          <a:prstGeom prst="rect">
            <a:avLst/>
          </a:prstGeom>
          <a:noFill/>
        </p:spPr>
        <p:txBody>
          <a:bodyPr wrap="none" lIns="0" rIns="0" tIns="0" bIns="0">
            <a:noAutofit/>
          </a:bodyPr>
          <a:lstStyle/>
          <a:p>
            <a:pPr>
              <a:lnSpc>
                <a:spcPts val="2160"/>
              </a:lnSpc>
              <a:spcBef>
                <a:spcPts val="0"/>
              </a:spcBef>
              <a:spcAft>
                <a:spcPts val="0"/>
              </a:spcAft>
            </a:pPr>
            <a:r>
              <a:rPr sz="1800">
                <a:solidFill>
                  <a:srgbClr val="4B5B6D"/>
                </a:solidFill>
                <a:latin typeface="Consolas"/>
              </a:rPr>
              <a:t>// src2 overlaps dst</a:t>
            </a:r>
          </a:p>
          <a:p>
            <a:pPr>
              <a:lnSpc>
                <a:spcPts val="2160"/>
              </a:lnSpc>
              <a:spcBef>
                <a:spcPts val="0"/>
              </a:spcBef>
              <a:spcAft>
                <a:spcPts val="0"/>
              </a:spcAft>
            </a:pPr>
            <a:r>
              <a:rPr sz="1800" b="0">
                <a:solidFill>
                  <a:srgbClr val="14263D"/>
                </a:solidFill>
                <a:latin typeface="Consolas"/>
              </a:rPr>
              <a:t>probe_memcmp(src, src2);</a:t>
            </a:r>
          </a:p>
          <a:p>
            <a:pPr>
              <a:lnSpc>
                <a:spcPts val="2160"/>
              </a:lnSpc>
              <a:spcBef>
                <a:spcPts val="0"/>
              </a:spcBef>
              <a:spcAft>
                <a:spcPts val="0"/>
              </a:spcAft>
            </a:pPr>
            <a:r>
              <a:rPr sz="1800">
                <a:solidFill>
                  <a:srgbClr val="4B5B6D"/>
                </a:solidFill>
                <a:latin typeface="Consolas"/>
              </a:rPr>
              <a:t>// dst and src2 in same page</a:t>
            </a:r>
          </a:p>
          <a:p>
            <a:pPr>
              <a:lnSpc>
                <a:spcPts val="2160"/>
              </a:lnSpc>
              <a:spcBef>
                <a:spcPts val="0"/>
              </a:spcBef>
              <a:spcAft>
                <a:spcPts val="0"/>
              </a:spcAft>
            </a:pPr>
            <a:r>
              <a:rPr sz="1800" b="0">
                <a:solidFill>
                  <a:srgbClr val="14263D"/>
                </a:solidFill>
                <a:latin typeface="Consolas"/>
              </a:rPr>
              <a:t>probe_memcpy(src, dst);</a:t>
            </a:r>
          </a:p>
        </p:txBody>
      </p:sp>
      <p:sp>
        <p:nvSpPr>
          <p:cNvPr id="10" name="Text: Change the source"/>
          <p:cNvSpPr txBox="1"/>
          <p:nvPr/>
        </p:nvSpPr>
        <p:spPr>
          <a:xfrm>
            <a:off x="8247888" y="1709928"/>
            <a:ext cx="3346704"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Change the source</a:t>
            </a:r>
          </a:p>
        </p:txBody>
      </p:sp>
      <p:sp>
        <p:nvSpPr>
          <p:cNvPr id="11" name="Text: Keep dst fixed."/>
          <p:cNvSpPr txBox="1"/>
          <p:nvPr/>
        </p:nvSpPr>
        <p:spPr>
          <a:xfrm>
            <a:off x="8247888" y="2167128"/>
            <a:ext cx="3346704" cy="1307592"/>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Keep dst fixed.</a:t>
            </a:r>
          </a:p>
          <a:p>
            <a:pPr>
              <a:lnSpc>
                <a:spcPts val="2415"/>
              </a:lnSpc>
              <a:spcBef>
                <a:spcPts val="0"/>
              </a:spcBef>
              <a:spcAft>
                <a:spcPts val="0"/>
              </a:spcAft>
            </a:pPr>
            <a:r>
              <a:rPr sz="2100" b="0">
                <a:solidFill>
                  <a:srgbClr val="14263D"/>
                </a:solidFill>
                <a:latin typeface="Calibri"/>
              </a:rPr>
              <a:t>Only src changes.</a:t>
            </a:r>
          </a:p>
          <a:p>
            <a:pPr>
              <a:lnSpc>
                <a:spcPts val="2415"/>
              </a:lnSpc>
              <a:spcBef>
                <a:spcPts val="0"/>
              </a:spcBef>
              <a:spcAft>
                <a:spcPts val="0"/>
              </a:spcAft>
            </a:pPr>
            <a:r>
              <a:rPr sz="2100" b="0">
                <a:solidFill>
                  <a:srgbClr val="14263D"/>
                </a:solidFill>
                <a:latin typeface="Calibri"/>
              </a:rPr>
              <a:t>The dst mapping survives.</a:t>
            </a:r>
          </a:p>
        </p:txBody>
      </p:sp>
      <p:sp>
        <p:nvSpPr>
          <p:cNvPr id="12" name="Text: Change the role"/>
          <p:cNvSpPr txBox="1"/>
          <p:nvPr/>
        </p:nvSpPr>
        <p:spPr>
          <a:xfrm>
            <a:off x="8247888" y="4041648"/>
            <a:ext cx="3346704"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Change the role</a:t>
            </a:r>
          </a:p>
        </p:txBody>
      </p:sp>
      <p:sp>
        <p:nvSpPr>
          <p:cNvPr id="13" name="Text: Same page and byte position."/>
          <p:cNvSpPr txBox="1"/>
          <p:nvPr/>
        </p:nvSpPr>
        <p:spPr>
          <a:xfrm>
            <a:off x="8247888" y="4498848"/>
            <a:ext cx="3346704" cy="1143000"/>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Same page and byte position.</a:t>
            </a:r>
          </a:p>
          <a:p>
            <a:pPr>
              <a:lnSpc>
                <a:spcPts val="2415"/>
              </a:lnSpc>
              <a:spcBef>
                <a:spcPts val="0"/>
              </a:spcBef>
              <a:spcAft>
                <a:spcPts val="0"/>
              </a:spcAft>
            </a:pPr>
            <a:r>
              <a:rPr sz="2100" b="0">
                <a:solidFill>
                  <a:srgbClr val="14263D"/>
                </a:solidFill>
                <a:latin typeface="Calibri"/>
              </a:rPr>
              <a:t>src2 does not give dst a hit.</a:t>
            </a:r>
          </a:p>
        </p:txBody>
      </p:sp>
      <p:cxnSp>
        <p:nvCxnSpPr>
          <p:cNvPr id="14" name="Connector 13"/>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5"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Translation reuse follows the semantic field, not just the address.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Eviction follows the shared engine</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12</a:t>
            </a:r>
          </a:p>
        </p:txBody>
      </p:sp>
      <p:pic>
        <p:nvPicPr>
          <p:cNvPr id="4" name="Original paper Figure 5" descr="paper_fig5.png"/>
          <p:cNvPicPr>
            <a:picLocks noChangeAspect="1"/>
          </p:cNvPicPr>
          <p:nvPr/>
        </p:nvPicPr>
        <p:blipFill>
          <a:blip r:embed="rId2"/>
          <a:stretch>
            <a:fillRect/>
          </a:stretch>
        </p:blipFill>
        <p:spPr>
          <a:xfrm>
            <a:off x="749808" y="1721835"/>
            <a:ext cx="5394960" cy="3972113"/>
          </a:xfrm>
          <a:prstGeom prst="rect">
            <a:avLst/>
          </a:prstGeom>
        </p:spPr>
      </p:pic>
      <p:sp>
        <p:nvSpPr>
          <p:cNvPr id="5" name="Text: Case"/>
          <p:cNvSpPr txBox="1"/>
          <p:nvPr/>
        </p:nvSpPr>
        <p:spPr>
          <a:xfrm>
            <a:off x="6693408" y="1947672"/>
            <a:ext cx="550103"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Case</a:t>
            </a:r>
          </a:p>
        </p:txBody>
      </p:sp>
      <p:sp>
        <p:nvSpPr>
          <p:cNvPr id="6" name="Text: Shared resource"/>
          <p:cNvSpPr txBox="1"/>
          <p:nvPr/>
        </p:nvSpPr>
        <p:spPr>
          <a:xfrm>
            <a:off x="7389815" y="1947672"/>
            <a:ext cx="3087014"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Shared resource</a:t>
            </a:r>
          </a:p>
        </p:txBody>
      </p:sp>
      <p:sp>
        <p:nvSpPr>
          <p:cNvPr id="7" name="Text: Probe"/>
          <p:cNvSpPr txBox="1"/>
          <p:nvPr/>
        </p:nvSpPr>
        <p:spPr>
          <a:xfrm>
            <a:off x="10623133" y="1947672"/>
            <a:ext cx="898306"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Probe</a:t>
            </a:r>
          </a:p>
        </p:txBody>
      </p:sp>
      <p:cxnSp>
        <p:nvCxnSpPr>
          <p:cNvPr id="8" name="Connector 7"/>
          <p:cNvCxnSpPr/>
          <p:nvPr/>
        </p:nvCxnSpPr>
        <p:spPr>
          <a:xfrm>
            <a:off x="6620256" y="2368296"/>
            <a:ext cx="4974336" cy="0"/>
          </a:xfrm>
          <a:prstGeom prst="line">
            <a:avLst/>
          </a:prstGeom>
          <a:ln w="13970">
            <a:solidFill>
              <a:srgbClr val="14263D"/>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6620256" y="2368296"/>
            <a:ext cx="4974336" cy="7680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E0"/>
          <p:cNvSpPr txBox="1"/>
          <p:nvPr/>
        </p:nvSpPr>
        <p:spPr>
          <a:xfrm>
            <a:off x="6693408" y="2514600"/>
            <a:ext cx="550103" cy="603503"/>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E0</a:t>
            </a:r>
          </a:p>
        </p:txBody>
      </p:sp>
      <p:sp>
        <p:nvSpPr>
          <p:cNvPr id="11" name="Text: Same queue + engine"/>
          <p:cNvSpPr txBox="1"/>
          <p:nvPr/>
        </p:nvSpPr>
        <p:spPr>
          <a:xfrm>
            <a:off x="7389815" y="2514600"/>
            <a:ext cx="3087014" cy="603503"/>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Same queue + engine</a:t>
            </a:r>
          </a:p>
        </p:txBody>
      </p:sp>
      <p:sp>
        <p:nvSpPr>
          <p:cNvPr id="12" name="Text: Miss"/>
          <p:cNvSpPr txBox="1"/>
          <p:nvPr/>
        </p:nvSpPr>
        <p:spPr>
          <a:xfrm>
            <a:off x="10623133" y="2514600"/>
            <a:ext cx="898306" cy="603503"/>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Miss</a:t>
            </a:r>
          </a:p>
        </p:txBody>
      </p:sp>
      <p:cxnSp>
        <p:nvCxnSpPr>
          <p:cNvPr id="13" name="Connector 12"/>
          <p:cNvCxnSpPr/>
          <p:nvPr/>
        </p:nvCxnSpPr>
        <p:spPr>
          <a:xfrm>
            <a:off x="6620256" y="3136391"/>
            <a:ext cx="4974336"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4" name="Text: E1"/>
          <p:cNvSpPr txBox="1"/>
          <p:nvPr/>
        </p:nvSpPr>
        <p:spPr>
          <a:xfrm>
            <a:off x="6693408" y="3282696"/>
            <a:ext cx="550103" cy="603503"/>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E1</a:t>
            </a:r>
          </a:p>
        </p:txBody>
      </p:sp>
      <p:sp>
        <p:nvSpPr>
          <p:cNvPr id="15" name="Text: Different queues; same engine"/>
          <p:cNvSpPr txBox="1"/>
          <p:nvPr/>
        </p:nvSpPr>
        <p:spPr>
          <a:xfrm>
            <a:off x="7389815" y="3282696"/>
            <a:ext cx="3087014" cy="603503"/>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Different queues; same engine</a:t>
            </a:r>
          </a:p>
        </p:txBody>
      </p:sp>
      <p:sp>
        <p:nvSpPr>
          <p:cNvPr id="16" name="Text: Miss"/>
          <p:cNvSpPr txBox="1"/>
          <p:nvPr/>
        </p:nvSpPr>
        <p:spPr>
          <a:xfrm>
            <a:off x="10623133" y="3282696"/>
            <a:ext cx="898306" cy="603503"/>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Miss</a:t>
            </a:r>
          </a:p>
        </p:txBody>
      </p:sp>
      <p:cxnSp>
        <p:nvCxnSpPr>
          <p:cNvPr id="17" name="Connector 16"/>
          <p:cNvCxnSpPr/>
          <p:nvPr/>
        </p:nvCxnSpPr>
        <p:spPr>
          <a:xfrm>
            <a:off x="6620256" y="3904487"/>
            <a:ext cx="4974336"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620256" y="3904487"/>
            <a:ext cx="4974336" cy="7680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E2"/>
          <p:cNvSpPr txBox="1"/>
          <p:nvPr/>
        </p:nvSpPr>
        <p:spPr>
          <a:xfrm>
            <a:off x="6693408" y="4050791"/>
            <a:ext cx="550103" cy="603503"/>
          </a:xfrm>
          <a:prstGeom prst="rect">
            <a:avLst/>
          </a:prstGeom>
          <a:noFill/>
        </p:spPr>
        <p:txBody>
          <a:bodyPr wrap="square" lIns="0" rIns="0" tIns="0" bIns="0">
            <a:noAutofit/>
          </a:bodyPr>
          <a:lstStyle/>
          <a:p>
            <a:pPr>
              <a:lnSpc>
                <a:spcPts val="2033"/>
              </a:lnSpc>
              <a:spcBef>
                <a:spcPts val="0"/>
              </a:spcBef>
              <a:spcAft>
                <a:spcPts val="0"/>
              </a:spcAft>
            </a:pPr>
            <a:r>
              <a:rPr sz="1900" b="1">
                <a:solidFill>
                  <a:srgbClr val="21734F"/>
                </a:solidFill>
                <a:latin typeface="Calibri"/>
              </a:rPr>
              <a:t>E2</a:t>
            </a:r>
          </a:p>
        </p:txBody>
      </p:sp>
      <p:sp>
        <p:nvSpPr>
          <p:cNvPr id="20" name="Text: Different engines"/>
          <p:cNvSpPr txBox="1"/>
          <p:nvPr/>
        </p:nvSpPr>
        <p:spPr>
          <a:xfrm>
            <a:off x="7389815" y="4050791"/>
            <a:ext cx="3087014" cy="603503"/>
          </a:xfrm>
          <a:prstGeom prst="rect">
            <a:avLst/>
          </a:prstGeom>
          <a:noFill/>
        </p:spPr>
        <p:txBody>
          <a:bodyPr wrap="square" lIns="0" rIns="0" tIns="0" bIns="0">
            <a:noAutofit/>
          </a:bodyPr>
          <a:lstStyle/>
          <a:p>
            <a:pPr>
              <a:lnSpc>
                <a:spcPts val="2033"/>
              </a:lnSpc>
              <a:spcBef>
                <a:spcPts val="0"/>
              </a:spcBef>
              <a:spcAft>
                <a:spcPts val="0"/>
              </a:spcAft>
            </a:pPr>
            <a:r>
              <a:rPr sz="1900" b="1">
                <a:solidFill>
                  <a:srgbClr val="21734F"/>
                </a:solidFill>
                <a:latin typeface="Calibri"/>
              </a:rPr>
              <a:t>Different engines</a:t>
            </a:r>
          </a:p>
        </p:txBody>
      </p:sp>
      <p:sp>
        <p:nvSpPr>
          <p:cNvPr id="21" name="Text: Hit"/>
          <p:cNvSpPr txBox="1"/>
          <p:nvPr/>
        </p:nvSpPr>
        <p:spPr>
          <a:xfrm>
            <a:off x="10623133" y="4050791"/>
            <a:ext cx="898306" cy="603503"/>
          </a:xfrm>
          <a:prstGeom prst="rect">
            <a:avLst/>
          </a:prstGeom>
          <a:noFill/>
        </p:spPr>
        <p:txBody>
          <a:bodyPr wrap="square" lIns="0" rIns="0" tIns="0" bIns="0">
            <a:noAutofit/>
          </a:bodyPr>
          <a:lstStyle/>
          <a:p>
            <a:pPr>
              <a:lnSpc>
                <a:spcPts val="2033"/>
              </a:lnSpc>
              <a:spcBef>
                <a:spcPts val="0"/>
              </a:spcBef>
              <a:spcAft>
                <a:spcPts val="0"/>
              </a:spcAft>
            </a:pPr>
            <a:r>
              <a:rPr sz="1900" b="1">
                <a:solidFill>
                  <a:srgbClr val="21734F"/>
                </a:solidFill>
                <a:latin typeface="Calibri"/>
              </a:rPr>
              <a:t>Hit</a:t>
            </a:r>
          </a:p>
        </p:txBody>
      </p:sp>
      <p:cxnSp>
        <p:nvCxnSpPr>
          <p:cNvPr id="22" name="Connector 21"/>
          <p:cNvCxnSpPr/>
          <p:nvPr/>
        </p:nvCxnSpPr>
        <p:spPr>
          <a:xfrm>
            <a:off x="6620256" y="4672583"/>
            <a:ext cx="4974336"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23" name="Text: E2 preserves the attacker’s entry."/>
          <p:cNvSpPr txBox="1"/>
          <p:nvPr/>
        </p:nvSpPr>
        <p:spPr>
          <a:xfrm>
            <a:off x="6620256" y="4937760"/>
            <a:ext cx="4974336" cy="777240"/>
          </a:xfrm>
          <a:prstGeom prst="rect">
            <a:avLst/>
          </a:prstGeom>
          <a:noFill/>
        </p:spPr>
        <p:txBody>
          <a:bodyPr wrap="square" lIns="0" rIns="0" tIns="0" bIns="0">
            <a:noAutofit/>
          </a:bodyPr>
          <a:lstStyle/>
          <a:p>
            <a:pPr>
              <a:lnSpc>
                <a:spcPts val="2477"/>
              </a:lnSpc>
              <a:spcBef>
                <a:spcPts val="0"/>
              </a:spcBef>
              <a:spcAft>
                <a:spcPts val="0"/>
              </a:spcAft>
            </a:pPr>
            <a:r>
              <a:rPr sz="2100" b="0">
                <a:solidFill>
                  <a:srgbClr val="4B5B6D"/>
                </a:solidFill>
                <a:latin typeface="Calibri"/>
              </a:rPr>
              <a:t>E2 preserves the attacker’s entry.</a:t>
            </a:r>
          </a:p>
          <a:p>
            <a:pPr>
              <a:lnSpc>
                <a:spcPts val="2477"/>
              </a:lnSpc>
              <a:spcBef>
                <a:spcPts val="0"/>
              </a:spcBef>
              <a:spcAft>
                <a:spcPts val="0"/>
              </a:spcAft>
            </a:pPr>
            <a:r>
              <a:rPr sz="2100" b="0">
                <a:solidFill>
                  <a:srgbClr val="4B5B6D"/>
                </a:solidFill>
                <a:latin typeface="Calibri"/>
              </a:rPr>
              <a:t>It is the separate-engine control.</a:t>
            </a:r>
          </a:p>
        </p:txBody>
      </p:sp>
      <p:cxnSp>
        <p:nvCxnSpPr>
          <p:cNvPr id="24" name="Connector 23"/>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25"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tested eviction follows the shared engine, not queue identity.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How a probe distinguishes a hit from a miss</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13</a:t>
            </a:r>
          </a:p>
        </p:txBody>
      </p:sp>
      <p:pic>
        <p:nvPicPr>
          <p:cNvPr id="4" name="Original paper chart: latency" descr="latency.png"/>
          <p:cNvPicPr>
            <a:picLocks noChangeAspect="1"/>
          </p:cNvPicPr>
          <p:nvPr/>
        </p:nvPicPr>
        <p:blipFill>
          <a:blip r:embed="rId2"/>
          <a:stretch>
            <a:fillRect/>
          </a:stretch>
        </p:blipFill>
        <p:spPr>
          <a:xfrm>
            <a:off x="1793235" y="1664208"/>
            <a:ext cx="4569976" cy="4114800"/>
          </a:xfrm>
          <a:prstGeom prst="rect">
            <a:avLst/>
          </a:prstGeom>
        </p:spPr>
      </p:pic>
      <p:sp>
        <p:nvSpPr>
          <p:cNvPr id="5" name="Text: ~500 cycles"/>
          <p:cNvSpPr txBox="1"/>
          <p:nvPr/>
        </p:nvSpPr>
        <p:spPr>
          <a:xfrm>
            <a:off x="8065008" y="1755648"/>
            <a:ext cx="3529584" cy="749808"/>
          </a:xfrm>
          <a:prstGeom prst="rect">
            <a:avLst/>
          </a:prstGeom>
          <a:noFill/>
        </p:spPr>
        <p:txBody>
          <a:bodyPr wrap="square" lIns="0" rIns="0" tIns="0" bIns="0">
            <a:noAutofit/>
          </a:bodyPr>
          <a:lstStyle/>
          <a:p>
            <a:pPr>
              <a:lnSpc>
                <a:spcPts val="3200"/>
              </a:lnSpc>
              <a:spcBef>
                <a:spcPts val="0"/>
              </a:spcBef>
              <a:spcAft>
                <a:spcPts val="0"/>
              </a:spcAft>
            </a:pPr>
            <a:r>
              <a:rPr sz="3200" b="1">
                <a:solidFill>
                  <a:srgbClr val="1265B0"/>
                </a:solidFill>
                <a:latin typeface="Calibri"/>
              </a:rPr>
              <a:t>~500 cycles</a:t>
            </a:r>
          </a:p>
        </p:txBody>
      </p:sp>
      <p:sp>
        <p:nvSpPr>
          <p:cNvPr id="6" name="Text: DevTLB hit"/>
          <p:cNvSpPr txBox="1"/>
          <p:nvPr/>
        </p:nvSpPr>
        <p:spPr>
          <a:xfrm>
            <a:off x="8065008" y="2578608"/>
            <a:ext cx="3529584" cy="411480"/>
          </a:xfrm>
          <a:prstGeom prst="rect">
            <a:avLst/>
          </a:prstGeom>
          <a:noFill/>
        </p:spPr>
        <p:txBody>
          <a:bodyPr wrap="square" lIns="0" rIns="0" tIns="0" bIns="0">
            <a:noAutofit/>
          </a:bodyPr>
          <a:lstStyle/>
          <a:p>
            <a:pPr>
              <a:lnSpc>
                <a:spcPts val="2205"/>
              </a:lnSpc>
              <a:spcBef>
                <a:spcPts val="0"/>
              </a:spcBef>
              <a:spcAft>
                <a:spcPts val="0"/>
              </a:spcAft>
            </a:pPr>
            <a:r>
              <a:rPr sz="2100" b="1">
                <a:solidFill>
                  <a:srgbClr val="14263D"/>
                </a:solidFill>
                <a:latin typeface="Calibri"/>
              </a:rPr>
              <a:t>DevTLB hit</a:t>
            </a:r>
          </a:p>
        </p:txBody>
      </p:sp>
      <p:sp>
        <p:nvSpPr>
          <p:cNvPr id="7" name="Text: &gt;1,000 cycles"/>
          <p:cNvSpPr txBox="1"/>
          <p:nvPr/>
        </p:nvSpPr>
        <p:spPr>
          <a:xfrm>
            <a:off x="8065008" y="3273552"/>
            <a:ext cx="3529584" cy="749808"/>
          </a:xfrm>
          <a:prstGeom prst="rect">
            <a:avLst/>
          </a:prstGeom>
          <a:noFill/>
        </p:spPr>
        <p:txBody>
          <a:bodyPr wrap="square" lIns="0" rIns="0" tIns="0" bIns="0">
            <a:noAutofit/>
          </a:bodyPr>
          <a:lstStyle/>
          <a:p>
            <a:pPr>
              <a:lnSpc>
                <a:spcPts val="3200"/>
              </a:lnSpc>
              <a:spcBef>
                <a:spcPts val="0"/>
              </a:spcBef>
              <a:spcAft>
                <a:spcPts val="0"/>
              </a:spcAft>
            </a:pPr>
            <a:r>
              <a:rPr sz="3200" b="1">
                <a:solidFill>
                  <a:srgbClr val="1265B0"/>
                </a:solidFill>
                <a:latin typeface="Calibri"/>
              </a:rPr>
              <a:t>&gt;1,000 cycles</a:t>
            </a:r>
          </a:p>
        </p:txBody>
      </p:sp>
      <p:sp>
        <p:nvSpPr>
          <p:cNvPr id="8" name="Text: DevTLB miss"/>
          <p:cNvSpPr txBox="1"/>
          <p:nvPr/>
        </p:nvSpPr>
        <p:spPr>
          <a:xfrm>
            <a:off x="8065008" y="4096512"/>
            <a:ext cx="3529584" cy="411480"/>
          </a:xfrm>
          <a:prstGeom prst="rect">
            <a:avLst/>
          </a:prstGeom>
          <a:noFill/>
        </p:spPr>
        <p:txBody>
          <a:bodyPr wrap="square" lIns="0" rIns="0" tIns="0" bIns="0">
            <a:noAutofit/>
          </a:bodyPr>
          <a:lstStyle/>
          <a:p>
            <a:pPr>
              <a:lnSpc>
                <a:spcPts val="2205"/>
              </a:lnSpc>
              <a:spcBef>
                <a:spcPts val="0"/>
              </a:spcBef>
              <a:spcAft>
                <a:spcPts val="0"/>
              </a:spcAft>
            </a:pPr>
            <a:r>
              <a:rPr sz="2100" b="1">
                <a:solidFill>
                  <a:srgbClr val="14263D"/>
                </a:solidFill>
                <a:latin typeface="Calibri"/>
              </a:rPr>
              <a:t>DevTLB miss</a:t>
            </a:r>
          </a:p>
        </p:txBody>
      </p:sp>
      <p:sp>
        <p:nvSpPr>
          <p:cNvPr id="9" name="Text: Calibrate a threshold."/>
          <p:cNvSpPr txBox="1"/>
          <p:nvPr/>
        </p:nvSpPr>
        <p:spPr>
          <a:xfrm>
            <a:off x="8065008" y="4828032"/>
            <a:ext cx="3529584" cy="905256"/>
          </a:xfrm>
          <a:prstGeom prst="rect">
            <a:avLst/>
          </a:prstGeom>
          <a:noFill/>
        </p:spPr>
        <p:txBody>
          <a:bodyPr wrap="square" lIns="0" rIns="0" tIns="0" bIns="0">
            <a:noAutofit/>
          </a:bodyPr>
          <a:lstStyle/>
          <a:p>
            <a:pPr>
              <a:lnSpc>
                <a:spcPts val="2360"/>
              </a:lnSpc>
              <a:spcBef>
                <a:spcPts val="0"/>
              </a:spcBef>
              <a:spcAft>
                <a:spcPts val="0"/>
              </a:spcAft>
            </a:pPr>
            <a:r>
              <a:rPr sz="2000" b="0">
                <a:solidFill>
                  <a:srgbClr val="4B5B6D"/>
                </a:solidFill>
                <a:latin typeface="Calibri"/>
              </a:rPr>
              <a:t>Calibrate a threshold.</a:t>
            </a:r>
          </a:p>
          <a:p>
            <a:pPr>
              <a:lnSpc>
                <a:spcPts val="2360"/>
              </a:lnSpc>
              <a:spcBef>
                <a:spcPts val="0"/>
              </a:spcBef>
              <a:spcAft>
                <a:spcPts val="0"/>
              </a:spcAft>
            </a:pPr>
            <a:r>
              <a:rPr sz="2000" b="0">
                <a:solidFill>
                  <a:srgbClr val="4B5B6D"/>
                </a:solidFill>
                <a:latin typeface="Calibri"/>
              </a:rPr>
              <a:t>The paper used 600 to 900 cycles.</a:t>
            </a:r>
          </a:p>
        </p:txBody>
      </p:sp>
      <p:cxnSp>
        <p:nvCxnSpPr>
          <p:cNvPr id="10" name="Connector 9"/>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1"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spy times its own probe; it does not read the victim’s hit counters.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DevTLB attack: prime, wait, probe</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14</a:t>
            </a:r>
          </a:p>
        </p:txBody>
      </p:sp>
      <p:sp>
        <p:nvSpPr>
          <p:cNvPr id="4" name="Rounded Rectangle 3"/>
          <p:cNvSpPr/>
          <p:nvPr/>
        </p:nvSpPr>
        <p:spPr>
          <a:xfrm>
            <a:off x="594360" y="1572768"/>
            <a:ext cx="3497071" cy="530352"/>
          </a:xfrm>
          <a:prstGeom prst="roundRect">
            <a:avLst>
              <a:gd name="adj" fmla="val 1379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rime your page"/>
          <p:cNvSpPr txBox="1"/>
          <p:nvPr/>
        </p:nvSpPr>
        <p:spPr>
          <a:xfrm>
            <a:off x="704088" y="1691640"/>
            <a:ext cx="3277615" cy="292608"/>
          </a:xfrm>
          <a:prstGeom prst="rect">
            <a:avLst/>
          </a:prstGeom>
          <a:noFill/>
        </p:spPr>
        <p:txBody>
          <a:bodyPr wrap="square" lIns="0" rIns="0" tIns="0" bIns="0">
            <a:noAutofit/>
          </a:bodyPr>
          <a:lstStyle/>
          <a:p>
            <a:pPr algn="ctr">
              <a:lnSpc>
                <a:spcPts val="1900"/>
              </a:lnSpc>
              <a:spcBef>
                <a:spcPts val="0"/>
              </a:spcBef>
              <a:spcAft>
                <a:spcPts val="0"/>
              </a:spcAft>
            </a:pPr>
            <a:r>
              <a:rPr sz="1900" b="1">
                <a:solidFill>
                  <a:srgbClr val="1265B0"/>
                </a:solidFill>
                <a:latin typeface="Calibri"/>
              </a:rPr>
              <a:t>Prime your page</a:t>
            </a:r>
          </a:p>
        </p:txBody>
      </p:sp>
      <p:sp>
        <p:nvSpPr>
          <p:cNvPr id="6" name="Rounded Rectangle 5"/>
          <p:cNvSpPr/>
          <p:nvPr/>
        </p:nvSpPr>
        <p:spPr>
          <a:xfrm>
            <a:off x="4347463" y="1572768"/>
            <a:ext cx="3497071" cy="530352"/>
          </a:xfrm>
          <a:prstGeom prst="roundRect">
            <a:avLst>
              <a:gd name="adj" fmla="val 1379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Wait for activity"/>
          <p:cNvSpPr txBox="1"/>
          <p:nvPr/>
        </p:nvSpPr>
        <p:spPr>
          <a:xfrm>
            <a:off x="4457191" y="1691640"/>
            <a:ext cx="3277615" cy="292608"/>
          </a:xfrm>
          <a:prstGeom prst="rect">
            <a:avLst/>
          </a:prstGeom>
          <a:noFill/>
        </p:spPr>
        <p:txBody>
          <a:bodyPr wrap="square" lIns="0" rIns="0" tIns="0" bIns="0">
            <a:noAutofit/>
          </a:bodyPr>
          <a:lstStyle/>
          <a:p>
            <a:pPr algn="ctr">
              <a:lnSpc>
                <a:spcPts val="1900"/>
              </a:lnSpc>
              <a:spcBef>
                <a:spcPts val="0"/>
              </a:spcBef>
              <a:spcAft>
                <a:spcPts val="0"/>
              </a:spcAft>
            </a:pPr>
            <a:r>
              <a:rPr sz="1900" b="1">
                <a:solidFill>
                  <a:srgbClr val="1265B0"/>
                </a:solidFill>
                <a:latin typeface="Calibri"/>
              </a:rPr>
              <a:t>Wait for activity</a:t>
            </a:r>
          </a:p>
        </p:txBody>
      </p:sp>
      <p:sp>
        <p:nvSpPr>
          <p:cNvPr id="8" name="Rounded Rectangle 7"/>
          <p:cNvSpPr/>
          <p:nvPr/>
        </p:nvSpPr>
        <p:spPr>
          <a:xfrm>
            <a:off x="8100567" y="1572768"/>
            <a:ext cx="3497071" cy="530352"/>
          </a:xfrm>
          <a:prstGeom prst="roundRect">
            <a:avLst>
              <a:gd name="adj" fmla="val 1379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Time your next probe"/>
          <p:cNvSpPr txBox="1"/>
          <p:nvPr/>
        </p:nvSpPr>
        <p:spPr>
          <a:xfrm>
            <a:off x="8210295" y="1691640"/>
            <a:ext cx="3277615" cy="292608"/>
          </a:xfrm>
          <a:prstGeom prst="rect">
            <a:avLst/>
          </a:prstGeom>
          <a:noFill/>
        </p:spPr>
        <p:txBody>
          <a:bodyPr wrap="square" lIns="0" rIns="0" tIns="0" bIns="0">
            <a:noAutofit/>
          </a:bodyPr>
          <a:lstStyle/>
          <a:p>
            <a:pPr algn="ctr">
              <a:lnSpc>
                <a:spcPts val="1900"/>
              </a:lnSpc>
              <a:spcBef>
                <a:spcPts val="0"/>
              </a:spcBef>
              <a:spcAft>
                <a:spcPts val="0"/>
              </a:spcAft>
            </a:pPr>
            <a:r>
              <a:rPr sz="1900" b="1">
                <a:solidFill>
                  <a:srgbClr val="1265B0"/>
                </a:solidFill>
                <a:latin typeface="Calibri"/>
              </a:rPr>
              <a:t>Time your next probe</a:t>
            </a:r>
          </a:p>
        </p:txBody>
      </p:sp>
      <p:sp>
        <p:nvSpPr>
          <p:cNvPr id="10" name="Rounded Rectangle 9"/>
          <p:cNvSpPr/>
          <p:nvPr/>
        </p:nvSpPr>
        <p:spPr>
          <a:xfrm>
            <a:off x="594360" y="2386584"/>
            <a:ext cx="7232904" cy="2542032"/>
          </a:xfrm>
          <a:prstGeom prst="roundRect">
            <a:avLst>
              <a:gd name="adj" fmla="val 431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APER LISTING 1 | LINES 7-12"/>
          <p:cNvSpPr txBox="1"/>
          <p:nvPr/>
        </p:nvSpPr>
        <p:spPr>
          <a:xfrm>
            <a:off x="795528" y="2532888"/>
            <a:ext cx="6830568"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1265B0"/>
                </a:solidFill>
                <a:latin typeface="Calibri"/>
              </a:rPr>
              <a:t>PAPER LISTING 1 | LINES 7-12</a:t>
            </a:r>
          </a:p>
        </p:txBody>
      </p:sp>
      <p:sp>
        <p:nvSpPr>
          <p:cNvPr id="12" name="Editable paper Listing 1 lines 7-12"/>
          <p:cNvSpPr txBox="1"/>
          <p:nvPr/>
        </p:nvSpPr>
        <p:spPr>
          <a:xfrm>
            <a:off x="795528" y="2871215"/>
            <a:ext cx="6830568" cy="1984248"/>
          </a:xfrm>
          <a:prstGeom prst="rect">
            <a:avLst/>
          </a:prstGeom>
          <a:noFill/>
        </p:spPr>
        <p:txBody>
          <a:bodyPr wrap="none" lIns="0" rIns="0" tIns="0" bIns="0">
            <a:noAutofit/>
          </a:bodyPr>
          <a:lstStyle/>
          <a:p>
            <a:pPr>
              <a:lnSpc>
                <a:spcPts val="2400"/>
              </a:lnSpc>
              <a:spcBef>
                <a:spcPts val="0"/>
              </a:spcBef>
              <a:spcAft>
                <a:spcPts val="0"/>
              </a:spcAft>
            </a:pPr>
            <a:r>
              <a:rPr sz="2000" b="0">
                <a:solidFill>
                  <a:srgbClr val="14263D"/>
                </a:solidFill>
                <a:latin typeface="Consolas"/>
              </a:rPr>
              <a:t>enqcmd(wq_portal, &amp;desc);</a:t>
            </a:r>
          </a:p>
          <a:p>
            <a:pPr>
              <a:lnSpc>
                <a:spcPts val="2400"/>
              </a:lnSpc>
              <a:spcBef>
                <a:spcPts val="0"/>
              </a:spcBef>
              <a:spcAft>
                <a:spcPts val="0"/>
              </a:spcAft>
            </a:pPr>
            <a:r>
              <a:rPr sz="2000">
                <a:solidFill>
                  <a:srgbClr val="4B5B6D"/>
                </a:solidFill>
                <a:latin typeface="Consolas"/>
              </a:rPr>
              <a:t>// time polling for completion</a:t>
            </a:r>
          </a:p>
          <a:p>
            <a:pPr>
              <a:lnSpc>
                <a:spcPts val="2400"/>
              </a:lnSpc>
              <a:spcBef>
                <a:spcPts val="0"/>
              </a:spcBef>
              <a:spcAft>
                <a:spcPts val="0"/>
              </a:spcAft>
            </a:pPr>
            <a:r>
              <a:rPr sz="2000" b="0">
                <a:solidFill>
                  <a:srgbClr val="14263D"/>
                </a:solidFill>
                <a:latin typeface="Consolas"/>
              </a:rPr>
              <a:t>start = rdtsc();</a:t>
            </a:r>
          </a:p>
          <a:p>
            <a:pPr>
              <a:lnSpc>
                <a:spcPts val="2400"/>
              </a:lnSpc>
              <a:spcBef>
                <a:spcPts val="0"/>
              </a:spcBef>
              <a:spcAft>
                <a:spcPts val="0"/>
              </a:spcAft>
            </a:pPr>
            <a:r>
              <a:rPr sz="2000" b="0">
                <a:solidFill>
                  <a:srgbClr val="14263D"/>
                </a:solidFill>
                <a:latin typeface="Consolas"/>
              </a:rPr>
              <a:t>while (comp.status == 0);</a:t>
            </a:r>
          </a:p>
          <a:p>
            <a:pPr>
              <a:lnSpc>
                <a:spcPts val="2400"/>
              </a:lnSpc>
              <a:spcBef>
                <a:spcPts val="0"/>
              </a:spcBef>
              <a:spcAft>
                <a:spcPts val="0"/>
              </a:spcAft>
            </a:pPr>
            <a:r>
              <a:rPr sz="2000" b="0">
                <a:solidFill>
                  <a:srgbClr val="14263D"/>
                </a:solidFill>
                <a:latin typeface="Consolas"/>
              </a:rPr>
              <a:t>end = rdtsc();</a:t>
            </a:r>
          </a:p>
          <a:p>
            <a:pPr>
              <a:lnSpc>
                <a:spcPts val="2400"/>
              </a:lnSpc>
              <a:spcBef>
                <a:spcPts val="0"/>
              </a:spcBef>
              <a:spcAft>
                <a:spcPts val="0"/>
              </a:spcAft>
            </a:pPr>
            <a:r>
              <a:rPr sz="2000" b="0">
                <a:solidFill>
                  <a:srgbClr val="14263D"/>
                </a:solidFill>
                <a:latin typeface="Consolas"/>
              </a:rPr>
              <a:t>return end - start;</a:t>
            </a:r>
          </a:p>
        </p:txBody>
      </p:sp>
      <p:sp>
        <p:nvSpPr>
          <p:cNvPr id="13" name="Text: Read the timing order"/>
          <p:cNvSpPr txBox="1"/>
          <p:nvPr/>
        </p:nvSpPr>
        <p:spPr>
          <a:xfrm>
            <a:off x="8247888" y="2404872"/>
            <a:ext cx="3346704"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Read the timing order</a:t>
            </a:r>
          </a:p>
        </p:txBody>
      </p:sp>
      <p:sp>
        <p:nvSpPr>
          <p:cNvPr id="14" name="Text: ENQCMD returns first."/>
          <p:cNvSpPr txBox="1"/>
          <p:nvPr/>
        </p:nvSpPr>
        <p:spPr>
          <a:xfrm>
            <a:off x="8247888" y="2862072"/>
            <a:ext cx="3346704" cy="1508760"/>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ENQCMD returns first.</a:t>
            </a:r>
          </a:p>
          <a:p>
            <a:pPr>
              <a:lnSpc>
                <a:spcPts val="2415"/>
              </a:lnSpc>
              <a:spcBef>
                <a:spcPts val="0"/>
              </a:spcBef>
              <a:spcAft>
                <a:spcPts val="0"/>
              </a:spcAft>
            </a:pPr>
            <a:r>
              <a:rPr sz="2100" b="0">
                <a:solidFill>
                  <a:srgbClr val="14263D"/>
                </a:solidFill>
                <a:latin typeface="Calibri"/>
              </a:rPr>
              <a:t>RDTSC then starts the timer.</a:t>
            </a:r>
          </a:p>
          <a:p>
            <a:pPr>
              <a:lnSpc>
                <a:spcPts val="2415"/>
              </a:lnSpc>
              <a:spcBef>
                <a:spcPts val="0"/>
              </a:spcBef>
              <a:spcAft>
                <a:spcPts val="0"/>
              </a:spcAft>
            </a:pPr>
            <a:r>
              <a:rPr sz="2100" b="0">
                <a:solidFill>
                  <a:srgbClr val="14263D"/>
                </a:solidFill>
                <a:latin typeface="Calibri"/>
              </a:rPr>
              <a:t>Poll your completion record.</a:t>
            </a:r>
          </a:p>
        </p:txBody>
      </p:sp>
      <p:sp>
        <p:nvSpPr>
          <p:cNvPr id="15" name="Text: Slow polling suggests"/>
          <p:cNvSpPr txBox="1"/>
          <p:nvPr/>
        </p:nvSpPr>
        <p:spPr>
          <a:xfrm>
            <a:off x="8247888" y="4590288"/>
            <a:ext cx="3346704" cy="1042415"/>
          </a:xfrm>
          <a:prstGeom prst="rect">
            <a:avLst/>
          </a:prstGeom>
          <a:noFill/>
        </p:spPr>
        <p:txBody>
          <a:bodyPr wrap="square" lIns="0" rIns="0" tIns="0" bIns="0">
            <a:noAutofit/>
          </a:bodyPr>
          <a:lstStyle/>
          <a:p>
            <a:pPr>
              <a:lnSpc>
                <a:spcPts val="2360"/>
              </a:lnSpc>
              <a:spcBef>
                <a:spcPts val="0"/>
              </a:spcBef>
              <a:spcAft>
                <a:spcPts val="0"/>
              </a:spcAft>
            </a:pPr>
            <a:r>
              <a:rPr sz="2000" b="0">
                <a:solidFill>
                  <a:srgbClr val="4B5B6D"/>
                </a:solidFill>
                <a:latin typeface="Calibri"/>
              </a:rPr>
              <a:t>Slow polling suggests</a:t>
            </a:r>
          </a:p>
          <a:p>
            <a:pPr>
              <a:lnSpc>
                <a:spcPts val="2360"/>
              </a:lnSpc>
              <a:spcBef>
                <a:spcPts val="0"/>
              </a:spcBef>
              <a:spcAft>
                <a:spcPts val="0"/>
              </a:spcAft>
            </a:pPr>
            <a:r>
              <a:rPr sz="2000" b="0">
                <a:solidFill>
                  <a:srgbClr val="4B5B6D"/>
                </a:solidFill>
                <a:latin typeface="Calibri"/>
              </a:rPr>
              <a:t>replacement under the</a:t>
            </a:r>
          </a:p>
          <a:p>
            <a:pPr>
              <a:lnSpc>
                <a:spcPts val="2360"/>
              </a:lnSpc>
              <a:spcBef>
                <a:spcPts val="0"/>
              </a:spcBef>
              <a:spcAft>
                <a:spcPts val="0"/>
              </a:spcAft>
            </a:pPr>
            <a:r>
              <a:rPr sz="2000" b="0">
                <a:solidFill>
                  <a:srgbClr val="4B5B6D"/>
                </a:solidFill>
                <a:latin typeface="Calibri"/>
              </a:rPr>
              <a:t>calibrated conditions.</a:t>
            </a:r>
          </a:p>
        </p:txBody>
      </p:sp>
      <p:sp>
        <p:nvSpPr>
          <p:cNvPr id="16" name="Text: Listing 1 times a compare helper. The NOOP attack reuses this tim"/>
          <p:cNvSpPr txBox="1"/>
          <p:nvPr/>
        </p:nvSpPr>
        <p:spPr>
          <a:xfrm>
            <a:off x="594360" y="5330952"/>
            <a:ext cx="7232904" cy="539496"/>
          </a:xfrm>
          <a:prstGeom prst="rect">
            <a:avLst/>
          </a:prstGeom>
          <a:noFill/>
        </p:spPr>
        <p:txBody>
          <a:bodyPr wrap="square" lIns="0" rIns="0" tIns="0" bIns="0">
            <a:noAutofit/>
          </a:bodyPr>
          <a:lstStyle/>
          <a:p>
            <a:pPr>
              <a:lnSpc>
                <a:spcPts val="2124"/>
              </a:lnSpc>
              <a:spcBef>
                <a:spcPts val="0"/>
              </a:spcBef>
              <a:spcAft>
                <a:spcPts val="0"/>
              </a:spcAft>
            </a:pPr>
            <a:r>
              <a:rPr sz="1800" b="0">
                <a:solidFill>
                  <a:srgbClr val="4B5B6D"/>
                </a:solidFill>
                <a:latin typeface="Calibri"/>
              </a:rPr>
              <a:t>Listing 1 times a compare helper. The NOOP attack reuses this timing pattern.</a:t>
            </a:r>
          </a:p>
        </p:txBody>
      </p:sp>
      <p:cxnSp>
        <p:nvCxnSpPr>
          <p:cNvPr id="17" name="Connector 16"/>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8"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Repeated probes turn replacement activity into an observable trace.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Why use a long ordinary copy?</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15</a:t>
            </a:r>
          </a:p>
        </p:txBody>
      </p:sp>
      <p:sp>
        <p:nvSpPr>
          <p:cNvPr id="4" name="Rounded Rectangle 3"/>
          <p:cNvSpPr/>
          <p:nvPr/>
        </p:nvSpPr>
        <p:spPr>
          <a:xfrm>
            <a:off x="594360" y="1847088"/>
            <a:ext cx="7360920" cy="2487168"/>
          </a:xfrm>
          <a:prstGeom prst="roundRect">
            <a:avLst>
              <a:gd name="adj" fmla="val 441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APER LISTING 5"/>
          <p:cNvSpPr txBox="1"/>
          <p:nvPr/>
        </p:nvSpPr>
        <p:spPr>
          <a:xfrm>
            <a:off x="795528" y="1993392"/>
            <a:ext cx="6958584"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1265B0"/>
                </a:solidFill>
                <a:latin typeface="Calibri"/>
              </a:rPr>
              <a:t>PAPER LISTING 5</a:t>
            </a:r>
          </a:p>
        </p:txBody>
      </p:sp>
      <p:sp>
        <p:nvSpPr>
          <p:cNvPr id="6" name="Editable paper Listing 5"/>
          <p:cNvSpPr txBox="1"/>
          <p:nvPr/>
        </p:nvSpPr>
        <p:spPr>
          <a:xfrm>
            <a:off x="795528" y="2331720"/>
            <a:ext cx="6958584" cy="1929384"/>
          </a:xfrm>
          <a:prstGeom prst="rect">
            <a:avLst/>
          </a:prstGeom>
          <a:noFill/>
        </p:spPr>
        <p:txBody>
          <a:bodyPr wrap="none" lIns="0" rIns="0" tIns="0" bIns="0">
            <a:noAutofit/>
          </a:bodyPr>
          <a:lstStyle/>
          <a:p>
            <a:pPr>
              <a:lnSpc>
                <a:spcPts val="2160"/>
              </a:lnSpc>
              <a:spcBef>
                <a:spcPts val="0"/>
              </a:spcBef>
              <a:spcAft>
                <a:spcPts val="0"/>
              </a:spcAft>
            </a:pPr>
            <a:r>
              <a:rPr sz="1800">
                <a:solidFill>
                  <a:srgbClr val="14263D"/>
                </a:solidFill>
                <a:latin typeface="Consolas"/>
              </a:rPr>
              <a:t>enqcmd(wq_portal, &amp;batch_desc);</a:t>
            </a:r>
            <a:r>
              <a:rPr sz="1800">
                <a:solidFill>
                  <a:srgbClr val="4B5B6D"/>
                </a:solidFill>
                <a:latin typeface="Consolas"/>
              </a:rPr>
              <a:t>// (1)</a:t>
            </a:r>
          </a:p>
          <a:p>
            <a:pPr>
              <a:lnSpc>
                <a:spcPts val="2160"/>
              </a:lnSpc>
              <a:spcBef>
                <a:spcPts val="0"/>
              </a:spcBef>
              <a:spcAft>
                <a:spcPts val="0"/>
              </a:spcAft>
            </a:pPr>
            <a:r>
              <a:rPr sz="1800" b="0">
                <a:solidFill>
                  <a:srgbClr val="14263D"/>
                </a:solidFill>
                <a:latin typeface="Consolas"/>
              </a:rPr>
              <a:t>_mm_sfence();</a:t>
            </a:r>
          </a:p>
          <a:p>
            <a:pPr>
              <a:lnSpc>
                <a:spcPts val="2160"/>
              </a:lnSpc>
              <a:spcBef>
                <a:spcPts val="0"/>
              </a:spcBef>
              <a:spcAft>
                <a:spcPts val="0"/>
              </a:spcAft>
            </a:pPr>
            <a:r>
              <a:rPr sz="1800">
                <a:solidFill>
                  <a:srgbClr val="14263D"/>
                </a:solidFill>
                <a:latin typeface="Consolas"/>
              </a:rPr>
              <a:t>enqcmd(wq_portal, &amp;desc); start = rdtsc();</a:t>
            </a:r>
            <a:r>
              <a:rPr sz="1800">
                <a:solidFill>
                  <a:srgbClr val="4B5B6D"/>
                </a:solidFill>
                <a:latin typeface="Consolas"/>
              </a:rPr>
              <a:t>// (2)</a:t>
            </a:r>
          </a:p>
          <a:p>
            <a:pPr>
              <a:lnSpc>
                <a:spcPts val="2160"/>
              </a:lnSpc>
              <a:spcBef>
                <a:spcPts val="0"/>
              </a:spcBef>
              <a:spcAft>
                <a:spcPts val="0"/>
              </a:spcAft>
            </a:pPr>
            <a:r>
              <a:rPr sz="1800" b="0">
                <a:solidFill>
                  <a:srgbClr val="14263D"/>
                </a:solidFill>
                <a:latin typeface="Consolas"/>
              </a:rPr>
              <a:t>while (desc_comp.status == 0);</a:t>
            </a:r>
          </a:p>
          <a:p>
            <a:pPr>
              <a:lnSpc>
                <a:spcPts val="2160"/>
              </a:lnSpc>
              <a:spcBef>
                <a:spcPts val="0"/>
              </a:spcBef>
              <a:spcAft>
                <a:spcPts val="0"/>
              </a:spcAft>
            </a:pPr>
            <a:r>
              <a:rPr sz="1800" b="0">
                <a:solidFill>
                  <a:srgbClr val="14263D"/>
                </a:solidFill>
                <a:latin typeface="Consolas"/>
              </a:rPr>
              <a:t>latency = rdtsc() - start;</a:t>
            </a:r>
          </a:p>
        </p:txBody>
      </p:sp>
      <p:sp>
        <p:nvSpPr>
          <p:cNvPr id="7" name="Text: Test the ordering"/>
          <p:cNvSpPr txBox="1"/>
          <p:nvPr/>
        </p:nvSpPr>
        <p:spPr>
          <a:xfrm>
            <a:off x="8321040" y="1938528"/>
            <a:ext cx="3273552"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Test the ordering</a:t>
            </a:r>
          </a:p>
        </p:txBody>
      </p:sp>
      <p:sp>
        <p:nvSpPr>
          <p:cNvPr id="8" name="Text: Swap the two submissions."/>
          <p:cNvSpPr txBox="1"/>
          <p:nvPr/>
        </p:nvSpPr>
        <p:spPr>
          <a:xfrm>
            <a:off x="8321040" y="2395728"/>
            <a:ext cx="3273552" cy="1554480"/>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Swap the two submissions.</a:t>
            </a:r>
          </a:p>
          <a:p>
            <a:pPr>
              <a:lnSpc>
                <a:spcPts val="2415"/>
              </a:lnSpc>
              <a:spcBef>
                <a:spcPts val="0"/>
              </a:spcBef>
              <a:spcAft>
                <a:spcPts val="0"/>
              </a:spcAft>
            </a:pPr>
            <a:r>
              <a:rPr sz="2100" b="0">
                <a:solidFill>
                  <a:srgbClr val="14263D"/>
                </a:solidFill>
                <a:latin typeface="Calibri"/>
              </a:rPr>
              <a:t>Measure ordinary work’s</a:t>
            </a:r>
          </a:p>
          <a:p>
            <a:pPr>
              <a:lnSpc>
                <a:spcPts val="2415"/>
              </a:lnSpc>
              <a:spcBef>
                <a:spcPts val="0"/>
              </a:spcBef>
              <a:spcAft>
                <a:spcPts val="0"/>
              </a:spcAft>
            </a:pPr>
            <a:r>
              <a:rPr sz="2100" b="0">
                <a:solidFill>
                  <a:srgbClr val="14263D"/>
                </a:solidFill>
                <a:latin typeface="Calibri"/>
              </a:rPr>
              <a:t>completion latency.</a:t>
            </a:r>
          </a:p>
        </p:txBody>
      </p:sp>
      <p:sp>
        <p:nvSpPr>
          <p:cNvPr id="9" name="Rounded Rectangle 8"/>
          <p:cNvSpPr/>
          <p:nvPr/>
        </p:nvSpPr>
        <p:spPr>
          <a:xfrm>
            <a:off x="594360" y="4663440"/>
            <a:ext cx="7360920" cy="987552"/>
          </a:xfrm>
          <a:prstGeom prst="roundRect">
            <a:avLst>
              <a:gd name="adj" fmla="val 8333"/>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Observed preference:"/>
          <p:cNvSpPr txBox="1"/>
          <p:nvPr/>
        </p:nvSpPr>
        <p:spPr>
          <a:xfrm>
            <a:off x="813816" y="4828032"/>
            <a:ext cx="6922008" cy="722376"/>
          </a:xfrm>
          <a:prstGeom prst="rect">
            <a:avLst/>
          </a:prstGeom>
          <a:noFill/>
        </p:spPr>
        <p:txBody>
          <a:bodyPr wrap="square" lIns="0" rIns="0" tIns="0" bIns="0">
            <a:noAutofit/>
          </a:bodyPr>
          <a:lstStyle/>
          <a:p>
            <a:pPr>
              <a:lnSpc>
                <a:spcPts val="2530"/>
              </a:lnSpc>
              <a:spcBef>
                <a:spcPts val="0"/>
              </a:spcBef>
              <a:spcAft>
                <a:spcPts val="0"/>
              </a:spcAft>
            </a:pPr>
            <a:r>
              <a:rPr sz="2300" b="1">
                <a:solidFill>
                  <a:srgbClr val="1265B0"/>
                </a:solidFill>
                <a:latin typeface="Calibri"/>
              </a:rPr>
              <a:t>Observed preference:</a:t>
            </a:r>
          </a:p>
          <a:p>
            <a:pPr>
              <a:lnSpc>
                <a:spcPts val="2530"/>
              </a:lnSpc>
              <a:spcBef>
                <a:spcPts val="0"/>
              </a:spcBef>
              <a:spcAft>
                <a:spcPts val="0"/>
              </a:spcAft>
            </a:pPr>
            <a:r>
              <a:rPr sz="2300" b="1">
                <a:solidFill>
                  <a:srgbClr val="1265B0"/>
                </a:solidFill>
                <a:latin typeface="Calibri"/>
              </a:rPr>
              <a:t>ordinary work over batch work</a:t>
            </a:r>
          </a:p>
        </p:txBody>
      </p:sp>
      <p:sp>
        <p:nvSpPr>
          <p:cNvPr id="11" name="Text: A batch is an unreliable"/>
          <p:cNvSpPr txBox="1"/>
          <p:nvPr/>
        </p:nvSpPr>
        <p:spPr>
          <a:xfrm>
            <a:off x="8321040" y="4727448"/>
            <a:ext cx="3273552" cy="914400"/>
          </a:xfrm>
          <a:prstGeom prst="rect">
            <a:avLst/>
          </a:prstGeom>
          <a:noFill/>
        </p:spPr>
        <p:txBody>
          <a:bodyPr wrap="square" lIns="0" rIns="0" tIns="0" bIns="0">
            <a:noAutofit/>
          </a:bodyPr>
          <a:lstStyle/>
          <a:p>
            <a:pPr>
              <a:lnSpc>
                <a:spcPts val="2477"/>
              </a:lnSpc>
              <a:spcBef>
                <a:spcPts val="0"/>
              </a:spcBef>
              <a:spcAft>
                <a:spcPts val="0"/>
              </a:spcAft>
            </a:pPr>
            <a:r>
              <a:rPr sz="2100" b="0">
                <a:solidFill>
                  <a:srgbClr val="4B5B6D"/>
                </a:solidFill>
                <a:latin typeface="Calibri"/>
              </a:rPr>
              <a:t>A batch is an unreliable</a:t>
            </a:r>
          </a:p>
          <a:p>
            <a:pPr>
              <a:lnSpc>
                <a:spcPts val="2477"/>
              </a:lnSpc>
              <a:spcBef>
                <a:spcPts val="0"/>
              </a:spcBef>
              <a:spcAft>
                <a:spcPts val="0"/>
              </a:spcAft>
            </a:pPr>
            <a:r>
              <a:rPr sz="2100" b="0">
                <a:solidFill>
                  <a:srgbClr val="4B5B6D"/>
                </a:solidFill>
                <a:latin typeface="Calibri"/>
              </a:rPr>
              <a:t>way to hold up the queue.</a:t>
            </a:r>
          </a:p>
        </p:txBody>
      </p:sp>
      <p:cxnSp>
        <p:nvCxnSpPr>
          <p:cNvPr id="12" name="Connector 11"/>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A long ordinary copy provides the anchor for the congestion attack.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SWQ attack: fill, wait, probe</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16</a:t>
            </a:r>
          </a:p>
        </p:txBody>
      </p:sp>
      <p:sp>
        <p:nvSpPr>
          <p:cNvPr id="4" name="Rounded Rectangle 3"/>
          <p:cNvSpPr/>
          <p:nvPr/>
        </p:nvSpPr>
        <p:spPr>
          <a:xfrm>
            <a:off x="594360" y="1664208"/>
            <a:ext cx="7333488" cy="3621024"/>
          </a:xfrm>
          <a:prstGeom prst="roundRect">
            <a:avLst>
              <a:gd name="adj" fmla="val 303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APER LISTING 6"/>
          <p:cNvSpPr txBox="1"/>
          <p:nvPr/>
        </p:nvSpPr>
        <p:spPr>
          <a:xfrm>
            <a:off x="795528" y="1810512"/>
            <a:ext cx="6931151" cy="256032"/>
          </a:xfrm>
          <a:prstGeom prst="rect">
            <a:avLst/>
          </a:prstGeom>
          <a:noFill/>
        </p:spPr>
        <p:txBody>
          <a:bodyPr wrap="square" lIns="0" rIns="0" tIns="0" bIns="0">
            <a:noAutofit/>
          </a:bodyPr>
          <a:lstStyle/>
          <a:p>
            <a:pPr>
              <a:lnSpc>
                <a:spcPts val="1300"/>
              </a:lnSpc>
              <a:spcBef>
                <a:spcPts val="0"/>
              </a:spcBef>
              <a:spcAft>
                <a:spcPts val="0"/>
              </a:spcAft>
            </a:pPr>
            <a:r>
              <a:rPr sz="1300" b="1">
                <a:solidFill>
                  <a:srgbClr val="1265B0"/>
                </a:solidFill>
                <a:latin typeface="Calibri"/>
              </a:rPr>
              <a:t>PAPER LISTING 6</a:t>
            </a:r>
          </a:p>
        </p:txBody>
      </p:sp>
      <p:sp>
        <p:nvSpPr>
          <p:cNvPr id="6" name="Editable paper Listing 6"/>
          <p:cNvSpPr txBox="1"/>
          <p:nvPr/>
        </p:nvSpPr>
        <p:spPr>
          <a:xfrm>
            <a:off x="795528" y="2148840"/>
            <a:ext cx="6931151" cy="3063240"/>
          </a:xfrm>
          <a:prstGeom prst="rect">
            <a:avLst/>
          </a:prstGeom>
          <a:noFill/>
        </p:spPr>
        <p:txBody>
          <a:bodyPr wrap="none" lIns="0" rIns="0" tIns="0" bIns="0">
            <a:noAutofit/>
          </a:bodyPr>
          <a:lstStyle/>
          <a:p>
            <a:pPr>
              <a:lnSpc>
                <a:spcPts val="2160"/>
              </a:lnSpc>
              <a:spcBef>
                <a:spcPts val="0"/>
              </a:spcBef>
              <a:spcAft>
                <a:spcPts val="0"/>
              </a:spcAft>
            </a:pPr>
            <a:r>
              <a:rPr sz="1800" b="0">
                <a:solidFill>
                  <a:srgbClr val="14263D"/>
                </a:solidFill>
                <a:latin typeface="Consolas"/>
              </a:rPr>
              <a:t>struct dsa_hw_desc desc_buf[] = {...};</a:t>
            </a:r>
          </a:p>
          <a:p>
            <a:pPr>
              <a:lnSpc>
                <a:spcPts val="2160"/>
              </a:lnSpc>
              <a:spcBef>
                <a:spcPts val="0"/>
              </a:spcBef>
              <a:spcAft>
                <a:spcPts val="0"/>
              </a:spcAft>
            </a:pPr>
            <a:r>
              <a:rPr sz="1800" b="0">
                <a:solidFill>
                  <a:srgbClr val="14263D"/>
                </a:solidFill>
                <a:latin typeface="Consolas"/>
              </a:rPr>
              <a:t/>
            </a:r>
          </a:p>
          <a:p>
            <a:pPr>
              <a:lnSpc>
                <a:spcPts val="2160"/>
              </a:lnSpc>
              <a:spcBef>
                <a:spcPts val="0"/>
              </a:spcBef>
              <a:spcAft>
                <a:spcPts val="0"/>
              </a:spcAft>
            </a:pPr>
            <a:r>
              <a:rPr sz="1800" b="0">
                <a:solidFill>
                  <a:srgbClr val="14263D"/>
                </a:solidFill>
                <a:latin typeface="Consolas"/>
              </a:rPr>
              <a:t>void congest(int wq_size) {</a:t>
            </a:r>
          </a:p>
          <a:p>
            <a:pPr>
              <a:lnSpc>
                <a:spcPts val="2160"/>
              </a:lnSpc>
              <a:spcBef>
                <a:spcPts val="0"/>
              </a:spcBef>
              <a:spcAft>
                <a:spcPts val="0"/>
              </a:spcAft>
            </a:pPr>
            <a:r>
              <a:rPr sz="1800" b="0">
                <a:solidFill>
                  <a:srgbClr val="14263D"/>
                </a:solidFill>
                <a:latin typeface="Consolas"/>
              </a:rPr>
              <a:t>    enqcmd(wq_portal, &amp;mass_desc);</a:t>
            </a:r>
          </a:p>
          <a:p>
            <a:pPr>
              <a:lnSpc>
                <a:spcPts val="2160"/>
              </a:lnSpc>
              <a:spcBef>
                <a:spcPts val="0"/>
              </a:spcBef>
              <a:spcAft>
                <a:spcPts val="0"/>
              </a:spcAft>
            </a:pPr>
            <a:r>
              <a:rPr sz="1800" b="0">
                <a:solidFill>
                  <a:srgbClr val="14263D"/>
                </a:solidFill>
                <a:latin typeface="Consolas"/>
              </a:rPr>
              <a:t>    for(int i = 1; i &lt; wq_size - 1; i++)</a:t>
            </a:r>
          </a:p>
          <a:p>
            <a:pPr>
              <a:lnSpc>
                <a:spcPts val="2160"/>
              </a:lnSpc>
              <a:spcBef>
                <a:spcPts val="0"/>
              </a:spcBef>
              <a:spcAft>
                <a:spcPts val="0"/>
              </a:spcAft>
            </a:pPr>
            <a:r>
              <a:rPr sz="1800" b="0">
                <a:solidFill>
                  <a:srgbClr val="14263D"/>
                </a:solidFill>
                <a:latin typeface="Consolas"/>
              </a:rPr>
              <a:t>        enqcmd(wq_portal, &amp;desc_buf[i]);</a:t>
            </a:r>
          </a:p>
          <a:p>
            <a:pPr>
              <a:lnSpc>
                <a:spcPts val="2160"/>
              </a:lnSpc>
              <a:spcBef>
                <a:spcPts val="0"/>
              </a:spcBef>
              <a:spcAft>
                <a:spcPts val="0"/>
              </a:spcAft>
            </a:pPr>
            <a:r>
              <a:rPr sz="1800" b="0">
                <a:solidFill>
                  <a:srgbClr val="14263D"/>
                </a:solidFill>
                <a:latin typeface="Consolas"/>
              </a:rPr>
              <a:t>}</a:t>
            </a:r>
          </a:p>
          <a:p>
            <a:pPr>
              <a:lnSpc>
                <a:spcPts val="2160"/>
              </a:lnSpc>
              <a:spcBef>
                <a:spcPts val="0"/>
              </a:spcBef>
              <a:spcAft>
                <a:spcPts val="0"/>
              </a:spcAft>
            </a:pPr>
            <a:r>
              <a:rPr sz="1800" b="0">
                <a:solidFill>
                  <a:srgbClr val="14263D"/>
                </a:solidFill>
                <a:latin typeface="Consolas"/>
              </a:rPr>
              <a:t/>
            </a:r>
          </a:p>
          <a:p>
            <a:pPr>
              <a:lnSpc>
                <a:spcPts val="2160"/>
              </a:lnSpc>
              <a:spcBef>
                <a:spcPts val="0"/>
              </a:spcBef>
              <a:spcAft>
                <a:spcPts val="0"/>
              </a:spcAft>
            </a:pPr>
            <a:r>
              <a:rPr sz="1800" b="0">
                <a:solidFill>
                  <a:srgbClr val="14263D"/>
                </a:solidFill>
                <a:latin typeface="Consolas"/>
              </a:rPr>
              <a:t>int probe() { return enqcmd(wq_portal, &amp;desc); }</a:t>
            </a:r>
          </a:p>
        </p:txBody>
      </p:sp>
      <p:sp>
        <p:nvSpPr>
          <p:cNvPr id="7" name="Text: Prepare the queue"/>
          <p:cNvSpPr txBox="1"/>
          <p:nvPr/>
        </p:nvSpPr>
        <p:spPr>
          <a:xfrm>
            <a:off x="8302752" y="1764792"/>
            <a:ext cx="3291840" cy="347472"/>
          </a:xfrm>
          <a:prstGeom prst="rect">
            <a:avLst/>
          </a:prstGeom>
          <a:noFill/>
        </p:spPr>
        <p:txBody>
          <a:bodyPr wrap="square" lIns="0" rIns="0" tIns="0" bIns="0">
            <a:noAutofit/>
          </a:bodyPr>
          <a:lstStyle/>
          <a:p>
            <a:pPr>
              <a:lnSpc>
                <a:spcPts val="2100"/>
              </a:lnSpc>
              <a:spcBef>
                <a:spcPts val="0"/>
              </a:spcBef>
              <a:spcAft>
                <a:spcPts val="0"/>
              </a:spcAft>
            </a:pPr>
            <a:r>
              <a:rPr sz="2000" b="1">
                <a:solidFill>
                  <a:srgbClr val="1265B0"/>
                </a:solidFill>
                <a:latin typeface="Calibri"/>
              </a:rPr>
              <a:t>Prepare the queue</a:t>
            </a:r>
          </a:p>
        </p:txBody>
      </p:sp>
      <p:sp>
        <p:nvSpPr>
          <p:cNvPr id="8" name="Text: 1 long copy + N−2 fillers."/>
          <p:cNvSpPr txBox="1"/>
          <p:nvPr/>
        </p:nvSpPr>
        <p:spPr>
          <a:xfrm>
            <a:off x="8302752" y="2221991"/>
            <a:ext cx="3291840" cy="1042415"/>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1 long copy + N−2 fillers.</a:t>
            </a:r>
          </a:p>
          <a:p>
            <a:pPr>
              <a:lnSpc>
                <a:spcPts val="2415"/>
              </a:lnSpc>
              <a:spcBef>
                <a:spcPts val="0"/>
              </a:spcBef>
              <a:spcAft>
                <a:spcPts val="0"/>
              </a:spcAft>
            </a:pPr>
            <a:r>
              <a:rPr sz="2100" b="0">
                <a:solidFill>
                  <a:srgbClr val="14263D"/>
                </a:solidFill>
                <a:latin typeface="Calibri"/>
              </a:rPr>
              <a:t>Target occupancy: N−1.</a:t>
            </a:r>
          </a:p>
        </p:txBody>
      </p:sp>
      <p:sp>
        <p:nvSpPr>
          <p:cNvPr id="9" name="Text: ZF = 0: accepted"/>
          <p:cNvSpPr txBox="1"/>
          <p:nvPr/>
        </p:nvSpPr>
        <p:spPr>
          <a:xfrm>
            <a:off x="8302752" y="3520440"/>
            <a:ext cx="3291840" cy="411480"/>
          </a:xfrm>
          <a:prstGeom prst="rect">
            <a:avLst/>
          </a:prstGeom>
          <a:noFill/>
        </p:spPr>
        <p:txBody>
          <a:bodyPr wrap="square" lIns="0" rIns="0" tIns="0" bIns="0">
            <a:noAutofit/>
          </a:bodyPr>
          <a:lstStyle/>
          <a:p>
            <a:pPr>
              <a:lnSpc>
                <a:spcPts val="2595"/>
              </a:lnSpc>
              <a:spcBef>
                <a:spcPts val="0"/>
              </a:spcBef>
              <a:spcAft>
                <a:spcPts val="0"/>
              </a:spcAft>
            </a:pPr>
            <a:r>
              <a:rPr sz="2200" b="1">
                <a:solidFill>
                  <a:srgbClr val="21734F"/>
                </a:solidFill>
                <a:latin typeface="Calibri"/>
              </a:rPr>
              <a:t>ZF = 0: accepted</a:t>
            </a:r>
          </a:p>
        </p:txBody>
      </p:sp>
      <p:sp>
        <p:nvSpPr>
          <p:cNvPr id="10" name="Text: ZF = 1: retry"/>
          <p:cNvSpPr txBox="1"/>
          <p:nvPr/>
        </p:nvSpPr>
        <p:spPr>
          <a:xfrm>
            <a:off x="8302752" y="4123944"/>
            <a:ext cx="3291840" cy="411480"/>
          </a:xfrm>
          <a:prstGeom prst="rect">
            <a:avLst/>
          </a:prstGeom>
          <a:noFill/>
        </p:spPr>
        <p:txBody>
          <a:bodyPr wrap="square" lIns="0" rIns="0" tIns="0" bIns="0">
            <a:noAutofit/>
          </a:bodyPr>
          <a:lstStyle/>
          <a:p>
            <a:pPr>
              <a:lnSpc>
                <a:spcPts val="2595"/>
              </a:lnSpc>
              <a:spcBef>
                <a:spcPts val="0"/>
              </a:spcBef>
              <a:spcAft>
                <a:spcPts val="0"/>
              </a:spcAft>
            </a:pPr>
            <a:r>
              <a:rPr sz="2200" b="1">
                <a:solidFill>
                  <a:srgbClr val="A82E3A"/>
                </a:solidFill>
                <a:latin typeface="Calibri"/>
              </a:rPr>
              <a:t>ZF = 1: retry</a:t>
            </a:r>
          </a:p>
        </p:txBody>
      </p:sp>
      <p:sp>
        <p:nvSpPr>
          <p:cNvPr id="11" name="Text: Full in the prepared"/>
          <p:cNvSpPr txBox="1"/>
          <p:nvPr/>
        </p:nvSpPr>
        <p:spPr>
          <a:xfrm>
            <a:off x="8302752" y="4709160"/>
            <a:ext cx="3291840" cy="731520"/>
          </a:xfrm>
          <a:prstGeom prst="rect">
            <a:avLst/>
          </a:prstGeom>
          <a:noFill/>
        </p:spPr>
        <p:txBody>
          <a:bodyPr wrap="square" lIns="0" rIns="0" tIns="0" bIns="0">
            <a:noAutofit/>
          </a:bodyPr>
          <a:lstStyle/>
          <a:p>
            <a:pPr>
              <a:lnSpc>
                <a:spcPts val="2360"/>
              </a:lnSpc>
              <a:spcBef>
                <a:spcPts val="0"/>
              </a:spcBef>
              <a:spcAft>
                <a:spcPts val="0"/>
              </a:spcAft>
            </a:pPr>
            <a:r>
              <a:rPr sz="2000" b="0">
                <a:solidFill>
                  <a:srgbClr val="4B5B6D"/>
                </a:solidFill>
                <a:latin typeface="Calibri"/>
              </a:rPr>
              <a:t>Full in the prepared</a:t>
            </a:r>
          </a:p>
          <a:p>
            <a:pPr>
              <a:lnSpc>
                <a:spcPts val="2360"/>
              </a:lnSpc>
              <a:spcBef>
                <a:spcPts val="0"/>
              </a:spcBef>
              <a:spcAft>
                <a:spcPts val="0"/>
              </a:spcAft>
            </a:pPr>
            <a:r>
              <a:rPr sz="2000" b="0">
                <a:solidFill>
                  <a:srgbClr val="4B5B6D"/>
                </a:solidFill>
                <a:latin typeface="Calibri"/>
              </a:rPr>
              <a:t>observation window.</a:t>
            </a:r>
          </a:p>
        </p:txBody>
      </p:sp>
      <p:sp>
        <p:nvSpPr>
          <p:cNvPr id="12" name="Text: Probe before the long copy completes. The paper observed contenti"/>
          <p:cNvSpPr txBox="1"/>
          <p:nvPr/>
        </p:nvSpPr>
        <p:spPr>
          <a:xfrm>
            <a:off x="594360" y="5532120"/>
            <a:ext cx="11003279" cy="365760"/>
          </a:xfrm>
          <a:prstGeom prst="rect">
            <a:avLst/>
          </a:prstGeom>
          <a:noFill/>
        </p:spPr>
        <p:txBody>
          <a:bodyPr wrap="square" lIns="0" rIns="0" tIns="0" bIns="0">
            <a:noAutofit/>
          </a:bodyPr>
          <a:lstStyle/>
          <a:p>
            <a:pPr>
              <a:lnSpc>
                <a:spcPts val="2124"/>
              </a:lnSpc>
              <a:spcBef>
                <a:spcPts val="0"/>
              </a:spcBef>
              <a:spcAft>
                <a:spcPts val="0"/>
              </a:spcAft>
            </a:pPr>
            <a:r>
              <a:rPr sz="1800" b="0">
                <a:solidFill>
                  <a:srgbClr val="4B5B6D"/>
                </a:solidFill>
                <a:latin typeface="Calibri"/>
              </a:rPr>
              <a:t>Probe before the long copy completes. The paper observed contention at 32 MiB and above.</a:t>
            </a:r>
          </a:p>
        </p:txBody>
      </p:sp>
      <p:cxnSp>
        <p:nvCxnSpPr>
          <p:cNvPr id="13" name="Connector 12"/>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4"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signal is admission feedback, not completion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From a probe result to an inference</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17</a:t>
            </a:r>
          </a:p>
        </p:txBody>
      </p:sp>
      <p:sp>
        <p:nvSpPr>
          <p:cNvPr id="4" name="Rounded Rectangle 3"/>
          <p:cNvSpPr/>
          <p:nvPr/>
        </p:nvSpPr>
        <p:spPr>
          <a:xfrm>
            <a:off x="594360" y="1664208"/>
            <a:ext cx="7452360" cy="841248"/>
          </a:xfrm>
          <a:prstGeom prst="roundRect">
            <a:avLst>
              <a:gd name="adj" fmla="val 869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1"/>
          <p:cNvSpPr txBox="1"/>
          <p:nvPr/>
        </p:nvSpPr>
        <p:spPr>
          <a:xfrm>
            <a:off x="749808" y="1865376"/>
            <a:ext cx="411480" cy="36576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1</a:t>
            </a:r>
          </a:p>
        </p:txBody>
      </p:sp>
      <p:sp>
        <p:nvSpPr>
          <p:cNvPr id="6" name="Text: Measure your own request"/>
          <p:cNvSpPr txBox="1"/>
          <p:nvPr/>
        </p:nvSpPr>
        <p:spPr>
          <a:xfrm>
            <a:off x="1316736" y="1773936"/>
            <a:ext cx="6519672" cy="310896"/>
          </a:xfrm>
          <a:prstGeom prst="rect">
            <a:avLst/>
          </a:prstGeom>
          <a:noFill/>
        </p:spPr>
        <p:txBody>
          <a:bodyPr wrap="square" lIns="0" rIns="0" tIns="0" bIns="0">
            <a:noAutofit/>
          </a:bodyPr>
          <a:lstStyle/>
          <a:p>
            <a:pPr>
              <a:lnSpc>
                <a:spcPts val="2477"/>
              </a:lnSpc>
              <a:spcBef>
                <a:spcPts val="0"/>
              </a:spcBef>
              <a:spcAft>
                <a:spcPts val="0"/>
              </a:spcAft>
            </a:pPr>
            <a:r>
              <a:rPr sz="2100" b="1">
                <a:solidFill>
                  <a:srgbClr val="14263D"/>
                </a:solidFill>
                <a:latin typeface="Calibri"/>
              </a:rPr>
              <a:t>Measure your own request</a:t>
            </a:r>
          </a:p>
        </p:txBody>
      </p:sp>
      <p:sp>
        <p:nvSpPr>
          <p:cNvPr id="7" name="Text: Completion-polling latency or an ENQCMD result"/>
          <p:cNvSpPr txBox="1"/>
          <p:nvPr/>
        </p:nvSpPr>
        <p:spPr>
          <a:xfrm>
            <a:off x="1316736" y="2130552"/>
            <a:ext cx="6519672" cy="320040"/>
          </a:xfrm>
          <a:prstGeom prst="rect">
            <a:avLst/>
          </a:prstGeom>
          <a:noFill/>
        </p:spPr>
        <p:txBody>
          <a:bodyPr wrap="square" lIns="0" rIns="0" tIns="0" bIns="0">
            <a:noAutofit/>
          </a:bodyPr>
          <a:lstStyle/>
          <a:p>
            <a:pPr>
              <a:lnSpc>
                <a:spcPts val="1900"/>
              </a:lnSpc>
              <a:spcBef>
                <a:spcPts val="0"/>
              </a:spcBef>
              <a:spcAft>
                <a:spcPts val="0"/>
              </a:spcAft>
            </a:pPr>
            <a:r>
              <a:rPr sz="1900" b="0">
                <a:solidFill>
                  <a:srgbClr val="4B5B6D"/>
                </a:solidFill>
                <a:latin typeface="Calibri"/>
              </a:rPr>
              <a:t>Completion-polling latency or an ENQCMD result</a:t>
            </a:r>
          </a:p>
        </p:txBody>
      </p:sp>
      <p:sp>
        <p:nvSpPr>
          <p:cNvPr id="8" name="Rounded Rectangle 7"/>
          <p:cNvSpPr/>
          <p:nvPr/>
        </p:nvSpPr>
        <p:spPr>
          <a:xfrm>
            <a:off x="594360" y="2633472"/>
            <a:ext cx="7452360" cy="841248"/>
          </a:xfrm>
          <a:prstGeom prst="roundRect">
            <a:avLst>
              <a:gd name="adj" fmla="val 869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2"/>
          <p:cNvSpPr txBox="1"/>
          <p:nvPr/>
        </p:nvSpPr>
        <p:spPr>
          <a:xfrm>
            <a:off x="749808" y="2834640"/>
            <a:ext cx="411480" cy="36576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2</a:t>
            </a:r>
          </a:p>
        </p:txBody>
      </p:sp>
      <p:sp>
        <p:nvSpPr>
          <p:cNvPr id="10" name="Text: Estimate activity"/>
          <p:cNvSpPr txBox="1"/>
          <p:nvPr/>
        </p:nvSpPr>
        <p:spPr>
          <a:xfrm>
            <a:off x="1316736" y="2743200"/>
            <a:ext cx="6519672" cy="310896"/>
          </a:xfrm>
          <a:prstGeom prst="rect">
            <a:avLst/>
          </a:prstGeom>
          <a:noFill/>
        </p:spPr>
        <p:txBody>
          <a:bodyPr wrap="square" lIns="0" rIns="0" tIns="0" bIns="0">
            <a:noAutofit/>
          </a:bodyPr>
          <a:lstStyle/>
          <a:p>
            <a:pPr>
              <a:lnSpc>
                <a:spcPts val="2477"/>
              </a:lnSpc>
              <a:spcBef>
                <a:spcPts val="0"/>
              </a:spcBef>
              <a:spcAft>
                <a:spcPts val="0"/>
              </a:spcAft>
            </a:pPr>
            <a:r>
              <a:rPr sz="2100" b="1">
                <a:solidFill>
                  <a:srgbClr val="14263D"/>
                </a:solidFill>
                <a:latin typeface="Calibri"/>
              </a:rPr>
              <a:t>Estimate activity</a:t>
            </a:r>
          </a:p>
        </p:txBody>
      </p:sp>
      <p:sp>
        <p:nvSpPr>
          <p:cNvPr id="11" name="Text: Calibrate latency or prepare the queue window"/>
          <p:cNvSpPr txBox="1"/>
          <p:nvPr/>
        </p:nvSpPr>
        <p:spPr>
          <a:xfrm>
            <a:off x="1316736" y="3099815"/>
            <a:ext cx="6519672" cy="320040"/>
          </a:xfrm>
          <a:prstGeom prst="rect">
            <a:avLst/>
          </a:prstGeom>
          <a:noFill/>
        </p:spPr>
        <p:txBody>
          <a:bodyPr wrap="square" lIns="0" rIns="0" tIns="0" bIns="0">
            <a:noAutofit/>
          </a:bodyPr>
          <a:lstStyle/>
          <a:p>
            <a:pPr>
              <a:lnSpc>
                <a:spcPts val="1900"/>
              </a:lnSpc>
              <a:spcBef>
                <a:spcPts val="0"/>
              </a:spcBef>
              <a:spcAft>
                <a:spcPts val="0"/>
              </a:spcAft>
            </a:pPr>
            <a:r>
              <a:rPr sz="1900" b="0">
                <a:solidFill>
                  <a:srgbClr val="4B5B6D"/>
                </a:solidFill>
                <a:latin typeface="Calibri"/>
              </a:rPr>
              <a:t>Calibrate latency or prepare the queue window</a:t>
            </a:r>
          </a:p>
        </p:txBody>
      </p:sp>
      <p:sp>
        <p:nvSpPr>
          <p:cNvPr id="12" name="Rounded Rectangle 11"/>
          <p:cNvSpPr/>
          <p:nvPr/>
        </p:nvSpPr>
        <p:spPr>
          <a:xfrm>
            <a:off x="594360" y="3602736"/>
            <a:ext cx="7452360" cy="841248"/>
          </a:xfrm>
          <a:prstGeom prst="roundRect">
            <a:avLst>
              <a:gd name="adj" fmla="val 869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3"/>
          <p:cNvSpPr txBox="1"/>
          <p:nvPr/>
        </p:nvSpPr>
        <p:spPr>
          <a:xfrm>
            <a:off x="749808" y="3803904"/>
            <a:ext cx="411480" cy="36576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3</a:t>
            </a:r>
          </a:p>
        </p:txBody>
      </p:sp>
      <p:sp>
        <p:nvSpPr>
          <p:cNvPr id="14" name="Text: Build an observation window"/>
          <p:cNvSpPr txBox="1"/>
          <p:nvPr/>
        </p:nvSpPr>
        <p:spPr>
          <a:xfrm>
            <a:off x="1316736" y="3712464"/>
            <a:ext cx="6519672" cy="310896"/>
          </a:xfrm>
          <a:prstGeom prst="rect">
            <a:avLst/>
          </a:prstGeom>
          <a:noFill/>
        </p:spPr>
        <p:txBody>
          <a:bodyPr wrap="square" lIns="0" rIns="0" tIns="0" bIns="0">
            <a:noAutofit/>
          </a:bodyPr>
          <a:lstStyle/>
          <a:p>
            <a:pPr>
              <a:lnSpc>
                <a:spcPts val="2477"/>
              </a:lnSpc>
              <a:spcBef>
                <a:spcPts val="0"/>
              </a:spcBef>
              <a:spcAft>
                <a:spcPts val="0"/>
              </a:spcAft>
            </a:pPr>
            <a:r>
              <a:rPr sz="2100" b="1">
                <a:solidFill>
                  <a:srgbClr val="14263D"/>
                </a:solidFill>
                <a:latin typeface="Calibri"/>
              </a:rPr>
              <a:t>Build an observation window</a:t>
            </a:r>
          </a:p>
        </p:txBody>
      </p:sp>
      <p:sp>
        <p:nvSpPr>
          <p:cNvPr id="15" name="Text: Count inferred misses or locate candidate events"/>
          <p:cNvSpPr txBox="1"/>
          <p:nvPr/>
        </p:nvSpPr>
        <p:spPr>
          <a:xfrm>
            <a:off x="1316736" y="4069080"/>
            <a:ext cx="6519672" cy="320040"/>
          </a:xfrm>
          <a:prstGeom prst="rect">
            <a:avLst/>
          </a:prstGeom>
          <a:noFill/>
        </p:spPr>
        <p:txBody>
          <a:bodyPr wrap="square" lIns="0" rIns="0" tIns="0" bIns="0">
            <a:noAutofit/>
          </a:bodyPr>
          <a:lstStyle/>
          <a:p>
            <a:pPr>
              <a:lnSpc>
                <a:spcPts val="1900"/>
              </a:lnSpc>
              <a:spcBef>
                <a:spcPts val="0"/>
              </a:spcBef>
              <a:spcAft>
                <a:spcPts val="0"/>
              </a:spcAft>
            </a:pPr>
            <a:r>
              <a:rPr sz="1900" b="0">
                <a:solidFill>
                  <a:srgbClr val="4B5B6D"/>
                </a:solidFill>
                <a:latin typeface="Calibri"/>
              </a:rPr>
              <a:t>Count inferred misses or locate candidate events</a:t>
            </a:r>
          </a:p>
        </p:txBody>
      </p:sp>
      <p:sp>
        <p:nvSpPr>
          <p:cNvPr id="16" name="Rounded Rectangle 15"/>
          <p:cNvSpPr/>
          <p:nvPr/>
        </p:nvSpPr>
        <p:spPr>
          <a:xfrm>
            <a:off x="594360" y="4572000"/>
            <a:ext cx="7452360" cy="841248"/>
          </a:xfrm>
          <a:prstGeom prst="roundRect">
            <a:avLst>
              <a:gd name="adj" fmla="val 869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4"/>
          <p:cNvSpPr txBox="1"/>
          <p:nvPr/>
        </p:nvSpPr>
        <p:spPr>
          <a:xfrm>
            <a:off x="749808" y="4773168"/>
            <a:ext cx="411480" cy="36576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4</a:t>
            </a:r>
          </a:p>
        </p:txBody>
      </p:sp>
      <p:sp>
        <p:nvSpPr>
          <p:cNvPr id="18" name="Text: Interpret the pattern"/>
          <p:cNvSpPr txBox="1"/>
          <p:nvPr/>
        </p:nvSpPr>
        <p:spPr>
          <a:xfrm>
            <a:off x="1316736" y="4681728"/>
            <a:ext cx="6519672" cy="310896"/>
          </a:xfrm>
          <a:prstGeom prst="rect">
            <a:avLst/>
          </a:prstGeom>
          <a:noFill/>
        </p:spPr>
        <p:txBody>
          <a:bodyPr wrap="square" lIns="0" rIns="0" tIns="0" bIns="0">
            <a:noAutofit/>
          </a:bodyPr>
          <a:lstStyle/>
          <a:p>
            <a:pPr>
              <a:lnSpc>
                <a:spcPts val="2477"/>
              </a:lnSpc>
              <a:spcBef>
                <a:spcPts val="0"/>
              </a:spcBef>
              <a:spcAft>
                <a:spcPts val="0"/>
              </a:spcAft>
            </a:pPr>
            <a:r>
              <a:rPr sz="2100" b="1">
                <a:solidFill>
                  <a:srgbClr val="14263D"/>
                </a:solidFill>
                <a:latin typeface="Calibri"/>
              </a:rPr>
              <a:t>Interpret the pattern</a:t>
            </a:r>
          </a:p>
        </p:txBody>
      </p:sp>
      <p:sp>
        <p:nvSpPr>
          <p:cNvPr id="19" name="Text: Use workload context and labelled examples"/>
          <p:cNvSpPr txBox="1"/>
          <p:nvPr/>
        </p:nvSpPr>
        <p:spPr>
          <a:xfrm>
            <a:off x="1316736" y="5038344"/>
            <a:ext cx="6519672" cy="320040"/>
          </a:xfrm>
          <a:prstGeom prst="rect">
            <a:avLst/>
          </a:prstGeom>
          <a:noFill/>
        </p:spPr>
        <p:txBody>
          <a:bodyPr wrap="square" lIns="0" rIns="0" tIns="0" bIns="0">
            <a:noAutofit/>
          </a:bodyPr>
          <a:lstStyle/>
          <a:p>
            <a:pPr>
              <a:lnSpc>
                <a:spcPts val="1900"/>
              </a:lnSpc>
              <a:spcBef>
                <a:spcPts val="0"/>
              </a:spcBef>
              <a:spcAft>
                <a:spcPts val="0"/>
              </a:spcAft>
            </a:pPr>
            <a:r>
              <a:rPr sz="1900" b="0">
                <a:solidFill>
                  <a:srgbClr val="4B5B6D"/>
                </a:solidFill>
                <a:latin typeface="Calibri"/>
              </a:rPr>
              <a:t>Use workload context and labelled examples</a:t>
            </a:r>
          </a:p>
        </p:txBody>
      </p:sp>
      <p:sp>
        <p:nvSpPr>
          <p:cNvPr id="20" name="Text: What the probe"/>
          <p:cNvSpPr txBox="1"/>
          <p:nvPr/>
        </p:nvSpPr>
        <p:spPr>
          <a:xfrm>
            <a:off x="8458200" y="1819656"/>
            <a:ext cx="3136392" cy="77724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What the probe</a:t>
            </a:r>
          </a:p>
          <a:p>
            <a:pPr>
              <a:lnSpc>
                <a:spcPts val="2713"/>
              </a:lnSpc>
              <a:spcBef>
                <a:spcPts val="0"/>
              </a:spcBef>
              <a:spcAft>
                <a:spcPts val="0"/>
              </a:spcAft>
            </a:pPr>
            <a:r>
              <a:rPr sz="2300" b="1">
                <a:solidFill>
                  <a:srgbClr val="1265B0"/>
                </a:solidFill>
                <a:latin typeface="Calibri"/>
              </a:rPr>
              <a:t>does not contain</a:t>
            </a:r>
          </a:p>
        </p:txBody>
      </p:sp>
      <p:sp>
        <p:nvSpPr>
          <p:cNvPr id="21" name="Text: A browser name."/>
          <p:cNvSpPr txBox="1"/>
          <p:nvPr/>
        </p:nvSpPr>
        <p:spPr>
          <a:xfrm>
            <a:off x="8458200" y="2898648"/>
            <a:ext cx="3136392" cy="2331720"/>
          </a:xfrm>
          <a:prstGeom prst="rect">
            <a:avLst/>
          </a:prstGeom>
          <a:noFill/>
        </p:spPr>
        <p:txBody>
          <a:bodyPr wrap="square" lIns="0" rIns="0" tIns="0" bIns="0">
            <a:noAutofit/>
          </a:bodyPr>
          <a:lstStyle/>
          <a:p>
            <a:pPr>
              <a:lnSpc>
                <a:spcPts val="2645"/>
              </a:lnSpc>
              <a:spcBef>
                <a:spcPts val="0"/>
              </a:spcBef>
              <a:spcAft>
                <a:spcPts val="0"/>
              </a:spcAft>
            </a:pPr>
            <a:r>
              <a:rPr sz="2300" b="0">
                <a:solidFill>
                  <a:srgbClr val="14263D"/>
                </a:solidFill>
                <a:latin typeface="Calibri"/>
              </a:rPr>
              <a:t>A browser name.</a:t>
            </a:r>
          </a:p>
          <a:p>
            <a:pPr>
              <a:lnSpc>
                <a:spcPts val="2645"/>
              </a:lnSpc>
              <a:spcBef>
                <a:spcPts val="0"/>
              </a:spcBef>
              <a:spcAft>
                <a:spcPts val="0"/>
              </a:spcAft>
            </a:pPr>
            <a:r>
              <a:rPr sz="2300" b="0">
                <a:solidFill>
                  <a:srgbClr val="14263D"/>
                </a:solidFill>
                <a:latin typeface="Calibri"/>
              </a:rPr>
              <a:t/>
            </a:r>
          </a:p>
          <a:p>
            <a:pPr>
              <a:lnSpc>
                <a:spcPts val="2645"/>
              </a:lnSpc>
              <a:spcBef>
                <a:spcPts val="0"/>
              </a:spcBef>
              <a:spcAft>
                <a:spcPts val="0"/>
              </a:spcAft>
            </a:pPr>
            <a:r>
              <a:rPr sz="2300" b="0">
                <a:solidFill>
                  <a:srgbClr val="14263D"/>
                </a:solidFill>
                <a:latin typeface="Calibri"/>
              </a:rPr>
              <a:t>A typed character.</a:t>
            </a:r>
          </a:p>
          <a:p>
            <a:pPr>
              <a:lnSpc>
                <a:spcPts val="2645"/>
              </a:lnSpc>
              <a:spcBef>
                <a:spcPts val="0"/>
              </a:spcBef>
              <a:spcAft>
                <a:spcPts val="0"/>
              </a:spcAft>
            </a:pPr>
            <a:r>
              <a:rPr sz="2300" b="0">
                <a:solidFill>
                  <a:srgbClr val="14263D"/>
                </a:solidFill>
                <a:latin typeface="Calibri"/>
              </a:rPr>
              <a:t/>
            </a:r>
          </a:p>
          <a:p>
            <a:pPr>
              <a:lnSpc>
                <a:spcPts val="2645"/>
              </a:lnSpc>
              <a:spcBef>
                <a:spcPts val="0"/>
              </a:spcBef>
              <a:spcAft>
                <a:spcPts val="0"/>
              </a:spcAft>
            </a:pPr>
            <a:r>
              <a:rPr sz="2300" b="0">
                <a:solidFill>
                  <a:srgbClr val="14263D"/>
                </a:solidFill>
                <a:latin typeface="Calibri"/>
              </a:rPr>
              <a:t>A victim address.</a:t>
            </a:r>
          </a:p>
        </p:txBody>
      </p:sp>
      <p:cxnSp>
        <p:nvCxnSpPr>
          <p:cNvPr id="22" name="Connector 21"/>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23"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measurement is physical activity; the label comes from inference.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Covert communication through shared state</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18</a:t>
            </a:r>
          </a:p>
        </p:txBody>
      </p:sp>
      <p:pic>
        <p:nvPicPr>
          <p:cNvPr id="4" name="Original paper chart: capacity" descr="capacity.png"/>
          <p:cNvPicPr>
            <a:picLocks noChangeAspect="1"/>
          </p:cNvPicPr>
          <p:nvPr/>
        </p:nvPicPr>
        <p:blipFill>
          <a:blip r:embed="rId2"/>
          <a:stretch>
            <a:fillRect/>
          </a:stretch>
        </p:blipFill>
        <p:spPr>
          <a:xfrm>
            <a:off x="594359" y="2117947"/>
            <a:ext cx="7287768" cy="3106737"/>
          </a:xfrm>
          <a:prstGeom prst="rect">
            <a:avLst/>
          </a:prstGeom>
        </p:spPr>
      </p:pic>
      <p:sp>
        <p:nvSpPr>
          <p:cNvPr id="5" name="Text: 17.19 kbps"/>
          <p:cNvSpPr txBox="1"/>
          <p:nvPr/>
        </p:nvSpPr>
        <p:spPr>
          <a:xfrm>
            <a:off x="8357616" y="1737360"/>
            <a:ext cx="3236976" cy="749808"/>
          </a:xfrm>
          <a:prstGeom prst="rect">
            <a:avLst/>
          </a:prstGeom>
          <a:noFill/>
        </p:spPr>
        <p:txBody>
          <a:bodyPr wrap="square" lIns="0" rIns="0" tIns="0" bIns="0">
            <a:noAutofit/>
          </a:bodyPr>
          <a:lstStyle/>
          <a:p>
            <a:pPr>
              <a:lnSpc>
                <a:spcPts val="3600"/>
              </a:lnSpc>
              <a:spcBef>
                <a:spcPts val="0"/>
              </a:spcBef>
              <a:spcAft>
                <a:spcPts val="0"/>
              </a:spcAft>
            </a:pPr>
            <a:r>
              <a:rPr sz="3600" b="1">
                <a:solidFill>
                  <a:srgbClr val="1265B0"/>
                </a:solidFill>
                <a:latin typeface="Calibri"/>
              </a:rPr>
              <a:t>17.19 kbps</a:t>
            </a:r>
          </a:p>
        </p:txBody>
      </p:sp>
      <p:sp>
        <p:nvSpPr>
          <p:cNvPr id="6" name="Text: DevTLB"/>
          <p:cNvSpPr txBox="1"/>
          <p:nvPr/>
        </p:nvSpPr>
        <p:spPr>
          <a:xfrm>
            <a:off x="8357616" y="2560320"/>
            <a:ext cx="3236976" cy="411480"/>
          </a:xfrm>
          <a:prstGeom prst="rect">
            <a:avLst/>
          </a:prstGeom>
          <a:noFill/>
        </p:spPr>
        <p:txBody>
          <a:bodyPr wrap="square" lIns="0" rIns="0" tIns="0" bIns="0">
            <a:noAutofit/>
          </a:bodyPr>
          <a:lstStyle/>
          <a:p>
            <a:pPr>
              <a:lnSpc>
                <a:spcPts val="2205"/>
              </a:lnSpc>
              <a:spcBef>
                <a:spcPts val="0"/>
              </a:spcBef>
              <a:spcAft>
                <a:spcPts val="0"/>
              </a:spcAft>
            </a:pPr>
            <a:r>
              <a:rPr sz="2100" b="1">
                <a:solidFill>
                  <a:srgbClr val="14263D"/>
                </a:solidFill>
                <a:latin typeface="Calibri"/>
              </a:rPr>
              <a:t>DevTLB</a:t>
            </a:r>
          </a:p>
        </p:txBody>
      </p:sp>
      <p:sp>
        <p:nvSpPr>
          <p:cNvPr id="7" name="Text: 4.63% bit error"/>
          <p:cNvSpPr txBox="1"/>
          <p:nvPr/>
        </p:nvSpPr>
        <p:spPr>
          <a:xfrm>
            <a:off x="8357616" y="3044952"/>
            <a:ext cx="3236976" cy="685800"/>
          </a:xfrm>
          <a:prstGeom prst="rect">
            <a:avLst/>
          </a:prstGeom>
          <a:noFill/>
        </p:spPr>
        <p:txBody>
          <a:bodyPr wrap="square" lIns="0" rIns="0" tIns="0" bIns="0">
            <a:noAutofit/>
          </a:bodyPr>
          <a:lstStyle/>
          <a:p>
            <a:pPr>
              <a:lnSpc>
                <a:spcPts val="1980"/>
              </a:lnSpc>
              <a:spcBef>
                <a:spcPts val="0"/>
              </a:spcBef>
              <a:spcAft>
                <a:spcPts val="0"/>
              </a:spcAft>
            </a:pPr>
            <a:r>
              <a:rPr sz="1800" b="0">
                <a:solidFill>
                  <a:srgbClr val="4B5B6D"/>
                </a:solidFill>
                <a:latin typeface="Calibri"/>
              </a:rPr>
              <a:t>4.63% bit error</a:t>
            </a:r>
          </a:p>
        </p:txBody>
      </p:sp>
      <p:sp>
        <p:nvSpPr>
          <p:cNvPr id="8" name="Text: 4.02 kbps"/>
          <p:cNvSpPr txBox="1"/>
          <p:nvPr/>
        </p:nvSpPr>
        <p:spPr>
          <a:xfrm>
            <a:off x="8357616" y="3721608"/>
            <a:ext cx="3236976" cy="749808"/>
          </a:xfrm>
          <a:prstGeom prst="rect">
            <a:avLst/>
          </a:prstGeom>
          <a:noFill/>
        </p:spPr>
        <p:txBody>
          <a:bodyPr wrap="square" lIns="0" rIns="0" tIns="0" bIns="0">
            <a:noAutofit/>
          </a:bodyPr>
          <a:lstStyle/>
          <a:p>
            <a:pPr>
              <a:lnSpc>
                <a:spcPts val="3600"/>
              </a:lnSpc>
              <a:spcBef>
                <a:spcPts val="0"/>
              </a:spcBef>
              <a:spcAft>
                <a:spcPts val="0"/>
              </a:spcAft>
            </a:pPr>
            <a:r>
              <a:rPr sz="3600" b="1">
                <a:solidFill>
                  <a:srgbClr val="14263D"/>
                </a:solidFill>
                <a:latin typeface="Calibri"/>
              </a:rPr>
              <a:t>4.02 kbps</a:t>
            </a:r>
          </a:p>
        </p:txBody>
      </p:sp>
      <p:sp>
        <p:nvSpPr>
          <p:cNvPr id="9" name="Text: SWQ"/>
          <p:cNvSpPr txBox="1"/>
          <p:nvPr/>
        </p:nvSpPr>
        <p:spPr>
          <a:xfrm>
            <a:off x="8357616" y="4544568"/>
            <a:ext cx="3236976" cy="411480"/>
          </a:xfrm>
          <a:prstGeom prst="rect">
            <a:avLst/>
          </a:prstGeom>
          <a:noFill/>
        </p:spPr>
        <p:txBody>
          <a:bodyPr wrap="square" lIns="0" rIns="0" tIns="0" bIns="0">
            <a:noAutofit/>
          </a:bodyPr>
          <a:lstStyle/>
          <a:p>
            <a:pPr>
              <a:lnSpc>
                <a:spcPts val="2205"/>
              </a:lnSpc>
              <a:spcBef>
                <a:spcPts val="0"/>
              </a:spcBef>
              <a:spcAft>
                <a:spcPts val="0"/>
              </a:spcAft>
            </a:pPr>
            <a:r>
              <a:rPr sz="2100" b="1">
                <a:solidFill>
                  <a:srgbClr val="14263D"/>
                </a:solidFill>
                <a:latin typeface="Calibri"/>
              </a:rPr>
              <a:t>SWQ</a:t>
            </a:r>
          </a:p>
        </p:txBody>
      </p:sp>
      <p:sp>
        <p:nvSpPr>
          <p:cNvPr id="10" name="Text: 13.11% bit error"/>
          <p:cNvSpPr txBox="1"/>
          <p:nvPr/>
        </p:nvSpPr>
        <p:spPr>
          <a:xfrm>
            <a:off x="8357616" y="5029200"/>
            <a:ext cx="3236976" cy="685800"/>
          </a:xfrm>
          <a:prstGeom prst="rect">
            <a:avLst/>
          </a:prstGeom>
          <a:noFill/>
        </p:spPr>
        <p:txBody>
          <a:bodyPr wrap="square" lIns="0" rIns="0" tIns="0" bIns="0">
            <a:noAutofit/>
          </a:bodyPr>
          <a:lstStyle/>
          <a:p>
            <a:pPr>
              <a:lnSpc>
                <a:spcPts val="1980"/>
              </a:lnSpc>
              <a:spcBef>
                <a:spcPts val="0"/>
              </a:spcBef>
              <a:spcAft>
                <a:spcPts val="0"/>
              </a:spcAft>
            </a:pPr>
            <a:r>
              <a:rPr sz="1800" b="0">
                <a:solidFill>
                  <a:srgbClr val="4B5B6D"/>
                </a:solidFill>
                <a:latin typeface="Calibri"/>
              </a:rPr>
              <a:t>13.11% bit error</a:t>
            </a:r>
          </a:p>
        </p:txBody>
      </p:sp>
      <p:sp>
        <p:nvSpPr>
          <p:cNvPr id="11" name="Text: A cooperating sender chooses activity; the receiver decodes it."/>
          <p:cNvSpPr txBox="1"/>
          <p:nvPr/>
        </p:nvSpPr>
        <p:spPr>
          <a:xfrm>
            <a:off x="594360" y="5577840"/>
            <a:ext cx="7287768" cy="338328"/>
          </a:xfrm>
          <a:prstGeom prst="rect">
            <a:avLst/>
          </a:prstGeom>
          <a:noFill/>
        </p:spPr>
        <p:txBody>
          <a:bodyPr wrap="square" lIns="0" rIns="0" tIns="0" bIns="0">
            <a:noAutofit/>
          </a:bodyPr>
          <a:lstStyle/>
          <a:p>
            <a:pPr>
              <a:lnSpc>
                <a:spcPts val="2242"/>
              </a:lnSpc>
              <a:spcBef>
                <a:spcPts val="0"/>
              </a:spcBef>
              <a:spcAft>
                <a:spcPts val="0"/>
              </a:spcAft>
            </a:pPr>
            <a:r>
              <a:rPr sz="1900" b="0">
                <a:solidFill>
                  <a:srgbClr val="4B5B6D"/>
                </a:solidFill>
                <a:latin typeface="Calibri"/>
              </a:rPr>
              <a:t>A cooperating sender chooses activity; the receiver decodes it.</a:t>
            </a:r>
          </a:p>
        </p:txBody>
      </p:sp>
      <p:cxnSp>
        <p:nvCxnSpPr>
          <p:cNvPr id="12" name="Connector 11"/>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3"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Increasing the raw rate eventually loses useful capacity to errors.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Why website traffic reaches DSA</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19</a:t>
            </a:r>
          </a:p>
        </p:txBody>
      </p:sp>
      <p:pic>
        <p:nvPicPr>
          <p:cNvPr id="4" name="Original paper Figure 8" descr="paper_fig8.png"/>
          <p:cNvPicPr>
            <a:picLocks noChangeAspect="1"/>
          </p:cNvPicPr>
          <p:nvPr/>
        </p:nvPicPr>
        <p:blipFill>
          <a:blip r:embed="rId2"/>
          <a:stretch>
            <a:fillRect/>
          </a:stretch>
        </p:blipFill>
        <p:spPr>
          <a:xfrm>
            <a:off x="1030033" y="1636776"/>
            <a:ext cx="10131933" cy="3593592"/>
          </a:xfrm>
          <a:prstGeom prst="rect">
            <a:avLst/>
          </a:prstGeom>
        </p:spPr>
      </p:pic>
      <p:sp>
        <p:nvSpPr>
          <p:cNvPr id="5" name="Text: Website traffic → VPP/memif transfers → DSA activity → probe trac"/>
          <p:cNvSpPr txBox="1"/>
          <p:nvPr/>
        </p:nvSpPr>
        <p:spPr>
          <a:xfrm>
            <a:off x="594360" y="5477256"/>
            <a:ext cx="11003279" cy="438912"/>
          </a:xfrm>
          <a:prstGeom prst="rect">
            <a:avLst/>
          </a:prstGeom>
          <a:noFill/>
        </p:spPr>
        <p:txBody>
          <a:bodyPr wrap="square" lIns="0" rIns="0" tIns="0" bIns="0">
            <a:noAutofit/>
          </a:bodyPr>
          <a:lstStyle/>
          <a:p>
            <a:pPr algn="ctr">
              <a:lnSpc>
                <a:spcPts val="2595"/>
              </a:lnSpc>
              <a:spcBef>
                <a:spcPts val="0"/>
              </a:spcBef>
              <a:spcAft>
                <a:spcPts val="0"/>
              </a:spcAft>
            </a:pPr>
            <a:r>
              <a:rPr sz="2200" b="1">
                <a:solidFill>
                  <a:srgbClr val="1265B0"/>
                </a:solidFill>
                <a:latin typeface="Calibri"/>
              </a:rPr>
              <a:t>Website traffic → VPP/memif transfers → DSA activity → probe trace</a:t>
            </a:r>
          </a:p>
        </p:txBody>
      </p:sp>
      <p:cxnSp>
        <p:nvCxnSpPr>
          <p:cNvPr id="6" name="Connector 5"/>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7"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experiment supplies the browser workload; the TLB does not name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How a trace becomes a website label</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20</a:t>
            </a:r>
          </a:p>
        </p:txBody>
      </p:sp>
      <p:pic>
        <p:nvPicPr>
          <p:cNvPr id="4" name="Original paper chart: confusion" descr="confusion.png"/>
          <p:cNvPicPr>
            <a:picLocks noChangeAspect="1"/>
          </p:cNvPicPr>
          <p:nvPr/>
        </p:nvPicPr>
        <p:blipFill>
          <a:blip r:embed="rId2"/>
          <a:stretch>
            <a:fillRect/>
          </a:stretch>
        </p:blipFill>
        <p:spPr>
          <a:xfrm>
            <a:off x="1947653" y="1600200"/>
            <a:ext cx="4133125" cy="4050791"/>
          </a:xfrm>
          <a:prstGeom prst="rect">
            <a:avLst/>
          </a:prstGeom>
        </p:spPr>
      </p:pic>
      <p:sp>
        <p:nvSpPr>
          <p:cNvPr id="5" name="Text: 85.73%"/>
          <p:cNvSpPr txBox="1"/>
          <p:nvPr/>
        </p:nvSpPr>
        <p:spPr>
          <a:xfrm>
            <a:off x="7964424" y="1737360"/>
            <a:ext cx="3630168" cy="749808"/>
          </a:xfrm>
          <a:prstGeom prst="rect">
            <a:avLst/>
          </a:prstGeom>
          <a:noFill/>
        </p:spPr>
        <p:txBody>
          <a:bodyPr wrap="square" lIns="0" rIns="0" tIns="0" bIns="0">
            <a:noAutofit/>
          </a:bodyPr>
          <a:lstStyle/>
          <a:p>
            <a:pPr>
              <a:lnSpc>
                <a:spcPts val="4800"/>
              </a:lnSpc>
              <a:spcBef>
                <a:spcPts val="0"/>
              </a:spcBef>
              <a:spcAft>
                <a:spcPts val="0"/>
              </a:spcAft>
            </a:pPr>
            <a:r>
              <a:rPr sz="4800" b="1">
                <a:solidFill>
                  <a:srgbClr val="1265B0"/>
                </a:solidFill>
                <a:latin typeface="Calibri"/>
              </a:rPr>
              <a:t>85.73%</a:t>
            </a:r>
          </a:p>
        </p:txBody>
      </p:sp>
      <p:sp>
        <p:nvSpPr>
          <p:cNvPr id="6" name="Text: Accuracy over 100 sites"/>
          <p:cNvSpPr txBox="1"/>
          <p:nvPr/>
        </p:nvSpPr>
        <p:spPr>
          <a:xfrm>
            <a:off x="7964424" y="2560320"/>
            <a:ext cx="3630168" cy="411480"/>
          </a:xfrm>
          <a:prstGeom prst="rect">
            <a:avLst/>
          </a:prstGeom>
          <a:noFill/>
        </p:spPr>
        <p:txBody>
          <a:bodyPr wrap="square" lIns="0" rIns="0" tIns="0" bIns="0">
            <a:noAutofit/>
          </a:bodyPr>
          <a:lstStyle/>
          <a:p>
            <a:pPr>
              <a:lnSpc>
                <a:spcPts val="2205"/>
              </a:lnSpc>
              <a:spcBef>
                <a:spcPts val="0"/>
              </a:spcBef>
              <a:spcAft>
                <a:spcPts val="0"/>
              </a:spcAft>
            </a:pPr>
            <a:r>
              <a:rPr sz="2100" b="1">
                <a:solidFill>
                  <a:srgbClr val="14263D"/>
                </a:solidFill>
                <a:latin typeface="Calibri"/>
              </a:rPr>
              <a:t>Accuracy over 100 sites</a:t>
            </a:r>
          </a:p>
        </p:txBody>
      </p:sp>
      <p:sp>
        <p:nvSpPr>
          <p:cNvPr id="7" name="Text: 20,000 traces; 80/20 split"/>
          <p:cNvSpPr txBox="1"/>
          <p:nvPr/>
        </p:nvSpPr>
        <p:spPr>
          <a:xfrm>
            <a:off x="7964424" y="3044952"/>
            <a:ext cx="3630168" cy="685800"/>
          </a:xfrm>
          <a:prstGeom prst="rect">
            <a:avLst/>
          </a:prstGeom>
          <a:noFill/>
        </p:spPr>
        <p:txBody>
          <a:bodyPr wrap="square" lIns="0" rIns="0" tIns="0" bIns="0">
            <a:noAutofit/>
          </a:bodyPr>
          <a:lstStyle/>
          <a:p>
            <a:pPr>
              <a:lnSpc>
                <a:spcPts val="1980"/>
              </a:lnSpc>
              <a:spcBef>
                <a:spcPts val="0"/>
              </a:spcBef>
              <a:spcAft>
                <a:spcPts val="0"/>
              </a:spcAft>
            </a:pPr>
            <a:r>
              <a:rPr sz="1800" b="0">
                <a:solidFill>
                  <a:srgbClr val="4B5B6D"/>
                </a:solidFill>
                <a:latin typeface="Calibri"/>
              </a:rPr>
              <a:t>20,000 traces; 80/20 split</a:t>
            </a:r>
          </a:p>
        </p:txBody>
      </p:sp>
      <p:sp>
        <p:nvSpPr>
          <p:cNvPr id="8" name="Text: 10 µs samples"/>
          <p:cNvSpPr txBox="1"/>
          <p:nvPr/>
        </p:nvSpPr>
        <p:spPr>
          <a:xfrm>
            <a:off x="7964424" y="3995928"/>
            <a:ext cx="3630168" cy="1627632"/>
          </a:xfrm>
          <a:prstGeom prst="rect">
            <a:avLst/>
          </a:prstGeom>
          <a:noFill/>
        </p:spPr>
        <p:txBody>
          <a:bodyPr wrap="square" lIns="0" rIns="0" tIns="0" bIns="0">
            <a:noAutofit/>
          </a:bodyPr>
          <a:lstStyle/>
          <a:p>
            <a:pPr>
              <a:lnSpc>
                <a:spcPts val="2400"/>
              </a:lnSpc>
              <a:spcBef>
                <a:spcPts val="0"/>
              </a:spcBef>
              <a:spcAft>
                <a:spcPts val="0"/>
              </a:spcAft>
            </a:pPr>
            <a:r>
              <a:rPr sz="2000" b="0">
                <a:solidFill>
                  <a:srgbClr val="4B5B6D"/>
                </a:solidFill>
                <a:latin typeface="Calibri"/>
              </a:rPr>
              <a:t>10 µs samples</a:t>
            </a:r>
          </a:p>
          <a:p>
            <a:pPr>
              <a:lnSpc>
                <a:spcPts val="2400"/>
              </a:lnSpc>
              <a:spcBef>
                <a:spcPts val="0"/>
              </a:spcBef>
              <a:spcAft>
                <a:spcPts val="0"/>
              </a:spcAft>
            </a:pPr>
            <a:r>
              <a:rPr sz="2000" b="0">
                <a:solidFill>
                  <a:srgbClr val="4B5B6D"/>
                </a:solidFill>
                <a:latin typeface="Calibri"/>
              </a:rPr>
              <a:t>400 samples per 4 ms bin</a:t>
            </a:r>
          </a:p>
          <a:p>
            <a:pPr>
              <a:lnSpc>
                <a:spcPts val="2400"/>
              </a:lnSpc>
              <a:spcBef>
                <a:spcPts val="0"/>
              </a:spcBef>
              <a:spcAft>
                <a:spcPts val="0"/>
              </a:spcAft>
            </a:pPr>
            <a:r>
              <a:rPr sz="2000" b="0">
                <a:solidFill>
                  <a:srgbClr val="4B5B6D"/>
                </a:solidFill>
                <a:latin typeface="Calibri"/>
              </a:rPr>
              <a:t>250 bins per trace</a:t>
            </a:r>
          </a:p>
          <a:p>
            <a:pPr>
              <a:lnSpc>
                <a:spcPts val="2400"/>
              </a:lnSpc>
              <a:spcBef>
                <a:spcPts val="0"/>
              </a:spcBef>
              <a:spcAft>
                <a:spcPts val="0"/>
              </a:spcAft>
            </a:pPr>
            <a:r>
              <a:rPr sz="2000" b="0">
                <a:solidFill>
                  <a:srgbClr val="4B5B6D"/>
                </a:solidFill>
                <a:latin typeface="Calibri"/>
              </a:rPr>
              <a:t>Attention-BiLSTM classifier</a:t>
            </a:r>
          </a:p>
        </p:txBody>
      </p:sp>
      <p:sp>
        <p:nvSpPr>
          <p:cNvPr id="9" name="Text: Shown: 15-site subset, 96.5% accuracy."/>
          <p:cNvSpPr txBox="1"/>
          <p:nvPr/>
        </p:nvSpPr>
        <p:spPr>
          <a:xfrm>
            <a:off x="594360" y="5623560"/>
            <a:ext cx="6839712" cy="292608"/>
          </a:xfrm>
          <a:prstGeom prst="rect">
            <a:avLst/>
          </a:prstGeom>
          <a:noFill/>
        </p:spPr>
        <p:txBody>
          <a:bodyPr wrap="square" lIns="0" rIns="0" tIns="0" bIns="0">
            <a:noAutofit/>
          </a:bodyPr>
          <a:lstStyle/>
          <a:p>
            <a:pPr>
              <a:lnSpc>
                <a:spcPts val="2124"/>
              </a:lnSpc>
              <a:spcBef>
                <a:spcPts val="0"/>
              </a:spcBef>
              <a:spcAft>
                <a:spcPts val="0"/>
              </a:spcAft>
            </a:pPr>
            <a:r>
              <a:rPr sz="1800" b="0">
                <a:solidFill>
                  <a:srgbClr val="4B5B6D"/>
                </a:solidFill>
                <a:latin typeface="Calibri"/>
              </a:rPr>
              <a:t>Shown: 15-site subset, 96.5% accuracy.</a:t>
            </a:r>
          </a:p>
        </p:txBody>
      </p:sp>
      <p:cxnSp>
        <p:nvCxnSpPr>
          <p:cNvPr id="10" name="Connector 9"/>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1"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85.73% is the full-dataset result; the matrix shows a selected subset.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Keystrokes reveal events and timing</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21</a:t>
            </a:r>
          </a:p>
        </p:txBody>
      </p:sp>
      <p:sp>
        <p:nvSpPr>
          <p:cNvPr id="4" name="Text: SSH packets → DTO offload → DSA activity"/>
          <p:cNvSpPr txBox="1"/>
          <p:nvPr/>
        </p:nvSpPr>
        <p:spPr>
          <a:xfrm>
            <a:off x="594360" y="1399032"/>
            <a:ext cx="7022592" cy="292608"/>
          </a:xfrm>
          <a:prstGeom prst="rect">
            <a:avLst/>
          </a:prstGeom>
          <a:noFill/>
        </p:spPr>
        <p:txBody>
          <a:bodyPr wrap="square" lIns="0" rIns="0" tIns="0" bIns="0">
            <a:noAutofit/>
          </a:bodyPr>
          <a:lstStyle/>
          <a:p>
            <a:pPr>
              <a:lnSpc>
                <a:spcPts val="1900"/>
              </a:lnSpc>
              <a:spcBef>
                <a:spcPts val="0"/>
              </a:spcBef>
              <a:spcAft>
                <a:spcPts val="0"/>
              </a:spcAft>
            </a:pPr>
            <a:r>
              <a:rPr sz="1900" b="1">
                <a:solidFill>
                  <a:srgbClr val="1265B0"/>
                </a:solidFill>
                <a:latin typeface="Calibri"/>
              </a:rPr>
              <a:t>SSH packets → DTO offload → DSA activity</a:t>
            </a:r>
          </a:p>
        </p:txBody>
      </p:sp>
      <p:pic>
        <p:nvPicPr>
          <p:cNvPr id="5" name="Original paper chart: keystrokes" descr="keystrokes.png"/>
          <p:cNvPicPr>
            <a:picLocks noChangeAspect="1"/>
          </p:cNvPicPr>
          <p:nvPr/>
        </p:nvPicPr>
        <p:blipFill>
          <a:blip r:embed="rId2"/>
          <a:stretch>
            <a:fillRect/>
          </a:stretch>
        </p:blipFill>
        <p:spPr>
          <a:xfrm>
            <a:off x="1649134" y="1746504"/>
            <a:ext cx="4913042" cy="3758184"/>
          </a:xfrm>
          <a:prstGeom prst="rect">
            <a:avLst/>
          </a:prstGeom>
        </p:spPr>
      </p:pic>
      <p:sp>
        <p:nvSpPr>
          <p:cNvPr id="6" name="Text: Probe"/>
          <p:cNvSpPr txBox="1"/>
          <p:nvPr/>
        </p:nvSpPr>
        <p:spPr>
          <a:xfrm>
            <a:off x="8147304" y="1947672"/>
            <a:ext cx="1050645"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Probe</a:t>
            </a:r>
          </a:p>
        </p:txBody>
      </p:sp>
      <p:sp>
        <p:nvSpPr>
          <p:cNvPr id="7" name="Text: F1"/>
          <p:cNvSpPr txBox="1"/>
          <p:nvPr/>
        </p:nvSpPr>
        <p:spPr>
          <a:xfrm>
            <a:off x="9344253" y="1947672"/>
            <a:ext cx="839419"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F1</a:t>
            </a:r>
          </a:p>
        </p:txBody>
      </p:sp>
      <p:sp>
        <p:nvSpPr>
          <p:cNvPr id="8" name="Text: σ"/>
          <p:cNvSpPr txBox="1"/>
          <p:nvPr/>
        </p:nvSpPr>
        <p:spPr>
          <a:xfrm>
            <a:off x="10329976" y="1947672"/>
            <a:ext cx="1191463"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σ</a:t>
            </a:r>
          </a:p>
        </p:txBody>
      </p:sp>
      <p:cxnSp>
        <p:nvCxnSpPr>
          <p:cNvPr id="9" name="Connector 8"/>
          <p:cNvCxnSpPr/>
          <p:nvPr/>
        </p:nvCxnSpPr>
        <p:spPr>
          <a:xfrm>
            <a:off x="8074152" y="2368296"/>
            <a:ext cx="3520440" cy="0"/>
          </a:xfrm>
          <a:prstGeom prst="line">
            <a:avLst/>
          </a:prstGeom>
          <a:ln w="13970">
            <a:solidFill>
              <a:srgbClr val="14263D"/>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074152" y="2368296"/>
            <a:ext cx="3520440" cy="69494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DevTLB"/>
          <p:cNvSpPr txBox="1"/>
          <p:nvPr/>
        </p:nvSpPr>
        <p:spPr>
          <a:xfrm>
            <a:off x="8147304" y="2514600"/>
            <a:ext cx="1050645" cy="530352"/>
          </a:xfrm>
          <a:prstGeom prst="rect">
            <a:avLst/>
          </a:prstGeom>
          <a:noFill/>
        </p:spPr>
        <p:txBody>
          <a:bodyPr wrap="square" lIns="0" rIns="0" tIns="0" bIns="0">
            <a:noAutofit/>
          </a:bodyPr>
          <a:lstStyle/>
          <a:p>
            <a:pPr>
              <a:lnSpc>
                <a:spcPts val="1926"/>
              </a:lnSpc>
              <a:spcBef>
                <a:spcPts val="0"/>
              </a:spcBef>
              <a:spcAft>
                <a:spcPts val="0"/>
              </a:spcAft>
            </a:pPr>
            <a:r>
              <a:rPr sz="1800" b="1">
                <a:solidFill>
                  <a:srgbClr val="14263D"/>
                </a:solidFill>
                <a:latin typeface="Calibri"/>
              </a:rPr>
              <a:t>DevTLB</a:t>
            </a:r>
          </a:p>
        </p:txBody>
      </p:sp>
      <p:sp>
        <p:nvSpPr>
          <p:cNvPr id="12" name="Text: 92.0%"/>
          <p:cNvSpPr txBox="1"/>
          <p:nvPr/>
        </p:nvSpPr>
        <p:spPr>
          <a:xfrm>
            <a:off x="9344253" y="2514600"/>
            <a:ext cx="839419" cy="530352"/>
          </a:xfrm>
          <a:prstGeom prst="rect">
            <a:avLst/>
          </a:prstGeom>
          <a:noFill/>
        </p:spPr>
        <p:txBody>
          <a:bodyPr wrap="square" lIns="0" rIns="0" tIns="0" bIns="0">
            <a:noAutofit/>
          </a:bodyPr>
          <a:lstStyle/>
          <a:p>
            <a:pPr>
              <a:lnSpc>
                <a:spcPts val="1926"/>
              </a:lnSpc>
              <a:spcBef>
                <a:spcPts val="0"/>
              </a:spcBef>
              <a:spcAft>
                <a:spcPts val="0"/>
              </a:spcAft>
            </a:pPr>
            <a:r>
              <a:rPr sz="1800" b="0">
                <a:solidFill>
                  <a:srgbClr val="14263D"/>
                </a:solidFill>
                <a:latin typeface="Calibri"/>
              </a:rPr>
              <a:t>92.0%</a:t>
            </a:r>
          </a:p>
        </p:txBody>
      </p:sp>
      <p:sp>
        <p:nvSpPr>
          <p:cNvPr id="13" name="Text: 5.29 ms"/>
          <p:cNvSpPr txBox="1"/>
          <p:nvPr/>
        </p:nvSpPr>
        <p:spPr>
          <a:xfrm>
            <a:off x="10329976" y="2514600"/>
            <a:ext cx="1191463" cy="530352"/>
          </a:xfrm>
          <a:prstGeom prst="rect">
            <a:avLst/>
          </a:prstGeom>
          <a:noFill/>
        </p:spPr>
        <p:txBody>
          <a:bodyPr wrap="square" lIns="0" rIns="0" tIns="0" bIns="0">
            <a:noAutofit/>
          </a:bodyPr>
          <a:lstStyle/>
          <a:p>
            <a:pPr>
              <a:lnSpc>
                <a:spcPts val="1926"/>
              </a:lnSpc>
              <a:spcBef>
                <a:spcPts val="0"/>
              </a:spcBef>
              <a:spcAft>
                <a:spcPts val="0"/>
              </a:spcAft>
            </a:pPr>
            <a:r>
              <a:rPr sz="1800" b="0">
                <a:solidFill>
                  <a:srgbClr val="14263D"/>
                </a:solidFill>
                <a:latin typeface="Calibri"/>
              </a:rPr>
              <a:t>5.29 ms</a:t>
            </a:r>
          </a:p>
        </p:txBody>
      </p:sp>
      <p:cxnSp>
        <p:nvCxnSpPr>
          <p:cNvPr id="14" name="Connector 13"/>
          <p:cNvCxnSpPr/>
          <p:nvPr/>
        </p:nvCxnSpPr>
        <p:spPr>
          <a:xfrm>
            <a:off x="8074152" y="3063239"/>
            <a:ext cx="3520440"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5" name="Text: SWQ"/>
          <p:cNvSpPr txBox="1"/>
          <p:nvPr/>
        </p:nvSpPr>
        <p:spPr>
          <a:xfrm>
            <a:off x="8147304" y="3209544"/>
            <a:ext cx="1050645" cy="530352"/>
          </a:xfrm>
          <a:prstGeom prst="rect">
            <a:avLst/>
          </a:prstGeom>
          <a:noFill/>
        </p:spPr>
        <p:txBody>
          <a:bodyPr wrap="square" lIns="0" rIns="0" tIns="0" bIns="0">
            <a:noAutofit/>
          </a:bodyPr>
          <a:lstStyle/>
          <a:p>
            <a:pPr>
              <a:lnSpc>
                <a:spcPts val="1926"/>
              </a:lnSpc>
              <a:spcBef>
                <a:spcPts val="0"/>
              </a:spcBef>
              <a:spcAft>
                <a:spcPts val="0"/>
              </a:spcAft>
            </a:pPr>
            <a:r>
              <a:rPr sz="1800" b="1">
                <a:solidFill>
                  <a:srgbClr val="21734F"/>
                </a:solidFill>
                <a:latin typeface="Calibri"/>
              </a:rPr>
              <a:t>SWQ</a:t>
            </a:r>
          </a:p>
        </p:txBody>
      </p:sp>
      <p:sp>
        <p:nvSpPr>
          <p:cNvPr id="16" name="Text: 98.4%"/>
          <p:cNvSpPr txBox="1"/>
          <p:nvPr/>
        </p:nvSpPr>
        <p:spPr>
          <a:xfrm>
            <a:off x="9344253" y="3209544"/>
            <a:ext cx="839419" cy="530352"/>
          </a:xfrm>
          <a:prstGeom prst="rect">
            <a:avLst/>
          </a:prstGeom>
          <a:noFill/>
        </p:spPr>
        <p:txBody>
          <a:bodyPr wrap="square" lIns="0" rIns="0" tIns="0" bIns="0">
            <a:noAutofit/>
          </a:bodyPr>
          <a:lstStyle/>
          <a:p>
            <a:pPr>
              <a:lnSpc>
                <a:spcPts val="1926"/>
              </a:lnSpc>
              <a:spcBef>
                <a:spcPts val="0"/>
              </a:spcBef>
              <a:spcAft>
                <a:spcPts val="0"/>
              </a:spcAft>
            </a:pPr>
            <a:r>
              <a:rPr sz="1800" b="1">
                <a:solidFill>
                  <a:srgbClr val="21734F"/>
                </a:solidFill>
                <a:latin typeface="Calibri"/>
              </a:rPr>
              <a:t>98.4%</a:t>
            </a:r>
          </a:p>
        </p:txBody>
      </p:sp>
      <p:sp>
        <p:nvSpPr>
          <p:cNvPr id="17" name="Text: 1.21 ms"/>
          <p:cNvSpPr txBox="1"/>
          <p:nvPr/>
        </p:nvSpPr>
        <p:spPr>
          <a:xfrm>
            <a:off x="10329976" y="3209544"/>
            <a:ext cx="1191463" cy="530352"/>
          </a:xfrm>
          <a:prstGeom prst="rect">
            <a:avLst/>
          </a:prstGeom>
          <a:noFill/>
        </p:spPr>
        <p:txBody>
          <a:bodyPr wrap="square" lIns="0" rIns="0" tIns="0" bIns="0">
            <a:noAutofit/>
          </a:bodyPr>
          <a:lstStyle/>
          <a:p>
            <a:pPr>
              <a:lnSpc>
                <a:spcPts val="1926"/>
              </a:lnSpc>
              <a:spcBef>
                <a:spcPts val="0"/>
              </a:spcBef>
              <a:spcAft>
                <a:spcPts val="0"/>
              </a:spcAft>
            </a:pPr>
            <a:r>
              <a:rPr sz="1800" b="1">
                <a:solidFill>
                  <a:srgbClr val="21734F"/>
                </a:solidFill>
                <a:latin typeface="Calibri"/>
              </a:rPr>
              <a:t>1.21 ms</a:t>
            </a:r>
          </a:p>
        </p:txBody>
      </p:sp>
      <p:cxnSp>
        <p:nvCxnSpPr>
          <p:cNvPr id="18" name="Connector 17"/>
          <p:cNvCxnSpPr/>
          <p:nvPr/>
        </p:nvCxnSpPr>
        <p:spPr>
          <a:xfrm>
            <a:off x="8074152" y="3758183"/>
            <a:ext cx="3520440"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9" name="Text: The letters are known input"/>
          <p:cNvSpPr txBox="1"/>
          <p:nvPr/>
        </p:nvSpPr>
        <p:spPr>
          <a:xfrm>
            <a:off x="8074152" y="4041648"/>
            <a:ext cx="3520440" cy="1426464"/>
          </a:xfrm>
          <a:prstGeom prst="rect">
            <a:avLst/>
          </a:prstGeom>
          <a:noFill/>
        </p:spPr>
        <p:txBody>
          <a:bodyPr wrap="square" lIns="0" rIns="0" tIns="0" bIns="0">
            <a:noAutofit/>
          </a:bodyPr>
          <a:lstStyle/>
          <a:p>
            <a:pPr>
              <a:lnSpc>
                <a:spcPts val="2477"/>
              </a:lnSpc>
              <a:spcBef>
                <a:spcPts val="0"/>
              </a:spcBef>
              <a:spcAft>
                <a:spcPts val="0"/>
              </a:spcAft>
            </a:pPr>
            <a:r>
              <a:rPr sz="2100" b="0">
                <a:solidFill>
                  <a:srgbClr val="14263D"/>
                </a:solidFill>
                <a:latin typeface="Calibri"/>
              </a:rPr>
              <a:t>The letters are known input</a:t>
            </a:r>
          </a:p>
          <a:p>
            <a:pPr>
              <a:lnSpc>
                <a:spcPts val="2477"/>
              </a:lnSpc>
              <a:spcBef>
                <a:spcPts val="0"/>
              </a:spcBef>
              <a:spcAft>
                <a:spcPts val="0"/>
              </a:spcAft>
            </a:pPr>
            <a:r>
              <a:rPr sz="2100" b="0">
                <a:solidFill>
                  <a:srgbClr val="14263D"/>
                </a:solidFill>
                <a:latin typeface="Calibri"/>
              </a:rPr>
              <a:t>labels in the experiment.</a:t>
            </a:r>
          </a:p>
          <a:p>
            <a:pPr>
              <a:lnSpc>
                <a:spcPts val="2477"/>
              </a:lnSpc>
              <a:spcBef>
                <a:spcPts val="0"/>
              </a:spcBef>
              <a:spcAft>
                <a:spcPts val="0"/>
              </a:spcAft>
            </a:pPr>
            <a:r>
              <a:rPr sz="2100" b="0">
                <a:solidFill>
                  <a:srgbClr val="14263D"/>
                </a:solidFill>
                <a:latin typeface="Calibri"/>
              </a:rPr>
              <a:t>They were not decoded</a:t>
            </a:r>
          </a:p>
          <a:p>
            <a:pPr>
              <a:lnSpc>
                <a:spcPts val="2477"/>
              </a:lnSpc>
              <a:spcBef>
                <a:spcPts val="0"/>
              </a:spcBef>
              <a:spcAft>
                <a:spcPts val="0"/>
              </a:spcAft>
            </a:pPr>
            <a:r>
              <a:rPr sz="2100" b="0">
                <a:solidFill>
                  <a:srgbClr val="14263D"/>
                </a:solidFill>
                <a:latin typeface="Calibri"/>
              </a:rPr>
              <a:t>from the probe.</a:t>
            </a:r>
          </a:p>
        </p:txBody>
      </p:sp>
      <p:sp>
        <p:nvSpPr>
          <p:cNvPr id="20" name="Text: F1 values are reported as printed; the paper’s event counts are i"/>
          <p:cNvSpPr txBox="1"/>
          <p:nvPr/>
        </p:nvSpPr>
        <p:spPr>
          <a:xfrm>
            <a:off x="594360" y="5596128"/>
            <a:ext cx="11003279" cy="310896"/>
          </a:xfrm>
          <a:prstGeom prst="rect">
            <a:avLst/>
          </a:prstGeom>
          <a:noFill/>
        </p:spPr>
        <p:txBody>
          <a:bodyPr wrap="square" lIns="0" rIns="0" tIns="0" bIns="0">
            <a:noAutofit/>
          </a:bodyPr>
          <a:lstStyle/>
          <a:p>
            <a:pPr>
              <a:lnSpc>
                <a:spcPts val="2124"/>
              </a:lnSpc>
              <a:spcBef>
                <a:spcPts val="0"/>
              </a:spcBef>
              <a:spcAft>
                <a:spcPts val="0"/>
              </a:spcAft>
            </a:pPr>
            <a:r>
              <a:rPr sz="1800" b="0">
                <a:solidFill>
                  <a:srgbClr val="4B5B6D"/>
                </a:solidFill>
                <a:latin typeface="Calibri"/>
              </a:rPr>
              <a:t>F1 values are reported as printed; the paper’s event counts are inconsistent.</a:t>
            </a:r>
          </a:p>
        </p:txBody>
      </p:sp>
      <p:cxnSp>
        <p:nvCxnSpPr>
          <p:cNvPr id="21" name="Connector 20"/>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22"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demonstrated output is candidate keystroke events and their timing.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Fingerprinting model configurations</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22</a:t>
            </a:r>
          </a:p>
        </p:txBody>
      </p:sp>
      <p:pic>
        <p:nvPicPr>
          <p:cNvPr id="4" name="Original paper chart: llm_traces" descr="llm_traces.png"/>
          <p:cNvPicPr>
            <a:picLocks noChangeAspect="1"/>
          </p:cNvPicPr>
          <p:nvPr/>
        </p:nvPicPr>
        <p:blipFill>
          <a:blip r:embed="rId2"/>
          <a:stretch>
            <a:fillRect/>
          </a:stretch>
        </p:blipFill>
        <p:spPr>
          <a:xfrm>
            <a:off x="594360" y="2108548"/>
            <a:ext cx="7022592" cy="3189543"/>
          </a:xfrm>
          <a:prstGeom prst="rect">
            <a:avLst/>
          </a:prstGeom>
        </p:spPr>
      </p:pic>
      <p:sp>
        <p:nvSpPr>
          <p:cNvPr id="5" name="Text: 98.6%"/>
          <p:cNvSpPr txBox="1"/>
          <p:nvPr/>
        </p:nvSpPr>
        <p:spPr>
          <a:xfrm>
            <a:off x="8074152" y="1746504"/>
            <a:ext cx="3520440" cy="749808"/>
          </a:xfrm>
          <a:prstGeom prst="rect">
            <a:avLst/>
          </a:prstGeom>
          <a:noFill/>
        </p:spPr>
        <p:txBody>
          <a:bodyPr wrap="square" lIns="0" rIns="0" tIns="0" bIns="0">
            <a:noAutofit/>
          </a:bodyPr>
          <a:lstStyle/>
          <a:p>
            <a:pPr>
              <a:lnSpc>
                <a:spcPts val="4600"/>
              </a:lnSpc>
              <a:spcBef>
                <a:spcPts val="0"/>
              </a:spcBef>
              <a:spcAft>
                <a:spcPts val="0"/>
              </a:spcAft>
            </a:pPr>
            <a:r>
              <a:rPr sz="4600" b="1">
                <a:solidFill>
                  <a:srgbClr val="1265B0"/>
                </a:solidFill>
                <a:latin typeface="Calibri"/>
              </a:rPr>
              <a:t>98.6%</a:t>
            </a:r>
          </a:p>
        </p:txBody>
      </p:sp>
      <p:sp>
        <p:nvSpPr>
          <p:cNvPr id="6" name="Text: Validation accuracy"/>
          <p:cNvSpPr txBox="1"/>
          <p:nvPr/>
        </p:nvSpPr>
        <p:spPr>
          <a:xfrm>
            <a:off x="8074152" y="2569464"/>
            <a:ext cx="3520440" cy="411480"/>
          </a:xfrm>
          <a:prstGeom prst="rect">
            <a:avLst/>
          </a:prstGeom>
          <a:noFill/>
        </p:spPr>
        <p:txBody>
          <a:bodyPr wrap="square" lIns="0" rIns="0" tIns="0" bIns="0">
            <a:noAutofit/>
          </a:bodyPr>
          <a:lstStyle/>
          <a:p>
            <a:pPr>
              <a:lnSpc>
                <a:spcPts val="2205"/>
              </a:lnSpc>
              <a:spcBef>
                <a:spcPts val="0"/>
              </a:spcBef>
              <a:spcAft>
                <a:spcPts val="0"/>
              </a:spcAft>
            </a:pPr>
            <a:r>
              <a:rPr sz="2100" b="1">
                <a:solidFill>
                  <a:srgbClr val="14263D"/>
                </a:solidFill>
                <a:latin typeface="Calibri"/>
              </a:rPr>
              <a:t>Validation accuracy</a:t>
            </a:r>
          </a:p>
        </p:txBody>
      </p:sp>
      <p:sp>
        <p:nvSpPr>
          <p:cNvPr id="7" name="Text: 8 tested configurations"/>
          <p:cNvSpPr txBox="1"/>
          <p:nvPr/>
        </p:nvSpPr>
        <p:spPr>
          <a:xfrm>
            <a:off x="8074152" y="3054096"/>
            <a:ext cx="3520440" cy="685800"/>
          </a:xfrm>
          <a:prstGeom prst="rect">
            <a:avLst/>
          </a:prstGeom>
          <a:noFill/>
        </p:spPr>
        <p:txBody>
          <a:bodyPr wrap="square" lIns="0" rIns="0" tIns="0" bIns="0">
            <a:noAutofit/>
          </a:bodyPr>
          <a:lstStyle/>
          <a:p>
            <a:pPr>
              <a:lnSpc>
                <a:spcPts val="1980"/>
              </a:lnSpc>
              <a:spcBef>
                <a:spcPts val="0"/>
              </a:spcBef>
              <a:spcAft>
                <a:spcPts val="0"/>
              </a:spcAft>
            </a:pPr>
            <a:r>
              <a:rPr sz="1800" b="0">
                <a:solidFill>
                  <a:srgbClr val="4B5B6D"/>
                </a:solidFill>
                <a:latin typeface="Calibri"/>
              </a:rPr>
              <a:t>8 tested configurations</a:t>
            </a:r>
          </a:p>
        </p:txBody>
      </p:sp>
      <p:sp>
        <p:nvSpPr>
          <p:cNvPr id="8" name="Text: TinyStories, LLaMA 2,"/>
          <p:cNvSpPr txBox="1"/>
          <p:nvPr/>
        </p:nvSpPr>
        <p:spPr>
          <a:xfrm>
            <a:off x="8074152" y="3858768"/>
            <a:ext cx="3520440" cy="1874519"/>
          </a:xfrm>
          <a:prstGeom prst="rect">
            <a:avLst/>
          </a:prstGeom>
          <a:noFill/>
        </p:spPr>
        <p:txBody>
          <a:bodyPr wrap="square" lIns="0" rIns="0" tIns="0" bIns="0">
            <a:noAutofit/>
          </a:bodyPr>
          <a:lstStyle/>
          <a:p>
            <a:pPr>
              <a:lnSpc>
                <a:spcPts val="2300"/>
              </a:lnSpc>
              <a:spcBef>
                <a:spcPts val="0"/>
              </a:spcBef>
              <a:spcAft>
                <a:spcPts val="0"/>
              </a:spcAft>
            </a:pPr>
            <a:r>
              <a:rPr sz="2000" b="0">
                <a:solidFill>
                  <a:srgbClr val="4B5B6D"/>
                </a:solidFill>
                <a:latin typeface="Calibri"/>
              </a:rPr>
              <a:t>TinyStories, LLaMA 2,</a:t>
            </a:r>
          </a:p>
          <a:p>
            <a:pPr>
              <a:lnSpc>
                <a:spcPts val="2300"/>
              </a:lnSpc>
              <a:spcBef>
                <a:spcPts val="0"/>
              </a:spcBef>
              <a:spcAft>
                <a:spcPts val="0"/>
              </a:spcAft>
            </a:pPr>
            <a:r>
              <a:rPr sz="2000" b="0">
                <a:solidFill>
                  <a:srgbClr val="4B5B6D"/>
                </a:solidFill>
                <a:latin typeface="Calibri"/>
              </a:rPr>
              <a:t>Gemma 3, Qwen3</a:t>
            </a:r>
          </a:p>
          <a:p>
            <a:pPr>
              <a:lnSpc>
                <a:spcPts val="2300"/>
              </a:lnSpc>
              <a:spcBef>
                <a:spcPts val="0"/>
              </a:spcBef>
              <a:spcAft>
                <a:spcPts val="0"/>
              </a:spcAft>
            </a:pPr>
            <a:r>
              <a:rPr sz="2000" b="0">
                <a:solidFill>
                  <a:srgbClr val="4B5B6D"/>
                </a:solidFill>
                <a:latin typeface="Calibri"/>
              </a:rPr>
              <a:t/>
            </a:r>
          </a:p>
          <a:p>
            <a:pPr>
              <a:lnSpc>
                <a:spcPts val="2300"/>
              </a:lnSpc>
              <a:spcBef>
                <a:spcPts val="0"/>
              </a:spcBef>
              <a:spcAft>
                <a:spcPts val="0"/>
              </a:spcAft>
            </a:pPr>
            <a:r>
              <a:rPr sz="2000" b="0">
                <a:solidFill>
                  <a:srgbClr val="4B5B6D"/>
                </a:solidFill>
                <a:latin typeface="Calibri"/>
              </a:rPr>
              <a:t>Fixed prompts.</a:t>
            </a:r>
          </a:p>
          <a:p>
            <a:pPr>
              <a:lnSpc>
                <a:spcPts val="2300"/>
              </a:lnSpc>
              <a:spcBef>
                <a:spcPts val="0"/>
              </a:spcBef>
              <a:spcAft>
                <a:spcPts val="0"/>
              </a:spcAft>
            </a:pPr>
            <a:r>
              <a:rPr sz="2000" b="0">
                <a:solidFill>
                  <a:srgbClr val="4B5B6D"/>
                </a:solidFill>
                <a:latin typeface="Calibri"/>
              </a:rPr>
              <a:t>50 traces per configuration.</a:t>
            </a:r>
          </a:p>
        </p:txBody>
      </p:sp>
      <p:cxnSp>
        <p:nvCxnSpPr>
          <p:cNvPr id="9" name="Connector 8"/>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0"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This classifies a tested configuration; it does not recover weights or prompts.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Robustness within the tested setup</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23</a:t>
            </a:r>
          </a:p>
        </p:txBody>
      </p:sp>
      <p:sp>
        <p:nvSpPr>
          <p:cNvPr id="4" name="Text: Metric"/>
          <p:cNvSpPr txBox="1"/>
          <p:nvPr/>
        </p:nvSpPr>
        <p:spPr>
          <a:xfrm>
            <a:off x="667512" y="1691640"/>
            <a:ext cx="3814876"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Metric</a:t>
            </a:r>
          </a:p>
        </p:txBody>
      </p:sp>
      <p:sp>
        <p:nvSpPr>
          <p:cNvPr id="5" name="Text: Local"/>
          <p:cNvSpPr txBox="1"/>
          <p:nvPr/>
        </p:nvSpPr>
        <p:spPr>
          <a:xfrm>
            <a:off x="4628692" y="1691640"/>
            <a:ext cx="1614220"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Local</a:t>
            </a:r>
          </a:p>
        </p:txBody>
      </p:sp>
      <p:sp>
        <p:nvSpPr>
          <p:cNvPr id="6" name="Text: Noisy local"/>
          <p:cNvSpPr txBox="1"/>
          <p:nvPr/>
        </p:nvSpPr>
        <p:spPr>
          <a:xfrm>
            <a:off x="6389217" y="1691640"/>
            <a:ext cx="1614220"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Noisy local</a:t>
            </a:r>
          </a:p>
        </p:txBody>
      </p:sp>
      <p:sp>
        <p:nvSpPr>
          <p:cNvPr id="7" name="Text: Cloud"/>
          <p:cNvSpPr txBox="1"/>
          <p:nvPr/>
        </p:nvSpPr>
        <p:spPr>
          <a:xfrm>
            <a:off x="8149742" y="1691640"/>
            <a:ext cx="1614220"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Cloud</a:t>
            </a:r>
          </a:p>
        </p:txBody>
      </p:sp>
      <p:sp>
        <p:nvSpPr>
          <p:cNvPr id="8" name="Text: Noisy cloud"/>
          <p:cNvSpPr txBox="1"/>
          <p:nvPr/>
        </p:nvSpPr>
        <p:spPr>
          <a:xfrm>
            <a:off x="9910266" y="1691640"/>
            <a:ext cx="1614220" cy="347472"/>
          </a:xfrm>
          <a:prstGeom prst="rect">
            <a:avLst/>
          </a:prstGeom>
          <a:noFill/>
        </p:spPr>
        <p:txBody>
          <a:bodyPr wrap="square" lIns="0" rIns="0" tIns="0" bIns="0">
            <a:noAutofit/>
          </a:bodyPr>
          <a:lstStyle/>
          <a:p>
            <a:pPr>
              <a:lnSpc>
                <a:spcPts val="1500"/>
              </a:lnSpc>
              <a:spcBef>
                <a:spcPts val="0"/>
              </a:spcBef>
              <a:spcAft>
                <a:spcPts val="0"/>
              </a:spcAft>
            </a:pPr>
            <a:r>
              <a:rPr sz="1500" b="1">
                <a:solidFill>
                  <a:srgbClr val="4B5B6D"/>
                </a:solidFill>
                <a:latin typeface="Calibri"/>
              </a:rPr>
              <a:t>Noisy cloud</a:t>
            </a:r>
          </a:p>
        </p:txBody>
      </p:sp>
      <p:cxnSp>
        <p:nvCxnSpPr>
          <p:cNvPr id="9" name="Connector 8"/>
          <p:cNvCxnSpPr/>
          <p:nvPr/>
        </p:nvCxnSpPr>
        <p:spPr>
          <a:xfrm>
            <a:off x="594360" y="2112264"/>
            <a:ext cx="11003279" cy="0"/>
          </a:xfrm>
          <a:prstGeom prst="line">
            <a:avLst/>
          </a:prstGeom>
          <a:ln w="13970">
            <a:solidFill>
              <a:srgbClr val="14263D"/>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94360" y="2112264"/>
            <a:ext cx="11003279" cy="56692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DevTLB covert (kbps)"/>
          <p:cNvSpPr txBox="1"/>
          <p:nvPr/>
        </p:nvSpPr>
        <p:spPr>
          <a:xfrm>
            <a:off x="667512" y="2258568"/>
            <a:ext cx="3814876" cy="402336"/>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DevTLB covert (kbps)</a:t>
            </a:r>
          </a:p>
        </p:txBody>
      </p:sp>
      <p:sp>
        <p:nvSpPr>
          <p:cNvPr id="12" name="Text: 17.19"/>
          <p:cNvSpPr txBox="1"/>
          <p:nvPr/>
        </p:nvSpPr>
        <p:spPr>
          <a:xfrm>
            <a:off x="4628692" y="225856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17.19</a:t>
            </a:r>
          </a:p>
        </p:txBody>
      </p:sp>
      <p:sp>
        <p:nvSpPr>
          <p:cNvPr id="13" name="Text: 16.81"/>
          <p:cNvSpPr txBox="1"/>
          <p:nvPr/>
        </p:nvSpPr>
        <p:spPr>
          <a:xfrm>
            <a:off x="6389217" y="225856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16.81</a:t>
            </a:r>
          </a:p>
        </p:txBody>
      </p:sp>
      <p:sp>
        <p:nvSpPr>
          <p:cNvPr id="14" name="Text: 16.97"/>
          <p:cNvSpPr txBox="1"/>
          <p:nvPr/>
        </p:nvSpPr>
        <p:spPr>
          <a:xfrm>
            <a:off x="8149742" y="225856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16.97</a:t>
            </a:r>
          </a:p>
        </p:txBody>
      </p:sp>
      <p:sp>
        <p:nvSpPr>
          <p:cNvPr id="15" name="Text: 16.52"/>
          <p:cNvSpPr txBox="1"/>
          <p:nvPr/>
        </p:nvSpPr>
        <p:spPr>
          <a:xfrm>
            <a:off x="9910266" y="225856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16.52</a:t>
            </a:r>
          </a:p>
        </p:txBody>
      </p:sp>
      <p:cxnSp>
        <p:nvCxnSpPr>
          <p:cNvPr id="16" name="Connector 15"/>
          <p:cNvCxnSpPr/>
          <p:nvPr/>
        </p:nvCxnSpPr>
        <p:spPr>
          <a:xfrm>
            <a:off x="594360" y="2679192"/>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17" name="Text: SWQ covert (kbps)"/>
          <p:cNvSpPr txBox="1"/>
          <p:nvPr/>
        </p:nvSpPr>
        <p:spPr>
          <a:xfrm>
            <a:off x="667512" y="2825496"/>
            <a:ext cx="3814876" cy="402336"/>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SWQ covert (kbps)</a:t>
            </a:r>
          </a:p>
        </p:txBody>
      </p:sp>
      <p:sp>
        <p:nvSpPr>
          <p:cNvPr id="18" name="Text: 4.02"/>
          <p:cNvSpPr txBox="1"/>
          <p:nvPr/>
        </p:nvSpPr>
        <p:spPr>
          <a:xfrm>
            <a:off x="4628692" y="2825496"/>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4.02</a:t>
            </a:r>
          </a:p>
        </p:txBody>
      </p:sp>
      <p:sp>
        <p:nvSpPr>
          <p:cNvPr id="19" name="Text: 4.08"/>
          <p:cNvSpPr txBox="1"/>
          <p:nvPr/>
        </p:nvSpPr>
        <p:spPr>
          <a:xfrm>
            <a:off x="6389217" y="2825496"/>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4.08</a:t>
            </a:r>
          </a:p>
        </p:txBody>
      </p:sp>
      <p:sp>
        <p:nvSpPr>
          <p:cNvPr id="20" name="Text: 3.96"/>
          <p:cNvSpPr txBox="1"/>
          <p:nvPr/>
        </p:nvSpPr>
        <p:spPr>
          <a:xfrm>
            <a:off x="8149742" y="2825496"/>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3.96</a:t>
            </a:r>
          </a:p>
        </p:txBody>
      </p:sp>
      <p:sp>
        <p:nvSpPr>
          <p:cNvPr id="21" name="Text: 3.80"/>
          <p:cNvSpPr txBox="1"/>
          <p:nvPr/>
        </p:nvSpPr>
        <p:spPr>
          <a:xfrm>
            <a:off x="9910266" y="2825496"/>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3.80</a:t>
            </a:r>
          </a:p>
        </p:txBody>
      </p:sp>
      <p:cxnSp>
        <p:nvCxnSpPr>
          <p:cNvPr id="22" name="Connector 21"/>
          <p:cNvCxnSpPr/>
          <p:nvPr/>
        </p:nvCxnSpPr>
        <p:spPr>
          <a:xfrm>
            <a:off x="594360" y="3246120"/>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360" y="3246120"/>
            <a:ext cx="11003279" cy="56692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Website accuracy"/>
          <p:cNvSpPr txBox="1"/>
          <p:nvPr/>
        </p:nvSpPr>
        <p:spPr>
          <a:xfrm>
            <a:off x="667512" y="3392424"/>
            <a:ext cx="3814876" cy="402336"/>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Website accuracy</a:t>
            </a:r>
          </a:p>
        </p:txBody>
      </p:sp>
      <p:sp>
        <p:nvSpPr>
          <p:cNvPr id="25" name="Text: 85.7%"/>
          <p:cNvSpPr txBox="1"/>
          <p:nvPr/>
        </p:nvSpPr>
        <p:spPr>
          <a:xfrm>
            <a:off x="4628692" y="3392424"/>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85.7%</a:t>
            </a:r>
          </a:p>
        </p:txBody>
      </p:sp>
      <p:sp>
        <p:nvSpPr>
          <p:cNvPr id="26" name="Text: 86.0%"/>
          <p:cNvSpPr txBox="1"/>
          <p:nvPr/>
        </p:nvSpPr>
        <p:spPr>
          <a:xfrm>
            <a:off x="6389217" y="3392424"/>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86.0%</a:t>
            </a:r>
          </a:p>
        </p:txBody>
      </p:sp>
      <p:sp>
        <p:nvSpPr>
          <p:cNvPr id="27" name="Text: 85.5%"/>
          <p:cNvSpPr txBox="1"/>
          <p:nvPr/>
        </p:nvSpPr>
        <p:spPr>
          <a:xfrm>
            <a:off x="8149742" y="3392424"/>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85.5%</a:t>
            </a:r>
          </a:p>
        </p:txBody>
      </p:sp>
      <p:sp>
        <p:nvSpPr>
          <p:cNvPr id="28" name="Text: 85.1%"/>
          <p:cNvSpPr txBox="1"/>
          <p:nvPr/>
        </p:nvSpPr>
        <p:spPr>
          <a:xfrm>
            <a:off x="9910266" y="3392424"/>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85.1%</a:t>
            </a:r>
          </a:p>
        </p:txBody>
      </p:sp>
      <p:cxnSp>
        <p:nvCxnSpPr>
          <p:cNvPr id="29" name="Connector 28"/>
          <p:cNvCxnSpPr/>
          <p:nvPr/>
        </p:nvCxnSpPr>
        <p:spPr>
          <a:xfrm>
            <a:off x="594360" y="3813048"/>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30" name="Text: DevTLB keystroke F1"/>
          <p:cNvSpPr txBox="1"/>
          <p:nvPr/>
        </p:nvSpPr>
        <p:spPr>
          <a:xfrm>
            <a:off x="667512" y="3959352"/>
            <a:ext cx="3814876" cy="402336"/>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DevTLB keystroke F1</a:t>
            </a:r>
          </a:p>
        </p:txBody>
      </p:sp>
      <p:sp>
        <p:nvSpPr>
          <p:cNvPr id="31" name="Text: 92.0%"/>
          <p:cNvSpPr txBox="1"/>
          <p:nvPr/>
        </p:nvSpPr>
        <p:spPr>
          <a:xfrm>
            <a:off x="4628692" y="3959352"/>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92.0%</a:t>
            </a:r>
          </a:p>
        </p:txBody>
      </p:sp>
      <p:sp>
        <p:nvSpPr>
          <p:cNvPr id="32" name="Text: 90.5%"/>
          <p:cNvSpPr txBox="1"/>
          <p:nvPr/>
        </p:nvSpPr>
        <p:spPr>
          <a:xfrm>
            <a:off x="6389217" y="3959352"/>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90.5%</a:t>
            </a:r>
          </a:p>
        </p:txBody>
      </p:sp>
      <p:sp>
        <p:nvSpPr>
          <p:cNvPr id="33" name="Text: 93.4%"/>
          <p:cNvSpPr txBox="1"/>
          <p:nvPr/>
        </p:nvSpPr>
        <p:spPr>
          <a:xfrm>
            <a:off x="8149742" y="3959352"/>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93.4%</a:t>
            </a:r>
          </a:p>
        </p:txBody>
      </p:sp>
      <p:sp>
        <p:nvSpPr>
          <p:cNvPr id="34" name="Text: 93.0%"/>
          <p:cNvSpPr txBox="1"/>
          <p:nvPr/>
        </p:nvSpPr>
        <p:spPr>
          <a:xfrm>
            <a:off x="9910266" y="3959352"/>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93.0%</a:t>
            </a:r>
          </a:p>
        </p:txBody>
      </p:sp>
      <p:cxnSp>
        <p:nvCxnSpPr>
          <p:cNvPr id="35" name="Connector 34"/>
          <p:cNvCxnSpPr/>
          <p:nvPr/>
        </p:nvCxnSpPr>
        <p:spPr>
          <a:xfrm>
            <a:off x="594360" y="4379976"/>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94360" y="4379976"/>
            <a:ext cx="11003279" cy="56692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SWQ keystroke F1"/>
          <p:cNvSpPr txBox="1"/>
          <p:nvPr/>
        </p:nvSpPr>
        <p:spPr>
          <a:xfrm>
            <a:off x="667512" y="4526280"/>
            <a:ext cx="3814876" cy="402336"/>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SWQ keystroke F1</a:t>
            </a:r>
          </a:p>
        </p:txBody>
      </p:sp>
      <p:sp>
        <p:nvSpPr>
          <p:cNvPr id="38" name="Text: 98.4%"/>
          <p:cNvSpPr txBox="1"/>
          <p:nvPr/>
        </p:nvSpPr>
        <p:spPr>
          <a:xfrm>
            <a:off x="4628692" y="4526280"/>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98.4%</a:t>
            </a:r>
          </a:p>
        </p:txBody>
      </p:sp>
      <p:sp>
        <p:nvSpPr>
          <p:cNvPr id="39" name="Text: 98.2%"/>
          <p:cNvSpPr txBox="1"/>
          <p:nvPr/>
        </p:nvSpPr>
        <p:spPr>
          <a:xfrm>
            <a:off x="6389217" y="4526280"/>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98.2%</a:t>
            </a:r>
          </a:p>
        </p:txBody>
      </p:sp>
      <p:sp>
        <p:nvSpPr>
          <p:cNvPr id="40" name="Text: 99.1%"/>
          <p:cNvSpPr txBox="1"/>
          <p:nvPr/>
        </p:nvSpPr>
        <p:spPr>
          <a:xfrm>
            <a:off x="8149742" y="4526280"/>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99.1%</a:t>
            </a:r>
          </a:p>
        </p:txBody>
      </p:sp>
      <p:sp>
        <p:nvSpPr>
          <p:cNvPr id="41" name="Text: 98.9%"/>
          <p:cNvSpPr txBox="1"/>
          <p:nvPr/>
        </p:nvSpPr>
        <p:spPr>
          <a:xfrm>
            <a:off x="9910266" y="4526280"/>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98.9%</a:t>
            </a:r>
          </a:p>
        </p:txBody>
      </p:sp>
      <p:cxnSp>
        <p:nvCxnSpPr>
          <p:cNvPr id="42" name="Connector 41"/>
          <p:cNvCxnSpPr/>
          <p:nvPr/>
        </p:nvCxnSpPr>
        <p:spPr>
          <a:xfrm>
            <a:off x="594360" y="4946904"/>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43" name="Text: LLM accuracy"/>
          <p:cNvSpPr txBox="1"/>
          <p:nvPr/>
        </p:nvSpPr>
        <p:spPr>
          <a:xfrm>
            <a:off x="667512" y="5093208"/>
            <a:ext cx="3814876" cy="402336"/>
          </a:xfrm>
          <a:prstGeom prst="rect">
            <a:avLst/>
          </a:prstGeom>
          <a:noFill/>
        </p:spPr>
        <p:txBody>
          <a:bodyPr wrap="square" lIns="0" rIns="0" tIns="0" bIns="0">
            <a:noAutofit/>
          </a:bodyPr>
          <a:lstStyle/>
          <a:p>
            <a:pPr>
              <a:lnSpc>
                <a:spcPts val="2033"/>
              </a:lnSpc>
              <a:spcBef>
                <a:spcPts val="0"/>
              </a:spcBef>
              <a:spcAft>
                <a:spcPts val="0"/>
              </a:spcAft>
            </a:pPr>
            <a:r>
              <a:rPr sz="1900" b="1">
                <a:solidFill>
                  <a:srgbClr val="14263D"/>
                </a:solidFill>
                <a:latin typeface="Calibri"/>
              </a:rPr>
              <a:t>LLM accuracy</a:t>
            </a:r>
          </a:p>
        </p:txBody>
      </p:sp>
      <p:sp>
        <p:nvSpPr>
          <p:cNvPr id="44" name="Text: 98.6%"/>
          <p:cNvSpPr txBox="1"/>
          <p:nvPr/>
        </p:nvSpPr>
        <p:spPr>
          <a:xfrm>
            <a:off x="4628692" y="509320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98.6%</a:t>
            </a:r>
          </a:p>
        </p:txBody>
      </p:sp>
      <p:sp>
        <p:nvSpPr>
          <p:cNvPr id="45" name="Text: 98.6%"/>
          <p:cNvSpPr txBox="1"/>
          <p:nvPr/>
        </p:nvSpPr>
        <p:spPr>
          <a:xfrm>
            <a:off x="6389217" y="509320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98.6%</a:t>
            </a:r>
          </a:p>
        </p:txBody>
      </p:sp>
      <p:sp>
        <p:nvSpPr>
          <p:cNvPr id="46" name="Text: 97.7%"/>
          <p:cNvSpPr txBox="1"/>
          <p:nvPr/>
        </p:nvSpPr>
        <p:spPr>
          <a:xfrm>
            <a:off x="8149742" y="509320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97.7%</a:t>
            </a:r>
          </a:p>
        </p:txBody>
      </p:sp>
      <p:sp>
        <p:nvSpPr>
          <p:cNvPr id="47" name="Text: 98.0%"/>
          <p:cNvSpPr txBox="1"/>
          <p:nvPr/>
        </p:nvSpPr>
        <p:spPr>
          <a:xfrm>
            <a:off x="9910266" y="5093208"/>
            <a:ext cx="1614220" cy="402336"/>
          </a:xfrm>
          <a:prstGeom prst="rect">
            <a:avLst/>
          </a:prstGeom>
          <a:noFill/>
        </p:spPr>
        <p:txBody>
          <a:bodyPr wrap="square" lIns="0" rIns="0" tIns="0" bIns="0">
            <a:noAutofit/>
          </a:bodyPr>
          <a:lstStyle/>
          <a:p>
            <a:pPr>
              <a:lnSpc>
                <a:spcPts val="2033"/>
              </a:lnSpc>
              <a:spcBef>
                <a:spcPts val="0"/>
              </a:spcBef>
              <a:spcAft>
                <a:spcPts val="0"/>
              </a:spcAft>
            </a:pPr>
            <a:r>
              <a:rPr sz="1900" b="0">
                <a:solidFill>
                  <a:srgbClr val="14263D"/>
                </a:solidFill>
                <a:latin typeface="Calibri"/>
              </a:rPr>
              <a:t>98.0%</a:t>
            </a:r>
          </a:p>
        </p:txBody>
      </p:sp>
      <p:cxnSp>
        <p:nvCxnSpPr>
          <p:cNvPr id="48" name="Connector 47"/>
          <p:cNvCxnSpPr/>
          <p:nvPr/>
        </p:nvCxnSpPr>
        <p:spPr>
          <a:xfrm>
            <a:off x="594360" y="5513832"/>
            <a:ext cx="11003279" cy="0"/>
          </a:xfrm>
          <a:prstGeom prst="line">
            <a:avLst/>
          </a:prstGeom>
          <a:ln w="12700">
            <a:solidFill>
              <a:srgbClr val="D5DDE7"/>
            </a:solidFill>
          </a:ln>
        </p:spPr>
        <p:style>
          <a:lnRef idx="2">
            <a:schemeClr val="accent1"/>
          </a:lnRef>
          <a:fillRef idx="0">
            <a:schemeClr val="accent1"/>
          </a:fillRef>
          <a:effectRef idx="1">
            <a:schemeClr val="accent1"/>
          </a:effectRef>
          <a:fontRef idx="minor">
            <a:schemeClr val="tx1"/>
          </a:fontRef>
        </p:style>
      </p:cxnSp>
      <p:sp>
        <p:nvSpPr>
          <p:cNvPr id="49" name="Text: Noise tests use synthetic PCIe and memory pressure."/>
          <p:cNvSpPr txBox="1"/>
          <p:nvPr/>
        </p:nvSpPr>
        <p:spPr>
          <a:xfrm>
            <a:off x="594360" y="5632704"/>
            <a:ext cx="11003279" cy="301752"/>
          </a:xfrm>
          <a:prstGeom prst="rect">
            <a:avLst/>
          </a:prstGeom>
          <a:noFill/>
        </p:spPr>
        <p:txBody>
          <a:bodyPr wrap="square" lIns="0" rIns="0" tIns="0" bIns="0">
            <a:noAutofit/>
          </a:bodyPr>
          <a:lstStyle/>
          <a:p>
            <a:pPr>
              <a:lnSpc>
                <a:spcPts val="2124"/>
              </a:lnSpc>
              <a:spcBef>
                <a:spcPts val="0"/>
              </a:spcBef>
              <a:spcAft>
                <a:spcPts val="0"/>
              </a:spcAft>
            </a:pPr>
            <a:r>
              <a:rPr sz="1800" b="0">
                <a:solidFill>
                  <a:srgbClr val="4B5B6D"/>
                </a:solidFill>
                <a:latin typeface="Calibri"/>
              </a:rPr>
              <a:t>Noise tests use synthetic PCIe and memory pressure.</a:t>
            </a:r>
          </a:p>
        </p:txBody>
      </p:sp>
      <p:cxnSp>
        <p:nvCxnSpPr>
          <p:cNvPr id="50" name="Connector 49"/>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51"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The results cover these stressors, not every multi-tenant workload.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14263D"/>
                </a:solidFill>
                <a:latin typeface="Calibri"/>
              </a:rPr>
              <a:t>Mitigations and what remains unmeasured</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4B5B6D"/>
                </a:solidFill>
                <a:latin typeface="Calibri"/>
              </a:rPr>
              <a:t>24</a:t>
            </a:r>
          </a:p>
        </p:txBody>
      </p:sp>
      <p:cxnSp>
        <p:nvCxnSpPr>
          <p:cNvPr id="4" name="Connector 3"/>
          <p:cNvCxnSpPr/>
          <p:nvPr/>
        </p:nvCxnSpPr>
        <p:spPr>
          <a:xfrm>
            <a:off x="594360" y="1755648"/>
            <a:ext cx="3423919" cy="0"/>
          </a:xfrm>
          <a:prstGeom prst="line">
            <a:avLst/>
          </a:prstGeom>
          <a:ln w="25400">
            <a:solidFill>
              <a:srgbClr val="1265B0"/>
            </a:solidFill>
          </a:ln>
        </p:spPr>
        <p:style>
          <a:lnRef idx="2">
            <a:schemeClr val="accent1"/>
          </a:lnRef>
          <a:fillRef idx="0">
            <a:schemeClr val="accent1"/>
          </a:fillRef>
          <a:effectRef idx="1">
            <a:schemeClr val="accent1"/>
          </a:effectRef>
          <a:fontRef idx="minor">
            <a:schemeClr val="tx1"/>
          </a:fontRef>
        </p:style>
      </p:cxnSp>
      <p:sp>
        <p:nvSpPr>
          <p:cNvPr id="5" name="Text: Configure sharing"/>
          <p:cNvSpPr txBox="1"/>
          <p:nvPr/>
        </p:nvSpPr>
        <p:spPr>
          <a:xfrm>
            <a:off x="594360" y="1984248"/>
            <a:ext cx="3423919" cy="45720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Configure sharing</a:t>
            </a:r>
          </a:p>
        </p:txBody>
      </p:sp>
      <p:sp>
        <p:nvSpPr>
          <p:cNvPr id="6" name="Text: Separate sensitive tenants"/>
          <p:cNvSpPr txBox="1"/>
          <p:nvPr/>
        </p:nvSpPr>
        <p:spPr>
          <a:xfrm>
            <a:off x="594360" y="2761488"/>
            <a:ext cx="3423919" cy="2953512"/>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Separate sensitive tenants</a:t>
            </a:r>
          </a:p>
          <a:p>
            <a:pPr>
              <a:lnSpc>
                <a:spcPts val="2415"/>
              </a:lnSpc>
              <a:spcBef>
                <a:spcPts val="0"/>
              </a:spcBef>
              <a:spcAft>
                <a:spcPts val="0"/>
              </a:spcAft>
            </a:pPr>
            <a:r>
              <a:rPr sz="2100" b="0">
                <a:solidFill>
                  <a:srgbClr val="14263D"/>
                </a:solidFill>
                <a:latin typeface="Calibri"/>
              </a:rPr>
              <a:t>by engine.</a:t>
            </a:r>
          </a:p>
          <a:p>
            <a:pPr>
              <a:lnSpc>
                <a:spcPts val="2415"/>
              </a:lnSpc>
              <a:spcBef>
                <a:spcPts val="0"/>
              </a:spcBef>
              <a:spcAft>
                <a:spcPts val="0"/>
              </a:spcAft>
            </a:pPr>
            <a:r>
              <a:rPr sz="2100" b="0">
                <a:solidFill>
                  <a:srgbClr val="14263D"/>
                </a:solidFill>
                <a:latin typeface="Calibri"/>
              </a:rPr>
              <a:t/>
            </a:r>
          </a:p>
          <a:p>
            <a:pPr>
              <a:lnSpc>
                <a:spcPts val="2415"/>
              </a:lnSpc>
              <a:spcBef>
                <a:spcPts val="0"/>
              </a:spcBef>
              <a:spcAft>
                <a:spcPts val="0"/>
              </a:spcAft>
            </a:pPr>
            <a:r>
              <a:rPr sz="2100" b="0">
                <a:solidFill>
                  <a:srgbClr val="14263D"/>
                </a:solidFill>
                <a:latin typeface="Calibri"/>
              </a:rPr>
              <a:t>Do not share an SWQ</a:t>
            </a:r>
          </a:p>
          <a:p>
            <a:pPr>
              <a:lnSpc>
                <a:spcPts val="2415"/>
              </a:lnSpc>
              <a:spcBef>
                <a:spcPts val="0"/>
              </a:spcBef>
              <a:spcAft>
                <a:spcPts val="0"/>
              </a:spcAft>
            </a:pPr>
            <a:r>
              <a:rPr sz="2100" b="0">
                <a:solidFill>
                  <a:srgbClr val="14263D"/>
                </a:solidFill>
                <a:latin typeface="Calibri"/>
              </a:rPr>
              <a:t>across trust boundaries.</a:t>
            </a:r>
          </a:p>
        </p:txBody>
      </p:sp>
      <p:cxnSp>
        <p:nvCxnSpPr>
          <p:cNvPr id="7" name="Connector 6"/>
          <p:cNvCxnSpPr/>
          <p:nvPr/>
        </p:nvCxnSpPr>
        <p:spPr>
          <a:xfrm>
            <a:off x="4384039" y="1755648"/>
            <a:ext cx="3423920" cy="0"/>
          </a:xfrm>
          <a:prstGeom prst="line">
            <a:avLst/>
          </a:prstGeom>
          <a:ln w="25400">
            <a:solidFill>
              <a:srgbClr val="1265B0"/>
            </a:solidFill>
          </a:ln>
        </p:spPr>
        <p:style>
          <a:lnRef idx="2">
            <a:schemeClr val="accent1"/>
          </a:lnRef>
          <a:fillRef idx="0">
            <a:schemeClr val="accent1"/>
          </a:fillRef>
          <a:effectRef idx="1">
            <a:schemeClr val="accent1"/>
          </a:effectRef>
          <a:fontRef idx="minor">
            <a:schemeClr val="tx1"/>
          </a:fontRef>
        </p:style>
      </p:cxnSp>
      <p:sp>
        <p:nvSpPr>
          <p:cNvPr id="8" name="Text: Change hardware"/>
          <p:cNvSpPr txBox="1"/>
          <p:nvPr/>
        </p:nvSpPr>
        <p:spPr>
          <a:xfrm>
            <a:off x="4384039" y="1984248"/>
            <a:ext cx="3423919" cy="45720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1265B0"/>
                </a:solidFill>
                <a:latin typeface="Calibri"/>
              </a:rPr>
              <a:t>Change hardware</a:t>
            </a:r>
          </a:p>
        </p:txBody>
      </p:sp>
      <p:sp>
        <p:nvSpPr>
          <p:cNvPr id="9" name="Text: Partition replacement"/>
          <p:cNvSpPr txBox="1"/>
          <p:nvPr/>
        </p:nvSpPr>
        <p:spPr>
          <a:xfrm>
            <a:off x="4384039" y="2761488"/>
            <a:ext cx="3423919" cy="2953512"/>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Partition replacement</a:t>
            </a:r>
          </a:p>
          <a:p>
            <a:pPr>
              <a:lnSpc>
                <a:spcPts val="2415"/>
              </a:lnSpc>
              <a:spcBef>
                <a:spcPts val="0"/>
              </a:spcBef>
              <a:spcAft>
                <a:spcPts val="0"/>
              </a:spcAft>
            </a:pPr>
            <a:r>
              <a:rPr sz="2100" b="0">
                <a:solidFill>
                  <a:srgbClr val="14263D"/>
                </a:solidFill>
                <a:latin typeface="Calibri"/>
              </a:rPr>
              <a:t>state by PASID.</a:t>
            </a:r>
          </a:p>
          <a:p>
            <a:pPr>
              <a:lnSpc>
                <a:spcPts val="2415"/>
              </a:lnSpc>
              <a:spcBef>
                <a:spcPts val="0"/>
              </a:spcBef>
              <a:spcAft>
                <a:spcPts val="0"/>
              </a:spcAft>
            </a:pPr>
            <a:r>
              <a:rPr sz="2100" b="0">
                <a:solidFill>
                  <a:srgbClr val="14263D"/>
                </a:solidFill>
                <a:latin typeface="Calibri"/>
              </a:rPr>
              <a:t/>
            </a:r>
          </a:p>
          <a:p>
            <a:pPr>
              <a:lnSpc>
                <a:spcPts val="2415"/>
              </a:lnSpc>
              <a:spcBef>
                <a:spcPts val="0"/>
              </a:spcBef>
              <a:spcAft>
                <a:spcPts val="0"/>
              </a:spcAft>
            </a:pPr>
            <a:r>
              <a:rPr sz="2100" b="0">
                <a:solidFill>
                  <a:srgbClr val="14263D"/>
                </a:solidFill>
                <a:latin typeface="Calibri"/>
              </a:rPr>
              <a:t>Restrict queue-state</a:t>
            </a:r>
          </a:p>
          <a:p>
            <a:pPr>
              <a:lnSpc>
                <a:spcPts val="2415"/>
              </a:lnSpc>
              <a:spcBef>
                <a:spcPts val="0"/>
              </a:spcBef>
              <a:spcAft>
                <a:spcPts val="0"/>
              </a:spcAft>
            </a:pPr>
            <a:r>
              <a:rPr sz="2100" b="0">
                <a:solidFill>
                  <a:srgbClr val="14263D"/>
                </a:solidFill>
                <a:latin typeface="Calibri"/>
              </a:rPr>
              <a:t>feedback.</a:t>
            </a:r>
          </a:p>
          <a:p>
            <a:pPr>
              <a:lnSpc>
                <a:spcPts val="2415"/>
              </a:lnSpc>
              <a:spcBef>
                <a:spcPts val="0"/>
              </a:spcBef>
              <a:spcAft>
                <a:spcPts val="0"/>
              </a:spcAft>
            </a:pPr>
            <a:r>
              <a:rPr sz="2100" b="0">
                <a:solidFill>
                  <a:srgbClr val="14263D"/>
                </a:solidFill>
                <a:latin typeface="Calibri"/>
              </a:rPr>
              <a:t/>
            </a:r>
          </a:p>
          <a:p>
            <a:pPr>
              <a:lnSpc>
                <a:spcPts val="2415"/>
              </a:lnSpc>
              <a:spcBef>
                <a:spcPts val="0"/>
              </a:spcBef>
              <a:spcAft>
                <a:spcPts val="0"/>
              </a:spcAft>
            </a:pPr>
            <a:r>
              <a:rPr sz="2100" b="0">
                <a:solidFill>
                  <a:srgbClr val="14263D"/>
                </a:solidFill>
                <a:latin typeface="Calibri"/>
              </a:rPr>
              <a:t>These are proposals.</a:t>
            </a:r>
          </a:p>
        </p:txBody>
      </p:sp>
      <p:cxnSp>
        <p:nvCxnSpPr>
          <p:cNvPr id="10" name="Connector 9"/>
          <p:cNvCxnSpPr/>
          <p:nvPr/>
        </p:nvCxnSpPr>
        <p:spPr>
          <a:xfrm>
            <a:off x="8173719" y="1755648"/>
            <a:ext cx="3423920" cy="0"/>
          </a:xfrm>
          <a:prstGeom prst="line">
            <a:avLst/>
          </a:prstGeom>
          <a:ln w="25400">
            <a:solidFill>
              <a:srgbClr val="A82E3A"/>
            </a:solidFill>
          </a:ln>
        </p:spPr>
        <p:style>
          <a:lnRef idx="2">
            <a:schemeClr val="accent1"/>
          </a:lnRef>
          <a:fillRef idx="0">
            <a:schemeClr val="accent1"/>
          </a:fillRef>
          <a:effectRef idx="1">
            <a:schemeClr val="accent1"/>
          </a:effectRef>
          <a:fontRef idx="minor">
            <a:schemeClr val="tx1"/>
          </a:fontRef>
        </p:style>
      </p:cxnSp>
      <p:sp>
        <p:nvSpPr>
          <p:cNvPr id="11" name="Text: Check the evidence"/>
          <p:cNvSpPr txBox="1"/>
          <p:nvPr/>
        </p:nvSpPr>
        <p:spPr>
          <a:xfrm>
            <a:off x="8173719" y="1984248"/>
            <a:ext cx="3423919" cy="457200"/>
          </a:xfrm>
          <a:prstGeom prst="rect">
            <a:avLst/>
          </a:prstGeom>
          <a:noFill/>
        </p:spPr>
        <p:txBody>
          <a:bodyPr wrap="square" lIns="0" rIns="0" tIns="0" bIns="0">
            <a:noAutofit/>
          </a:bodyPr>
          <a:lstStyle/>
          <a:p>
            <a:pPr>
              <a:lnSpc>
                <a:spcPts val="2713"/>
              </a:lnSpc>
              <a:spcBef>
                <a:spcPts val="0"/>
              </a:spcBef>
              <a:spcAft>
                <a:spcPts val="0"/>
              </a:spcAft>
            </a:pPr>
            <a:r>
              <a:rPr sz="2300" b="1">
                <a:solidFill>
                  <a:srgbClr val="A82E3A"/>
                </a:solidFill>
                <a:latin typeface="Calibri"/>
              </a:rPr>
              <a:t>Check the evidence</a:t>
            </a:r>
          </a:p>
        </p:txBody>
      </p:sp>
      <p:sp>
        <p:nvSpPr>
          <p:cNvPr id="12" name="Text: Random-entry overhead:"/>
          <p:cNvSpPr txBox="1"/>
          <p:nvPr/>
        </p:nvSpPr>
        <p:spPr>
          <a:xfrm>
            <a:off x="8173719" y="2761488"/>
            <a:ext cx="3423919" cy="2953512"/>
          </a:xfrm>
          <a:prstGeom prst="rect">
            <a:avLst/>
          </a:prstGeom>
          <a:noFill/>
        </p:spPr>
        <p:txBody>
          <a:bodyPr wrap="square" lIns="0" rIns="0" tIns="0" bIns="0">
            <a:noAutofit/>
          </a:bodyPr>
          <a:lstStyle/>
          <a:p>
            <a:pPr>
              <a:lnSpc>
                <a:spcPts val="2415"/>
              </a:lnSpc>
              <a:spcBef>
                <a:spcPts val="0"/>
              </a:spcBef>
              <a:spcAft>
                <a:spcPts val="0"/>
              </a:spcAft>
            </a:pPr>
            <a:r>
              <a:rPr sz="2100" b="0">
                <a:solidFill>
                  <a:srgbClr val="14263D"/>
                </a:solidFill>
                <a:latin typeface="Calibri"/>
              </a:rPr>
              <a:t>Random-entry overhead:</a:t>
            </a:r>
          </a:p>
          <a:p>
            <a:pPr>
              <a:lnSpc>
                <a:spcPts val="2415"/>
              </a:lnSpc>
              <a:spcBef>
                <a:spcPts val="0"/>
              </a:spcBef>
              <a:spcAft>
                <a:spcPts val="0"/>
              </a:spcAft>
            </a:pPr>
            <a:r>
              <a:rPr sz="2100" b="0">
                <a:solidFill>
                  <a:srgbClr val="14263D"/>
                </a:solidFill>
                <a:latin typeface="Calibri"/>
              </a:rPr>
              <a:t>15.7% native</a:t>
            </a:r>
          </a:p>
          <a:p>
            <a:pPr>
              <a:lnSpc>
                <a:spcPts val="2415"/>
              </a:lnSpc>
              <a:spcBef>
                <a:spcPts val="0"/>
              </a:spcBef>
              <a:spcAft>
                <a:spcPts val="0"/>
              </a:spcAft>
            </a:pPr>
            <a:r>
              <a:rPr sz="2100" b="0">
                <a:solidFill>
                  <a:srgbClr val="14263D"/>
                </a:solidFill>
                <a:latin typeface="Calibri"/>
              </a:rPr>
              <a:t>17.9% DTO</a:t>
            </a:r>
          </a:p>
          <a:p>
            <a:pPr>
              <a:lnSpc>
                <a:spcPts val="2415"/>
              </a:lnSpc>
              <a:spcBef>
                <a:spcPts val="0"/>
              </a:spcBef>
              <a:spcAft>
                <a:spcPts val="0"/>
              </a:spcAft>
            </a:pPr>
            <a:r>
              <a:rPr sz="2100" b="0">
                <a:solidFill>
                  <a:srgbClr val="14263D"/>
                </a:solidFill>
                <a:latin typeface="Calibri"/>
              </a:rPr>
              <a:t>at 256-byte transfers.</a:t>
            </a:r>
          </a:p>
          <a:p>
            <a:pPr>
              <a:lnSpc>
                <a:spcPts val="2415"/>
              </a:lnSpc>
              <a:spcBef>
                <a:spcPts val="0"/>
              </a:spcBef>
              <a:spcAft>
                <a:spcPts val="0"/>
              </a:spcAft>
            </a:pPr>
            <a:r>
              <a:rPr sz="2100" b="0">
                <a:solidFill>
                  <a:srgbClr val="14263D"/>
                </a:solidFill>
                <a:latin typeface="Calibri"/>
              </a:rPr>
              <a:t/>
            </a:r>
          </a:p>
          <a:p>
            <a:pPr>
              <a:lnSpc>
                <a:spcPts val="2415"/>
              </a:lnSpc>
              <a:spcBef>
                <a:spcPts val="0"/>
              </a:spcBef>
              <a:spcAft>
                <a:spcPts val="0"/>
              </a:spcAft>
            </a:pPr>
            <a:r>
              <a:rPr sz="2100" b="0">
                <a:solidFill>
                  <a:srgbClr val="14263D"/>
                </a:solidFill>
                <a:latin typeface="Calibri"/>
              </a:rPr>
              <a:t>Residual leakage</a:t>
            </a:r>
          </a:p>
          <a:p>
            <a:pPr>
              <a:lnSpc>
                <a:spcPts val="2415"/>
              </a:lnSpc>
              <a:spcBef>
                <a:spcPts val="0"/>
              </a:spcBef>
              <a:spcAft>
                <a:spcPts val="0"/>
              </a:spcAft>
            </a:pPr>
            <a:r>
              <a:rPr sz="2100" b="0">
                <a:solidFill>
                  <a:srgbClr val="14263D"/>
                </a:solidFill>
                <a:latin typeface="Calibri"/>
              </a:rPr>
              <a:t>was not measured.</a:t>
            </a:r>
          </a:p>
        </p:txBody>
      </p:sp>
      <p:cxnSp>
        <p:nvCxnSpPr>
          <p:cNvPr id="13" name="Connector 12"/>
          <p:cNvCxnSpPr/>
          <p:nvPr/>
        </p:nvCxnSpPr>
        <p:spPr>
          <a:xfrm>
            <a:off x="594360" y="6007608"/>
            <a:ext cx="502920" cy="0"/>
          </a:xfrm>
          <a:prstGeom prst="line">
            <a:avLst/>
          </a:prstGeom>
          <a:ln w="31750">
            <a:solidFill>
              <a:srgbClr val="087F83"/>
            </a:solidFill>
          </a:ln>
        </p:spPr>
        <p:style>
          <a:lnRef idx="2">
            <a:schemeClr val="accent1"/>
          </a:lnRef>
          <a:fillRef idx="0">
            <a:schemeClr val="accent1"/>
          </a:fillRef>
          <a:effectRef idx="1">
            <a:schemeClr val="accent1"/>
          </a:effectRef>
          <a:fontRef idx="minor">
            <a:schemeClr val="tx1"/>
          </a:fontRef>
        </p:style>
      </p:cxnSp>
      <p:sp>
        <p:nvSpPr>
          <p:cNvPr id="14"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14263D"/>
                </a:solidFill>
                <a:latin typeface="Calibri"/>
              </a:rPr>
              <a:t>A performance-cost measurement does not establish a secure mitigation.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33B"/>
        </a:solidFill>
        <a:effectLst/>
      </p:bgPr>
    </p:bg>
    <p:spTree>
      <p:nvGrpSpPr>
        <p:cNvPr id="1" name=""/>
        <p:cNvGrpSpPr/>
        <p:nvPr/>
      </p:nvGrpSpPr>
      <p:grpSpPr/>
      <p:sp>
        <p:nvSpPr>
          <p:cNvPr id="2" name="Slide title"/>
          <p:cNvSpPr txBox="1"/>
          <p:nvPr/>
        </p:nvSpPr>
        <p:spPr>
          <a:xfrm>
            <a:off x="594360" y="521207"/>
            <a:ext cx="11003279" cy="722376"/>
          </a:xfrm>
          <a:prstGeom prst="rect">
            <a:avLst/>
          </a:prstGeom>
          <a:noFill/>
        </p:spPr>
        <p:txBody>
          <a:bodyPr wrap="square" lIns="0" rIns="0" tIns="0" bIns="0">
            <a:noAutofit/>
          </a:bodyPr>
          <a:lstStyle/>
          <a:p>
            <a:pPr>
              <a:lnSpc>
                <a:spcPts val="3360"/>
              </a:lnSpc>
              <a:spcBef>
                <a:spcPts val="0"/>
              </a:spcBef>
              <a:spcAft>
                <a:spcPts val="0"/>
              </a:spcAft>
            </a:pPr>
            <a:r>
              <a:rPr sz="3200" b="1">
                <a:solidFill>
                  <a:srgbClr val="FFFFFF"/>
                </a:solidFill>
                <a:latin typeface="Calibri"/>
              </a:rPr>
              <a:t>What the experiments establish</a:t>
            </a:r>
          </a:p>
        </p:txBody>
      </p:sp>
      <p:sp>
        <p:nvSpPr>
          <p:cNvPr id="3" name="Page number"/>
          <p:cNvSpPr txBox="1"/>
          <p:nvPr/>
        </p:nvSpPr>
        <p:spPr>
          <a:xfrm>
            <a:off x="11186159" y="6455664"/>
            <a:ext cx="411480" cy="201168"/>
          </a:xfrm>
          <a:prstGeom prst="rect">
            <a:avLst/>
          </a:prstGeom>
          <a:noFill/>
        </p:spPr>
        <p:txBody>
          <a:bodyPr wrap="square" lIns="0" rIns="0" tIns="0" bIns="0">
            <a:noAutofit/>
          </a:bodyPr>
          <a:lstStyle/>
          <a:p>
            <a:pPr algn="r">
              <a:lnSpc>
                <a:spcPts val="1297"/>
              </a:lnSpc>
              <a:spcBef>
                <a:spcPts val="0"/>
              </a:spcBef>
              <a:spcAft>
                <a:spcPts val="0"/>
              </a:spcAft>
            </a:pPr>
            <a:r>
              <a:rPr sz="1100" b="0">
                <a:solidFill>
                  <a:srgbClr val="C9D7E8"/>
                </a:solidFill>
                <a:latin typeface="Calibri"/>
              </a:rPr>
              <a:t>25</a:t>
            </a:r>
          </a:p>
        </p:txBody>
      </p:sp>
      <p:sp>
        <p:nvSpPr>
          <p:cNvPr id="4" name="Text: 01"/>
          <p:cNvSpPr txBox="1"/>
          <p:nvPr/>
        </p:nvSpPr>
        <p:spPr>
          <a:xfrm>
            <a:off x="594360" y="1737360"/>
            <a:ext cx="713232" cy="457200"/>
          </a:xfrm>
          <a:prstGeom prst="rect">
            <a:avLst/>
          </a:prstGeom>
          <a:noFill/>
        </p:spPr>
        <p:txBody>
          <a:bodyPr wrap="square" lIns="0" rIns="0" tIns="0" bIns="0">
            <a:noAutofit/>
          </a:bodyPr>
          <a:lstStyle/>
          <a:p>
            <a:pPr>
              <a:lnSpc>
                <a:spcPts val="3186"/>
              </a:lnSpc>
              <a:spcBef>
                <a:spcPts val="0"/>
              </a:spcBef>
              <a:spcAft>
                <a:spcPts val="0"/>
              </a:spcAft>
            </a:pPr>
            <a:r>
              <a:rPr sz="2700" b="1">
                <a:solidFill>
                  <a:srgbClr val="C9D7E8"/>
                </a:solidFill>
                <a:latin typeface="Calibri"/>
              </a:rPr>
              <a:t>01</a:t>
            </a:r>
          </a:p>
        </p:txBody>
      </p:sp>
      <p:sp>
        <p:nvSpPr>
          <p:cNvPr id="5" name="Text: Shared-engine state is observable"/>
          <p:cNvSpPr txBox="1"/>
          <p:nvPr/>
        </p:nvSpPr>
        <p:spPr>
          <a:xfrm>
            <a:off x="1554480" y="1737360"/>
            <a:ext cx="10043159" cy="530352"/>
          </a:xfrm>
          <a:prstGeom prst="rect">
            <a:avLst/>
          </a:prstGeom>
          <a:noFill/>
        </p:spPr>
        <p:txBody>
          <a:bodyPr wrap="square" lIns="0" rIns="0" tIns="0" bIns="0">
            <a:noAutofit/>
          </a:bodyPr>
          <a:lstStyle/>
          <a:p>
            <a:pPr>
              <a:lnSpc>
                <a:spcPts val="3186"/>
              </a:lnSpc>
              <a:spcBef>
                <a:spcPts val="0"/>
              </a:spcBef>
              <a:spcAft>
                <a:spcPts val="0"/>
              </a:spcAft>
            </a:pPr>
            <a:r>
              <a:rPr sz="2700" b="1">
                <a:solidFill>
                  <a:srgbClr val="FFFFFF"/>
                </a:solidFill>
                <a:latin typeface="Calibri"/>
              </a:rPr>
              <a:t>Shared-engine state is observable</a:t>
            </a:r>
          </a:p>
        </p:txBody>
      </p:sp>
      <p:sp>
        <p:nvSpPr>
          <p:cNvPr id="6" name="Text: DevTLB replacement changes the attacker’s own probe latency."/>
          <p:cNvSpPr txBox="1"/>
          <p:nvPr/>
        </p:nvSpPr>
        <p:spPr>
          <a:xfrm>
            <a:off x="1554480" y="2359152"/>
            <a:ext cx="10043159" cy="576072"/>
          </a:xfrm>
          <a:prstGeom prst="rect">
            <a:avLst/>
          </a:prstGeom>
          <a:noFill/>
        </p:spPr>
        <p:txBody>
          <a:bodyPr wrap="square" lIns="0" rIns="0" tIns="0" bIns="0">
            <a:noAutofit/>
          </a:bodyPr>
          <a:lstStyle/>
          <a:p>
            <a:pPr>
              <a:lnSpc>
                <a:spcPts val="2595"/>
              </a:lnSpc>
              <a:spcBef>
                <a:spcPts val="0"/>
              </a:spcBef>
              <a:spcAft>
                <a:spcPts val="0"/>
              </a:spcAft>
            </a:pPr>
            <a:r>
              <a:rPr sz="2200" b="0">
                <a:solidFill>
                  <a:srgbClr val="E2EDF8"/>
                </a:solidFill>
                <a:latin typeface="Calibri"/>
              </a:rPr>
              <a:t>DevTLB replacement changes the attacker’s own probe latency.</a:t>
            </a:r>
          </a:p>
        </p:txBody>
      </p:sp>
      <p:sp>
        <p:nvSpPr>
          <p:cNvPr id="7" name="Text: 02"/>
          <p:cNvSpPr txBox="1"/>
          <p:nvPr/>
        </p:nvSpPr>
        <p:spPr>
          <a:xfrm>
            <a:off x="594360" y="2999232"/>
            <a:ext cx="713232" cy="457200"/>
          </a:xfrm>
          <a:prstGeom prst="rect">
            <a:avLst/>
          </a:prstGeom>
          <a:noFill/>
        </p:spPr>
        <p:txBody>
          <a:bodyPr wrap="square" lIns="0" rIns="0" tIns="0" bIns="0">
            <a:noAutofit/>
          </a:bodyPr>
          <a:lstStyle/>
          <a:p>
            <a:pPr>
              <a:lnSpc>
                <a:spcPts val="3186"/>
              </a:lnSpc>
              <a:spcBef>
                <a:spcPts val="0"/>
              </a:spcBef>
              <a:spcAft>
                <a:spcPts val="0"/>
              </a:spcAft>
            </a:pPr>
            <a:r>
              <a:rPr sz="2700" b="1">
                <a:solidFill>
                  <a:srgbClr val="C9D7E8"/>
                </a:solidFill>
                <a:latin typeface="Calibri"/>
              </a:rPr>
              <a:t>02</a:t>
            </a:r>
          </a:p>
        </p:txBody>
      </p:sp>
      <p:sp>
        <p:nvSpPr>
          <p:cNvPr id="8" name="Text: Shared-queue state is observable"/>
          <p:cNvSpPr txBox="1"/>
          <p:nvPr/>
        </p:nvSpPr>
        <p:spPr>
          <a:xfrm>
            <a:off x="1554480" y="2999232"/>
            <a:ext cx="10043159" cy="530352"/>
          </a:xfrm>
          <a:prstGeom prst="rect">
            <a:avLst/>
          </a:prstGeom>
          <a:noFill/>
        </p:spPr>
        <p:txBody>
          <a:bodyPr wrap="square" lIns="0" rIns="0" tIns="0" bIns="0">
            <a:noAutofit/>
          </a:bodyPr>
          <a:lstStyle/>
          <a:p>
            <a:pPr>
              <a:lnSpc>
                <a:spcPts val="3186"/>
              </a:lnSpc>
              <a:spcBef>
                <a:spcPts val="0"/>
              </a:spcBef>
              <a:spcAft>
                <a:spcPts val="0"/>
              </a:spcAft>
            </a:pPr>
            <a:r>
              <a:rPr sz="2700" b="1">
                <a:solidFill>
                  <a:srgbClr val="FFFFFF"/>
                </a:solidFill>
                <a:latin typeface="Calibri"/>
              </a:rPr>
              <a:t>Shared-queue state is observable</a:t>
            </a:r>
          </a:p>
        </p:txBody>
      </p:sp>
      <p:sp>
        <p:nvSpPr>
          <p:cNvPr id="9" name="Text: Admission feedback exposes occupancy during a prepared window."/>
          <p:cNvSpPr txBox="1"/>
          <p:nvPr/>
        </p:nvSpPr>
        <p:spPr>
          <a:xfrm>
            <a:off x="1554480" y="3621024"/>
            <a:ext cx="10043159" cy="576072"/>
          </a:xfrm>
          <a:prstGeom prst="rect">
            <a:avLst/>
          </a:prstGeom>
          <a:noFill/>
        </p:spPr>
        <p:txBody>
          <a:bodyPr wrap="square" lIns="0" rIns="0" tIns="0" bIns="0">
            <a:noAutofit/>
          </a:bodyPr>
          <a:lstStyle/>
          <a:p>
            <a:pPr>
              <a:lnSpc>
                <a:spcPts val="2595"/>
              </a:lnSpc>
              <a:spcBef>
                <a:spcPts val="0"/>
              </a:spcBef>
              <a:spcAft>
                <a:spcPts val="0"/>
              </a:spcAft>
            </a:pPr>
            <a:r>
              <a:rPr sz="2200" b="0">
                <a:solidFill>
                  <a:srgbClr val="E2EDF8"/>
                </a:solidFill>
                <a:latin typeface="Calibri"/>
              </a:rPr>
              <a:t>Admission feedback exposes occupancy during a prepared window.</a:t>
            </a:r>
          </a:p>
        </p:txBody>
      </p:sp>
      <p:sp>
        <p:nvSpPr>
          <p:cNvPr id="10" name="Text: 03"/>
          <p:cNvSpPr txBox="1"/>
          <p:nvPr/>
        </p:nvSpPr>
        <p:spPr>
          <a:xfrm>
            <a:off x="594360" y="4261104"/>
            <a:ext cx="713232" cy="457200"/>
          </a:xfrm>
          <a:prstGeom prst="rect">
            <a:avLst/>
          </a:prstGeom>
          <a:noFill/>
        </p:spPr>
        <p:txBody>
          <a:bodyPr wrap="square" lIns="0" rIns="0" tIns="0" bIns="0">
            <a:noAutofit/>
          </a:bodyPr>
          <a:lstStyle/>
          <a:p>
            <a:pPr>
              <a:lnSpc>
                <a:spcPts val="3186"/>
              </a:lnSpc>
              <a:spcBef>
                <a:spcPts val="0"/>
              </a:spcBef>
              <a:spcAft>
                <a:spcPts val="0"/>
              </a:spcAft>
            </a:pPr>
            <a:r>
              <a:rPr sz="2700" b="1">
                <a:solidFill>
                  <a:srgbClr val="C9D7E8"/>
                </a:solidFill>
                <a:latin typeface="Calibri"/>
              </a:rPr>
              <a:t>03</a:t>
            </a:r>
          </a:p>
        </p:txBody>
      </p:sp>
      <p:sp>
        <p:nvSpPr>
          <p:cNvPr id="11" name="Text: Application patterns supply meaning"/>
          <p:cNvSpPr txBox="1"/>
          <p:nvPr/>
        </p:nvSpPr>
        <p:spPr>
          <a:xfrm>
            <a:off x="1554480" y="4261104"/>
            <a:ext cx="10043159" cy="530352"/>
          </a:xfrm>
          <a:prstGeom prst="rect">
            <a:avLst/>
          </a:prstGeom>
          <a:noFill/>
        </p:spPr>
        <p:txBody>
          <a:bodyPr wrap="square" lIns="0" rIns="0" tIns="0" bIns="0">
            <a:noAutofit/>
          </a:bodyPr>
          <a:lstStyle/>
          <a:p>
            <a:pPr>
              <a:lnSpc>
                <a:spcPts val="3186"/>
              </a:lnSpc>
              <a:spcBef>
                <a:spcPts val="0"/>
              </a:spcBef>
              <a:spcAft>
                <a:spcPts val="0"/>
              </a:spcAft>
            </a:pPr>
            <a:r>
              <a:rPr sz="2700" b="1">
                <a:solidFill>
                  <a:srgbClr val="FFFFFF"/>
                </a:solidFill>
                <a:latin typeface="Calibri"/>
              </a:rPr>
              <a:t>Application patterns supply meaning</a:t>
            </a:r>
          </a:p>
        </p:txBody>
      </p:sp>
      <p:sp>
        <p:nvSpPr>
          <p:cNvPr id="12" name="Text: Classification remains bounded by the workload and evaluation set"/>
          <p:cNvSpPr txBox="1"/>
          <p:nvPr/>
        </p:nvSpPr>
        <p:spPr>
          <a:xfrm>
            <a:off x="1554480" y="4882896"/>
            <a:ext cx="10043159" cy="576072"/>
          </a:xfrm>
          <a:prstGeom prst="rect">
            <a:avLst/>
          </a:prstGeom>
          <a:noFill/>
        </p:spPr>
        <p:txBody>
          <a:bodyPr wrap="square" lIns="0" rIns="0" tIns="0" bIns="0">
            <a:noAutofit/>
          </a:bodyPr>
          <a:lstStyle/>
          <a:p>
            <a:pPr>
              <a:lnSpc>
                <a:spcPts val="2595"/>
              </a:lnSpc>
              <a:spcBef>
                <a:spcPts val="0"/>
              </a:spcBef>
              <a:spcAft>
                <a:spcPts val="0"/>
              </a:spcAft>
            </a:pPr>
            <a:r>
              <a:rPr sz="2200" b="0">
                <a:solidFill>
                  <a:srgbClr val="E2EDF8"/>
                </a:solidFill>
                <a:latin typeface="Calibri"/>
              </a:rPr>
              <a:t>Classification remains bounded by the workload and evaluation setup.</a:t>
            </a:r>
          </a:p>
        </p:txBody>
      </p:sp>
      <p:cxnSp>
        <p:nvCxnSpPr>
          <p:cNvPr id="13" name="Connector 12"/>
          <p:cNvCxnSpPr/>
          <p:nvPr/>
        </p:nvCxnSpPr>
        <p:spPr>
          <a:xfrm>
            <a:off x="594360" y="6007608"/>
            <a:ext cx="502920" cy="0"/>
          </a:xfrm>
          <a:prstGeom prst="line">
            <a:avLst/>
          </a:prstGeom>
          <a:ln w="31750">
            <a:solidFill>
              <a:srgbClr val="C9D7E8"/>
            </a:solidFill>
          </a:ln>
        </p:spPr>
        <p:style>
          <a:lnRef idx="2">
            <a:schemeClr val="accent1"/>
          </a:lnRef>
          <a:fillRef idx="0">
            <a:schemeClr val="accent1"/>
          </a:fillRef>
          <a:effectRef idx="1">
            <a:schemeClr val="accent1"/>
          </a:effectRef>
          <a:fontRef idx="minor">
            <a:schemeClr val="tx1"/>
          </a:fontRef>
        </p:style>
      </p:cxnSp>
      <p:sp>
        <p:nvSpPr>
          <p:cNvPr id="14" name="Takeaway"/>
          <p:cNvSpPr txBox="1"/>
          <p:nvPr/>
        </p:nvSpPr>
        <p:spPr>
          <a:xfrm>
            <a:off x="594360" y="6153912"/>
            <a:ext cx="10408919" cy="484632"/>
          </a:xfrm>
          <a:prstGeom prst="rect">
            <a:avLst/>
          </a:prstGeom>
          <a:noFill/>
        </p:spPr>
        <p:txBody>
          <a:bodyPr wrap="square" lIns="0" rIns="0" tIns="0" bIns="0">
            <a:noAutofit/>
          </a:bodyPr>
          <a:lstStyle/>
          <a:p>
            <a:pPr>
              <a:lnSpc>
                <a:spcPts val="2184"/>
              </a:lnSpc>
              <a:spcBef>
                <a:spcPts val="0"/>
              </a:spcBef>
              <a:spcAft>
                <a:spcPts val="0"/>
              </a:spcAft>
            </a:pPr>
            <a:r>
              <a:rPr sz="2100" b="1">
                <a:solidFill>
                  <a:srgbClr val="FFFFFF"/>
                </a:solidFill>
                <a:latin typeface="Calibri"/>
              </a:rPr>
              <a:t>Isolation must account for shared accelerator state as well as addresses.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DSASSASSIN: Cross-VM side-channel attacks through Intel DSA</dc:title>
  <dc:subject>Presentation on 29 October 2026</dc:subject>
  <dc:creator>Siddharth Banakar; Dinesh Samala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